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8"/>
  </p:notesMasterIdLst>
  <p:sldIdLst>
    <p:sldId id="256" r:id="rId2"/>
    <p:sldId id="270" r:id="rId3"/>
    <p:sldId id="258" r:id="rId4"/>
    <p:sldId id="271" r:id="rId5"/>
    <p:sldId id="272" r:id="rId6"/>
    <p:sldId id="261" r:id="rId7"/>
    <p:sldId id="273" r:id="rId8"/>
    <p:sldId id="274" r:id="rId9"/>
    <p:sldId id="282" r:id="rId10"/>
    <p:sldId id="259" r:id="rId11"/>
    <p:sldId id="263" r:id="rId12"/>
    <p:sldId id="262" r:id="rId13"/>
    <p:sldId id="264" r:id="rId14"/>
    <p:sldId id="265" r:id="rId15"/>
    <p:sldId id="266" r:id="rId16"/>
    <p:sldId id="267" r:id="rId17"/>
    <p:sldId id="268" r:id="rId18"/>
    <p:sldId id="283" r:id="rId19"/>
    <p:sldId id="277" r:id="rId20"/>
    <p:sldId id="276" r:id="rId21"/>
    <p:sldId id="278" r:id="rId22"/>
    <p:sldId id="269" r:id="rId23"/>
    <p:sldId id="279" r:id="rId24"/>
    <p:sldId id="285" r:id="rId25"/>
    <p:sldId id="280"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3CDE50-E203-471F-851F-43097D04E529}" v="39" dt="2025-11-13T01:06:47.4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60969" autoAdjust="0"/>
  </p:normalViewPr>
  <p:slideViewPr>
    <p:cSldViewPr snapToGrid="0">
      <p:cViewPr varScale="1">
        <p:scale>
          <a:sx n="38" d="100"/>
          <a:sy n="38" d="100"/>
        </p:scale>
        <p:origin x="17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den Jordan" userId="e8c6793a-f4f0-4dab-a372-bcc2bed74348" providerId="ADAL" clId="{2D097765-E3AD-4BF7-A734-A5DEE3B1B8ED}"/>
    <pc:docChg chg="undo custSel delSld modSld">
      <pc:chgData name="Kayden Jordan" userId="e8c6793a-f4f0-4dab-a372-bcc2bed74348" providerId="ADAL" clId="{2D097765-E3AD-4BF7-A734-A5DEE3B1B8ED}" dt="2025-11-13T01:17:40.212" v="2007" actId="20577"/>
      <pc:docMkLst>
        <pc:docMk/>
      </pc:docMkLst>
      <pc:sldChg chg="addSp delSp modSp mod modNotesTx">
        <pc:chgData name="Kayden Jordan" userId="e8c6793a-f4f0-4dab-a372-bcc2bed74348" providerId="ADAL" clId="{2D097765-E3AD-4BF7-A734-A5DEE3B1B8ED}" dt="2025-11-12T22:53:53.633" v="41" actId="20577"/>
        <pc:sldMkLst>
          <pc:docMk/>
          <pc:sldMk cId="0" sldId="256"/>
        </pc:sldMkLst>
        <pc:spChg chg="add del">
          <ac:chgData name="Kayden Jordan" userId="e8c6793a-f4f0-4dab-a372-bcc2bed74348" providerId="ADAL" clId="{2D097765-E3AD-4BF7-A734-A5DEE3B1B8ED}" dt="2025-11-12T22:53:16.249" v="1" actId="22"/>
          <ac:spMkLst>
            <pc:docMk/>
            <pc:sldMk cId="0" sldId="256"/>
            <ac:spMk id="4" creationId="{9EB0AE70-E7DE-078F-F363-EE442DA9CF0C}"/>
          </ac:spMkLst>
        </pc:spChg>
        <pc:spChg chg="mod">
          <ac:chgData name="Kayden Jordan" userId="e8c6793a-f4f0-4dab-a372-bcc2bed74348" providerId="ADAL" clId="{2D097765-E3AD-4BF7-A734-A5DEE3B1B8ED}" dt="2025-11-12T22:53:53.633" v="41" actId="20577"/>
          <ac:spMkLst>
            <pc:docMk/>
            <pc:sldMk cId="0" sldId="256"/>
            <ac:spMk id="5" creationId="{07731F3E-9C32-9300-E3BB-1440A112B965}"/>
          </ac:spMkLst>
        </pc:spChg>
      </pc:sldChg>
      <pc:sldChg chg="modNotesTx">
        <pc:chgData name="Kayden Jordan" userId="e8c6793a-f4f0-4dab-a372-bcc2bed74348" providerId="ADAL" clId="{2D097765-E3AD-4BF7-A734-A5DEE3B1B8ED}" dt="2025-11-12T23:00:38.822" v="389" actId="20577"/>
        <pc:sldMkLst>
          <pc:docMk/>
          <pc:sldMk cId="0" sldId="258"/>
        </pc:sldMkLst>
      </pc:sldChg>
      <pc:sldChg chg="modNotesTx">
        <pc:chgData name="Kayden Jordan" userId="e8c6793a-f4f0-4dab-a372-bcc2bed74348" providerId="ADAL" clId="{2D097765-E3AD-4BF7-A734-A5DEE3B1B8ED}" dt="2025-11-12T23:51:23.562" v="1005" actId="20577"/>
        <pc:sldMkLst>
          <pc:docMk/>
          <pc:sldMk cId="0" sldId="259"/>
        </pc:sldMkLst>
      </pc:sldChg>
      <pc:sldChg chg="modNotesTx">
        <pc:chgData name="Kayden Jordan" userId="e8c6793a-f4f0-4dab-a372-bcc2bed74348" providerId="ADAL" clId="{2D097765-E3AD-4BF7-A734-A5DEE3B1B8ED}" dt="2025-11-12T23:16:26.277" v="645" actId="20577"/>
        <pc:sldMkLst>
          <pc:docMk/>
          <pc:sldMk cId="0" sldId="261"/>
        </pc:sldMkLst>
      </pc:sldChg>
      <pc:sldChg chg="modNotesTx">
        <pc:chgData name="Kayden Jordan" userId="e8c6793a-f4f0-4dab-a372-bcc2bed74348" providerId="ADAL" clId="{2D097765-E3AD-4BF7-A734-A5DEE3B1B8ED}" dt="2025-11-12T23:58:39.078" v="1113" actId="20577"/>
        <pc:sldMkLst>
          <pc:docMk/>
          <pc:sldMk cId="0" sldId="262"/>
        </pc:sldMkLst>
      </pc:sldChg>
      <pc:sldChg chg="modNotesTx">
        <pc:chgData name="Kayden Jordan" userId="e8c6793a-f4f0-4dab-a372-bcc2bed74348" providerId="ADAL" clId="{2D097765-E3AD-4BF7-A734-A5DEE3B1B8ED}" dt="2025-11-12T23:57:15.382" v="1103" actId="20577"/>
        <pc:sldMkLst>
          <pc:docMk/>
          <pc:sldMk cId="0" sldId="263"/>
        </pc:sldMkLst>
      </pc:sldChg>
      <pc:sldChg chg="modNotesTx">
        <pc:chgData name="Kayden Jordan" userId="e8c6793a-f4f0-4dab-a372-bcc2bed74348" providerId="ADAL" clId="{2D097765-E3AD-4BF7-A734-A5DEE3B1B8ED}" dt="2025-11-12T23:59:47.851" v="1123" actId="20577"/>
        <pc:sldMkLst>
          <pc:docMk/>
          <pc:sldMk cId="0" sldId="264"/>
        </pc:sldMkLst>
      </pc:sldChg>
      <pc:sldChg chg="modNotesTx">
        <pc:chgData name="Kayden Jordan" userId="e8c6793a-f4f0-4dab-a372-bcc2bed74348" providerId="ADAL" clId="{2D097765-E3AD-4BF7-A734-A5DEE3B1B8ED}" dt="2025-11-13T00:10:14.229" v="1175" actId="20577"/>
        <pc:sldMkLst>
          <pc:docMk/>
          <pc:sldMk cId="0" sldId="266"/>
        </pc:sldMkLst>
      </pc:sldChg>
      <pc:sldChg chg="modNotesTx">
        <pc:chgData name="Kayden Jordan" userId="e8c6793a-f4f0-4dab-a372-bcc2bed74348" providerId="ADAL" clId="{2D097765-E3AD-4BF7-A734-A5DEE3B1B8ED}" dt="2025-11-13T00:12:55.905" v="1239" actId="20577"/>
        <pc:sldMkLst>
          <pc:docMk/>
          <pc:sldMk cId="0" sldId="267"/>
        </pc:sldMkLst>
      </pc:sldChg>
      <pc:sldChg chg="modNotesTx">
        <pc:chgData name="Kayden Jordan" userId="e8c6793a-f4f0-4dab-a372-bcc2bed74348" providerId="ADAL" clId="{2D097765-E3AD-4BF7-A734-A5DEE3B1B8ED}" dt="2025-11-13T00:16:25.724" v="1280" actId="20577"/>
        <pc:sldMkLst>
          <pc:docMk/>
          <pc:sldMk cId="0" sldId="268"/>
        </pc:sldMkLst>
      </pc:sldChg>
      <pc:sldChg chg="modNotesTx">
        <pc:chgData name="Kayden Jordan" userId="e8c6793a-f4f0-4dab-a372-bcc2bed74348" providerId="ADAL" clId="{2D097765-E3AD-4BF7-A734-A5DEE3B1B8ED}" dt="2025-11-12T22:57:47.368" v="268" actId="20577"/>
        <pc:sldMkLst>
          <pc:docMk/>
          <pc:sldMk cId="0" sldId="270"/>
        </pc:sldMkLst>
      </pc:sldChg>
      <pc:sldChg chg="modNotesTx">
        <pc:chgData name="Kayden Jordan" userId="e8c6793a-f4f0-4dab-a372-bcc2bed74348" providerId="ADAL" clId="{2D097765-E3AD-4BF7-A734-A5DEE3B1B8ED}" dt="2025-11-12T23:12:59.115" v="574" actId="20577"/>
        <pc:sldMkLst>
          <pc:docMk/>
          <pc:sldMk cId="0" sldId="271"/>
        </pc:sldMkLst>
      </pc:sldChg>
      <pc:sldChg chg="modNotesTx">
        <pc:chgData name="Kayden Jordan" userId="e8c6793a-f4f0-4dab-a372-bcc2bed74348" providerId="ADAL" clId="{2D097765-E3AD-4BF7-A734-A5DEE3B1B8ED}" dt="2025-11-12T23:14:53.223" v="617" actId="20577"/>
        <pc:sldMkLst>
          <pc:docMk/>
          <pc:sldMk cId="0" sldId="272"/>
        </pc:sldMkLst>
      </pc:sldChg>
      <pc:sldChg chg="modNotesTx">
        <pc:chgData name="Kayden Jordan" userId="e8c6793a-f4f0-4dab-a372-bcc2bed74348" providerId="ADAL" clId="{2D097765-E3AD-4BF7-A734-A5DEE3B1B8ED}" dt="2025-11-12T23:19:04.285" v="727" actId="20577"/>
        <pc:sldMkLst>
          <pc:docMk/>
          <pc:sldMk cId="0" sldId="273"/>
        </pc:sldMkLst>
      </pc:sldChg>
      <pc:sldChg chg="modNotesTx">
        <pc:chgData name="Kayden Jordan" userId="e8c6793a-f4f0-4dab-a372-bcc2bed74348" providerId="ADAL" clId="{2D097765-E3AD-4BF7-A734-A5DEE3B1B8ED}" dt="2025-11-12T23:42:06.679" v="815" actId="20577"/>
        <pc:sldMkLst>
          <pc:docMk/>
          <pc:sldMk cId="0" sldId="274"/>
        </pc:sldMkLst>
      </pc:sldChg>
      <pc:sldChg chg="modNotesTx">
        <pc:chgData name="Kayden Jordan" userId="e8c6793a-f4f0-4dab-a372-bcc2bed74348" providerId="ADAL" clId="{2D097765-E3AD-4BF7-A734-A5DEE3B1B8ED}" dt="2025-11-13T01:13:06.209" v="1957" actId="20577"/>
        <pc:sldMkLst>
          <pc:docMk/>
          <pc:sldMk cId="1211636559" sldId="276"/>
        </pc:sldMkLst>
      </pc:sldChg>
      <pc:sldChg chg="modNotesTx">
        <pc:chgData name="Kayden Jordan" userId="e8c6793a-f4f0-4dab-a372-bcc2bed74348" providerId="ADAL" clId="{2D097765-E3AD-4BF7-A734-A5DEE3B1B8ED}" dt="2025-11-13T01:06:23.739" v="1650" actId="20577"/>
        <pc:sldMkLst>
          <pc:docMk/>
          <pc:sldMk cId="187468937" sldId="277"/>
        </pc:sldMkLst>
      </pc:sldChg>
      <pc:sldChg chg="modNotesTx">
        <pc:chgData name="Kayden Jordan" userId="e8c6793a-f4f0-4dab-a372-bcc2bed74348" providerId="ADAL" clId="{2D097765-E3AD-4BF7-A734-A5DEE3B1B8ED}" dt="2025-11-13T01:17:40.212" v="2007" actId="20577"/>
        <pc:sldMkLst>
          <pc:docMk/>
          <pc:sldMk cId="689376913" sldId="278"/>
        </pc:sldMkLst>
      </pc:sldChg>
      <pc:sldChg chg="modNotesTx">
        <pc:chgData name="Kayden Jordan" userId="e8c6793a-f4f0-4dab-a372-bcc2bed74348" providerId="ADAL" clId="{2D097765-E3AD-4BF7-A734-A5DEE3B1B8ED}" dt="2025-11-12T23:45:26.385" v="920" actId="20577"/>
        <pc:sldMkLst>
          <pc:docMk/>
          <pc:sldMk cId="1257839570" sldId="282"/>
        </pc:sldMkLst>
      </pc:sldChg>
      <pc:sldChg chg="modNotesTx">
        <pc:chgData name="Kayden Jordan" userId="e8c6793a-f4f0-4dab-a372-bcc2bed74348" providerId="ADAL" clId="{2D097765-E3AD-4BF7-A734-A5DEE3B1B8ED}" dt="2025-11-13T00:52:42.084" v="1444" actId="20577"/>
        <pc:sldMkLst>
          <pc:docMk/>
          <pc:sldMk cId="3238228653" sldId="283"/>
        </pc:sldMkLst>
      </pc:sldChg>
      <pc:sldChg chg="del modNotesTx">
        <pc:chgData name="Kayden Jordan" userId="e8c6793a-f4f0-4dab-a372-bcc2bed74348" providerId="ADAL" clId="{2D097765-E3AD-4BF7-A734-A5DEE3B1B8ED}" dt="2025-11-13T01:14:43.747" v="1972" actId="2696"/>
        <pc:sldMkLst>
          <pc:docMk/>
          <pc:sldMk cId="3053430023" sldId="284"/>
        </pc:sldMkLst>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5">
        <a:alpha val="0"/>
      </a:schemeClr>
    </dgm:fillClrLst>
    <dgm:linClrLst meth="repeat">
      <a:schemeClr val="accent5">
        <a:alpha val="0"/>
      </a:schemeClr>
    </dgm:linClrLst>
    <dgm:effectClrLst/>
    <dgm:txLinClrLst/>
    <dgm:txFillClrLst>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3891A-65D1-4A97-9707-E2F995A4403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092B345-0E91-479D-9A04-F0239AA7AA6B}">
      <dgm:prSet/>
      <dgm:spPr/>
      <dgm:t>
        <a:bodyPr/>
        <a:lstStyle/>
        <a:p>
          <a:r>
            <a:rPr lang="en-US"/>
            <a:t>Narrative hook</a:t>
          </a:r>
        </a:p>
      </dgm:t>
    </dgm:pt>
    <dgm:pt modelId="{E2D04E2A-8B1C-4F6A-951E-F5887504714A}" type="parTrans" cxnId="{FEFAD8C3-8387-46C2-968A-B0CD8F2F54AA}">
      <dgm:prSet/>
      <dgm:spPr/>
      <dgm:t>
        <a:bodyPr/>
        <a:lstStyle/>
        <a:p>
          <a:endParaRPr lang="en-US"/>
        </a:p>
      </dgm:t>
    </dgm:pt>
    <dgm:pt modelId="{27ACBB25-8977-4C85-9BFF-7612B4E7D1F9}" type="sibTrans" cxnId="{FEFAD8C3-8387-46C2-968A-B0CD8F2F54AA}">
      <dgm:prSet/>
      <dgm:spPr/>
      <dgm:t>
        <a:bodyPr/>
        <a:lstStyle/>
        <a:p>
          <a:endParaRPr lang="en-US"/>
        </a:p>
      </dgm:t>
    </dgm:pt>
    <dgm:pt modelId="{AF535C3D-17BA-4156-8A2A-7922B9DBA515}">
      <dgm:prSet/>
      <dgm:spPr/>
      <dgm:t>
        <a:bodyPr/>
        <a:lstStyle/>
        <a:p>
          <a:r>
            <a:rPr lang="en-US"/>
            <a:t>Background on the topic</a:t>
          </a:r>
        </a:p>
      </dgm:t>
    </dgm:pt>
    <dgm:pt modelId="{BDE6C608-DDA6-4C73-9171-949C4FD3044C}" type="parTrans" cxnId="{98D260F2-8E8E-470D-80AE-F5D63EA6413D}">
      <dgm:prSet/>
      <dgm:spPr/>
      <dgm:t>
        <a:bodyPr/>
        <a:lstStyle/>
        <a:p>
          <a:endParaRPr lang="en-US"/>
        </a:p>
      </dgm:t>
    </dgm:pt>
    <dgm:pt modelId="{09ACEE68-2745-43B6-B98F-840A05847052}" type="sibTrans" cxnId="{98D260F2-8E8E-470D-80AE-F5D63EA6413D}">
      <dgm:prSet/>
      <dgm:spPr/>
      <dgm:t>
        <a:bodyPr/>
        <a:lstStyle/>
        <a:p>
          <a:endParaRPr lang="en-US"/>
        </a:p>
      </dgm:t>
    </dgm:pt>
    <dgm:pt modelId="{8BE83DDF-B13B-4069-86D6-CF9D1E6E553A}">
      <dgm:prSet/>
      <dgm:spPr/>
      <dgm:t>
        <a:bodyPr/>
        <a:lstStyle/>
        <a:p>
          <a:r>
            <a:rPr lang="en-US"/>
            <a:t>Importance of the topic</a:t>
          </a:r>
        </a:p>
      </dgm:t>
    </dgm:pt>
    <dgm:pt modelId="{908306EC-DA47-4953-8A63-FD2E1E5C2CE4}" type="parTrans" cxnId="{89BC0FD5-56E3-4B06-8A50-3A7F853AD9AE}">
      <dgm:prSet/>
      <dgm:spPr/>
      <dgm:t>
        <a:bodyPr/>
        <a:lstStyle/>
        <a:p>
          <a:endParaRPr lang="en-US"/>
        </a:p>
      </dgm:t>
    </dgm:pt>
    <dgm:pt modelId="{0397F48A-C92C-49AB-AA52-95D0F878094D}" type="sibTrans" cxnId="{89BC0FD5-56E3-4B06-8A50-3A7F853AD9AE}">
      <dgm:prSet/>
      <dgm:spPr/>
      <dgm:t>
        <a:bodyPr/>
        <a:lstStyle/>
        <a:p>
          <a:endParaRPr lang="en-US"/>
        </a:p>
      </dgm:t>
    </dgm:pt>
    <dgm:pt modelId="{9D1D2E28-CE47-449B-B41E-6C5EC2603EEA}">
      <dgm:prSet/>
      <dgm:spPr/>
      <dgm:t>
        <a:bodyPr/>
        <a:lstStyle/>
        <a:p>
          <a:r>
            <a:rPr lang="en-US"/>
            <a:t>Goal Statement</a:t>
          </a:r>
        </a:p>
      </dgm:t>
    </dgm:pt>
    <dgm:pt modelId="{2EF98F7B-6966-4DE0-9BEB-E30FD52FC056}" type="parTrans" cxnId="{384A5850-3FCA-4BCC-B48B-BB63589BDD3B}">
      <dgm:prSet/>
      <dgm:spPr/>
      <dgm:t>
        <a:bodyPr/>
        <a:lstStyle/>
        <a:p>
          <a:endParaRPr lang="en-US"/>
        </a:p>
      </dgm:t>
    </dgm:pt>
    <dgm:pt modelId="{362EAAE3-E3C8-4E11-8986-F2C0F1DF8DBE}" type="sibTrans" cxnId="{384A5850-3FCA-4BCC-B48B-BB63589BDD3B}">
      <dgm:prSet/>
      <dgm:spPr/>
      <dgm:t>
        <a:bodyPr/>
        <a:lstStyle/>
        <a:p>
          <a:endParaRPr lang="en-US"/>
        </a:p>
      </dgm:t>
    </dgm:pt>
    <dgm:pt modelId="{1804A991-C7D4-407E-B9A3-5BC488AF303D}" type="pres">
      <dgm:prSet presAssocID="{2FD3891A-65D1-4A97-9707-E2F995A44031}" presName="linear" presStyleCnt="0">
        <dgm:presLayoutVars>
          <dgm:animLvl val="lvl"/>
          <dgm:resizeHandles val="exact"/>
        </dgm:presLayoutVars>
      </dgm:prSet>
      <dgm:spPr/>
    </dgm:pt>
    <dgm:pt modelId="{4F4C06B5-188A-44A0-A4A3-8FBBF11337E3}" type="pres">
      <dgm:prSet presAssocID="{8092B345-0E91-479D-9A04-F0239AA7AA6B}" presName="parentText" presStyleLbl="node1" presStyleIdx="0" presStyleCnt="4">
        <dgm:presLayoutVars>
          <dgm:chMax val="0"/>
          <dgm:bulletEnabled val="1"/>
        </dgm:presLayoutVars>
      </dgm:prSet>
      <dgm:spPr/>
    </dgm:pt>
    <dgm:pt modelId="{77F3207A-B23C-47A9-A632-417F0481D1C2}" type="pres">
      <dgm:prSet presAssocID="{27ACBB25-8977-4C85-9BFF-7612B4E7D1F9}" presName="spacer" presStyleCnt="0"/>
      <dgm:spPr/>
    </dgm:pt>
    <dgm:pt modelId="{8C93E0B3-FC95-4EF6-8A06-5D441E758436}" type="pres">
      <dgm:prSet presAssocID="{AF535C3D-17BA-4156-8A2A-7922B9DBA515}" presName="parentText" presStyleLbl="node1" presStyleIdx="1" presStyleCnt="4">
        <dgm:presLayoutVars>
          <dgm:chMax val="0"/>
          <dgm:bulletEnabled val="1"/>
        </dgm:presLayoutVars>
      </dgm:prSet>
      <dgm:spPr/>
    </dgm:pt>
    <dgm:pt modelId="{696CF077-8E46-4069-AE3A-1BBCB2E9516D}" type="pres">
      <dgm:prSet presAssocID="{09ACEE68-2745-43B6-B98F-840A05847052}" presName="spacer" presStyleCnt="0"/>
      <dgm:spPr/>
    </dgm:pt>
    <dgm:pt modelId="{91C8EB22-8C75-49DA-8046-074A5136D770}" type="pres">
      <dgm:prSet presAssocID="{8BE83DDF-B13B-4069-86D6-CF9D1E6E553A}" presName="parentText" presStyleLbl="node1" presStyleIdx="2" presStyleCnt="4">
        <dgm:presLayoutVars>
          <dgm:chMax val="0"/>
          <dgm:bulletEnabled val="1"/>
        </dgm:presLayoutVars>
      </dgm:prSet>
      <dgm:spPr/>
    </dgm:pt>
    <dgm:pt modelId="{D54E0ECB-4EE9-4580-9F3C-0B2DD47BAFEA}" type="pres">
      <dgm:prSet presAssocID="{0397F48A-C92C-49AB-AA52-95D0F878094D}" presName="spacer" presStyleCnt="0"/>
      <dgm:spPr/>
    </dgm:pt>
    <dgm:pt modelId="{D9673FF6-01DE-4D63-8653-90041A3E795F}" type="pres">
      <dgm:prSet presAssocID="{9D1D2E28-CE47-449B-B41E-6C5EC2603EEA}" presName="parentText" presStyleLbl="node1" presStyleIdx="3" presStyleCnt="4">
        <dgm:presLayoutVars>
          <dgm:chMax val="0"/>
          <dgm:bulletEnabled val="1"/>
        </dgm:presLayoutVars>
      </dgm:prSet>
      <dgm:spPr/>
    </dgm:pt>
  </dgm:ptLst>
  <dgm:cxnLst>
    <dgm:cxn modelId="{C694F715-7B8D-4DB4-A3B1-37028251FE1B}" type="presOf" srcId="{AF535C3D-17BA-4156-8A2A-7922B9DBA515}" destId="{8C93E0B3-FC95-4EF6-8A06-5D441E758436}" srcOrd="0" destOrd="0" presId="urn:microsoft.com/office/officeart/2005/8/layout/vList2"/>
    <dgm:cxn modelId="{07A0BD6D-644A-4583-A653-1FBB468A457D}" type="presOf" srcId="{8BE83DDF-B13B-4069-86D6-CF9D1E6E553A}" destId="{91C8EB22-8C75-49DA-8046-074A5136D770}" srcOrd="0" destOrd="0" presId="urn:microsoft.com/office/officeart/2005/8/layout/vList2"/>
    <dgm:cxn modelId="{384A5850-3FCA-4BCC-B48B-BB63589BDD3B}" srcId="{2FD3891A-65D1-4A97-9707-E2F995A44031}" destId="{9D1D2E28-CE47-449B-B41E-6C5EC2603EEA}" srcOrd="3" destOrd="0" parTransId="{2EF98F7B-6966-4DE0-9BEB-E30FD52FC056}" sibTransId="{362EAAE3-E3C8-4E11-8986-F2C0F1DF8DBE}"/>
    <dgm:cxn modelId="{EAE4BC8E-63D3-4CB8-948C-C4C6D123BD83}" type="presOf" srcId="{8092B345-0E91-479D-9A04-F0239AA7AA6B}" destId="{4F4C06B5-188A-44A0-A4A3-8FBBF11337E3}" srcOrd="0" destOrd="0" presId="urn:microsoft.com/office/officeart/2005/8/layout/vList2"/>
    <dgm:cxn modelId="{03FE5A93-C1B5-414E-8C2B-C3908584F535}" type="presOf" srcId="{9D1D2E28-CE47-449B-B41E-6C5EC2603EEA}" destId="{D9673FF6-01DE-4D63-8653-90041A3E795F}" srcOrd="0" destOrd="0" presId="urn:microsoft.com/office/officeart/2005/8/layout/vList2"/>
    <dgm:cxn modelId="{879114A6-BAF5-4BF6-95D9-922D044ED873}" type="presOf" srcId="{2FD3891A-65D1-4A97-9707-E2F995A44031}" destId="{1804A991-C7D4-407E-B9A3-5BC488AF303D}" srcOrd="0" destOrd="0" presId="urn:microsoft.com/office/officeart/2005/8/layout/vList2"/>
    <dgm:cxn modelId="{FEFAD8C3-8387-46C2-968A-B0CD8F2F54AA}" srcId="{2FD3891A-65D1-4A97-9707-E2F995A44031}" destId="{8092B345-0E91-479D-9A04-F0239AA7AA6B}" srcOrd="0" destOrd="0" parTransId="{E2D04E2A-8B1C-4F6A-951E-F5887504714A}" sibTransId="{27ACBB25-8977-4C85-9BFF-7612B4E7D1F9}"/>
    <dgm:cxn modelId="{89BC0FD5-56E3-4B06-8A50-3A7F853AD9AE}" srcId="{2FD3891A-65D1-4A97-9707-E2F995A44031}" destId="{8BE83DDF-B13B-4069-86D6-CF9D1E6E553A}" srcOrd="2" destOrd="0" parTransId="{908306EC-DA47-4953-8A63-FD2E1E5C2CE4}" sibTransId="{0397F48A-C92C-49AB-AA52-95D0F878094D}"/>
    <dgm:cxn modelId="{98D260F2-8E8E-470D-80AE-F5D63EA6413D}" srcId="{2FD3891A-65D1-4A97-9707-E2F995A44031}" destId="{AF535C3D-17BA-4156-8A2A-7922B9DBA515}" srcOrd="1" destOrd="0" parTransId="{BDE6C608-DDA6-4C73-9171-949C4FD3044C}" sibTransId="{09ACEE68-2745-43B6-B98F-840A05847052}"/>
    <dgm:cxn modelId="{E21C1869-F9C3-4667-80AD-BD6A958DF5FD}" type="presParOf" srcId="{1804A991-C7D4-407E-B9A3-5BC488AF303D}" destId="{4F4C06B5-188A-44A0-A4A3-8FBBF11337E3}" srcOrd="0" destOrd="0" presId="urn:microsoft.com/office/officeart/2005/8/layout/vList2"/>
    <dgm:cxn modelId="{1817689E-AAB3-401D-B227-2809CA1800AE}" type="presParOf" srcId="{1804A991-C7D4-407E-B9A3-5BC488AF303D}" destId="{77F3207A-B23C-47A9-A632-417F0481D1C2}" srcOrd="1" destOrd="0" presId="urn:microsoft.com/office/officeart/2005/8/layout/vList2"/>
    <dgm:cxn modelId="{2CEF0C72-949B-4CFE-BF6F-D2BACD2625F4}" type="presParOf" srcId="{1804A991-C7D4-407E-B9A3-5BC488AF303D}" destId="{8C93E0B3-FC95-4EF6-8A06-5D441E758436}" srcOrd="2" destOrd="0" presId="urn:microsoft.com/office/officeart/2005/8/layout/vList2"/>
    <dgm:cxn modelId="{B4FB8D2A-F503-4965-8863-15CEF2C4F72B}" type="presParOf" srcId="{1804A991-C7D4-407E-B9A3-5BC488AF303D}" destId="{696CF077-8E46-4069-AE3A-1BBCB2E9516D}" srcOrd="3" destOrd="0" presId="urn:microsoft.com/office/officeart/2005/8/layout/vList2"/>
    <dgm:cxn modelId="{5A157519-07DA-4258-9460-3AE55544902C}" type="presParOf" srcId="{1804A991-C7D4-407E-B9A3-5BC488AF303D}" destId="{91C8EB22-8C75-49DA-8046-074A5136D770}" srcOrd="4" destOrd="0" presId="urn:microsoft.com/office/officeart/2005/8/layout/vList2"/>
    <dgm:cxn modelId="{BF930F93-F36B-4950-BC6A-475F7F33D9C8}" type="presParOf" srcId="{1804A991-C7D4-407E-B9A3-5BC488AF303D}" destId="{D54E0ECB-4EE9-4580-9F3C-0B2DD47BAFEA}" srcOrd="5" destOrd="0" presId="urn:microsoft.com/office/officeart/2005/8/layout/vList2"/>
    <dgm:cxn modelId="{0691359A-DF92-49E5-8696-88B2D4614B0C}" type="presParOf" srcId="{1804A991-C7D4-407E-B9A3-5BC488AF303D}" destId="{D9673FF6-01DE-4D63-8653-90041A3E795F}"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056D89-8D0D-4C15-9F72-051F50CFDCCB}"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DF2DDF15-53C0-4FB3-A154-35DD92DF4954}">
      <dgm:prSet/>
      <dgm:spPr/>
      <dgm:t>
        <a:bodyPr/>
        <a:lstStyle/>
        <a:p>
          <a:r>
            <a:rPr lang="en-US"/>
            <a:t>How accurate is the data?</a:t>
          </a:r>
        </a:p>
      </dgm:t>
    </dgm:pt>
    <dgm:pt modelId="{E961E7FD-6AF7-4B5A-BCF9-4AC2B55826AA}" type="parTrans" cxnId="{4E3A8C62-70A6-46BF-8F3B-75CAB527166F}">
      <dgm:prSet/>
      <dgm:spPr/>
      <dgm:t>
        <a:bodyPr/>
        <a:lstStyle/>
        <a:p>
          <a:endParaRPr lang="en-US"/>
        </a:p>
      </dgm:t>
    </dgm:pt>
    <dgm:pt modelId="{028B6FFB-F4BA-4710-8A5D-9D24395C152F}" type="sibTrans" cxnId="{4E3A8C62-70A6-46BF-8F3B-75CAB527166F}">
      <dgm:prSet/>
      <dgm:spPr/>
      <dgm:t>
        <a:bodyPr/>
        <a:lstStyle/>
        <a:p>
          <a:endParaRPr lang="en-US"/>
        </a:p>
      </dgm:t>
    </dgm:pt>
    <dgm:pt modelId="{37F5A76D-1F3F-4019-9501-72C384AC1695}">
      <dgm:prSet/>
      <dgm:spPr/>
      <dgm:t>
        <a:bodyPr/>
        <a:lstStyle/>
        <a:p>
          <a:r>
            <a:rPr lang="en-US"/>
            <a:t>All data has measurement error</a:t>
          </a:r>
        </a:p>
      </dgm:t>
    </dgm:pt>
    <dgm:pt modelId="{C8089E58-9D04-485B-B41B-F97F6C052386}" type="parTrans" cxnId="{5E1580F1-F8D8-4DAA-8889-E68BA22D416B}">
      <dgm:prSet/>
      <dgm:spPr/>
      <dgm:t>
        <a:bodyPr/>
        <a:lstStyle/>
        <a:p>
          <a:endParaRPr lang="en-US"/>
        </a:p>
      </dgm:t>
    </dgm:pt>
    <dgm:pt modelId="{5AB5EA5C-8B08-484C-BDE4-06B6BF7D4EB2}" type="sibTrans" cxnId="{5E1580F1-F8D8-4DAA-8889-E68BA22D416B}">
      <dgm:prSet/>
      <dgm:spPr/>
      <dgm:t>
        <a:bodyPr/>
        <a:lstStyle/>
        <a:p>
          <a:endParaRPr lang="en-US"/>
        </a:p>
      </dgm:t>
    </dgm:pt>
    <dgm:pt modelId="{F8B83A05-94C7-4914-AA2E-D795155FBC98}">
      <dgm:prSet/>
      <dgm:spPr/>
      <dgm:t>
        <a:bodyPr/>
        <a:lstStyle/>
        <a:p>
          <a:r>
            <a:rPr lang="en-US"/>
            <a:t>Allowable level of error depends on the situation</a:t>
          </a:r>
        </a:p>
      </dgm:t>
    </dgm:pt>
    <dgm:pt modelId="{8725DE9B-0040-4012-9A40-1CC3E650BB6B}" type="parTrans" cxnId="{4F7FC0FB-206A-4FE4-837C-9C51CF178285}">
      <dgm:prSet/>
      <dgm:spPr/>
      <dgm:t>
        <a:bodyPr/>
        <a:lstStyle/>
        <a:p>
          <a:endParaRPr lang="en-US"/>
        </a:p>
      </dgm:t>
    </dgm:pt>
    <dgm:pt modelId="{1FE67B03-1B9A-44F7-93ED-06AB74121943}" type="sibTrans" cxnId="{4F7FC0FB-206A-4FE4-837C-9C51CF178285}">
      <dgm:prSet/>
      <dgm:spPr/>
      <dgm:t>
        <a:bodyPr/>
        <a:lstStyle/>
        <a:p>
          <a:endParaRPr lang="en-US"/>
        </a:p>
      </dgm:t>
    </dgm:pt>
    <dgm:pt modelId="{66FF73F0-4BD2-4A5C-BC26-B976B28DD9C9}">
      <dgm:prSet/>
      <dgm:spPr/>
      <dgm:t>
        <a:bodyPr/>
        <a:lstStyle/>
        <a:p>
          <a:r>
            <a:rPr lang="en-US"/>
            <a:t>Are the variables/labels in the data useful?</a:t>
          </a:r>
        </a:p>
      </dgm:t>
    </dgm:pt>
    <dgm:pt modelId="{F1C37CA6-4946-42D8-AA93-62D32D201180}" type="parTrans" cxnId="{0ED0F134-A838-43DB-B119-4D85B9D2C736}">
      <dgm:prSet/>
      <dgm:spPr/>
      <dgm:t>
        <a:bodyPr/>
        <a:lstStyle/>
        <a:p>
          <a:endParaRPr lang="en-US"/>
        </a:p>
      </dgm:t>
    </dgm:pt>
    <dgm:pt modelId="{6F5943C6-8BD1-427D-8D6D-2588174FFF22}" type="sibTrans" cxnId="{0ED0F134-A838-43DB-B119-4D85B9D2C736}">
      <dgm:prSet/>
      <dgm:spPr/>
      <dgm:t>
        <a:bodyPr/>
        <a:lstStyle/>
        <a:p>
          <a:endParaRPr lang="en-US"/>
        </a:p>
      </dgm:t>
    </dgm:pt>
    <dgm:pt modelId="{3615937A-9C71-42CE-9597-B2162BE652E7}">
      <dgm:prSet/>
      <dgm:spPr/>
      <dgm:t>
        <a:bodyPr/>
        <a:lstStyle/>
        <a:p>
          <a:r>
            <a:rPr lang="en-US"/>
            <a:t>The quantification of the data should match real-world behavior</a:t>
          </a:r>
        </a:p>
      </dgm:t>
    </dgm:pt>
    <dgm:pt modelId="{DB1115E3-C4B3-4B2B-A796-37B135728670}" type="parTrans" cxnId="{ABD0AEBD-71DC-41E0-A740-2A020B973CDD}">
      <dgm:prSet/>
      <dgm:spPr/>
      <dgm:t>
        <a:bodyPr/>
        <a:lstStyle/>
        <a:p>
          <a:endParaRPr lang="en-US"/>
        </a:p>
      </dgm:t>
    </dgm:pt>
    <dgm:pt modelId="{4E70D195-C298-4EF2-9876-3D9CBEFB9761}" type="sibTrans" cxnId="{ABD0AEBD-71DC-41E0-A740-2A020B973CDD}">
      <dgm:prSet/>
      <dgm:spPr/>
      <dgm:t>
        <a:bodyPr/>
        <a:lstStyle/>
        <a:p>
          <a:endParaRPr lang="en-US"/>
        </a:p>
      </dgm:t>
    </dgm:pt>
    <dgm:pt modelId="{468D39CA-EFB1-4E48-BD2B-421328BBE059}">
      <dgm:prSet/>
      <dgm:spPr/>
      <dgm:t>
        <a:bodyPr/>
        <a:lstStyle/>
        <a:p>
          <a:r>
            <a:rPr lang="en-US"/>
            <a:t>Multiple measures of the same variable can help</a:t>
          </a:r>
        </a:p>
      </dgm:t>
    </dgm:pt>
    <dgm:pt modelId="{CC02E98B-5FF2-49C0-8588-DFB1AE38A3A0}" type="parTrans" cxnId="{511B55FD-AA9E-44CD-AC64-FD744ED5E76C}">
      <dgm:prSet/>
      <dgm:spPr/>
      <dgm:t>
        <a:bodyPr/>
        <a:lstStyle/>
        <a:p>
          <a:endParaRPr lang="en-US"/>
        </a:p>
      </dgm:t>
    </dgm:pt>
    <dgm:pt modelId="{2FD0538C-4CA5-4FE9-94A1-F38DA2E1A6BE}" type="sibTrans" cxnId="{511B55FD-AA9E-44CD-AC64-FD744ED5E76C}">
      <dgm:prSet/>
      <dgm:spPr/>
      <dgm:t>
        <a:bodyPr/>
        <a:lstStyle/>
        <a:p>
          <a:endParaRPr lang="en-US"/>
        </a:p>
      </dgm:t>
    </dgm:pt>
    <dgm:pt modelId="{37C4DDD5-D80C-4D58-8716-92A16620410F}">
      <dgm:prSet/>
      <dgm:spPr/>
      <dgm:t>
        <a:bodyPr/>
        <a:lstStyle/>
        <a:p>
          <a:r>
            <a:rPr lang="en-US"/>
            <a:t>How well does the data capture the problem/situation in the real-world?</a:t>
          </a:r>
        </a:p>
      </dgm:t>
    </dgm:pt>
    <dgm:pt modelId="{C516EC08-D3E3-41F3-8904-F662149E23EA}" type="parTrans" cxnId="{D4A12D6E-EB6C-4AE9-A85C-418D8CE5205A}">
      <dgm:prSet/>
      <dgm:spPr/>
      <dgm:t>
        <a:bodyPr/>
        <a:lstStyle/>
        <a:p>
          <a:endParaRPr lang="en-US"/>
        </a:p>
      </dgm:t>
    </dgm:pt>
    <dgm:pt modelId="{897D09C4-73AA-42DA-9F9B-9331923D4085}" type="sibTrans" cxnId="{D4A12D6E-EB6C-4AE9-A85C-418D8CE5205A}">
      <dgm:prSet/>
      <dgm:spPr/>
      <dgm:t>
        <a:bodyPr/>
        <a:lstStyle/>
        <a:p>
          <a:endParaRPr lang="en-US"/>
        </a:p>
      </dgm:t>
    </dgm:pt>
    <dgm:pt modelId="{0B118366-069A-4ECD-902E-B7BE8ED38060}">
      <dgm:prSet/>
      <dgm:spPr/>
      <dgm:t>
        <a:bodyPr/>
        <a:lstStyle/>
        <a:p>
          <a:r>
            <a:rPr lang="en-US"/>
            <a:t>Always consider how people approach the problem and how they will interact with the results</a:t>
          </a:r>
        </a:p>
      </dgm:t>
    </dgm:pt>
    <dgm:pt modelId="{A756047C-EB72-48A9-AAD4-EC7C03A7504A}" type="parTrans" cxnId="{B2434F67-3AEF-4824-B104-0DF312D979C3}">
      <dgm:prSet/>
      <dgm:spPr/>
      <dgm:t>
        <a:bodyPr/>
        <a:lstStyle/>
        <a:p>
          <a:endParaRPr lang="en-US"/>
        </a:p>
      </dgm:t>
    </dgm:pt>
    <dgm:pt modelId="{CCA18CC6-E734-4EF6-95E7-113AB2F027B4}" type="sibTrans" cxnId="{B2434F67-3AEF-4824-B104-0DF312D979C3}">
      <dgm:prSet/>
      <dgm:spPr/>
      <dgm:t>
        <a:bodyPr/>
        <a:lstStyle/>
        <a:p>
          <a:endParaRPr lang="en-US"/>
        </a:p>
      </dgm:t>
    </dgm:pt>
    <dgm:pt modelId="{5DA88564-AB8C-43C7-8367-EB765E2E6256}" type="pres">
      <dgm:prSet presAssocID="{37056D89-8D0D-4C15-9F72-051F50CFDCCB}" presName="Name0" presStyleCnt="0">
        <dgm:presLayoutVars>
          <dgm:dir/>
          <dgm:animLvl val="lvl"/>
          <dgm:resizeHandles val="exact"/>
        </dgm:presLayoutVars>
      </dgm:prSet>
      <dgm:spPr/>
    </dgm:pt>
    <dgm:pt modelId="{02DBD011-7292-4251-B8BB-4DA05273FACD}" type="pres">
      <dgm:prSet presAssocID="{DF2DDF15-53C0-4FB3-A154-35DD92DF4954}" presName="linNode" presStyleCnt="0"/>
      <dgm:spPr/>
    </dgm:pt>
    <dgm:pt modelId="{96F88ECC-92BC-4F73-93F0-82E39405CC01}" type="pres">
      <dgm:prSet presAssocID="{DF2DDF15-53C0-4FB3-A154-35DD92DF4954}" presName="parentText" presStyleLbl="node1" presStyleIdx="0" presStyleCnt="3">
        <dgm:presLayoutVars>
          <dgm:chMax val="1"/>
          <dgm:bulletEnabled val="1"/>
        </dgm:presLayoutVars>
      </dgm:prSet>
      <dgm:spPr/>
    </dgm:pt>
    <dgm:pt modelId="{19562FF0-B22E-43D7-B4CC-38563F97FD7A}" type="pres">
      <dgm:prSet presAssocID="{DF2DDF15-53C0-4FB3-A154-35DD92DF4954}" presName="descendantText" presStyleLbl="alignAccFollowNode1" presStyleIdx="0" presStyleCnt="3">
        <dgm:presLayoutVars>
          <dgm:bulletEnabled val="1"/>
        </dgm:presLayoutVars>
      </dgm:prSet>
      <dgm:spPr/>
    </dgm:pt>
    <dgm:pt modelId="{DB296470-EC10-4650-90B1-7A41D2E4F7C1}" type="pres">
      <dgm:prSet presAssocID="{028B6FFB-F4BA-4710-8A5D-9D24395C152F}" presName="sp" presStyleCnt="0"/>
      <dgm:spPr/>
    </dgm:pt>
    <dgm:pt modelId="{78CDAAAA-BC50-43F4-B143-BB1127415AE5}" type="pres">
      <dgm:prSet presAssocID="{66FF73F0-4BD2-4A5C-BC26-B976B28DD9C9}" presName="linNode" presStyleCnt="0"/>
      <dgm:spPr/>
    </dgm:pt>
    <dgm:pt modelId="{60CD1735-82D9-4F69-82C5-0D6CCA8B4084}" type="pres">
      <dgm:prSet presAssocID="{66FF73F0-4BD2-4A5C-BC26-B976B28DD9C9}" presName="parentText" presStyleLbl="node1" presStyleIdx="1" presStyleCnt="3">
        <dgm:presLayoutVars>
          <dgm:chMax val="1"/>
          <dgm:bulletEnabled val="1"/>
        </dgm:presLayoutVars>
      </dgm:prSet>
      <dgm:spPr/>
    </dgm:pt>
    <dgm:pt modelId="{FCD6B75B-C71D-45EB-9B8C-4620A2B2FF9E}" type="pres">
      <dgm:prSet presAssocID="{66FF73F0-4BD2-4A5C-BC26-B976B28DD9C9}" presName="descendantText" presStyleLbl="alignAccFollowNode1" presStyleIdx="1" presStyleCnt="3">
        <dgm:presLayoutVars>
          <dgm:bulletEnabled val="1"/>
        </dgm:presLayoutVars>
      </dgm:prSet>
      <dgm:spPr/>
    </dgm:pt>
    <dgm:pt modelId="{8D2E3D68-FB22-4E39-8A27-B8BA1207B1A3}" type="pres">
      <dgm:prSet presAssocID="{6F5943C6-8BD1-427D-8D6D-2588174FFF22}" presName="sp" presStyleCnt="0"/>
      <dgm:spPr/>
    </dgm:pt>
    <dgm:pt modelId="{9DEBEF7C-02E1-489C-ACFE-95EB27CAA890}" type="pres">
      <dgm:prSet presAssocID="{37C4DDD5-D80C-4D58-8716-92A16620410F}" presName="linNode" presStyleCnt="0"/>
      <dgm:spPr/>
    </dgm:pt>
    <dgm:pt modelId="{FB2FC582-71F1-40D4-81B5-DFEE52627B7A}" type="pres">
      <dgm:prSet presAssocID="{37C4DDD5-D80C-4D58-8716-92A16620410F}" presName="parentText" presStyleLbl="node1" presStyleIdx="2" presStyleCnt="3">
        <dgm:presLayoutVars>
          <dgm:chMax val="1"/>
          <dgm:bulletEnabled val="1"/>
        </dgm:presLayoutVars>
      </dgm:prSet>
      <dgm:spPr/>
    </dgm:pt>
    <dgm:pt modelId="{A9DF2029-C824-4B50-8089-6BC218335081}" type="pres">
      <dgm:prSet presAssocID="{37C4DDD5-D80C-4D58-8716-92A16620410F}" presName="descendantText" presStyleLbl="alignAccFollowNode1" presStyleIdx="2" presStyleCnt="3">
        <dgm:presLayoutVars>
          <dgm:bulletEnabled val="1"/>
        </dgm:presLayoutVars>
      </dgm:prSet>
      <dgm:spPr/>
    </dgm:pt>
  </dgm:ptLst>
  <dgm:cxnLst>
    <dgm:cxn modelId="{C6F3FE0D-284E-4B96-BF41-DF3D8FCFBD77}" type="presOf" srcId="{37C4DDD5-D80C-4D58-8716-92A16620410F}" destId="{FB2FC582-71F1-40D4-81B5-DFEE52627B7A}" srcOrd="0" destOrd="0" presId="urn:microsoft.com/office/officeart/2005/8/layout/vList5"/>
    <dgm:cxn modelId="{0ACD7811-9764-4A98-A1B7-DCB1EE27091E}" type="presOf" srcId="{66FF73F0-4BD2-4A5C-BC26-B976B28DD9C9}" destId="{60CD1735-82D9-4F69-82C5-0D6CCA8B4084}" srcOrd="0" destOrd="0" presId="urn:microsoft.com/office/officeart/2005/8/layout/vList5"/>
    <dgm:cxn modelId="{0ED0F134-A838-43DB-B119-4D85B9D2C736}" srcId="{37056D89-8D0D-4C15-9F72-051F50CFDCCB}" destId="{66FF73F0-4BD2-4A5C-BC26-B976B28DD9C9}" srcOrd="1" destOrd="0" parTransId="{F1C37CA6-4946-42D8-AA93-62D32D201180}" sibTransId="{6F5943C6-8BD1-427D-8D6D-2588174FFF22}"/>
    <dgm:cxn modelId="{4E3A8C62-70A6-46BF-8F3B-75CAB527166F}" srcId="{37056D89-8D0D-4C15-9F72-051F50CFDCCB}" destId="{DF2DDF15-53C0-4FB3-A154-35DD92DF4954}" srcOrd="0" destOrd="0" parTransId="{E961E7FD-6AF7-4B5A-BCF9-4AC2B55826AA}" sibTransId="{028B6FFB-F4BA-4710-8A5D-9D24395C152F}"/>
    <dgm:cxn modelId="{B2434F67-3AEF-4824-B104-0DF312D979C3}" srcId="{37C4DDD5-D80C-4D58-8716-92A16620410F}" destId="{0B118366-069A-4ECD-902E-B7BE8ED38060}" srcOrd="0" destOrd="0" parTransId="{A756047C-EB72-48A9-AAD4-EC7C03A7504A}" sibTransId="{CCA18CC6-E734-4EF6-95E7-113AB2F027B4}"/>
    <dgm:cxn modelId="{D4A12D6E-EB6C-4AE9-A85C-418D8CE5205A}" srcId="{37056D89-8D0D-4C15-9F72-051F50CFDCCB}" destId="{37C4DDD5-D80C-4D58-8716-92A16620410F}" srcOrd="2" destOrd="0" parTransId="{C516EC08-D3E3-41F3-8904-F662149E23EA}" sibTransId="{897D09C4-73AA-42DA-9F9B-9331923D4085}"/>
    <dgm:cxn modelId="{86CA8178-0AB0-407F-8B06-987B4F9A56BC}" type="presOf" srcId="{F8B83A05-94C7-4914-AA2E-D795155FBC98}" destId="{19562FF0-B22E-43D7-B4CC-38563F97FD7A}" srcOrd="0" destOrd="1" presId="urn:microsoft.com/office/officeart/2005/8/layout/vList5"/>
    <dgm:cxn modelId="{CE807D81-616C-4B94-95D7-F90A6441A7C4}" type="presOf" srcId="{37056D89-8D0D-4C15-9F72-051F50CFDCCB}" destId="{5DA88564-AB8C-43C7-8367-EB765E2E6256}" srcOrd="0" destOrd="0" presId="urn:microsoft.com/office/officeart/2005/8/layout/vList5"/>
    <dgm:cxn modelId="{ABD0AEBD-71DC-41E0-A740-2A020B973CDD}" srcId="{66FF73F0-4BD2-4A5C-BC26-B976B28DD9C9}" destId="{3615937A-9C71-42CE-9597-B2162BE652E7}" srcOrd="0" destOrd="0" parTransId="{DB1115E3-C4B3-4B2B-A796-37B135728670}" sibTransId="{4E70D195-C298-4EF2-9876-3D9CBEFB9761}"/>
    <dgm:cxn modelId="{0B75CFC6-5BE8-40A1-B84C-4030449357C6}" type="presOf" srcId="{3615937A-9C71-42CE-9597-B2162BE652E7}" destId="{FCD6B75B-C71D-45EB-9B8C-4620A2B2FF9E}" srcOrd="0" destOrd="0" presId="urn:microsoft.com/office/officeart/2005/8/layout/vList5"/>
    <dgm:cxn modelId="{748B81D2-AFDF-4961-B3FE-41651DB7338E}" type="presOf" srcId="{468D39CA-EFB1-4E48-BD2B-421328BBE059}" destId="{FCD6B75B-C71D-45EB-9B8C-4620A2B2FF9E}" srcOrd="0" destOrd="1" presId="urn:microsoft.com/office/officeart/2005/8/layout/vList5"/>
    <dgm:cxn modelId="{8915EAE1-8715-456A-8275-CCA053F532D5}" type="presOf" srcId="{37F5A76D-1F3F-4019-9501-72C384AC1695}" destId="{19562FF0-B22E-43D7-B4CC-38563F97FD7A}" srcOrd="0" destOrd="0" presId="urn:microsoft.com/office/officeart/2005/8/layout/vList5"/>
    <dgm:cxn modelId="{45349BE8-B44B-4144-8C74-2BD18ACB6542}" type="presOf" srcId="{DF2DDF15-53C0-4FB3-A154-35DD92DF4954}" destId="{96F88ECC-92BC-4F73-93F0-82E39405CC01}" srcOrd="0" destOrd="0" presId="urn:microsoft.com/office/officeart/2005/8/layout/vList5"/>
    <dgm:cxn modelId="{5E1580F1-F8D8-4DAA-8889-E68BA22D416B}" srcId="{DF2DDF15-53C0-4FB3-A154-35DD92DF4954}" destId="{37F5A76D-1F3F-4019-9501-72C384AC1695}" srcOrd="0" destOrd="0" parTransId="{C8089E58-9D04-485B-B41B-F97F6C052386}" sibTransId="{5AB5EA5C-8B08-484C-BDE4-06B6BF7D4EB2}"/>
    <dgm:cxn modelId="{DE4DCFF3-C7D9-4562-A06B-CC60FC870545}" type="presOf" srcId="{0B118366-069A-4ECD-902E-B7BE8ED38060}" destId="{A9DF2029-C824-4B50-8089-6BC218335081}" srcOrd="0" destOrd="0" presId="urn:microsoft.com/office/officeart/2005/8/layout/vList5"/>
    <dgm:cxn modelId="{4F7FC0FB-206A-4FE4-837C-9C51CF178285}" srcId="{DF2DDF15-53C0-4FB3-A154-35DD92DF4954}" destId="{F8B83A05-94C7-4914-AA2E-D795155FBC98}" srcOrd="1" destOrd="0" parTransId="{8725DE9B-0040-4012-9A40-1CC3E650BB6B}" sibTransId="{1FE67B03-1B9A-44F7-93ED-06AB74121943}"/>
    <dgm:cxn modelId="{511B55FD-AA9E-44CD-AC64-FD744ED5E76C}" srcId="{66FF73F0-4BD2-4A5C-BC26-B976B28DD9C9}" destId="{468D39CA-EFB1-4E48-BD2B-421328BBE059}" srcOrd="1" destOrd="0" parTransId="{CC02E98B-5FF2-49C0-8588-DFB1AE38A3A0}" sibTransId="{2FD0538C-4CA5-4FE9-94A1-F38DA2E1A6BE}"/>
    <dgm:cxn modelId="{4AAEBB4F-2BD2-447D-9634-2745A62B563B}" type="presParOf" srcId="{5DA88564-AB8C-43C7-8367-EB765E2E6256}" destId="{02DBD011-7292-4251-B8BB-4DA05273FACD}" srcOrd="0" destOrd="0" presId="urn:microsoft.com/office/officeart/2005/8/layout/vList5"/>
    <dgm:cxn modelId="{8D1DEA99-4A1A-441F-BFD4-50F1DA8D6798}" type="presParOf" srcId="{02DBD011-7292-4251-B8BB-4DA05273FACD}" destId="{96F88ECC-92BC-4F73-93F0-82E39405CC01}" srcOrd="0" destOrd="0" presId="urn:microsoft.com/office/officeart/2005/8/layout/vList5"/>
    <dgm:cxn modelId="{3173D08E-42EF-4C37-B0FA-C5B2CAF6D6D1}" type="presParOf" srcId="{02DBD011-7292-4251-B8BB-4DA05273FACD}" destId="{19562FF0-B22E-43D7-B4CC-38563F97FD7A}" srcOrd="1" destOrd="0" presId="urn:microsoft.com/office/officeart/2005/8/layout/vList5"/>
    <dgm:cxn modelId="{8391D22F-CB0A-4E96-B993-72E602AF498D}" type="presParOf" srcId="{5DA88564-AB8C-43C7-8367-EB765E2E6256}" destId="{DB296470-EC10-4650-90B1-7A41D2E4F7C1}" srcOrd="1" destOrd="0" presId="urn:microsoft.com/office/officeart/2005/8/layout/vList5"/>
    <dgm:cxn modelId="{7567A433-4B61-4201-B70C-F2E9F227DD7B}" type="presParOf" srcId="{5DA88564-AB8C-43C7-8367-EB765E2E6256}" destId="{78CDAAAA-BC50-43F4-B143-BB1127415AE5}" srcOrd="2" destOrd="0" presId="urn:microsoft.com/office/officeart/2005/8/layout/vList5"/>
    <dgm:cxn modelId="{2F791B50-4FD6-4D9C-898B-09E508E1065C}" type="presParOf" srcId="{78CDAAAA-BC50-43F4-B143-BB1127415AE5}" destId="{60CD1735-82D9-4F69-82C5-0D6CCA8B4084}" srcOrd="0" destOrd="0" presId="urn:microsoft.com/office/officeart/2005/8/layout/vList5"/>
    <dgm:cxn modelId="{535E8779-41BD-4B84-B200-C7D47A38E3F0}" type="presParOf" srcId="{78CDAAAA-BC50-43F4-B143-BB1127415AE5}" destId="{FCD6B75B-C71D-45EB-9B8C-4620A2B2FF9E}" srcOrd="1" destOrd="0" presId="urn:microsoft.com/office/officeart/2005/8/layout/vList5"/>
    <dgm:cxn modelId="{02116A18-A1B7-4BF9-A7A4-590F19F877F8}" type="presParOf" srcId="{5DA88564-AB8C-43C7-8367-EB765E2E6256}" destId="{8D2E3D68-FB22-4E39-8A27-B8BA1207B1A3}" srcOrd="3" destOrd="0" presId="urn:microsoft.com/office/officeart/2005/8/layout/vList5"/>
    <dgm:cxn modelId="{7AAB1DE1-7BF3-4A0B-9245-F1404FF53F39}" type="presParOf" srcId="{5DA88564-AB8C-43C7-8367-EB765E2E6256}" destId="{9DEBEF7C-02E1-489C-ACFE-95EB27CAA890}" srcOrd="4" destOrd="0" presId="urn:microsoft.com/office/officeart/2005/8/layout/vList5"/>
    <dgm:cxn modelId="{13A5A78A-6754-47ED-9E58-1273F352AA60}" type="presParOf" srcId="{9DEBEF7C-02E1-489C-ACFE-95EB27CAA890}" destId="{FB2FC582-71F1-40D4-81B5-DFEE52627B7A}" srcOrd="0" destOrd="0" presId="urn:microsoft.com/office/officeart/2005/8/layout/vList5"/>
    <dgm:cxn modelId="{81D0F561-6C07-44CE-8F01-A81B0116844A}" type="presParOf" srcId="{9DEBEF7C-02E1-489C-ACFE-95EB27CAA890}" destId="{A9DF2029-C824-4B50-8089-6BC21833508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9C4518-7EA1-4D2F-ADD6-3F3DDA8CF9AC}" type="doc">
      <dgm:prSet loTypeId="urn:microsoft.com/office/officeart/2018/2/layout/IconCircleList" loCatId="icon" qsTypeId="urn:microsoft.com/office/officeart/2005/8/quickstyle/simple1" qsCatId="simple" csTypeId="urn:microsoft.com/office/officeart/2018/5/colors/Iconchunking_coloredtext_colorful5" csCatId="colorful" phldr="1"/>
      <dgm:spPr/>
      <dgm:t>
        <a:bodyPr/>
        <a:lstStyle/>
        <a:p>
          <a:endParaRPr lang="en-US"/>
        </a:p>
      </dgm:t>
    </dgm:pt>
    <dgm:pt modelId="{5F459485-167E-4FCC-87BD-DC46B9EC46CA}">
      <dgm:prSet/>
      <dgm:spPr/>
      <dgm:t>
        <a:bodyPr/>
        <a:lstStyle/>
        <a:p>
          <a:r>
            <a:rPr lang="en-US"/>
            <a:t>Does the data represent the people/situations that the model/algorithm will be applied to?</a:t>
          </a:r>
        </a:p>
      </dgm:t>
    </dgm:pt>
    <dgm:pt modelId="{BD0CB82B-A780-438E-B4D5-641874C1B871}" type="parTrans" cxnId="{29D74C4F-05B8-43DD-BE86-F07DD6426BB5}">
      <dgm:prSet/>
      <dgm:spPr/>
      <dgm:t>
        <a:bodyPr/>
        <a:lstStyle/>
        <a:p>
          <a:endParaRPr lang="en-US"/>
        </a:p>
      </dgm:t>
    </dgm:pt>
    <dgm:pt modelId="{54EE498A-5940-4709-923E-E30D7D710119}" type="sibTrans" cxnId="{29D74C4F-05B8-43DD-BE86-F07DD6426BB5}">
      <dgm:prSet/>
      <dgm:spPr/>
      <dgm:t>
        <a:bodyPr/>
        <a:lstStyle/>
        <a:p>
          <a:endParaRPr lang="en-US"/>
        </a:p>
      </dgm:t>
    </dgm:pt>
    <dgm:pt modelId="{9EE8C3F1-4050-4810-B76A-DC6EEA2B22CA}">
      <dgm:prSet/>
      <dgm:spPr/>
      <dgm:t>
        <a:bodyPr/>
        <a:lstStyle/>
        <a:p>
          <a:r>
            <a:rPr lang="en-US"/>
            <a:t>How diverse is the data set?</a:t>
          </a:r>
        </a:p>
      </dgm:t>
    </dgm:pt>
    <dgm:pt modelId="{18ACA321-EE39-4A36-9A68-723AB70FF6A7}" type="parTrans" cxnId="{2538337D-E0E5-48B0-9B25-96476C85E2A0}">
      <dgm:prSet/>
      <dgm:spPr/>
      <dgm:t>
        <a:bodyPr/>
        <a:lstStyle/>
        <a:p>
          <a:endParaRPr lang="en-US"/>
        </a:p>
      </dgm:t>
    </dgm:pt>
    <dgm:pt modelId="{F83FE836-CAB5-487A-B2DE-278F154C4DB6}" type="sibTrans" cxnId="{2538337D-E0E5-48B0-9B25-96476C85E2A0}">
      <dgm:prSet/>
      <dgm:spPr/>
      <dgm:t>
        <a:bodyPr/>
        <a:lstStyle/>
        <a:p>
          <a:endParaRPr lang="en-US"/>
        </a:p>
      </dgm:t>
    </dgm:pt>
    <dgm:pt modelId="{436E2F3F-DAF5-491C-A14D-D8D161A6A915}">
      <dgm:prSet/>
      <dgm:spPr/>
      <dgm:t>
        <a:bodyPr/>
        <a:lstStyle/>
        <a:p>
          <a:r>
            <a:rPr lang="en-US"/>
            <a:t>Are there some categories or ranges of variables missing?</a:t>
          </a:r>
        </a:p>
      </dgm:t>
    </dgm:pt>
    <dgm:pt modelId="{9B127E27-B62A-44DD-B4CE-83556E5875CE}" type="parTrans" cxnId="{112FCA37-3C71-435D-AA29-8EA230E08988}">
      <dgm:prSet/>
      <dgm:spPr/>
      <dgm:t>
        <a:bodyPr/>
        <a:lstStyle/>
        <a:p>
          <a:endParaRPr lang="en-US"/>
        </a:p>
      </dgm:t>
    </dgm:pt>
    <dgm:pt modelId="{89FFC556-52E8-4120-8344-7CBDF0EAF27A}" type="sibTrans" cxnId="{112FCA37-3C71-435D-AA29-8EA230E08988}">
      <dgm:prSet/>
      <dgm:spPr/>
      <dgm:t>
        <a:bodyPr/>
        <a:lstStyle/>
        <a:p>
          <a:endParaRPr lang="en-US"/>
        </a:p>
      </dgm:t>
    </dgm:pt>
    <dgm:pt modelId="{FAA0684B-AE97-4FA6-994B-E22F575022A9}">
      <dgm:prSet/>
      <dgm:spPr/>
      <dgm:t>
        <a:bodyPr/>
        <a:lstStyle/>
        <a:p>
          <a:r>
            <a:rPr lang="en-US"/>
            <a:t>How flexible is the model to apply to new situations and datasets?</a:t>
          </a:r>
        </a:p>
      </dgm:t>
    </dgm:pt>
    <dgm:pt modelId="{EC93BE1F-0996-4314-875E-6B9D29C566BE}" type="parTrans" cxnId="{35E0CD44-3A9F-4952-8845-C8FBC4EC66BB}">
      <dgm:prSet/>
      <dgm:spPr/>
      <dgm:t>
        <a:bodyPr/>
        <a:lstStyle/>
        <a:p>
          <a:endParaRPr lang="en-US"/>
        </a:p>
      </dgm:t>
    </dgm:pt>
    <dgm:pt modelId="{3080B8D6-6C1E-42EA-933D-C37DCCC4EBFA}" type="sibTrans" cxnId="{35E0CD44-3A9F-4952-8845-C8FBC4EC66BB}">
      <dgm:prSet/>
      <dgm:spPr/>
      <dgm:t>
        <a:bodyPr/>
        <a:lstStyle/>
        <a:p>
          <a:endParaRPr lang="en-US"/>
        </a:p>
      </dgm:t>
    </dgm:pt>
    <dgm:pt modelId="{A7D91283-EEE6-4D66-94C6-D171D94925A9}" type="pres">
      <dgm:prSet presAssocID="{779C4518-7EA1-4D2F-ADD6-3F3DDA8CF9AC}" presName="root" presStyleCnt="0">
        <dgm:presLayoutVars>
          <dgm:dir/>
          <dgm:resizeHandles val="exact"/>
        </dgm:presLayoutVars>
      </dgm:prSet>
      <dgm:spPr/>
    </dgm:pt>
    <dgm:pt modelId="{EC9A51D9-F200-4E9C-B1ED-0A261999763C}" type="pres">
      <dgm:prSet presAssocID="{779C4518-7EA1-4D2F-ADD6-3F3DDA8CF9AC}" presName="container" presStyleCnt="0">
        <dgm:presLayoutVars>
          <dgm:dir/>
          <dgm:resizeHandles val="exact"/>
        </dgm:presLayoutVars>
      </dgm:prSet>
      <dgm:spPr/>
    </dgm:pt>
    <dgm:pt modelId="{FAF75CC2-188A-4C34-A7F5-90E23CB71A38}" type="pres">
      <dgm:prSet presAssocID="{5F459485-167E-4FCC-87BD-DC46B9EC46CA}" presName="compNode" presStyleCnt="0"/>
      <dgm:spPr/>
    </dgm:pt>
    <dgm:pt modelId="{4A2ED3F3-3D0D-436D-A744-8AF565C1421E}" type="pres">
      <dgm:prSet presAssocID="{5F459485-167E-4FCC-87BD-DC46B9EC46CA}" presName="iconBgRect" presStyleLbl="bgShp" presStyleIdx="0" presStyleCnt="4"/>
      <dgm:spPr/>
    </dgm:pt>
    <dgm:pt modelId="{94BBE9AA-257C-4524-911C-231AE52C8CFF}" type="pres">
      <dgm:prSet presAssocID="{5F459485-167E-4FCC-87BD-DC46B9EC46C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428D5B79-7791-4559-B144-7D5EAE8703B1}" type="pres">
      <dgm:prSet presAssocID="{5F459485-167E-4FCC-87BD-DC46B9EC46CA}" presName="spaceRect" presStyleCnt="0"/>
      <dgm:spPr/>
    </dgm:pt>
    <dgm:pt modelId="{45B74CD9-AB49-4F4B-AB49-17645986FBC4}" type="pres">
      <dgm:prSet presAssocID="{5F459485-167E-4FCC-87BD-DC46B9EC46CA}" presName="textRect" presStyleLbl="revTx" presStyleIdx="0" presStyleCnt="4">
        <dgm:presLayoutVars>
          <dgm:chMax val="1"/>
          <dgm:chPref val="1"/>
        </dgm:presLayoutVars>
      </dgm:prSet>
      <dgm:spPr/>
    </dgm:pt>
    <dgm:pt modelId="{501587B1-AA4C-4C37-A41B-75456675C613}" type="pres">
      <dgm:prSet presAssocID="{54EE498A-5940-4709-923E-E30D7D710119}" presName="sibTrans" presStyleLbl="sibTrans2D1" presStyleIdx="0" presStyleCnt="0"/>
      <dgm:spPr/>
    </dgm:pt>
    <dgm:pt modelId="{AA6350DE-8ADB-4619-834D-CB0A287A32B1}" type="pres">
      <dgm:prSet presAssocID="{9EE8C3F1-4050-4810-B76A-DC6EEA2B22CA}" presName="compNode" presStyleCnt="0"/>
      <dgm:spPr/>
    </dgm:pt>
    <dgm:pt modelId="{C02B78CF-228C-474C-88DB-981FD55CC730}" type="pres">
      <dgm:prSet presAssocID="{9EE8C3F1-4050-4810-B76A-DC6EEA2B22CA}" presName="iconBgRect" presStyleLbl="bgShp" presStyleIdx="1" presStyleCnt="4"/>
      <dgm:spPr/>
    </dgm:pt>
    <dgm:pt modelId="{1711A4D5-A7D2-40E1-AE73-E2592C36139C}" type="pres">
      <dgm:prSet presAssocID="{9EE8C3F1-4050-4810-B76A-DC6EEA2B22C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a:ext>
      </dgm:extLst>
    </dgm:pt>
    <dgm:pt modelId="{1E548AD2-9BA8-4CC4-AC1E-3F534C2F45AA}" type="pres">
      <dgm:prSet presAssocID="{9EE8C3F1-4050-4810-B76A-DC6EEA2B22CA}" presName="spaceRect" presStyleCnt="0"/>
      <dgm:spPr/>
    </dgm:pt>
    <dgm:pt modelId="{09B87708-63A7-4638-906D-42E70C5CEDF5}" type="pres">
      <dgm:prSet presAssocID="{9EE8C3F1-4050-4810-B76A-DC6EEA2B22CA}" presName="textRect" presStyleLbl="revTx" presStyleIdx="1" presStyleCnt="4">
        <dgm:presLayoutVars>
          <dgm:chMax val="1"/>
          <dgm:chPref val="1"/>
        </dgm:presLayoutVars>
      </dgm:prSet>
      <dgm:spPr/>
    </dgm:pt>
    <dgm:pt modelId="{0055367D-A999-4AD8-A711-91727820CCEA}" type="pres">
      <dgm:prSet presAssocID="{F83FE836-CAB5-487A-B2DE-278F154C4DB6}" presName="sibTrans" presStyleLbl="sibTrans2D1" presStyleIdx="0" presStyleCnt="0"/>
      <dgm:spPr/>
    </dgm:pt>
    <dgm:pt modelId="{5CB1085D-2722-4431-AA1E-EBD37215F799}" type="pres">
      <dgm:prSet presAssocID="{436E2F3F-DAF5-491C-A14D-D8D161A6A915}" presName="compNode" presStyleCnt="0"/>
      <dgm:spPr/>
    </dgm:pt>
    <dgm:pt modelId="{97F05670-7FE8-4DAA-85E0-84A031363493}" type="pres">
      <dgm:prSet presAssocID="{436E2F3F-DAF5-491C-A14D-D8D161A6A915}" presName="iconBgRect" presStyleLbl="bgShp" presStyleIdx="2" presStyleCnt="4"/>
      <dgm:spPr/>
    </dgm:pt>
    <dgm:pt modelId="{3DEE2A28-00C0-4AC0-819A-3B62B38C921D}" type="pres">
      <dgm:prSet presAssocID="{436E2F3F-DAF5-491C-A14D-D8D161A6A91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thematics"/>
        </a:ext>
      </dgm:extLst>
    </dgm:pt>
    <dgm:pt modelId="{6858BEDF-647A-4172-8ACF-81DFADD1294E}" type="pres">
      <dgm:prSet presAssocID="{436E2F3F-DAF5-491C-A14D-D8D161A6A915}" presName="spaceRect" presStyleCnt="0"/>
      <dgm:spPr/>
    </dgm:pt>
    <dgm:pt modelId="{6FCDCE40-2558-49DD-B030-484FDBB3B65E}" type="pres">
      <dgm:prSet presAssocID="{436E2F3F-DAF5-491C-A14D-D8D161A6A915}" presName="textRect" presStyleLbl="revTx" presStyleIdx="2" presStyleCnt="4">
        <dgm:presLayoutVars>
          <dgm:chMax val="1"/>
          <dgm:chPref val="1"/>
        </dgm:presLayoutVars>
      </dgm:prSet>
      <dgm:spPr/>
    </dgm:pt>
    <dgm:pt modelId="{1D0088AA-39BB-4CC7-B700-D2ABE766137A}" type="pres">
      <dgm:prSet presAssocID="{89FFC556-52E8-4120-8344-7CBDF0EAF27A}" presName="sibTrans" presStyleLbl="sibTrans2D1" presStyleIdx="0" presStyleCnt="0"/>
      <dgm:spPr/>
    </dgm:pt>
    <dgm:pt modelId="{37C133A6-BBA8-4B27-ADDA-7FBA15B9484D}" type="pres">
      <dgm:prSet presAssocID="{FAA0684B-AE97-4FA6-994B-E22F575022A9}" presName="compNode" presStyleCnt="0"/>
      <dgm:spPr/>
    </dgm:pt>
    <dgm:pt modelId="{C555668D-87CC-4584-BCD6-501FE1AAC3E0}" type="pres">
      <dgm:prSet presAssocID="{FAA0684B-AE97-4FA6-994B-E22F575022A9}" presName="iconBgRect" presStyleLbl="bgShp" presStyleIdx="3" presStyleCnt="4"/>
      <dgm:spPr/>
    </dgm:pt>
    <dgm:pt modelId="{EBE315BA-717C-4F1E-8F9D-31F2EAC7687B}" type="pres">
      <dgm:prSet presAssocID="{FAA0684B-AE97-4FA6-994B-E22F575022A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ze"/>
        </a:ext>
      </dgm:extLst>
    </dgm:pt>
    <dgm:pt modelId="{FDABE4D9-4B0C-4CAA-A6DE-7FA2A9F04ED9}" type="pres">
      <dgm:prSet presAssocID="{FAA0684B-AE97-4FA6-994B-E22F575022A9}" presName="spaceRect" presStyleCnt="0"/>
      <dgm:spPr/>
    </dgm:pt>
    <dgm:pt modelId="{0B158BCF-B5E0-4B6A-BCD3-24631275637F}" type="pres">
      <dgm:prSet presAssocID="{FAA0684B-AE97-4FA6-994B-E22F575022A9}" presName="textRect" presStyleLbl="revTx" presStyleIdx="3" presStyleCnt="4">
        <dgm:presLayoutVars>
          <dgm:chMax val="1"/>
          <dgm:chPref val="1"/>
        </dgm:presLayoutVars>
      </dgm:prSet>
      <dgm:spPr/>
    </dgm:pt>
  </dgm:ptLst>
  <dgm:cxnLst>
    <dgm:cxn modelId="{5F254A0E-0E4C-49BD-85FF-1F057DED2555}" type="presOf" srcId="{89FFC556-52E8-4120-8344-7CBDF0EAF27A}" destId="{1D0088AA-39BB-4CC7-B700-D2ABE766137A}" srcOrd="0" destOrd="0" presId="urn:microsoft.com/office/officeart/2018/2/layout/IconCircleList"/>
    <dgm:cxn modelId="{F2ACD925-A64B-42E3-9CD4-55A7EF3CB496}" type="presOf" srcId="{779C4518-7EA1-4D2F-ADD6-3F3DDA8CF9AC}" destId="{A7D91283-EEE6-4D66-94C6-D171D94925A9}" srcOrd="0" destOrd="0" presId="urn:microsoft.com/office/officeart/2018/2/layout/IconCircleList"/>
    <dgm:cxn modelId="{112FCA37-3C71-435D-AA29-8EA230E08988}" srcId="{779C4518-7EA1-4D2F-ADD6-3F3DDA8CF9AC}" destId="{436E2F3F-DAF5-491C-A14D-D8D161A6A915}" srcOrd="2" destOrd="0" parTransId="{9B127E27-B62A-44DD-B4CE-83556E5875CE}" sibTransId="{89FFC556-52E8-4120-8344-7CBDF0EAF27A}"/>
    <dgm:cxn modelId="{B5CEFF3A-6734-4B0F-8741-2875546B56D6}" type="presOf" srcId="{F83FE836-CAB5-487A-B2DE-278F154C4DB6}" destId="{0055367D-A999-4AD8-A711-91727820CCEA}" srcOrd="0" destOrd="0" presId="urn:microsoft.com/office/officeart/2018/2/layout/IconCircleList"/>
    <dgm:cxn modelId="{35E0CD44-3A9F-4952-8845-C8FBC4EC66BB}" srcId="{779C4518-7EA1-4D2F-ADD6-3F3DDA8CF9AC}" destId="{FAA0684B-AE97-4FA6-994B-E22F575022A9}" srcOrd="3" destOrd="0" parTransId="{EC93BE1F-0996-4314-875E-6B9D29C566BE}" sibTransId="{3080B8D6-6C1E-42EA-933D-C37DCCC4EBFA}"/>
    <dgm:cxn modelId="{29D74C4F-05B8-43DD-BE86-F07DD6426BB5}" srcId="{779C4518-7EA1-4D2F-ADD6-3F3DDA8CF9AC}" destId="{5F459485-167E-4FCC-87BD-DC46B9EC46CA}" srcOrd="0" destOrd="0" parTransId="{BD0CB82B-A780-438E-B4D5-641874C1B871}" sibTransId="{54EE498A-5940-4709-923E-E30D7D710119}"/>
    <dgm:cxn modelId="{46D5F153-7061-4460-A378-57E99E0CF368}" type="presOf" srcId="{9EE8C3F1-4050-4810-B76A-DC6EEA2B22CA}" destId="{09B87708-63A7-4638-906D-42E70C5CEDF5}" srcOrd="0" destOrd="0" presId="urn:microsoft.com/office/officeart/2018/2/layout/IconCircleList"/>
    <dgm:cxn modelId="{2538337D-E0E5-48B0-9B25-96476C85E2A0}" srcId="{779C4518-7EA1-4D2F-ADD6-3F3DDA8CF9AC}" destId="{9EE8C3F1-4050-4810-B76A-DC6EEA2B22CA}" srcOrd="1" destOrd="0" parTransId="{18ACA321-EE39-4A36-9A68-723AB70FF6A7}" sibTransId="{F83FE836-CAB5-487A-B2DE-278F154C4DB6}"/>
    <dgm:cxn modelId="{6FD21E92-EE5C-41F2-A673-BFF5AED63BFD}" type="presOf" srcId="{436E2F3F-DAF5-491C-A14D-D8D161A6A915}" destId="{6FCDCE40-2558-49DD-B030-484FDBB3B65E}" srcOrd="0" destOrd="0" presId="urn:microsoft.com/office/officeart/2018/2/layout/IconCircleList"/>
    <dgm:cxn modelId="{25C429B7-1F9B-40F7-A49C-9D645C77DA82}" type="presOf" srcId="{5F459485-167E-4FCC-87BD-DC46B9EC46CA}" destId="{45B74CD9-AB49-4F4B-AB49-17645986FBC4}" srcOrd="0" destOrd="0" presId="urn:microsoft.com/office/officeart/2018/2/layout/IconCircleList"/>
    <dgm:cxn modelId="{96D97EE0-BD9F-4A8A-9EAC-566D265F6264}" type="presOf" srcId="{54EE498A-5940-4709-923E-E30D7D710119}" destId="{501587B1-AA4C-4C37-A41B-75456675C613}" srcOrd="0" destOrd="0" presId="urn:microsoft.com/office/officeart/2018/2/layout/IconCircleList"/>
    <dgm:cxn modelId="{0DF589E3-9F5B-4DE6-8DE2-C28B0189619D}" type="presOf" srcId="{FAA0684B-AE97-4FA6-994B-E22F575022A9}" destId="{0B158BCF-B5E0-4B6A-BCD3-24631275637F}" srcOrd="0" destOrd="0" presId="urn:microsoft.com/office/officeart/2018/2/layout/IconCircleList"/>
    <dgm:cxn modelId="{5183A9BF-5D57-48F3-AFBA-C425B493F6A4}" type="presParOf" srcId="{A7D91283-EEE6-4D66-94C6-D171D94925A9}" destId="{EC9A51D9-F200-4E9C-B1ED-0A261999763C}" srcOrd="0" destOrd="0" presId="urn:microsoft.com/office/officeart/2018/2/layout/IconCircleList"/>
    <dgm:cxn modelId="{AFC90694-88B4-4D24-8041-A46FF34DBF78}" type="presParOf" srcId="{EC9A51D9-F200-4E9C-B1ED-0A261999763C}" destId="{FAF75CC2-188A-4C34-A7F5-90E23CB71A38}" srcOrd="0" destOrd="0" presId="urn:microsoft.com/office/officeart/2018/2/layout/IconCircleList"/>
    <dgm:cxn modelId="{A916A821-D71C-49CC-B193-ED744E652244}" type="presParOf" srcId="{FAF75CC2-188A-4C34-A7F5-90E23CB71A38}" destId="{4A2ED3F3-3D0D-436D-A744-8AF565C1421E}" srcOrd="0" destOrd="0" presId="urn:microsoft.com/office/officeart/2018/2/layout/IconCircleList"/>
    <dgm:cxn modelId="{AFB15298-45D9-42F6-A402-0A3FD78EE6B7}" type="presParOf" srcId="{FAF75CC2-188A-4C34-A7F5-90E23CB71A38}" destId="{94BBE9AA-257C-4524-911C-231AE52C8CFF}" srcOrd="1" destOrd="0" presId="urn:microsoft.com/office/officeart/2018/2/layout/IconCircleList"/>
    <dgm:cxn modelId="{0B0B761B-B04B-4E42-8ABA-33FD66ACED9D}" type="presParOf" srcId="{FAF75CC2-188A-4C34-A7F5-90E23CB71A38}" destId="{428D5B79-7791-4559-B144-7D5EAE8703B1}" srcOrd="2" destOrd="0" presId="urn:microsoft.com/office/officeart/2018/2/layout/IconCircleList"/>
    <dgm:cxn modelId="{71844381-AB2D-4232-825F-85C2E7F955EC}" type="presParOf" srcId="{FAF75CC2-188A-4C34-A7F5-90E23CB71A38}" destId="{45B74CD9-AB49-4F4B-AB49-17645986FBC4}" srcOrd="3" destOrd="0" presId="urn:microsoft.com/office/officeart/2018/2/layout/IconCircleList"/>
    <dgm:cxn modelId="{7704177C-7D34-4513-A7B2-BDBDB0C4A01B}" type="presParOf" srcId="{EC9A51D9-F200-4E9C-B1ED-0A261999763C}" destId="{501587B1-AA4C-4C37-A41B-75456675C613}" srcOrd="1" destOrd="0" presId="urn:microsoft.com/office/officeart/2018/2/layout/IconCircleList"/>
    <dgm:cxn modelId="{0478CA8E-38DE-4342-BF63-7B5EDD4BED91}" type="presParOf" srcId="{EC9A51D9-F200-4E9C-B1ED-0A261999763C}" destId="{AA6350DE-8ADB-4619-834D-CB0A287A32B1}" srcOrd="2" destOrd="0" presId="urn:microsoft.com/office/officeart/2018/2/layout/IconCircleList"/>
    <dgm:cxn modelId="{A9B6EB4B-EF90-42F6-8C64-C4025616052F}" type="presParOf" srcId="{AA6350DE-8ADB-4619-834D-CB0A287A32B1}" destId="{C02B78CF-228C-474C-88DB-981FD55CC730}" srcOrd="0" destOrd="0" presId="urn:microsoft.com/office/officeart/2018/2/layout/IconCircleList"/>
    <dgm:cxn modelId="{0FAB113C-E2B3-47B7-B644-86582BEE25A3}" type="presParOf" srcId="{AA6350DE-8ADB-4619-834D-CB0A287A32B1}" destId="{1711A4D5-A7D2-40E1-AE73-E2592C36139C}" srcOrd="1" destOrd="0" presId="urn:microsoft.com/office/officeart/2018/2/layout/IconCircleList"/>
    <dgm:cxn modelId="{AB0B1EE3-F951-47D7-8A8A-B5A01FCD5BCE}" type="presParOf" srcId="{AA6350DE-8ADB-4619-834D-CB0A287A32B1}" destId="{1E548AD2-9BA8-4CC4-AC1E-3F534C2F45AA}" srcOrd="2" destOrd="0" presId="urn:microsoft.com/office/officeart/2018/2/layout/IconCircleList"/>
    <dgm:cxn modelId="{DE9DEE93-039D-4449-81A2-C30987778065}" type="presParOf" srcId="{AA6350DE-8ADB-4619-834D-CB0A287A32B1}" destId="{09B87708-63A7-4638-906D-42E70C5CEDF5}" srcOrd="3" destOrd="0" presId="urn:microsoft.com/office/officeart/2018/2/layout/IconCircleList"/>
    <dgm:cxn modelId="{D97E4B0D-5FA9-4028-995C-008A2C777B3A}" type="presParOf" srcId="{EC9A51D9-F200-4E9C-B1ED-0A261999763C}" destId="{0055367D-A999-4AD8-A711-91727820CCEA}" srcOrd="3" destOrd="0" presId="urn:microsoft.com/office/officeart/2018/2/layout/IconCircleList"/>
    <dgm:cxn modelId="{2228775E-E543-4B2F-B1BC-F839E2705C4A}" type="presParOf" srcId="{EC9A51D9-F200-4E9C-B1ED-0A261999763C}" destId="{5CB1085D-2722-4431-AA1E-EBD37215F799}" srcOrd="4" destOrd="0" presId="urn:microsoft.com/office/officeart/2018/2/layout/IconCircleList"/>
    <dgm:cxn modelId="{581113C0-6B07-4219-9093-78A616D3B9E1}" type="presParOf" srcId="{5CB1085D-2722-4431-AA1E-EBD37215F799}" destId="{97F05670-7FE8-4DAA-85E0-84A031363493}" srcOrd="0" destOrd="0" presId="urn:microsoft.com/office/officeart/2018/2/layout/IconCircleList"/>
    <dgm:cxn modelId="{63DA38DD-1F58-4E14-BCEA-932CA5EF1F72}" type="presParOf" srcId="{5CB1085D-2722-4431-AA1E-EBD37215F799}" destId="{3DEE2A28-00C0-4AC0-819A-3B62B38C921D}" srcOrd="1" destOrd="0" presId="urn:microsoft.com/office/officeart/2018/2/layout/IconCircleList"/>
    <dgm:cxn modelId="{59A07792-A539-4FE3-A988-562A8E77DDB0}" type="presParOf" srcId="{5CB1085D-2722-4431-AA1E-EBD37215F799}" destId="{6858BEDF-647A-4172-8ACF-81DFADD1294E}" srcOrd="2" destOrd="0" presId="urn:microsoft.com/office/officeart/2018/2/layout/IconCircleList"/>
    <dgm:cxn modelId="{DF2C7329-BA71-4B0B-A213-6E64F5993971}" type="presParOf" srcId="{5CB1085D-2722-4431-AA1E-EBD37215F799}" destId="{6FCDCE40-2558-49DD-B030-484FDBB3B65E}" srcOrd="3" destOrd="0" presId="urn:microsoft.com/office/officeart/2018/2/layout/IconCircleList"/>
    <dgm:cxn modelId="{6C385390-DC17-41D1-A838-24DC56391C7B}" type="presParOf" srcId="{EC9A51D9-F200-4E9C-B1ED-0A261999763C}" destId="{1D0088AA-39BB-4CC7-B700-D2ABE766137A}" srcOrd="5" destOrd="0" presId="urn:microsoft.com/office/officeart/2018/2/layout/IconCircleList"/>
    <dgm:cxn modelId="{3E7F4E98-27A2-454A-B6CC-AC013A960495}" type="presParOf" srcId="{EC9A51D9-F200-4E9C-B1ED-0A261999763C}" destId="{37C133A6-BBA8-4B27-ADDA-7FBA15B9484D}" srcOrd="6" destOrd="0" presId="urn:microsoft.com/office/officeart/2018/2/layout/IconCircleList"/>
    <dgm:cxn modelId="{3E7E33F1-F422-48BB-9F19-53FBA4C34857}" type="presParOf" srcId="{37C133A6-BBA8-4B27-ADDA-7FBA15B9484D}" destId="{C555668D-87CC-4584-BCD6-501FE1AAC3E0}" srcOrd="0" destOrd="0" presId="urn:microsoft.com/office/officeart/2018/2/layout/IconCircleList"/>
    <dgm:cxn modelId="{ADD90D60-1139-49CF-B5DD-524319AD7E1A}" type="presParOf" srcId="{37C133A6-BBA8-4B27-ADDA-7FBA15B9484D}" destId="{EBE315BA-717C-4F1E-8F9D-31F2EAC7687B}" srcOrd="1" destOrd="0" presId="urn:microsoft.com/office/officeart/2018/2/layout/IconCircleList"/>
    <dgm:cxn modelId="{9764EC0D-327F-4860-9979-99B9DCFAB1AB}" type="presParOf" srcId="{37C133A6-BBA8-4B27-ADDA-7FBA15B9484D}" destId="{FDABE4D9-4B0C-4CAA-A6DE-7FA2A9F04ED9}" srcOrd="2" destOrd="0" presId="urn:microsoft.com/office/officeart/2018/2/layout/IconCircleList"/>
    <dgm:cxn modelId="{D13EAD02-4316-4065-888A-F945197C8AFF}" type="presParOf" srcId="{37C133A6-BBA8-4B27-ADDA-7FBA15B9484D}" destId="{0B158BCF-B5E0-4B6A-BCD3-24631275637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680C7A-DF83-420C-BC45-CAC9ECE1CBFF}"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B7E338B6-981B-4F48-9517-A880207E211D}">
      <dgm:prSet/>
      <dgm:spPr/>
      <dgm:t>
        <a:bodyPr/>
        <a:lstStyle/>
        <a:p>
          <a:r>
            <a:rPr lang="en-US"/>
            <a:t>Categorical</a:t>
          </a:r>
        </a:p>
      </dgm:t>
    </dgm:pt>
    <dgm:pt modelId="{97B8D028-81EE-4227-803E-AE87EF358ED1}" type="parTrans" cxnId="{D3D931FF-68B6-4B05-8D4B-A176B33A09A3}">
      <dgm:prSet/>
      <dgm:spPr/>
      <dgm:t>
        <a:bodyPr/>
        <a:lstStyle/>
        <a:p>
          <a:endParaRPr lang="en-US"/>
        </a:p>
      </dgm:t>
    </dgm:pt>
    <dgm:pt modelId="{2F978E48-A72C-466D-AD55-8FFDC2E63C79}" type="sibTrans" cxnId="{D3D931FF-68B6-4B05-8D4B-A176B33A09A3}">
      <dgm:prSet/>
      <dgm:spPr/>
      <dgm:t>
        <a:bodyPr/>
        <a:lstStyle/>
        <a:p>
          <a:endParaRPr lang="en-US"/>
        </a:p>
      </dgm:t>
    </dgm:pt>
    <dgm:pt modelId="{891143AD-97A4-4B08-8254-BB93E6A3E046}">
      <dgm:prSet/>
      <dgm:spPr/>
      <dgm:t>
        <a:bodyPr/>
        <a:lstStyle/>
        <a:p>
          <a:r>
            <a:rPr lang="en-US"/>
            <a:t>Nominal</a:t>
          </a:r>
        </a:p>
      </dgm:t>
    </dgm:pt>
    <dgm:pt modelId="{9BC823CB-DE8E-4954-A5A3-14B97BABC32C}" type="parTrans" cxnId="{63E2F0B9-51CF-4946-A311-0055F856C224}">
      <dgm:prSet/>
      <dgm:spPr/>
      <dgm:t>
        <a:bodyPr/>
        <a:lstStyle/>
        <a:p>
          <a:endParaRPr lang="en-US"/>
        </a:p>
      </dgm:t>
    </dgm:pt>
    <dgm:pt modelId="{FA92E8A9-98D3-4E3B-AE58-925326B02CA2}" type="sibTrans" cxnId="{63E2F0B9-51CF-4946-A311-0055F856C224}">
      <dgm:prSet/>
      <dgm:spPr/>
      <dgm:t>
        <a:bodyPr/>
        <a:lstStyle/>
        <a:p>
          <a:endParaRPr lang="en-US"/>
        </a:p>
      </dgm:t>
    </dgm:pt>
    <dgm:pt modelId="{99581E5D-904B-4104-94C0-925F4C7C9AAA}">
      <dgm:prSet/>
      <dgm:spPr/>
      <dgm:t>
        <a:bodyPr/>
        <a:lstStyle/>
        <a:p>
          <a:r>
            <a:rPr lang="en-US"/>
            <a:t>Ordinal</a:t>
          </a:r>
        </a:p>
      </dgm:t>
    </dgm:pt>
    <dgm:pt modelId="{4681B473-828F-4067-B0C8-94164A0472C3}" type="parTrans" cxnId="{233675E5-6B24-41AE-A71B-C14A19F4AAD8}">
      <dgm:prSet/>
      <dgm:spPr/>
      <dgm:t>
        <a:bodyPr/>
        <a:lstStyle/>
        <a:p>
          <a:endParaRPr lang="en-US"/>
        </a:p>
      </dgm:t>
    </dgm:pt>
    <dgm:pt modelId="{B06D5B35-2FAE-4D92-B1D3-FF5AE3551794}" type="sibTrans" cxnId="{233675E5-6B24-41AE-A71B-C14A19F4AAD8}">
      <dgm:prSet/>
      <dgm:spPr/>
      <dgm:t>
        <a:bodyPr/>
        <a:lstStyle/>
        <a:p>
          <a:endParaRPr lang="en-US"/>
        </a:p>
      </dgm:t>
    </dgm:pt>
    <dgm:pt modelId="{B255BF9F-7097-4BDB-AE6C-F721A7567F00}">
      <dgm:prSet/>
      <dgm:spPr/>
      <dgm:t>
        <a:bodyPr/>
        <a:lstStyle/>
        <a:p>
          <a:r>
            <a:rPr lang="en-US"/>
            <a:t>Numeric</a:t>
          </a:r>
        </a:p>
      </dgm:t>
    </dgm:pt>
    <dgm:pt modelId="{47BDB3DC-4E71-484F-8A1A-20AFE3167737}" type="parTrans" cxnId="{2DA3BB28-27B9-4EF1-AED5-4F78BF8F73F7}">
      <dgm:prSet/>
      <dgm:spPr/>
      <dgm:t>
        <a:bodyPr/>
        <a:lstStyle/>
        <a:p>
          <a:endParaRPr lang="en-US"/>
        </a:p>
      </dgm:t>
    </dgm:pt>
    <dgm:pt modelId="{79E1B5A8-35BE-4E7C-A404-1421C34D633F}" type="sibTrans" cxnId="{2DA3BB28-27B9-4EF1-AED5-4F78BF8F73F7}">
      <dgm:prSet/>
      <dgm:spPr/>
      <dgm:t>
        <a:bodyPr/>
        <a:lstStyle/>
        <a:p>
          <a:endParaRPr lang="en-US"/>
        </a:p>
      </dgm:t>
    </dgm:pt>
    <dgm:pt modelId="{C04F2904-DA1E-478F-9751-685B23FD5613}">
      <dgm:prSet/>
      <dgm:spPr/>
      <dgm:t>
        <a:bodyPr/>
        <a:lstStyle/>
        <a:p>
          <a:r>
            <a:rPr lang="en-US"/>
            <a:t>Interval</a:t>
          </a:r>
        </a:p>
      </dgm:t>
    </dgm:pt>
    <dgm:pt modelId="{D0D111D5-A364-4EDB-8914-8BD6B26C5266}" type="parTrans" cxnId="{E82CFB81-17AA-4C02-8ECF-CB2B1D22E8DD}">
      <dgm:prSet/>
      <dgm:spPr/>
      <dgm:t>
        <a:bodyPr/>
        <a:lstStyle/>
        <a:p>
          <a:endParaRPr lang="en-US"/>
        </a:p>
      </dgm:t>
    </dgm:pt>
    <dgm:pt modelId="{034F32DB-0F0D-43CA-BC81-E203176D0044}" type="sibTrans" cxnId="{E82CFB81-17AA-4C02-8ECF-CB2B1D22E8DD}">
      <dgm:prSet/>
      <dgm:spPr/>
      <dgm:t>
        <a:bodyPr/>
        <a:lstStyle/>
        <a:p>
          <a:endParaRPr lang="en-US"/>
        </a:p>
      </dgm:t>
    </dgm:pt>
    <dgm:pt modelId="{B6857BC2-BB9C-48FD-9D71-674F69EE2873}">
      <dgm:prSet/>
      <dgm:spPr/>
      <dgm:t>
        <a:bodyPr/>
        <a:lstStyle/>
        <a:p>
          <a:r>
            <a:rPr lang="en-US"/>
            <a:t>Ratio</a:t>
          </a:r>
        </a:p>
      </dgm:t>
    </dgm:pt>
    <dgm:pt modelId="{81ADCCE9-9FA4-4F8A-98A0-3050096B8BF0}" type="parTrans" cxnId="{D56017D2-7A2B-4172-819D-7307249B3812}">
      <dgm:prSet/>
      <dgm:spPr/>
      <dgm:t>
        <a:bodyPr/>
        <a:lstStyle/>
        <a:p>
          <a:endParaRPr lang="en-US"/>
        </a:p>
      </dgm:t>
    </dgm:pt>
    <dgm:pt modelId="{7F927489-8B9E-4CC9-92F1-0A004B3E8761}" type="sibTrans" cxnId="{D56017D2-7A2B-4172-819D-7307249B3812}">
      <dgm:prSet/>
      <dgm:spPr/>
      <dgm:t>
        <a:bodyPr/>
        <a:lstStyle/>
        <a:p>
          <a:endParaRPr lang="en-US"/>
        </a:p>
      </dgm:t>
    </dgm:pt>
    <dgm:pt modelId="{3417FEB2-EDCD-4D80-BB11-C619EE214752}">
      <dgm:prSet/>
      <dgm:spPr/>
      <dgm:t>
        <a:bodyPr/>
        <a:lstStyle/>
        <a:p>
          <a:r>
            <a:rPr lang="en-US"/>
            <a:t>Features</a:t>
          </a:r>
        </a:p>
      </dgm:t>
    </dgm:pt>
    <dgm:pt modelId="{37D74B3C-46E2-4FD0-9A95-3A424C762730}" type="parTrans" cxnId="{7468D5A0-2ED0-409A-B03A-0CCC834520BC}">
      <dgm:prSet/>
      <dgm:spPr/>
      <dgm:t>
        <a:bodyPr/>
        <a:lstStyle/>
        <a:p>
          <a:endParaRPr lang="en-US"/>
        </a:p>
      </dgm:t>
    </dgm:pt>
    <dgm:pt modelId="{5AA55BF5-BA06-499E-B434-5E6170DAFB7E}" type="sibTrans" cxnId="{7468D5A0-2ED0-409A-B03A-0CCC834520BC}">
      <dgm:prSet/>
      <dgm:spPr/>
      <dgm:t>
        <a:bodyPr/>
        <a:lstStyle/>
        <a:p>
          <a:endParaRPr lang="en-US"/>
        </a:p>
      </dgm:t>
    </dgm:pt>
    <dgm:pt modelId="{8C70A605-BE54-4C21-ADFE-0FACD418543B}">
      <dgm:prSet/>
      <dgm:spPr/>
      <dgm:t>
        <a:bodyPr/>
        <a:lstStyle/>
        <a:p>
          <a:r>
            <a:rPr lang="en-US"/>
            <a:t>Extracted from unstructured data</a:t>
          </a:r>
        </a:p>
      </dgm:t>
    </dgm:pt>
    <dgm:pt modelId="{67A832BB-768F-4A2F-8620-C871124215B5}" type="parTrans" cxnId="{6369BAF7-819F-4D8A-B95D-E0F7F31E6C2E}">
      <dgm:prSet/>
      <dgm:spPr/>
      <dgm:t>
        <a:bodyPr/>
        <a:lstStyle/>
        <a:p>
          <a:endParaRPr lang="en-US"/>
        </a:p>
      </dgm:t>
    </dgm:pt>
    <dgm:pt modelId="{3FE6F5E3-1C30-46AE-8DAA-5F13190073E7}" type="sibTrans" cxnId="{6369BAF7-819F-4D8A-B95D-E0F7F31E6C2E}">
      <dgm:prSet/>
      <dgm:spPr/>
      <dgm:t>
        <a:bodyPr/>
        <a:lstStyle/>
        <a:p>
          <a:endParaRPr lang="en-US"/>
        </a:p>
      </dgm:t>
    </dgm:pt>
    <dgm:pt modelId="{03066B83-B4AF-4A93-96ED-CB63D1D4A0B2}">
      <dgm:prSet/>
      <dgm:spPr/>
      <dgm:t>
        <a:bodyPr/>
        <a:lstStyle/>
        <a:p>
          <a:r>
            <a:rPr lang="en-US"/>
            <a:t>Developed from structured data</a:t>
          </a:r>
        </a:p>
      </dgm:t>
    </dgm:pt>
    <dgm:pt modelId="{D9CFDC77-EF89-4911-BA53-BBB21660355F}" type="parTrans" cxnId="{8048CDF7-48A1-42A7-AC72-1B2A90429721}">
      <dgm:prSet/>
      <dgm:spPr/>
      <dgm:t>
        <a:bodyPr/>
        <a:lstStyle/>
        <a:p>
          <a:endParaRPr lang="en-US"/>
        </a:p>
      </dgm:t>
    </dgm:pt>
    <dgm:pt modelId="{7B17C007-2218-4229-8AB3-205BE3750516}" type="sibTrans" cxnId="{8048CDF7-48A1-42A7-AC72-1B2A90429721}">
      <dgm:prSet/>
      <dgm:spPr/>
      <dgm:t>
        <a:bodyPr/>
        <a:lstStyle/>
        <a:p>
          <a:endParaRPr lang="en-US"/>
        </a:p>
      </dgm:t>
    </dgm:pt>
    <dgm:pt modelId="{C60508D0-1379-4C75-A38B-0B2603BA8BF1}" type="pres">
      <dgm:prSet presAssocID="{3E680C7A-DF83-420C-BC45-CAC9ECE1CBFF}" presName="Name0" presStyleCnt="0">
        <dgm:presLayoutVars>
          <dgm:dir/>
          <dgm:animLvl val="lvl"/>
          <dgm:resizeHandles val="exact"/>
        </dgm:presLayoutVars>
      </dgm:prSet>
      <dgm:spPr/>
    </dgm:pt>
    <dgm:pt modelId="{B0191B65-116B-46BC-B7FA-5B6D6915100D}" type="pres">
      <dgm:prSet presAssocID="{B7E338B6-981B-4F48-9517-A880207E211D}" presName="linNode" presStyleCnt="0"/>
      <dgm:spPr/>
    </dgm:pt>
    <dgm:pt modelId="{DE115533-51E3-4CD7-9981-6BC781677A45}" type="pres">
      <dgm:prSet presAssocID="{B7E338B6-981B-4F48-9517-A880207E211D}" presName="parentText" presStyleLbl="node1" presStyleIdx="0" presStyleCnt="3">
        <dgm:presLayoutVars>
          <dgm:chMax val="1"/>
          <dgm:bulletEnabled val="1"/>
        </dgm:presLayoutVars>
      </dgm:prSet>
      <dgm:spPr/>
    </dgm:pt>
    <dgm:pt modelId="{E71FB17D-1CA0-4E63-969B-D0F1C50C89F2}" type="pres">
      <dgm:prSet presAssocID="{B7E338B6-981B-4F48-9517-A880207E211D}" presName="descendantText" presStyleLbl="alignAccFollowNode1" presStyleIdx="0" presStyleCnt="3">
        <dgm:presLayoutVars>
          <dgm:bulletEnabled val="1"/>
        </dgm:presLayoutVars>
      </dgm:prSet>
      <dgm:spPr/>
    </dgm:pt>
    <dgm:pt modelId="{E676AED0-57E0-4B15-8C19-AE33AB2C9BC3}" type="pres">
      <dgm:prSet presAssocID="{2F978E48-A72C-466D-AD55-8FFDC2E63C79}" presName="sp" presStyleCnt="0"/>
      <dgm:spPr/>
    </dgm:pt>
    <dgm:pt modelId="{35B1DEFA-A30C-432E-8529-6B797311BC2E}" type="pres">
      <dgm:prSet presAssocID="{B255BF9F-7097-4BDB-AE6C-F721A7567F00}" presName="linNode" presStyleCnt="0"/>
      <dgm:spPr/>
    </dgm:pt>
    <dgm:pt modelId="{A0639D8A-39BD-49A9-A372-D4EB7D4F744A}" type="pres">
      <dgm:prSet presAssocID="{B255BF9F-7097-4BDB-AE6C-F721A7567F00}" presName="parentText" presStyleLbl="node1" presStyleIdx="1" presStyleCnt="3">
        <dgm:presLayoutVars>
          <dgm:chMax val="1"/>
          <dgm:bulletEnabled val="1"/>
        </dgm:presLayoutVars>
      </dgm:prSet>
      <dgm:spPr/>
    </dgm:pt>
    <dgm:pt modelId="{A87806D5-510A-470E-9325-122FA7DEA6AB}" type="pres">
      <dgm:prSet presAssocID="{B255BF9F-7097-4BDB-AE6C-F721A7567F00}" presName="descendantText" presStyleLbl="alignAccFollowNode1" presStyleIdx="1" presStyleCnt="3">
        <dgm:presLayoutVars>
          <dgm:bulletEnabled val="1"/>
        </dgm:presLayoutVars>
      </dgm:prSet>
      <dgm:spPr/>
    </dgm:pt>
    <dgm:pt modelId="{39EE7A2B-2CE0-48A7-AECE-B7AEEA7B5910}" type="pres">
      <dgm:prSet presAssocID="{79E1B5A8-35BE-4E7C-A404-1421C34D633F}" presName="sp" presStyleCnt="0"/>
      <dgm:spPr/>
    </dgm:pt>
    <dgm:pt modelId="{19F85148-22CB-45C4-B64D-B941AFDEB458}" type="pres">
      <dgm:prSet presAssocID="{3417FEB2-EDCD-4D80-BB11-C619EE214752}" presName="linNode" presStyleCnt="0"/>
      <dgm:spPr/>
    </dgm:pt>
    <dgm:pt modelId="{6A90CB47-FEBD-4664-A0BE-41E0D225940E}" type="pres">
      <dgm:prSet presAssocID="{3417FEB2-EDCD-4D80-BB11-C619EE214752}" presName="parentText" presStyleLbl="node1" presStyleIdx="2" presStyleCnt="3">
        <dgm:presLayoutVars>
          <dgm:chMax val="1"/>
          <dgm:bulletEnabled val="1"/>
        </dgm:presLayoutVars>
      </dgm:prSet>
      <dgm:spPr/>
    </dgm:pt>
    <dgm:pt modelId="{6214EF34-4170-417C-8049-4F2D5FCA0581}" type="pres">
      <dgm:prSet presAssocID="{3417FEB2-EDCD-4D80-BB11-C619EE214752}" presName="descendantText" presStyleLbl="alignAccFollowNode1" presStyleIdx="2" presStyleCnt="3">
        <dgm:presLayoutVars>
          <dgm:bulletEnabled val="1"/>
        </dgm:presLayoutVars>
      </dgm:prSet>
      <dgm:spPr/>
    </dgm:pt>
  </dgm:ptLst>
  <dgm:cxnLst>
    <dgm:cxn modelId="{2B264F21-42CC-4B49-ADD9-016C237932E5}" type="presOf" srcId="{03066B83-B4AF-4A93-96ED-CB63D1D4A0B2}" destId="{6214EF34-4170-417C-8049-4F2D5FCA0581}" srcOrd="0" destOrd="1" presId="urn:microsoft.com/office/officeart/2005/8/layout/vList5"/>
    <dgm:cxn modelId="{22836525-6620-4748-A9D1-9252EE3F1501}" type="presOf" srcId="{B7E338B6-981B-4F48-9517-A880207E211D}" destId="{DE115533-51E3-4CD7-9981-6BC781677A45}" srcOrd="0" destOrd="0" presId="urn:microsoft.com/office/officeart/2005/8/layout/vList5"/>
    <dgm:cxn modelId="{2DA3BB28-27B9-4EF1-AED5-4F78BF8F73F7}" srcId="{3E680C7A-DF83-420C-BC45-CAC9ECE1CBFF}" destId="{B255BF9F-7097-4BDB-AE6C-F721A7567F00}" srcOrd="1" destOrd="0" parTransId="{47BDB3DC-4E71-484F-8A1A-20AFE3167737}" sibTransId="{79E1B5A8-35BE-4E7C-A404-1421C34D633F}"/>
    <dgm:cxn modelId="{F860263D-FD3D-4367-B38F-B0790DFDE3D6}" type="presOf" srcId="{B255BF9F-7097-4BDB-AE6C-F721A7567F00}" destId="{A0639D8A-39BD-49A9-A372-D4EB7D4F744A}" srcOrd="0" destOrd="0" presId="urn:microsoft.com/office/officeart/2005/8/layout/vList5"/>
    <dgm:cxn modelId="{CC588361-312B-4B08-A414-34DB39DDFA92}" type="presOf" srcId="{8C70A605-BE54-4C21-ADFE-0FACD418543B}" destId="{6214EF34-4170-417C-8049-4F2D5FCA0581}" srcOrd="0" destOrd="0" presId="urn:microsoft.com/office/officeart/2005/8/layout/vList5"/>
    <dgm:cxn modelId="{C5D3F755-865A-415B-8AB6-E391A6F3BF7F}" type="presOf" srcId="{3E680C7A-DF83-420C-BC45-CAC9ECE1CBFF}" destId="{C60508D0-1379-4C75-A38B-0B2603BA8BF1}" srcOrd="0" destOrd="0" presId="urn:microsoft.com/office/officeart/2005/8/layout/vList5"/>
    <dgm:cxn modelId="{E82CFB81-17AA-4C02-8ECF-CB2B1D22E8DD}" srcId="{B255BF9F-7097-4BDB-AE6C-F721A7567F00}" destId="{C04F2904-DA1E-478F-9751-685B23FD5613}" srcOrd="0" destOrd="0" parTransId="{D0D111D5-A364-4EDB-8914-8BD6B26C5266}" sibTransId="{034F32DB-0F0D-43CA-BC81-E203176D0044}"/>
    <dgm:cxn modelId="{E4152187-9D7E-4ECA-907D-9932BBB443EB}" type="presOf" srcId="{99581E5D-904B-4104-94C0-925F4C7C9AAA}" destId="{E71FB17D-1CA0-4E63-969B-D0F1C50C89F2}" srcOrd="0" destOrd="1" presId="urn:microsoft.com/office/officeart/2005/8/layout/vList5"/>
    <dgm:cxn modelId="{3D6CF58D-5401-410E-B8AF-5899C2275228}" type="presOf" srcId="{B6857BC2-BB9C-48FD-9D71-674F69EE2873}" destId="{A87806D5-510A-470E-9325-122FA7DEA6AB}" srcOrd="0" destOrd="1" presId="urn:microsoft.com/office/officeart/2005/8/layout/vList5"/>
    <dgm:cxn modelId="{F2BA8194-C3F6-4A2C-A447-0552704DAE30}" type="presOf" srcId="{891143AD-97A4-4B08-8254-BB93E6A3E046}" destId="{E71FB17D-1CA0-4E63-969B-D0F1C50C89F2}" srcOrd="0" destOrd="0" presId="urn:microsoft.com/office/officeart/2005/8/layout/vList5"/>
    <dgm:cxn modelId="{7468D5A0-2ED0-409A-B03A-0CCC834520BC}" srcId="{3E680C7A-DF83-420C-BC45-CAC9ECE1CBFF}" destId="{3417FEB2-EDCD-4D80-BB11-C619EE214752}" srcOrd="2" destOrd="0" parTransId="{37D74B3C-46E2-4FD0-9A95-3A424C762730}" sibTransId="{5AA55BF5-BA06-499E-B434-5E6170DAFB7E}"/>
    <dgm:cxn modelId="{41D722B9-0447-4456-8E13-F44A757F5090}" type="presOf" srcId="{3417FEB2-EDCD-4D80-BB11-C619EE214752}" destId="{6A90CB47-FEBD-4664-A0BE-41E0D225940E}" srcOrd="0" destOrd="0" presId="urn:microsoft.com/office/officeart/2005/8/layout/vList5"/>
    <dgm:cxn modelId="{63E2F0B9-51CF-4946-A311-0055F856C224}" srcId="{B7E338B6-981B-4F48-9517-A880207E211D}" destId="{891143AD-97A4-4B08-8254-BB93E6A3E046}" srcOrd="0" destOrd="0" parTransId="{9BC823CB-DE8E-4954-A5A3-14B97BABC32C}" sibTransId="{FA92E8A9-98D3-4E3B-AE58-925326B02CA2}"/>
    <dgm:cxn modelId="{D56017D2-7A2B-4172-819D-7307249B3812}" srcId="{B255BF9F-7097-4BDB-AE6C-F721A7567F00}" destId="{B6857BC2-BB9C-48FD-9D71-674F69EE2873}" srcOrd="1" destOrd="0" parTransId="{81ADCCE9-9FA4-4F8A-98A0-3050096B8BF0}" sibTransId="{7F927489-8B9E-4CC9-92F1-0A004B3E8761}"/>
    <dgm:cxn modelId="{233675E5-6B24-41AE-A71B-C14A19F4AAD8}" srcId="{B7E338B6-981B-4F48-9517-A880207E211D}" destId="{99581E5D-904B-4104-94C0-925F4C7C9AAA}" srcOrd="1" destOrd="0" parTransId="{4681B473-828F-4067-B0C8-94164A0472C3}" sibTransId="{B06D5B35-2FAE-4D92-B1D3-FF5AE3551794}"/>
    <dgm:cxn modelId="{F341E1E9-26B4-4117-BA0C-54F02DBC6BA5}" type="presOf" srcId="{C04F2904-DA1E-478F-9751-685B23FD5613}" destId="{A87806D5-510A-470E-9325-122FA7DEA6AB}" srcOrd="0" destOrd="0" presId="urn:microsoft.com/office/officeart/2005/8/layout/vList5"/>
    <dgm:cxn modelId="{6369BAF7-819F-4D8A-B95D-E0F7F31E6C2E}" srcId="{3417FEB2-EDCD-4D80-BB11-C619EE214752}" destId="{8C70A605-BE54-4C21-ADFE-0FACD418543B}" srcOrd="0" destOrd="0" parTransId="{67A832BB-768F-4A2F-8620-C871124215B5}" sibTransId="{3FE6F5E3-1C30-46AE-8DAA-5F13190073E7}"/>
    <dgm:cxn modelId="{8048CDF7-48A1-42A7-AC72-1B2A90429721}" srcId="{3417FEB2-EDCD-4D80-BB11-C619EE214752}" destId="{03066B83-B4AF-4A93-96ED-CB63D1D4A0B2}" srcOrd="1" destOrd="0" parTransId="{D9CFDC77-EF89-4911-BA53-BBB21660355F}" sibTransId="{7B17C007-2218-4229-8AB3-205BE3750516}"/>
    <dgm:cxn modelId="{D3D931FF-68B6-4B05-8D4B-A176B33A09A3}" srcId="{3E680C7A-DF83-420C-BC45-CAC9ECE1CBFF}" destId="{B7E338B6-981B-4F48-9517-A880207E211D}" srcOrd="0" destOrd="0" parTransId="{97B8D028-81EE-4227-803E-AE87EF358ED1}" sibTransId="{2F978E48-A72C-466D-AD55-8FFDC2E63C79}"/>
    <dgm:cxn modelId="{73C176F2-2C79-4C47-A71E-F6FE5E867D54}" type="presParOf" srcId="{C60508D0-1379-4C75-A38B-0B2603BA8BF1}" destId="{B0191B65-116B-46BC-B7FA-5B6D6915100D}" srcOrd="0" destOrd="0" presId="urn:microsoft.com/office/officeart/2005/8/layout/vList5"/>
    <dgm:cxn modelId="{E63E8512-25B0-4EF7-9D98-58EFDD1413E3}" type="presParOf" srcId="{B0191B65-116B-46BC-B7FA-5B6D6915100D}" destId="{DE115533-51E3-4CD7-9981-6BC781677A45}" srcOrd="0" destOrd="0" presId="urn:microsoft.com/office/officeart/2005/8/layout/vList5"/>
    <dgm:cxn modelId="{D5BA0872-2255-42D9-A1D0-120F9EDA3476}" type="presParOf" srcId="{B0191B65-116B-46BC-B7FA-5B6D6915100D}" destId="{E71FB17D-1CA0-4E63-969B-D0F1C50C89F2}" srcOrd="1" destOrd="0" presId="urn:microsoft.com/office/officeart/2005/8/layout/vList5"/>
    <dgm:cxn modelId="{419937BE-8EEF-4FC0-AC29-0873573C0AC4}" type="presParOf" srcId="{C60508D0-1379-4C75-A38B-0B2603BA8BF1}" destId="{E676AED0-57E0-4B15-8C19-AE33AB2C9BC3}" srcOrd="1" destOrd="0" presId="urn:microsoft.com/office/officeart/2005/8/layout/vList5"/>
    <dgm:cxn modelId="{8A81EAF1-4DDE-4A60-99C4-A04B9405FBDA}" type="presParOf" srcId="{C60508D0-1379-4C75-A38B-0B2603BA8BF1}" destId="{35B1DEFA-A30C-432E-8529-6B797311BC2E}" srcOrd="2" destOrd="0" presId="urn:microsoft.com/office/officeart/2005/8/layout/vList5"/>
    <dgm:cxn modelId="{13400546-1BEA-4AEF-8A34-0706B4A5BBF8}" type="presParOf" srcId="{35B1DEFA-A30C-432E-8529-6B797311BC2E}" destId="{A0639D8A-39BD-49A9-A372-D4EB7D4F744A}" srcOrd="0" destOrd="0" presId="urn:microsoft.com/office/officeart/2005/8/layout/vList5"/>
    <dgm:cxn modelId="{823E9DE8-67A1-4D6D-BAD5-2F91C0A09C6A}" type="presParOf" srcId="{35B1DEFA-A30C-432E-8529-6B797311BC2E}" destId="{A87806D5-510A-470E-9325-122FA7DEA6AB}" srcOrd="1" destOrd="0" presId="urn:microsoft.com/office/officeart/2005/8/layout/vList5"/>
    <dgm:cxn modelId="{3F9D930F-A6BC-4D41-A21E-3A2298D73A66}" type="presParOf" srcId="{C60508D0-1379-4C75-A38B-0B2603BA8BF1}" destId="{39EE7A2B-2CE0-48A7-AECE-B7AEEA7B5910}" srcOrd="3" destOrd="0" presId="urn:microsoft.com/office/officeart/2005/8/layout/vList5"/>
    <dgm:cxn modelId="{B5976C5B-F472-4729-A688-E711C1EF4BE9}" type="presParOf" srcId="{C60508D0-1379-4C75-A38B-0B2603BA8BF1}" destId="{19F85148-22CB-45C4-B64D-B941AFDEB458}" srcOrd="4" destOrd="0" presId="urn:microsoft.com/office/officeart/2005/8/layout/vList5"/>
    <dgm:cxn modelId="{18014E41-F934-4603-8BA8-BA498E4D1FD9}" type="presParOf" srcId="{19F85148-22CB-45C4-B64D-B941AFDEB458}" destId="{6A90CB47-FEBD-4664-A0BE-41E0D225940E}" srcOrd="0" destOrd="0" presId="urn:microsoft.com/office/officeart/2005/8/layout/vList5"/>
    <dgm:cxn modelId="{D3F110DC-835D-4400-9AF9-13995C092CC4}" type="presParOf" srcId="{19F85148-22CB-45C4-B64D-B941AFDEB458}" destId="{6214EF34-4170-417C-8049-4F2D5FCA058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558FD2-C2FA-4F5B-BB77-C1D76FAF3DC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66DE01D-CAB5-4557-87B7-102A2118BE81}">
      <dgm:prSet/>
      <dgm:spPr/>
      <dgm:t>
        <a:bodyPr/>
        <a:lstStyle/>
        <a:p>
          <a:r>
            <a:rPr lang="en-US"/>
            <a:t>More on this in later lectures</a:t>
          </a:r>
        </a:p>
      </dgm:t>
    </dgm:pt>
    <dgm:pt modelId="{8EBB9B0C-C6D5-421B-A6FF-F078720D5166}" type="parTrans" cxnId="{049933EF-4E4B-41BA-BE60-8936D9A6F774}">
      <dgm:prSet/>
      <dgm:spPr/>
      <dgm:t>
        <a:bodyPr/>
        <a:lstStyle/>
        <a:p>
          <a:endParaRPr lang="en-US"/>
        </a:p>
      </dgm:t>
    </dgm:pt>
    <dgm:pt modelId="{5CCB8751-9D49-4401-8FBE-408C7A6240A7}" type="sibTrans" cxnId="{049933EF-4E4B-41BA-BE60-8936D9A6F774}">
      <dgm:prSet/>
      <dgm:spPr/>
      <dgm:t>
        <a:bodyPr/>
        <a:lstStyle/>
        <a:p>
          <a:endParaRPr lang="en-US"/>
        </a:p>
      </dgm:t>
    </dgm:pt>
    <dgm:pt modelId="{DA7686FA-FE3E-49A7-A004-7433C71701B8}">
      <dgm:prSet/>
      <dgm:spPr/>
      <dgm:t>
        <a:bodyPr/>
        <a:lstStyle/>
        <a:p>
          <a:r>
            <a:rPr lang="en-US"/>
            <a:t>Should be consistent with goal and data</a:t>
          </a:r>
        </a:p>
      </dgm:t>
    </dgm:pt>
    <dgm:pt modelId="{113FC6F9-C217-477B-AD0E-07E0260409FB}" type="parTrans" cxnId="{049387D4-0082-4B85-83E8-E114C2B924D8}">
      <dgm:prSet/>
      <dgm:spPr/>
      <dgm:t>
        <a:bodyPr/>
        <a:lstStyle/>
        <a:p>
          <a:endParaRPr lang="en-US"/>
        </a:p>
      </dgm:t>
    </dgm:pt>
    <dgm:pt modelId="{181B16C4-3442-4FC7-9D64-6CA4A869CE43}" type="sibTrans" cxnId="{049387D4-0082-4B85-83E8-E114C2B924D8}">
      <dgm:prSet/>
      <dgm:spPr/>
      <dgm:t>
        <a:bodyPr/>
        <a:lstStyle/>
        <a:p>
          <a:endParaRPr lang="en-US"/>
        </a:p>
      </dgm:t>
    </dgm:pt>
    <dgm:pt modelId="{3F3483E8-C709-40CA-BD25-2A186CA836AC}">
      <dgm:prSet/>
      <dgm:spPr/>
      <dgm:t>
        <a:bodyPr/>
        <a:lstStyle/>
        <a:p>
          <a:r>
            <a:rPr lang="en-US"/>
            <a:t>More complex is not automatically better</a:t>
          </a:r>
        </a:p>
      </dgm:t>
    </dgm:pt>
    <dgm:pt modelId="{61AE7C14-5C08-4CFB-A95F-706628524CB2}" type="parTrans" cxnId="{2A6E5796-03ED-448A-ACF5-1FBFE166FC85}">
      <dgm:prSet/>
      <dgm:spPr/>
      <dgm:t>
        <a:bodyPr/>
        <a:lstStyle/>
        <a:p>
          <a:endParaRPr lang="en-US"/>
        </a:p>
      </dgm:t>
    </dgm:pt>
    <dgm:pt modelId="{658FE5E3-CDF7-4D37-A477-7227F43BDE60}" type="sibTrans" cxnId="{2A6E5796-03ED-448A-ACF5-1FBFE166FC85}">
      <dgm:prSet/>
      <dgm:spPr/>
      <dgm:t>
        <a:bodyPr/>
        <a:lstStyle/>
        <a:p>
          <a:endParaRPr lang="en-US"/>
        </a:p>
      </dgm:t>
    </dgm:pt>
    <dgm:pt modelId="{46C57BF7-B3EE-4CA6-9019-BAC834FDA316}" type="pres">
      <dgm:prSet presAssocID="{9B558FD2-C2FA-4F5B-BB77-C1D76FAF3DCC}" presName="root" presStyleCnt="0">
        <dgm:presLayoutVars>
          <dgm:dir/>
          <dgm:resizeHandles val="exact"/>
        </dgm:presLayoutVars>
      </dgm:prSet>
      <dgm:spPr/>
    </dgm:pt>
    <dgm:pt modelId="{979FCBF1-E62E-4035-9F0C-A13684FC4016}" type="pres">
      <dgm:prSet presAssocID="{966DE01D-CAB5-4557-87B7-102A2118BE81}" presName="compNode" presStyleCnt="0"/>
      <dgm:spPr/>
    </dgm:pt>
    <dgm:pt modelId="{613C840E-C1AD-4FB6-80E5-CF56EFA426B1}" type="pres">
      <dgm:prSet presAssocID="{966DE01D-CAB5-4557-87B7-102A2118BE81}" presName="bgRect" presStyleLbl="bgShp" presStyleIdx="0" presStyleCnt="3"/>
      <dgm:spPr/>
    </dgm:pt>
    <dgm:pt modelId="{497BB560-8B77-46EB-9AB1-7090A8134144}" type="pres">
      <dgm:prSet presAssocID="{966DE01D-CAB5-4557-87B7-102A2118BE8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3C2BA784-ACD3-462B-A178-3396E10601F5}" type="pres">
      <dgm:prSet presAssocID="{966DE01D-CAB5-4557-87B7-102A2118BE81}" presName="spaceRect" presStyleCnt="0"/>
      <dgm:spPr/>
    </dgm:pt>
    <dgm:pt modelId="{93DD6E43-C654-4B01-B0BC-7D54A8D5489E}" type="pres">
      <dgm:prSet presAssocID="{966DE01D-CAB5-4557-87B7-102A2118BE81}" presName="parTx" presStyleLbl="revTx" presStyleIdx="0" presStyleCnt="3">
        <dgm:presLayoutVars>
          <dgm:chMax val="0"/>
          <dgm:chPref val="0"/>
        </dgm:presLayoutVars>
      </dgm:prSet>
      <dgm:spPr/>
    </dgm:pt>
    <dgm:pt modelId="{36EA105F-2DFB-4AED-AF37-6FF45DE6BF7E}" type="pres">
      <dgm:prSet presAssocID="{5CCB8751-9D49-4401-8FBE-408C7A6240A7}" presName="sibTrans" presStyleCnt="0"/>
      <dgm:spPr/>
    </dgm:pt>
    <dgm:pt modelId="{565FED2B-EC2B-47EE-A358-7210A1121587}" type="pres">
      <dgm:prSet presAssocID="{DA7686FA-FE3E-49A7-A004-7433C71701B8}" presName="compNode" presStyleCnt="0"/>
      <dgm:spPr/>
    </dgm:pt>
    <dgm:pt modelId="{8ED1B283-271F-4AF7-A2B9-15FDE42F28E4}" type="pres">
      <dgm:prSet presAssocID="{DA7686FA-FE3E-49A7-A004-7433C71701B8}" presName="bgRect" presStyleLbl="bgShp" presStyleIdx="1" presStyleCnt="3"/>
      <dgm:spPr/>
    </dgm:pt>
    <dgm:pt modelId="{09BA3B30-87E5-4ABF-A281-BA54DDF97CD9}" type="pres">
      <dgm:prSet presAssocID="{DA7686FA-FE3E-49A7-A004-7433C71701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8A82A770-505B-4FF2-949C-46D33FE5FA06}" type="pres">
      <dgm:prSet presAssocID="{DA7686FA-FE3E-49A7-A004-7433C71701B8}" presName="spaceRect" presStyleCnt="0"/>
      <dgm:spPr/>
    </dgm:pt>
    <dgm:pt modelId="{9123BA4C-1EEA-4655-B1EE-5B3B05E81831}" type="pres">
      <dgm:prSet presAssocID="{DA7686FA-FE3E-49A7-A004-7433C71701B8}" presName="parTx" presStyleLbl="revTx" presStyleIdx="1" presStyleCnt="3">
        <dgm:presLayoutVars>
          <dgm:chMax val="0"/>
          <dgm:chPref val="0"/>
        </dgm:presLayoutVars>
      </dgm:prSet>
      <dgm:spPr/>
    </dgm:pt>
    <dgm:pt modelId="{B62A723C-4F4B-48CD-AF58-47A88C5B63E1}" type="pres">
      <dgm:prSet presAssocID="{181B16C4-3442-4FC7-9D64-6CA4A869CE43}" presName="sibTrans" presStyleCnt="0"/>
      <dgm:spPr/>
    </dgm:pt>
    <dgm:pt modelId="{61AE6140-1A70-45A0-9C18-2FFB707B26F1}" type="pres">
      <dgm:prSet presAssocID="{3F3483E8-C709-40CA-BD25-2A186CA836AC}" presName="compNode" presStyleCnt="0"/>
      <dgm:spPr/>
    </dgm:pt>
    <dgm:pt modelId="{F2424371-31A3-4C68-A92B-03F8B71DB85D}" type="pres">
      <dgm:prSet presAssocID="{3F3483E8-C709-40CA-BD25-2A186CA836AC}" presName="bgRect" presStyleLbl="bgShp" presStyleIdx="2" presStyleCnt="3"/>
      <dgm:spPr/>
    </dgm:pt>
    <dgm:pt modelId="{935FA1B0-975E-448F-9A86-5F6B75462429}" type="pres">
      <dgm:prSet presAssocID="{3F3483E8-C709-40CA-BD25-2A186CA836A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DFF79DA5-A912-410E-BA0D-62D131CC8400}" type="pres">
      <dgm:prSet presAssocID="{3F3483E8-C709-40CA-BD25-2A186CA836AC}" presName="spaceRect" presStyleCnt="0"/>
      <dgm:spPr/>
    </dgm:pt>
    <dgm:pt modelId="{EE53A0D4-7129-449E-8DD9-DBA1BC00E7A9}" type="pres">
      <dgm:prSet presAssocID="{3F3483E8-C709-40CA-BD25-2A186CA836AC}" presName="parTx" presStyleLbl="revTx" presStyleIdx="2" presStyleCnt="3">
        <dgm:presLayoutVars>
          <dgm:chMax val="0"/>
          <dgm:chPref val="0"/>
        </dgm:presLayoutVars>
      </dgm:prSet>
      <dgm:spPr/>
    </dgm:pt>
  </dgm:ptLst>
  <dgm:cxnLst>
    <dgm:cxn modelId="{776DC05E-2B6A-44AC-AF8A-97D127EFEF6A}" type="presOf" srcId="{9B558FD2-C2FA-4F5B-BB77-C1D76FAF3DCC}" destId="{46C57BF7-B3EE-4CA6-9019-BAC834FDA316}" srcOrd="0" destOrd="0" presId="urn:microsoft.com/office/officeart/2018/2/layout/IconVerticalSolidList"/>
    <dgm:cxn modelId="{3901C368-4D76-4FB5-9DC3-2C7A1EBF7D79}" type="presOf" srcId="{DA7686FA-FE3E-49A7-A004-7433C71701B8}" destId="{9123BA4C-1EEA-4655-B1EE-5B3B05E81831}" srcOrd="0" destOrd="0" presId="urn:microsoft.com/office/officeart/2018/2/layout/IconVerticalSolidList"/>
    <dgm:cxn modelId="{2A6E5796-03ED-448A-ACF5-1FBFE166FC85}" srcId="{9B558FD2-C2FA-4F5B-BB77-C1D76FAF3DCC}" destId="{3F3483E8-C709-40CA-BD25-2A186CA836AC}" srcOrd="2" destOrd="0" parTransId="{61AE7C14-5C08-4CFB-A95F-706628524CB2}" sibTransId="{658FE5E3-CDF7-4D37-A477-7227F43BDE60}"/>
    <dgm:cxn modelId="{9B5BD5C9-1A44-415A-B245-556819A1509B}" type="presOf" srcId="{966DE01D-CAB5-4557-87B7-102A2118BE81}" destId="{93DD6E43-C654-4B01-B0BC-7D54A8D5489E}" srcOrd="0" destOrd="0" presId="urn:microsoft.com/office/officeart/2018/2/layout/IconVerticalSolidList"/>
    <dgm:cxn modelId="{85CD03CE-55BC-4DC4-B9E0-46A7056B579C}" type="presOf" srcId="{3F3483E8-C709-40CA-BD25-2A186CA836AC}" destId="{EE53A0D4-7129-449E-8DD9-DBA1BC00E7A9}" srcOrd="0" destOrd="0" presId="urn:microsoft.com/office/officeart/2018/2/layout/IconVerticalSolidList"/>
    <dgm:cxn modelId="{049387D4-0082-4B85-83E8-E114C2B924D8}" srcId="{9B558FD2-C2FA-4F5B-BB77-C1D76FAF3DCC}" destId="{DA7686FA-FE3E-49A7-A004-7433C71701B8}" srcOrd="1" destOrd="0" parTransId="{113FC6F9-C217-477B-AD0E-07E0260409FB}" sibTransId="{181B16C4-3442-4FC7-9D64-6CA4A869CE43}"/>
    <dgm:cxn modelId="{049933EF-4E4B-41BA-BE60-8936D9A6F774}" srcId="{9B558FD2-C2FA-4F5B-BB77-C1D76FAF3DCC}" destId="{966DE01D-CAB5-4557-87B7-102A2118BE81}" srcOrd="0" destOrd="0" parTransId="{8EBB9B0C-C6D5-421B-A6FF-F078720D5166}" sibTransId="{5CCB8751-9D49-4401-8FBE-408C7A6240A7}"/>
    <dgm:cxn modelId="{FD984197-29FC-4D44-A7F8-E4081D886E7D}" type="presParOf" srcId="{46C57BF7-B3EE-4CA6-9019-BAC834FDA316}" destId="{979FCBF1-E62E-4035-9F0C-A13684FC4016}" srcOrd="0" destOrd="0" presId="urn:microsoft.com/office/officeart/2018/2/layout/IconVerticalSolidList"/>
    <dgm:cxn modelId="{0C001AE0-E7E4-4A38-A8DC-7944360200C0}" type="presParOf" srcId="{979FCBF1-E62E-4035-9F0C-A13684FC4016}" destId="{613C840E-C1AD-4FB6-80E5-CF56EFA426B1}" srcOrd="0" destOrd="0" presId="urn:microsoft.com/office/officeart/2018/2/layout/IconVerticalSolidList"/>
    <dgm:cxn modelId="{5982D341-043D-4DDC-853F-61CF7AC8F7DF}" type="presParOf" srcId="{979FCBF1-E62E-4035-9F0C-A13684FC4016}" destId="{497BB560-8B77-46EB-9AB1-7090A8134144}" srcOrd="1" destOrd="0" presId="urn:microsoft.com/office/officeart/2018/2/layout/IconVerticalSolidList"/>
    <dgm:cxn modelId="{4826EDBF-3057-40C4-9B7B-665FB9D442B8}" type="presParOf" srcId="{979FCBF1-E62E-4035-9F0C-A13684FC4016}" destId="{3C2BA784-ACD3-462B-A178-3396E10601F5}" srcOrd="2" destOrd="0" presId="urn:microsoft.com/office/officeart/2018/2/layout/IconVerticalSolidList"/>
    <dgm:cxn modelId="{6563E358-2080-49C1-B7FC-499B2B5725DB}" type="presParOf" srcId="{979FCBF1-E62E-4035-9F0C-A13684FC4016}" destId="{93DD6E43-C654-4B01-B0BC-7D54A8D5489E}" srcOrd="3" destOrd="0" presId="urn:microsoft.com/office/officeart/2018/2/layout/IconVerticalSolidList"/>
    <dgm:cxn modelId="{86D949C4-B1E8-4636-98AF-007B43CC3998}" type="presParOf" srcId="{46C57BF7-B3EE-4CA6-9019-BAC834FDA316}" destId="{36EA105F-2DFB-4AED-AF37-6FF45DE6BF7E}" srcOrd="1" destOrd="0" presId="urn:microsoft.com/office/officeart/2018/2/layout/IconVerticalSolidList"/>
    <dgm:cxn modelId="{AB1CA3A1-11C6-49C7-BAE2-0B6BF7957F48}" type="presParOf" srcId="{46C57BF7-B3EE-4CA6-9019-BAC834FDA316}" destId="{565FED2B-EC2B-47EE-A358-7210A1121587}" srcOrd="2" destOrd="0" presId="urn:microsoft.com/office/officeart/2018/2/layout/IconVerticalSolidList"/>
    <dgm:cxn modelId="{D26F340A-FC92-441D-AAEB-DA5A6A658B39}" type="presParOf" srcId="{565FED2B-EC2B-47EE-A358-7210A1121587}" destId="{8ED1B283-271F-4AF7-A2B9-15FDE42F28E4}" srcOrd="0" destOrd="0" presId="urn:microsoft.com/office/officeart/2018/2/layout/IconVerticalSolidList"/>
    <dgm:cxn modelId="{C5440D51-E0EB-4838-81F5-5FE8CFC9C4DC}" type="presParOf" srcId="{565FED2B-EC2B-47EE-A358-7210A1121587}" destId="{09BA3B30-87E5-4ABF-A281-BA54DDF97CD9}" srcOrd="1" destOrd="0" presId="urn:microsoft.com/office/officeart/2018/2/layout/IconVerticalSolidList"/>
    <dgm:cxn modelId="{DB3FF40A-2C97-45D9-B3D6-3D09D4871815}" type="presParOf" srcId="{565FED2B-EC2B-47EE-A358-7210A1121587}" destId="{8A82A770-505B-4FF2-949C-46D33FE5FA06}" srcOrd="2" destOrd="0" presId="urn:microsoft.com/office/officeart/2018/2/layout/IconVerticalSolidList"/>
    <dgm:cxn modelId="{D6BF69E6-230B-4F04-8A92-93DDE706601C}" type="presParOf" srcId="{565FED2B-EC2B-47EE-A358-7210A1121587}" destId="{9123BA4C-1EEA-4655-B1EE-5B3B05E81831}" srcOrd="3" destOrd="0" presId="urn:microsoft.com/office/officeart/2018/2/layout/IconVerticalSolidList"/>
    <dgm:cxn modelId="{FAD8F698-8174-4F07-8AD6-069EE7B4440E}" type="presParOf" srcId="{46C57BF7-B3EE-4CA6-9019-BAC834FDA316}" destId="{B62A723C-4F4B-48CD-AF58-47A88C5B63E1}" srcOrd="3" destOrd="0" presId="urn:microsoft.com/office/officeart/2018/2/layout/IconVerticalSolidList"/>
    <dgm:cxn modelId="{9E9AEDEC-E7D7-48F9-986F-1335D2C9158F}" type="presParOf" srcId="{46C57BF7-B3EE-4CA6-9019-BAC834FDA316}" destId="{61AE6140-1A70-45A0-9C18-2FFB707B26F1}" srcOrd="4" destOrd="0" presId="urn:microsoft.com/office/officeart/2018/2/layout/IconVerticalSolidList"/>
    <dgm:cxn modelId="{6D74D096-3E7A-41BE-BC12-2CC4A337ED66}" type="presParOf" srcId="{61AE6140-1A70-45A0-9C18-2FFB707B26F1}" destId="{F2424371-31A3-4C68-A92B-03F8B71DB85D}" srcOrd="0" destOrd="0" presId="urn:microsoft.com/office/officeart/2018/2/layout/IconVerticalSolidList"/>
    <dgm:cxn modelId="{09BFD0C0-6C20-4796-B463-85FE8C94F3AD}" type="presParOf" srcId="{61AE6140-1A70-45A0-9C18-2FFB707B26F1}" destId="{935FA1B0-975E-448F-9A86-5F6B75462429}" srcOrd="1" destOrd="0" presId="urn:microsoft.com/office/officeart/2018/2/layout/IconVerticalSolidList"/>
    <dgm:cxn modelId="{929FD0A7-523E-47BC-9754-A2E0F5498C1B}" type="presParOf" srcId="{61AE6140-1A70-45A0-9C18-2FFB707B26F1}" destId="{DFF79DA5-A912-410E-BA0D-62D131CC8400}" srcOrd="2" destOrd="0" presId="urn:microsoft.com/office/officeart/2018/2/layout/IconVerticalSolidList"/>
    <dgm:cxn modelId="{EAC75740-02DA-4F4A-A62E-0B6ABAB8289B}" type="presParOf" srcId="{61AE6140-1A70-45A0-9C18-2FFB707B26F1}" destId="{EE53A0D4-7129-449E-8DD9-DBA1BC00E7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EC75965-2DB3-4C23-83B9-99C9DDE68FC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B58420FD-6353-4B96-A81F-E6CC7617123F}">
      <dgm:prSet/>
      <dgm:spPr/>
      <dgm:t>
        <a:bodyPr/>
        <a:lstStyle/>
        <a:p>
          <a:r>
            <a:rPr lang="en-US"/>
            <a:t>If the goal of your project is descriptive:</a:t>
          </a:r>
        </a:p>
      </dgm:t>
    </dgm:pt>
    <dgm:pt modelId="{84AF1D17-03A7-46A7-8C14-2AF31727C34F}" type="parTrans" cxnId="{44363D33-7221-4554-A27C-820415912B1E}">
      <dgm:prSet/>
      <dgm:spPr/>
      <dgm:t>
        <a:bodyPr/>
        <a:lstStyle/>
        <a:p>
          <a:endParaRPr lang="en-US"/>
        </a:p>
      </dgm:t>
    </dgm:pt>
    <dgm:pt modelId="{B8C90CDA-A81B-42CC-B576-50D076101D87}" type="sibTrans" cxnId="{44363D33-7221-4554-A27C-820415912B1E}">
      <dgm:prSet/>
      <dgm:spPr/>
      <dgm:t>
        <a:bodyPr/>
        <a:lstStyle/>
        <a:p>
          <a:endParaRPr lang="en-US"/>
        </a:p>
      </dgm:t>
    </dgm:pt>
    <dgm:pt modelId="{7AEA9701-208A-43DA-A064-F9366EF72333}">
      <dgm:prSet/>
      <dgm:spPr/>
      <dgm:t>
        <a:bodyPr/>
        <a:lstStyle/>
        <a:p>
          <a:r>
            <a:rPr lang="en-US"/>
            <a:t>Just define all your variables</a:t>
          </a:r>
        </a:p>
      </dgm:t>
    </dgm:pt>
    <dgm:pt modelId="{70AA8245-F215-4775-A021-BA236FBF134A}" type="parTrans" cxnId="{36A073B6-86FC-4B5B-A780-5900654E53FF}">
      <dgm:prSet/>
      <dgm:spPr/>
      <dgm:t>
        <a:bodyPr/>
        <a:lstStyle/>
        <a:p>
          <a:endParaRPr lang="en-US"/>
        </a:p>
      </dgm:t>
    </dgm:pt>
    <dgm:pt modelId="{7FDB3438-641C-4841-B4C8-B73923EF9383}" type="sibTrans" cxnId="{36A073B6-86FC-4B5B-A780-5900654E53FF}">
      <dgm:prSet/>
      <dgm:spPr/>
      <dgm:t>
        <a:bodyPr/>
        <a:lstStyle/>
        <a:p>
          <a:endParaRPr lang="en-US"/>
        </a:p>
      </dgm:t>
    </dgm:pt>
    <dgm:pt modelId="{D51D53E4-7B20-4FFA-B45E-63261FBE5EB8}">
      <dgm:prSet/>
      <dgm:spPr/>
      <dgm:t>
        <a:bodyPr/>
        <a:lstStyle/>
        <a:p>
          <a:r>
            <a:rPr lang="en-US"/>
            <a:t>If the goal of your project is explanatory:</a:t>
          </a:r>
        </a:p>
      </dgm:t>
    </dgm:pt>
    <dgm:pt modelId="{3B56EB4A-D6B5-435E-9E9B-348F8445E2E8}" type="parTrans" cxnId="{703A6C4E-538E-4671-8197-3458CEC28C9F}">
      <dgm:prSet/>
      <dgm:spPr/>
      <dgm:t>
        <a:bodyPr/>
        <a:lstStyle/>
        <a:p>
          <a:endParaRPr lang="en-US"/>
        </a:p>
      </dgm:t>
    </dgm:pt>
    <dgm:pt modelId="{0F154B5D-1AAD-4616-A0E5-A9D700BF9E0E}" type="sibTrans" cxnId="{703A6C4E-538E-4671-8197-3458CEC28C9F}">
      <dgm:prSet/>
      <dgm:spPr/>
      <dgm:t>
        <a:bodyPr/>
        <a:lstStyle/>
        <a:p>
          <a:endParaRPr lang="en-US"/>
        </a:p>
      </dgm:t>
    </dgm:pt>
    <dgm:pt modelId="{1501CABE-6B67-4D07-AC13-584BF8AF125D}">
      <dgm:prSet/>
      <dgm:spPr/>
      <dgm:t>
        <a:bodyPr/>
        <a:lstStyle/>
        <a:p>
          <a:r>
            <a:rPr lang="en-US"/>
            <a:t>Define independent variables (or predictors) and dependent variables (or outcomes)</a:t>
          </a:r>
        </a:p>
      </dgm:t>
    </dgm:pt>
    <dgm:pt modelId="{395AE50D-AE35-4D89-BA59-DF6FE15C9A59}" type="parTrans" cxnId="{9892C1D8-8549-4470-9660-81404DC8BC93}">
      <dgm:prSet/>
      <dgm:spPr/>
      <dgm:t>
        <a:bodyPr/>
        <a:lstStyle/>
        <a:p>
          <a:endParaRPr lang="en-US"/>
        </a:p>
      </dgm:t>
    </dgm:pt>
    <dgm:pt modelId="{C846D659-53F9-4BEA-93E2-6CF958D3C254}" type="sibTrans" cxnId="{9892C1D8-8549-4470-9660-81404DC8BC93}">
      <dgm:prSet/>
      <dgm:spPr/>
      <dgm:t>
        <a:bodyPr/>
        <a:lstStyle/>
        <a:p>
          <a:endParaRPr lang="en-US"/>
        </a:p>
      </dgm:t>
    </dgm:pt>
    <dgm:pt modelId="{AF7E1190-6BEE-4E96-B748-AAD2BD4B991F}">
      <dgm:prSet/>
      <dgm:spPr/>
      <dgm:t>
        <a:bodyPr/>
        <a:lstStyle/>
        <a:p>
          <a:r>
            <a:rPr lang="en-US"/>
            <a:t>If the goal of your project is predictive:</a:t>
          </a:r>
        </a:p>
      </dgm:t>
    </dgm:pt>
    <dgm:pt modelId="{3B86B353-DDE3-42A5-A352-0B915DE60EF5}" type="parTrans" cxnId="{6E94319A-3F0E-493E-AE54-93CF5FBC3640}">
      <dgm:prSet/>
      <dgm:spPr/>
      <dgm:t>
        <a:bodyPr/>
        <a:lstStyle/>
        <a:p>
          <a:endParaRPr lang="en-US"/>
        </a:p>
      </dgm:t>
    </dgm:pt>
    <dgm:pt modelId="{BECFD875-9514-42F1-B00C-5C67735B5426}" type="sibTrans" cxnId="{6E94319A-3F0E-493E-AE54-93CF5FBC3640}">
      <dgm:prSet/>
      <dgm:spPr/>
      <dgm:t>
        <a:bodyPr/>
        <a:lstStyle/>
        <a:p>
          <a:endParaRPr lang="en-US"/>
        </a:p>
      </dgm:t>
    </dgm:pt>
    <dgm:pt modelId="{998F313F-8526-4AB2-9C8B-61CC997D3A65}">
      <dgm:prSet/>
      <dgm:spPr/>
      <dgm:t>
        <a:bodyPr/>
        <a:lstStyle/>
        <a:p>
          <a:r>
            <a:rPr lang="en-US"/>
            <a:t>Define your features (or inputs) and your outcome (or output)</a:t>
          </a:r>
        </a:p>
      </dgm:t>
    </dgm:pt>
    <dgm:pt modelId="{EBF3B5D1-EB9B-4029-A7B1-E5B00EF56856}" type="parTrans" cxnId="{975A64B8-18F8-454D-94D1-C132D42ECCB7}">
      <dgm:prSet/>
      <dgm:spPr/>
      <dgm:t>
        <a:bodyPr/>
        <a:lstStyle/>
        <a:p>
          <a:endParaRPr lang="en-US"/>
        </a:p>
      </dgm:t>
    </dgm:pt>
    <dgm:pt modelId="{495932CF-ACB6-46C3-8AB3-5D41695FE6CF}" type="sibTrans" cxnId="{975A64B8-18F8-454D-94D1-C132D42ECCB7}">
      <dgm:prSet/>
      <dgm:spPr/>
      <dgm:t>
        <a:bodyPr/>
        <a:lstStyle/>
        <a:p>
          <a:endParaRPr lang="en-US"/>
        </a:p>
      </dgm:t>
    </dgm:pt>
    <dgm:pt modelId="{F7DD3965-597D-41F8-8425-8A8047AD5FF7}" type="pres">
      <dgm:prSet presAssocID="{DEC75965-2DB3-4C23-83B9-99C9DDE68FCA}" presName="linear" presStyleCnt="0">
        <dgm:presLayoutVars>
          <dgm:dir/>
          <dgm:animLvl val="lvl"/>
          <dgm:resizeHandles val="exact"/>
        </dgm:presLayoutVars>
      </dgm:prSet>
      <dgm:spPr/>
    </dgm:pt>
    <dgm:pt modelId="{AC6012D8-AC1F-46BC-8133-42E9B405B580}" type="pres">
      <dgm:prSet presAssocID="{B58420FD-6353-4B96-A81F-E6CC7617123F}" presName="parentLin" presStyleCnt="0"/>
      <dgm:spPr/>
    </dgm:pt>
    <dgm:pt modelId="{A48D4836-EF73-4180-A362-69758EFFBA7C}" type="pres">
      <dgm:prSet presAssocID="{B58420FD-6353-4B96-A81F-E6CC7617123F}" presName="parentLeftMargin" presStyleLbl="node1" presStyleIdx="0" presStyleCnt="3"/>
      <dgm:spPr/>
    </dgm:pt>
    <dgm:pt modelId="{DECB4776-CD76-4F25-93EF-8C409939EB29}" type="pres">
      <dgm:prSet presAssocID="{B58420FD-6353-4B96-A81F-E6CC7617123F}" presName="parentText" presStyleLbl="node1" presStyleIdx="0" presStyleCnt="3">
        <dgm:presLayoutVars>
          <dgm:chMax val="0"/>
          <dgm:bulletEnabled val="1"/>
        </dgm:presLayoutVars>
      </dgm:prSet>
      <dgm:spPr/>
    </dgm:pt>
    <dgm:pt modelId="{0D5381EF-6E25-4D97-B398-08EC55F72AC5}" type="pres">
      <dgm:prSet presAssocID="{B58420FD-6353-4B96-A81F-E6CC7617123F}" presName="negativeSpace" presStyleCnt="0"/>
      <dgm:spPr/>
    </dgm:pt>
    <dgm:pt modelId="{23063CA3-4724-4155-B3DA-538CC35D552C}" type="pres">
      <dgm:prSet presAssocID="{B58420FD-6353-4B96-A81F-E6CC7617123F}" presName="childText" presStyleLbl="conFgAcc1" presStyleIdx="0" presStyleCnt="3">
        <dgm:presLayoutVars>
          <dgm:bulletEnabled val="1"/>
        </dgm:presLayoutVars>
      </dgm:prSet>
      <dgm:spPr/>
    </dgm:pt>
    <dgm:pt modelId="{4BEA9363-8DD9-47D2-BC6E-BDEF967C2674}" type="pres">
      <dgm:prSet presAssocID="{B8C90CDA-A81B-42CC-B576-50D076101D87}" presName="spaceBetweenRectangles" presStyleCnt="0"/>
      <dgm:spPr/>
    </dgm:pt>
    <dgm:pt modelId="{6240096E-4FFB-4809-8FC9-DA14F295CB7F}" type="pres">
      <dgm:prSet presAssocID="{D51D53E4-7B20-4FFA-B45E-63261FBE5EB8}" presName="parentLin" presStyleCnt="0"/>
      <dgm:spPr/>
    </dgm:pt>
    <dgm:pt modelId="{9AA818B4-F6D9-4A86-B55F-C4A6A5BFEAE8}" type="pres">
      <dgm:prSet presAssocID="{D51D53E4-7B20-4FFA-B45E-63261FBE5EB8}" presName="parentLeftMargin" presStyleLbl="node1" presStyleIdx="0" presStyleCnt="3"/>
      <dgm:spPr/>
    </dgm:pt>
    <dgm:pt modelId="{840A0768-E91B-486B-BFBE-97BECDF8D7B8}" type="pres">
      <dgm:prSet presAssocID="{D51D53E4-7B20-4FFA-B45E-63261FBE5EB8}" presName="parentText" presStyleLbl="node1" presStyleIdx="1" presStyleCnt="3">
        <dgm:presLayoutVars>
          <dgm:chMax val="0"/>
          <dgm:bulletEnabled val="1"/>
        </dgm:presLayoutVars>
      </dgm:prSet>
      <dgm:spPr/>
    </dgm:pt>
    <dgm:pt modelId="{61F9D16D-12FD-4C9D-BA9C-6B052500D616}" type="pres">
      <dgm:prSet presAssocID="{D51D53E4-7B20-4FFA-B45E-63261FBE5EB8}" presName="negativeSpace" presStyleCnt="0"/>
      <dgm:spPr/>
    </dgm:pt>
    <dgm:pt modelId="{7990FAF2-9E50-4394-8F7A-89BDE6BA71E7}" type="pres">
      <dgm:prSet presAssocID="{D51D53E4-7B20-4FFA-B45E-63261FBE5EB8}" presName="childText" presStyleLbl="conFgAcc1" presStyleIdx="1" presStyleCnt="3">
        <dgm:presLayoutVars>
          <dgm:bulletEnabled val="1"/>
        </dgm:presLayoutVars>
      </dgm:prSet>
      <dgm:spPr/>
    </dgm:pt>
    <dgm:pt modelId="{B12E8D17-2ADF-404B-BA69-DCBCC4E2D577}" type="pres">
      <dgm:prSet presAssocID="{0F154B5D-1AAD-4616-A0E5-A9D700BF9E0E}" presName="spaceBetweenRectangles" presStyleCnt="0"/>
      <dgm:spPr/>
    </dgm:pt>
    <dgm:pt modelId="{108467EB-379A-4DC2-9033-A2E1BF186B7D}" type="pres">
      <dgm:prSet presAssocID="{AF7E1190-6BEE-4E96-B748-AAD2BD4B991F}" presName="parentLin" presStyleCnt="0"/>
      <dgm:spPr/>
    </dgm:pt>
    <dgm:pt modelId="{57EB9BFA-2D9A-4866-B95B-57D404D7B087}" type="pres">
      <dgm:prSet presAssocID="{AF7E1190-6BEE-4E96-B748-AAD2BD4B991F}" presName="parentLeftMargin" presStyleLbl="node1" presStyleIdx="1" presStyleCnt="3"/>
      <dgm:spPr/>
    </dgm:pt>
    <dgm:pt modelId="{E36322B6-1F6F-4BCD-98C5-856E2AC167C6}" type="pres">
      <dgm:prSet presAssocID="{AF7E1190-6BEE-4E96-B748-AAD2BD4B991F}" presName="parentText" presStyleLbl="node1" presStyleIdx="2" presStyleCnt="3">
        <dgm:presLayoutVars>
          <dgm:chMax val="0"/>
          <dgm:bulletEnabled val="1"/>
        </dgm:presLayoutVars>
      </dgm:prSet>
      <dgm:spPr/>
    </dgm:pt>
    <dgm:pt modelId="{D5886018-A71F-44CE-888B-4DDE36BB7926}" type="pres">
      <dgm:prSet presAssocID="{AF7E1190-6BEE-4E96-B748-AAD2BD4B991F}" presName="negativeSpace" presStyleCnt="0"/>
      <dgm:spPr/>
    </dgm:pt>
    <dgm:pt modelId="{A396E50B-43DA-46F3-A7CA-06DE26DDEA8B}" type="pres">
      <dgm:prSet presAssocID="{AF7E1190-6BEE-4E96-B748-AAD2BD4B991F}" presName="childText" presStyleLbl="conFgAcc1" presStyleIdx="2" presStyleCnt="3">
        <dgm:presLayoutVars>
          <dgm:bulletEnabled val="1"/>
        </dgm:presLayoutVars>
      </dgm:prSet>
      <dgm:spPr/>
    </dgm:pt>
  </dgm:ptLst>
  <dgm:cxnLst>
    <dgm:cxn modelId="{37024903-A9D5-4216-A7B1-915606BEE55F}" type="presOf" srcId="{1501CABE-6B67-4D07-AC13-584BF8AF125D}" destId="{7990FAF2-9E50-4394-8F7A-89BDE6BA71E7}" srcOrd="0" destOrd="0" presId="urn:microsoft.com/office/officeart/2005/8/layout/list1"/>
    <dgm:cxn modelId="{D32E2024-D3B1-4933-A582-FE33E1A1844B}" type="presOf" srcId="{D51D53E4-7B20-4FFA-B45E-63261FBE5EB8}" destId="{840A0768-E91B-486B-BFBE-97BECDF8D7B8}" srcOrd="1" destOrd="0" presId="urn:microsoft.com/office/officeart/2005/8/layout/list1"/>
    <dgm:cxn modelId="{3E663D2A-4B17-4915-AD1D-D20FA452314F}" type="presOf" srcId="{D51D53E4-7B20-4FFA-B45E-63261FBE5EB8}" destId="{9AA818B4-F6D9-4A86-B55F-C4A6A5BFEAE8}" srcOrd="0" destOrd="0" presId="urn:microsoft.com/office/officeart/2005/8/layout/list1"/>
    <dgm:cxn modelId="{44363D33-7221-4554-A27C-820415912B1E}" srcId="{DEC75965-2DB3-4C23-83B9-99C9DDE68FCA}" destId="{B58420FD-6353-4B96-A81F-E6CC7617123F}" srcOrd="0" destOrd="0" parTransId="{84AF1D17-03A7-46A7-8C14-2AF31727C34F}" sibTransId="{B8C90CDA-A81B-42CC-B576-50D076101D87}"/>
    <dgm:cxn modelId="{3530F437-5B82-4DF5-9385-39B2D4DD7971}" type="presOf" srcId="{DEC75965-2DB3-4C23-83B9-99C9DDE68FCA}" destId="{F7DD3965-597D-41F8-8425-8A8047AD5FF7}" srcOrd="0" destOrd="0" presId="urn:microsoft.com/office/officeart/2005/8/layout/list1"/>
    <dgm:cxn modelId="{A189695C-B701-4F96-B26C-CAF0FA25F5C4}" type="presOf" srcId="{B58420FD-6353-4B96-A81F-E6CC7617123F}" destId="{A48D4836-EF73-4180-A362-69758EFFBA7C}" srcOrd="0" destOrd="0" presId="urn:microsoft.com/office/officeart/2005/8/layout/list1"/>
    <dgm:cxn modelId="{F6A88D66-67CC-4AD0-B717-1310998A1D84}" type="presOf" srcId="{998F313F-8526-4AB2-9C8B-61CC997D3A65}" destId="{A396E50B-43DA-46F3-A7CA-06DE26DDEA8B}" srcOrd="0" destOrd="0" presId="urn:microsoft.com/office/officeart/2005/8/layout/list1"/>
    <dgm:cxn modelId="{703A6C4E-538E-4671-8197-3458CEC28C9F}" srcId="{DEC75965-2DB3-4C23-83B9-99C9DDE68FCA}" destId="{D51D53E4-7B20-4FFA-B45E-63261FBE5EB8}" srcOrd="1" destOrd="0" parTransId="{3B56EB4A-D6B5-435E-9E9B-348F8445E2E8}" sibTransId="{0F154B5D-1AAD-4616-A0E5-A9D700BF9E0E}"/>
    <dgm:cxn modelId="{3D402E56-A4FC-4F91-B78C-DB186A5D9E8B}" type="presOf" srcId="{AF7E1190-6BEE-4E96-B748-AAD2BD4B991F}" destId="{57EB9BFA-2D9A-4866-B95B-57D404D7B087}" srcOrd="0" destOrd="0" presId="urn:microsoft.com/office/officeart/2005/8/layout/list1"/>
    <dgm:cxn modelId="{88B32878-1C3B-4277-ACF4-B94E4C0111A2}" type="presOf" srcId="{AF7E1190-6BEE-4E96-B748-AAD2BD4B991F}" destId="{E36322B6-1F6F-4BCD-98C5-856E2AC167C6}" srcOrd="1" destOrd="0" presId="urn:microsoft.com/office/officeart/2005/8/layout/list1"/>
    <dgm:cxn modelId="{6E94319A-3F0E-493E-AE54-93CF5FBC3640}" srcId="{DEC75965-2DB3-4C23-83B9-99C9DDE68FCA}" destId="{AF7E1190-6BEE-4E96-B748-AAD2BD4B991F}" srcOrd="2" destOrd="0" parTransId="{3B86B353-DDE3-42A5-A352-0B915DE60EF5}" sibTransId="{BECFD875-9514-42F1-B00C-5C67735B5426}"/>
    <dgm:cxn modelId="{B9E2DEA6-277D-4E91-B8FC-946D04EED2C0}" type="presOf" srcId="{B58420FD-6353-4B96-A81F-E6CC7617123F}" destId="{DECB4776-CD76-4F25-93EF-8C409939EB29}" srcOrd="1" destOrd="0" presId="urn:microsoft.com/office/officeart/2005/8/layout/list1"/>
    <dgm:cxn modelId="{36A073B6-86FC-4B5B-A780-5900654E53FF}" srcId="{B58420FD-6353-4B96-A81F-E6CC7617123F}" destId="{7AEA9701-208A-43DA-A064-F9366EF72333}" srcOrd="0" destOrd="0" parTransId="{70AA8245-F215-4775-A021-BA236FBF134A}" sibTransId="{7FDB3438-641C-4841-B4C8-B73923EF9383}"/>
    <dgm:cxn modelId="{975A64B8-18F8-454D-94D1-C132D42ECCB7}" srcId="{AF7E1190-6BEE-4E96-B748-AAD2BD4B991F}" destId="{998F313F-8526-4AB2-9C8B-61CC997D3A65}" srcOrd="0" destOrd="0" parTransId="{EBF3B5D1-EB9B-4029-A7B1-E5B00EF56856}" sibTransId="{495932CF-ACB6-46C3-8AB3-5D41695FE6CF}"/>
    <dgm:cxn modelId="{9892C1D8-8549-4470-9660-81404DC8BC93}" srcId="{D51D53E4-7B20-4FFA-B45E-63261FBE5EB8}" destId="{1501CABE-6B67-4D07-AC13-584BF8AF125D}" srcOrd="0" destOrd="0" parTransId="{395AE50D-AE35-4D89-BA59-DF6FE15C9A59}" sibTransId="{C846D659-53F9-4BEA-93E2-6CF958D3C254}"/>
    <dgm:cxn modelId="{AC4818F9-C218-4BBF-812A-E08E3C39E337}" type="presOf" srcId="{7AEA9701-208A-43DA-A064-F9366EF72333}" destId="{23063CA3-4724-4155-B3DA-538CC35D552C}" srcOrd="0" destOrd="0" presId="urn:microsoft.com/office/officeart/2005/8/layout/list1"/>
    <dgm:cxn modelId="{BE1F8A98-C622-4569-9CEF-CE7575B827DE}" type="presParOf" srcId="{F7DD3965-597D-41F8-8425-8A8047AD5FF7}" destId="{AC6012D8-AC1F-46BC-8133-42E9B405B580}" srcOrd="0" destOrd="0" presId="urn:microsoft.com/office/officeart/2005/8/layout/list1"/>
    <dgm:cxn modelId="{1D9D48B5-0475-4C26-94BE-58C91D792A52}" type="presParOf" srcId="{AC6012D8-AC1F-46BC-8133-42E9B405B580}" destId="{A48D4836-EF73-4180-A362-69758EFFBA7C}" srcOrd="0" destOrd="0" presId="urn:microsoft.com/office/officeart/2005/8/layout/list1"/>
    <dgm:cxn modelId="{626477D7-E34F-468D-A1AD-A1619E6DC465}" type="presParOf" srcId="{AC6012D8-AC1F-46BC-8133-42E9B405B580}" destId="{DECB4776-CD76-4F25-93EF-8C409939EB29}" srcOrd="1" destOrd="0" presId="urn:microsoft.com/office/officeart/2005/8/layout/list1"/>
    <dgm:cxn modelId="{B022B4CD-0C9E-4462-A129-52D25FABC435}" type="presParOf" srcId="{F7DD3965-597D-41F8-8425-8A8047AD5FF7}" destId="{0D5381EF-6E25-4D97-B398-08EC55F72AC5}" srcOrd="1" destOrd="0" presId="urn:microsoft.com/office/officeart/2005/8/layout/list1"/>
    <dgm:cxn modelId="{4A0D9CF7-E756-440C-AFA7-8EF1A0F0F37C}" type="presParOf" srcId="{F7DD3965-597D-41F8-8425-8A8047AD5FF7}" destId="{23063CA3-4724-4155-B3DA-538CC35D552C}" srcOrd="2" destOrd="0" presId="urn:microsoft.com/office/officeart/2005/8/layout/list1"/>
    <dgm:cxn modelId="{FA3611B0-DB05-416C-A2C0-A3B2CD37636F}" type="presParOf" srcId="{F7DD3965-597D-41F8-8425-8A8047AD5FF7}" destId="{4BEA9363-8DD9-47D2-BC6E-BDEF967C2674}" srcOrd="3" destOrd="0" presId="urn:microsoft.com/office/officeart/2005/8/layout/list1"/>
    <dgm:cxn modelId="{97E8ADCC-4BDA-41DF-85B5-9E474920D52F}" type="presParOf" srcId="{F7DD3965-597D-41F8-8425-8A8047AD5FF7}" destId="{6240096E-4FFB-4809-8FC9-DA14F295CB7F}" srcOrd="4" destOrd="0" presId="urn:microsoft.com/office/officeart/2005/8/layout/list1"/>
    <dgm:cxn modelId="{A94CB59C-FAE9-4302-A8AB-8A08AE934D35}" type="presParOf" srcId="{6240096E-4FFB-4809-8FC9-DA14F295CB7F}" destId="{9AA818B4-F6D9-4A86-B55F-C4A6A5BFEAE8}" srcOrd="0" destOrd="0" presId="urn:microsoft.com/office/officeart/2005/8/layout/list1"/>
    <dgm:cxn modelId="{F72AA13B-A2D1-401A-B2B9-D0ED6FCCDACE}" type="presParOf" srcId="{6240096E-4FFB-4809-8FC9-DA14F295CB7F}" destId="{840A0768-E91B-486B-BFBE-97BECDF8D7B8}" srcOrd="1" destOrd="0" presId="urn:microsoft.com/office/officeart/2005/8/layout/list1"/>
    <dgm:cxn modelId="{85F34B3A-BF98-4F1C-BF1E-E9EE2D4A0908}" type="presParOf" srcId="{F7DD3965-597D-41F8-8425-8A8047AD5FF7}" destId="{61F9D16D-12FD-4C9D-BA9C-6B052500D616}" srcOrd="5" destOrd="0" presId="urn:microsoft.com/office/officeart/2005/8/layout/list1"/>
    <dgm:cxn modelId="{CC8C4ED2-5176-4387-9828-9523F33266BD}" type="presParOf" srcId="{F7DD3965-597D-41F8-8425-8A8047AD5FF7}" destId="{7990FAF2-9E50-4394-8F7A-89BDE6BA71E7}" srcOrd="6" destOrd="0" presId="urn:microsoft.com/office/officeart/2005/8/layout/list1"/>
    <dgm:cxn modelId="{6EC7E196-FAB3-4960-84E6-43BF0527B262}" type="presParOf" srcId="{F7DD3965-597D-41F8-8425-8A8047AD5FF7}" destId="{B12E8D17-2ADF-404B-BA69-DCBCC4E2D577}" srcOrd="7" destOrd="0" presId="urn:microsoft.com/office/officeart/2005/8/layout/list1"/>
    <dgm:cxn modelId="{EF759300-0154-47C1-B5FB-C785AA65FDBD}" type="presParOf" srcId="{F7DD3965-597D-41F8-8425-8A8047AD5FF7}" destId="{108467EB-379A-4DC2-9033-A2E1BF186B7D}" srcOrd="8" destOrd="0" presId="urn:microsoft.com/office/officeart/2005/8/layout/list1"/>
    <dgm:cxn modelId="{C98FFEF4-2FA1-42D3-9894-312B2E6DF4D5}" type="presParOf" srcId="{108467EB-379A-4DC2-9033-A2E1BF186B7D}" destId="{57EB9BFA-2D9A-4866-B95B-57D404D7B087}" srcOrd="0" destOrd="0" presId="urn:microsoft.com/office/officeart/2005/8/layout/list1"/>
    <dgm:cxn modelId="{926D52D3-B83C-4F46-831D-4447F08657FE}" type="presParOf" srcId="{108467EB-379A-4DC2-9033-A2E1BF186B7D}" destId="{E36322B6-1F6F-4BCD-98C5-856E2AC167C6}" srcOrd="1" destOrd="0" presId="urn:microsoft.com/office/officeart/2005/8/layout/list1"/>
    <dgm:cxn modelId="{3FFEBCA9-69FE-4998-967D-61228D741CC6}" type="presParOf" srcId="{F7DD3965-597D-41F8-8425-8A8047AD5FF7}" destId="{D5886018-A71F-44CE-888B-4DDE36BB7926}" srcOrd="9" destOrd="0" presId="urn:microsoft.com/office/officeart/2005/8/layout/list1"/>
    <dgm:cxn modelId="{8C3F3F39-DC03-4778-B512-9CC519957BE3}" type="presParOf" srcId="{F7DD3965-597D-41F8-8425-8A8047AD5FF7}" destId="{A396E50B-43DA-46F3-A7CA-06DE26DDEA8B}"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4C06B5-188A-44A0-A4A3-8FBBF11337E3}">
      <dsp:nvSpPr>
        <dsp:cNvPr id="0" name=""/>
        <dsp:cNvSpPr/>
      </dsp:nvSpPr>
      <dsp:spPr>
        <a:xfrm>
          <a:off x="0" y="262746"/>
          <a:ext cx="6797675" cy="1175264"/>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a:t>Narrative hook</a:t>
          </a:r>
        </a:p>
      </dsp:txBody>
      <dsp:txXfrm>
        <a:off x="57372" y="320118"/>
        <a:ext cx="6682931" cy="1060520"/>
      </dsp:txXfrm>
    </dsp:sp>
    <dsp:sp modelId="{8C93E0B3-FC95-4EF6-8A06-5D441E758436}">
      <dsp:nvSpPr>
        <dsp:cNvPr id="0" name=""/>
        <dsp:cNvSpPr/>
      </dsp:nvSpPr>
      <dsp:spPr>
        <a:xfrm>
          <a:off x="0" y="1579131"/>
          <a:ext cx="6797675" cy="1175264"/>
        </a:xfrm>
        <a:prstGeom prst="roundRect">
          <a:avLst/>
        </a:prstGeom>
        <a:solidFill>
          <a:schemeClr val="accent2">
            <a:hueOff val="-443941"/>
            <a:satOff val="-195"/>
            <a:lumOff val="52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a:t>Background on the topic</a:t>
          </a:r>
        </a:p>
      </dsp:txBody>
      <dsp:txXfrm>
        <a:off x="57372" y="1636503"/>
        <a:ext cx="6682931" cy="1060520"/>
      </dsp:txXfrm>
    </dsp:sp>
    <dsp:sp modelId="{91C8EB22-8C75-49DA-8046-074A5136D770}">
      <dsp:nvSpPr>
        <dsp:cNvPr id="0" name=""/>
        <dsp:cNvSpPr/>
      </dsp:nvSpPr>
      <dsp:spPr>
        <a:xfrm>
          <a:off x="0" y="2895516"/>
          <a:ext cx="6797675" cy="1175264"/>
        </a:xfrm>
        <a:prstGeom prst="roundRect">
          <a:avLst/>
        </a:prstGeom>
        <a:solidFill>
          <a:schemeClr val="accent2">
            <a:hueOff val="-887883"/>
            <a:satOff val="-391"/>
            <a:lumOff val="104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a:t>Importance of the topic</a:t>
          </a:r>
        </a:p>
      </dsp:txBody>
      <dsp:txXfrm>
        <a:off x="57372" y="2952888"/>
        <a:ext cx="6682931" cy="1060520"/>
      </dsp:txXfrm>
    </dsp:sp>
    <dsp:sp modelId="{D9673FF6-01DE-4D63-8653-90041A3E795F}">
      <dsp:nvSpPr>
        <dsp:cNvPr id="0" name=""/>
        <dsp:cNvSpPr/>
      </dsp:nvSpPr>
      <dsp:spPr>
        <a:xfrm>
          <a:off x="0" y="4211901"/>
          <a:ext cx="6797675" cy="1175264"/>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en-US" sz="4900" kern="1200"/>
            <a:t>Goal Statement</a:t>
          </a:r>
        </a:p>
      </dsp:txBody>
      <dsp:txXfrm>
        <a:off x="57372" y="4269273"/>
        <a:ext cx="6682931" cy="10605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562FF0-B22E-43D7-B4CC-38563F97FD7A}">
      <dsp:nvSpPr>
        <dsp:cNvPr id="0" name=""/>
        <dsp:cNvSpPr/>
      </dsp:nvSpPr>
      <dsp:spPr>
        <a:xfrm rot="5400000">
          <a:off x="6589537" y="-2661529"/>
          <a:ext cx="1122140" cy="6729984"/>
        </a:xfrm>
        <a:prstGeom prst="round2Same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All data has measurement error</a:t>
          </a:r>
        </a:p>
        <a:p>
          <a:pPr marL="228600" lvl="1" indent="-228600" algn="l" defTabSz="933450">
            <a:lnSpc>
              <a:spcPct val="90000"/>
            </a:lnSpc>
            <a:spcBef>
              <a:spcPct val="0"/>
            </a:spcBef>
            <a:spcAft>
              <a:spcPct val="15000"/>
            </a:spcAft>
            <a:buChar char="•"/>
          </a:pPr>
          <a:r>
            <a:rPr lang="en-US" sz="2100" kern="1200"/>
            <a:t>Allowable level of error depends on the situation</a:t>
          </a:r>
        </a:p>
      </dsp:txBody>
      <dsp:txXfrm rot="-5400000">
        <a:off x="3785615" y="197171"/>
        <a:ext cx="6675206" cy="1012584"/>
      </dsp:txXfrm>
    </dsp:sp>
    <dsp:sp modelId="{96F88ECC-92BC-4F73-93F0-82E39405CC01}">
      <dsp:nvSpPr>
        <dsp:cNvPr id="0" name=""/>
        <dsp:cNvSpPr/>
      </dsp:nvSpPr>
      <dsp:spPr>
        <a:xfrm>
          <a:off x="0" y="2125"/>
          <a:ext cx="3785616" cy="140267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How accurate is the data?</a:t>
          </a:r>
        </a:p>
      </dsp:txBody>
      <dsp:txXfrm>
        <a:off x="68473" y="70598"/>
        <a:ext cx="3648670" cy="1265729"/>
      </dsp:txXfrm>
    </dsp:sp>
    <dsp:sp modelId="{FCD6B75B-C71D-45EB-9B8C-4620A2B2FF9E}">
      <dsp:nvSpPr>
        <dsp:cNvPr id="0" name=""/>
        <dsp:cNvSpPr/>
      </dsp:nvSpPr>
      <dsp:spPr>
        <a:xfrm rot="5400000">
          <a:off x="6589537" y="-1188720"/>
          <a:ext cx="1122140" cy="6729984"/>
        </a:xfrm>
        <a:prstGeom prst="round2SameRect">
          <a:avLst/>
        </a:prstGeom>
        <a:solidFill>
          <a:schemeClr val="accent2">
            <a:tint val="40000"/>
            <a:alpha val="90000"/>
            <a:hueOff val="-928920"/>
            <a:satOff val="1961"/>
            <a:lumOff val="202"/>
            <a:alphaOff val="0"/>
          </a:schemeClr>
        </a:solidFill>
        <a:ln w="15875" cap="flat" cmpd="sng" algn="ctr">
          <a:solidFill>
            <a:schemeClr val="accent2">
              <a:tint val="40000"/>
              <a:alpha val="90000"/>
              <a:hueOff val="-928920"/>
              <a:satOff val="1961"/>
              <a:lumOff val="20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The quantification of the data should match real-world behavior</a:t>
          </a:r>
        </a:p>
        <a:p>
          <a:pPr marL="228600" lvl="1" indent="-228600" algn="l" defTabSz="933450">
            <a:lnSpc>
              <a:spcPct val="90000"/>
            </a:lnSpc>
            <a:spcBef>
              <a:spcPct val="0"/>
            </a:spcBef>
            <a:spcAft>
              <a:spcPct val="15000"/>
            </a:spcAft>
            <a:buChar char="•"/>
          </a:pPr>
          <a:r>
            <a:rPr lang="en-US" sz="2100" kern="1200"/>
            <a:t>Multiple measures of the same variable can help</a:t>
          </a:r>
        </a:p>
      </dsp:txBody>
      <dsp:txXfrm rot="-5400000">
        <a:off x="3785615" y="1669980"/>
        <a:ext cx="6675206" cy="1012584"/>
      </dsp:txXfrm>
    </dsp:sp>
    <dsp:sp modelId="{60CD1735-82D9-4F69-82C5-0D6CCA8B4084}">
      <dsp:nvSpPr>
        <dsp:cNvPr id="0" name=""/>
        <dsp:cNvSpPr/>
      </dsp:nvSpPr>
      <dsp:spPr>
        <a:xfrm>
          <a:off x="0" y="1474934"/>
          <a:ext cx="3785616" cy="1402675"/>
        </a:xfrm>
        <a:prstGeom prst="roundRect">
          <a:avLst/>
        </a:prstGeom>
        <a:solidFill>
          <a:schemeClr val="accent2">
            <a:hueOff val="-665912"/>
            <a:satOff val="-293"/>
            <a:lumOff val="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Are the variables/labels in the data useful?</a:t>
          </a:r>
        </a:p>
      </dsp:txBody>
      <dsp:txXfrm>
        <a:off x="68473" y="1543407"/>
        <a:ext cx="3648670" cy="1265729"/>
      </dsp:txXfrm>
    </dsp:sp>
    <dsp:sp modelId="{A9DF2029-C824-4B50-8089-6BC218335081}">
      <dsp:nvSpPr>
        <dsp:cNvPr id="0" name=""/>
        <dsp:cNvSpPr/>
      </dsp:nvSpPr>
      <dsp:spPr>
        <a:xfrm rot="5400000">
          <a:off x="6589537" y="284089"/>
          <a:ext cx="1122140" cy="6729984"/>
        </a:xfrm>
        <a:prstGeom prst="round2SameRect">
          <a:avLst/>
        </a:prstGeom>
        <a:solidFill>
          <a:schemeClr val="accent2">
            <a:tint val="40000"/>
            <a:alpha val="90000"/>
            <a:hueOff val="-1857840"/>
            <a:satOff val="3922"/>
            <a:lumOff val="404"/>
            <a:alphaOff val="0"/>
          </a:schemeClr>
        </a:solidFill>
        <a:ln w="15875" cap="flat" cmpd="sng" algn="ctr">
          <a:solidFill>
            <a:schemeClr val="accent2">
              <a:tint val="40000"/>
              <a:alpha val="90000"/>
              <a:hueOff val="-1857840"/>
              <a:satOff val="3922"/>
              <a:lumOff val="40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a:t>Always consider how people approach the problem and how they will interact with the results</a:t>
          </a:r>
        </a:p>
      </dsp:txBody>
      <dsp:txXfrm rot="-5400000">
        <a:off x="3785615" y="3142789"/>
        <a:ext cx="6675206" cy="1012584"/>
      </dsp:txXfrm>
    </dsp:sp>
    <dsp:sp modelId="{FB2FC582-71F1-40D4-81B5-DFEE52627B7A}">
      <dsp:nvSpPr>
        <dsp:cNvPr id="0" name=""/>
        <dsp:cNvSpPr/>
      </dsp:nvSpPr>
      <dsp:spPr>
        <a:xfrm>
          <a:off x="0" y="2947743"/>
          <a:ext cx="3785616" cy="1402675"/>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n-US" sz="2200" kern="1200"/>
            <a:t>How well does the data capture the problem/situation in the real-world?</a:t>
          </a:r>
        </a:p>
      </dsp:txBody>
      <dsp:txXfrm>
        <a:off x="68473" y="3016216"/>
        <a:ext cx="3648670" cy="12657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ED3F3-3D0D-436D-A744-8AF565C1421E}">
      <dsp:nvSpPr>
        <dsp:cNvPr id="0" name=""/>
        <dsp:cNvSpPr/>
      </dsp:nvSpPr>
      <dsp:spPr>
        <a:xfrm>
          <a:off x="212335" y="470390"/>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BBE9AA-257C-4524-911C-231AE52C8CFF}">
      <dsp:nvSpPr>
        <dsp:cNvPr id="0" name=""/>
        <dsp:cNvSpPr/>
      </dsp:nvSpPr>
      <dsp:spPr>
        <a:xfrm>
          <a:off x="492877" y="7509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B74CD9-AB49-4F4B-AB49-17645986FBC4}">
      <dsp:nvSpPr>
        <dsp:cNvPr id="0" name=""/>
        <dsp:cNvSpPr/>
      </dsp:nvSpPr>
      <dsp:spPr>
        <a:xfrm>
          <a:off x="1834517"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Does the data represent the people/situations that the model/algorithm will be applied to?</a:t>
          </a:r>
        </a:p>
      </dsp:txBody>
      <dsp:txXfrm>
        <a:off x="1834517" y="470390"/>
        <a:ext cx="3148942" cy="1335915"/>
      </dsp:txXfrm>
    </dsp:sp>
    <dsp:sp modelId="{C02B78CF-228C-474C-88DB-981FD55CC730}">
      <dsp:nvSpPr>
        <dsp:cNvPr id="0" name=""/>
        <dsp:cNvSpPr/>
      </dsp:nvSpPr>
      <dsp:spPr>
        <a:xfrm>
          <a:off x="5532139" y="470390"/>
          <a:ext cx="1335915" cy="1335915"/>
        </a:xfrm>
        <a:prstGeom prst="ellipse">
          <a:avLst/>
        </a:prstGeom>
        <a:solidFill>
          <a:schemeClr val="accent5">
            <a:hueOff val="785595"/>
            <a:satOff val="-3757"/>
            <a:lumOff val="4118"/>
            <a:alphaOff val="0"/>
          </a:schemeClr>
        </a:solidFill>
        <a:ln>
          <a:noFill/>
        </a:ln>
        <a:effectLst/>
      </dsp:spPr>
      <dsp:style>
        <a:lnRef idx="0">
          <a:scrgbClr r="0" g="0" b="0"/>
        </a:lnRef>
        <a:fillRef idx="1">
          <a:scrgbClr r="0" g="0" b="0"/>
        </a:fillRef>
        <a:effectRef idx="0">
          <a:scrgbClr r="0" g="0" b="0"/>
        </a:effectRef>
        <a:fontRef idx="minor"/>
      </dsp:style>
    </dsp:sp>
    <dsp:sp modelId="{1711A4D5-A7D2-40E1-AE73-E2592C36139C}">
      <dsp:nvSpPr>
        <dsp:cNvPr id="0" name=""/>
        <dsp:cNvSpPr/>
      </dsp:nvSpPr>
      <dsp:spPr>
        <a:xfrm>
          <a:off x="5812681" y="7509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B87708-63A7-4638-906D-42E70C5CEDF5}">
      <dsp:nvSpPr>
        <dsp:cNvPr id="0" name=""/>
        <dsp:cNvSpPr/>
      </dsp:nvSpPr>
      <dsp:spPr>
        <a:xfrm>
          <a:off x="7154322" y="4703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How diverse is the data set?</a:t>
          </a:r>
        </a:p>
      </dsp:txBody>
      <dsp:txXfrm>
        <a:off x="7154322" y="470390"/>
        <a:ext cx="3148942" cy="1335915"/>
      </dsp:txXfrm>
    </dsp:sp>
    <dsp:sp modelId="{97F05670-7FE8-4DAA-85E0-84A031363493}">
      <dsp:nvSpPr>
        <dsp:cNvPr id="0" name=""/>
        <dsp:cNvSpPr/>
      </dsp:nvSpPr>
      <dsp:spPr>
        <a:xfrm>
          <a:off x="212335" y="2546238"/>
          <a:ext cx="1335915" cy="1335915"/>
        </a:xfrm>
        <a:prstGeom prst="ellipse">
          <a:avLst/>
        </a:prstGeom>
        <a:solidFill>
          <a:schemeClr val="accent5">
            <a:hueOff val="1571189"/>
            <a:satOff val="-7513"/>
            <a:lumOff val="8235"/>
            <a:alphaOff val="0"/>
          </a:schemeClr>
        </a:solidFill>
        <a:ln>
          <a:noFill/>
        </a:ln>
        <a:effectLst/>
      </dsp:spPr>
      <dsp:style>
        <a:lnRef idx="0">
          <a:scrgbClr r="0" g="0" b="0"/>
        </a:lnRef>
        <a:fillRef idx="1">
          <a:scrgbClr r="0" g="0" b="0"/>
        </a:fillRef>
        <a:effectRef idx="0">
          <a:scrgbClr r="0" g="0" b="0"/>
        </a:effectRef>
        <a:fontRef idx="minor"/>
      </dsp:style>
    </dsp:sp>
    <dsp:sp modelId="{3DEE2A28-00C0-4AC0-819A-3B62B38C921D}">
      <dsp:nvSpPr>
        <dsp:cNvPr id="0" name=""/>
        <dsp:cNvSpPr/>
      </dsp:nvSpPr>
      <dsp:spPr>
        <a:xfrm>
          <a:off x="492877" y="2826780"/>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CDCE40-2558-49DD-B030-484FDBB3B65E}">
      <dsp:nvSpPr>
        <dsp:cNvPr id="0" name=""/>
        <dsp:cNvSpPr/>
      </dsp:nvSpPr>
      <dsp:spPr>
        <a:xfrm>
          <a:off x="1834517"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Are there some categories or ranges of variables missing?</a:t>
          </a:r>
        </a:p>
      </dsp:txBody>
      <dsp:txXfrm>
        <a:off x="1834517" y="2546238"/>
        <a:ext cx="3148942" cy="1335915"/>
      </dsp:txXfrm>
    </dsp:sp>
    <dsp:sp modelId="{C555668D-87CC-4584-BCD6-501FE1AAC3E0}">
      <dsp:nvSpPr>
        <dsp:cNvPr id="0" name=""/>
        <dsp:cNvSpPr/>
      </dsp:nvSpPr>
      <dsp:spPr>
        <a:xfrm>
          <a:off x="5532139" y="2546238"/>
          <a:ext cx="1335915" cy="1335915"/>
        </a:xfrm>
        <a:prstGeom prst="ellipse">
          <a:avLst/>
        </a:prstGeom>
        <a:solidFill>
          <a:schemeClr val="accent5">
            <a:hueOff val="2356783"/>
            <a:satOff val="-11270"/>
            <a:lumOff val="12353"/>
            <a:alphaOff val="0"/>
          </a:schemeClr>
        </a:solidFill>
        <a:ln>
          <a:noFill/>
        </a:ln>
        <a:effectLst/>
      </dsp:spPr>
      <dsp:style>
        <a:lnRef idx="0">
          <a:scrgbClr r="0" g="0" b="0"/>
        </a:lnRef>
        <a:fillRef idx="1">
          <a:scrgbClr r="0" g="0" b="0"/>
        </a:fillRef>
        <a:effectRef idx="0">
          <a:scrgbClr r="0" g="0" b="0"/>
        </a:effectRef>
        <a:fontRef idx="minor"/>
      </dsp:style>
    </dsp:sp>
    <dsp:sp modelId="{EBE315BA-717C-4F1E-8F9D-31F2EAC7687B}">
      <dsp:nvSpPr>
        <dsp:cNvPr id="0" name=""/>
        <dsp:cNvSpPr/>
      </dsp:nvSpPr>
      <dsp:spPr>
        <a:xfrm>
          <a:off x="5812681" y="2826780"/>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158BCF-B5E0-4B6A-BCD3-24631275637F}">
      <dsp:nvSpPr>
        <dsp:cNvPr id="0" name=""/>
        <dsp:cNvSpPr/>
      </dsp:nvSpPr>
      <dsp:spPr>
        <a:xfrm>
          <a:off x="7154322" y="2546238"/>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How flexible is the model to apply to new situations and datasets?</a:t>
          </a:r>
        </a:p>
      </dsp:txBody>
      <dsp:txXfrm>
        <a:off x="7154322" y="2546238"/>
        <a:ext cx="3148942" cy="13359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1FB17D-1CA0-4E63-969B-D0F1C50C89F2}">
      <dsp:nvSpPr>
        <dsp:cNvPr id="0" name=""/>
        <dsp:cNvSpPr/>
      </dsp:nvSpPr>
      <dsp:spPr>
        <a:xfrm rot="5400000">
          <a:off x="6589693" y="-2661723"/>
          <a:ext cx="1121829" cy="6729984"/>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Nominal</a:t>
          </a:r>
        </a:p>
        <a:p>
          <a:pPr marL="285750" lvl="1" indent="-285750" algn="l" defTabSz="1289050">
            <a:lnSpc>
              <a:spcPct val="90000"/>
            </a:lnSpc>
            <a:spcBef>
              <a:spcPct val="0"/>
            </a:spcBef>
            <a:spcAft>
              <a:spcPct val="15000"/>
            </a:spcAft>
            <a:buChar char="•"/>
          </a:pPr>
          <a:r>
            <a:rPr lang="en-US" sz="2900" kern="1200"/>
            <a:t>Ordinal</a:t>
          </a:r>
        </a:p>
      </dsp:txBody>
      <dsp:txXfrm rot="-5400000">
        <a:off x="3785616" y="197117"/>
        <a:ext cx="6675221" cy="1012303"/>
      </dsp:txXfrm>
    </dsp:sp>
    <dsp:sp modelId="{DE115533-51E3-4CD7-9981-6BC781677A45}">
      <dsp:nvSpPr>
        <dsp:cNvPr id="0" name=""/>
        <dsp:cNvSpPr/>
      </dsp:nvSpPr>
      <dsp:spPr>
        <a:xfrm>
          <a:off x="0" y="2124"/>
          <a:ext cx="3785616" cy="140228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99060" rIns="198120" bIns="99060" numCol="1" spcCol="1270" anchor="ctr" anchorCtr="0">
          <a:noAutofit/>
        </a:bodyPr>
        <a:lstStyle/>
        <a:p>
          <a:pPr marL="0" lvl="0" indent="0" algn="ctr" defTabSz="2311400">
            <a:lnSpc>
              <a:spcPct val="90000"/>
            </a:lnSpc>
            <a:spcBef>
              <a:spcPct val="0"/>
            </a:spcBef>
            <a:spcAft>
              <a:spcPct val="35000"/>
            </a:spcAft>
            <a:buNone/>
          </a:pPr>
          <a:r>
            <a:rPr lang="en-US" sz="5200" kern="1200"/>
            <a:t>Categorical</a:t>
          </a:r>
        </a:p>
      </dsp:txBody>
      <dsp:txXfrm>
        <a:off x="68454" y="70578"/>
        <a:ext cx="3648708" cy="1265378"/>
      </dsp:txXfrm>
    </dsp:sp>
    <dsp:sp modelId="{A87806D5-510A-470E-9325-122FA7DEA6AB}">
      <dsp:nvSpPr>
        <dsp:cNvPr id="0" name=""/>
        <dsp:cNvSpPr/>
      </dsp:nvSpPr>
      <dsp:spPr>
        <a:xfrm rot="5400000">
          <a:off x="6589693" y="-1189323"/>
          <a:ext cx="1121829" cy="6729984"/>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Interval</a:t>
          </a:r>
        </a:p>
        <a:p>
          <a:pPr marL="285750" lvl="1" indent="-285750" algn="l" defTabSz="1289050">
            <a:lnSpc>
              <a:spcPct val="90000"/>
            </a:lnSpc>
            <a:spcBef>
              <a:spcPct val="0"/>
            </a:spcBef>
            <a:spcAft>
              <a:spcPct val="15000"/>
            </a:spcAft>
            <a:buChar char="•"/>
          </a:pPr>
          <a:r>
            <a:rPr lang="en-US" sz="2900" kern="1200"/>
            <a:t>Ratio</a:t>
          </a:r>
        </a:p>
      </dsp:txBody>
      <dsp:txXfrm rot="-5400000">
        <a:off x="3785616" y="1669517"/>
        <a:ext cx="6675221" cy="1012303"/>
      </dsp:txXfrm>
    </dsp:sp>
    <dsp:sp modelId="{A0639D8A-39BD-49A9-A372-D4EB7D4F744A}">
      <dsp:nvSpPr>
        <dsp:cNvPr id="0" name=""/>
        <dsp:cNvSpPr/>
      </dsp:nvSpPr>
      <dsp:spPr>
        <a:xfrm>
          <a:off x="0" y="1474525"/>
          <a:ext cx="3785616" cy="140228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99060" rIns="198120" bIns="99060" numCol="1" spcCol="1270" anchor="ctr" anchorCtr="0">
          <a:noAutofit/>
        </a:bodyPr>
        <a:lstStyle/>
        <a:p>
          <a:pPr marL="0" lvl="0" indent="0" algn="ctr" defTabSz="2311400">
            <a:lnSpc>
              <a:spcPct val="90000"/>
            </a:lnSpc>
            <a:spcBef>
              <a:spcPct val="0"/>
            </a:spcBef>
            <a:spcAft>
              <a:spcPct val="35000"/>
            </a:spcAft>
            <a:buNone/>
          </a:pPr>
          <a:r>
            <a:rPr lang="en-US" sz="5200" kern="1200"/>
            <a:t>Numeric</a:t>
          </a:r>
        </a:p>
      </dsp:txBody>
      <dsp:txXfrm>
        <a:off x="68454" y="1542979"/>
        <a:ext cx="3648708" cy="1265378"/>
      </dsp:txXfrm>
    </dsp:sp>
    <dsp:sp modelId="{6214EF34-4170-417C-8049-4F2D5FCA0581}">
      <dsp:nvSpPr>
        <dsp:cNvPr id="0" name=""/>
        <dsp:cNvSpPr/>
      </dsp:nvSpPr>
      <dsp:spPr>
        <a:xfrm rot="5400000">
          <a:off x="6589693" y="283077"/>
          <a:ext cx="1121829" cy="6729984"/>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n-US" sz="2900" kern="1200"/>
            <a:t>Extracted from unstructured data</a:t>
          </a:r>
        </a:p>
        <a:p>
          <a:pPr marL="285750" lvl="1" indent="-285750" algn="l" defTabSz="1289050">
            <a:lnSpc>
              <a:spcPct val="90000"/>
            </a:lnSpc>
            <a:spcBef>
              <a:spcPct val="0"/>
            </a:spcBef>
            <a:spcAft>
              <a:spcPct val="15000"/>
            </a:spcAft>
            <a:buChar char="•"/>
          </a:pPr>
          <a:r>
            <a:rPr lang="en-US" sz="2900" kern="1200"/>
            <a:t>Developed from structured data</a:t>
          </a:r>
        </a:p>
      </dsp:txBody>
      <dsp:txXfrm rot="-5400000">
        <a:off x="3785616" y="3141918"/>
        <a:ext cx="6675221" cy="1012303"/>
      </dsp:txXfrm>
    </dsp:sp>
    <dsp:sp modelId="{6A90CB47-FEBD-4664-A0BE-41E0D225940E}">
      <dsp:nvSpPr>
        <dsp:cNvPr id="0" name=""/>
        <dsp:cNvSpPr/>
      </dsp:nvSpPr>
      <dsp:spPr>
        <a:xfrm>
          <a:off x="0" y="2946926"/>
          <a:ext cx="3785616" cy="140228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99060" rIns="198120" bIns="99060" numCol="1" spcCol="1270" anchor="ctr" anchorCtr="0">
          <a:noAutofit/>
        </a:bodyPr>
        <a:lstStyle/>
        <a:p>
          <a:pPr marL="0" lvl="0" indent="0" algn="ctr" defTabSz="2311400">
            <a:lnSpc>
              <a:spcPct val="90000"/>
            </a:lnSpc>
            <a:spcBef>
              <a:spcPct val="0"/>
            </a:spcBef>
            <a:spcAft>
              <a:spcPct val="35000"/>
            </a:spcAft>
            <a:buNone/>
          </a:pPr>
          <a:r>
            <a:rPr lang="en-US" sz="5200" kern="1200"/>
            <a:t>Features</a:t>
          </a:r>
        </a:p>
      </dsp:txBody>
      <dsp:txXfrm>
        <a:off x="68454" y="3015380"/>
        <a:ext cx="3648708" cy="12653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3C840E-C1AD-4FB6-80E5-CF56EFA426B1}">
      <dsp:nvSpPr>
        <dsp:cNvPr id="0" name=""/>
        <dsp:cNvSpPr/>
      </dsp:nvSpPr>
      <dsp:spPr>
        <a:xfrm>
          <a:off x="0" y="689"/>
          <a:ext cx="6797675"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7BB560-8B77-46EB-9AB1-7090A8134144}">
      <dsp:nvSpPr>
        <dsp:cNvPr id="0" name=""/>
        <dsp:cNvSpPr/>
      </dsp:nvSpPr>
      <dsp:spPr>
        <a:xfrm>
          <a:off x="488194" y="363809"/>
          <a:ext cx="887626" cy="887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DD6E43-C654-4B01-B0BC-7D54A8D5489E}">
      <dsp:nvSpPr>
        <dsp:cNvPr id="0" name=""/>
        <dsp:cNvSpPr/>
      </dsp:nvSpPr>
      <dsp:spPr>
        <a:xfrm>
          <a:off x="1864015" y="689"/>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111250">
            <a:lnSpc>
              <a:spcPct val="90000"/>
            </a:lnSpc>
            <a:spcBef>
              <a:spcPct val="0"/>
            </a:spcBef>
            <a:spcAft>
              <a:spcPct val="35000"/>
            </a:spcAft>
            <a:buNone/>
          </a:pPr>
          <a:r>
            <a:rPr lang="en-US" sz="2500" kern="1200"/>
            <a:t>More on this in later lectures</a:t>
          </a:r>
        </a:p>
      </dsp:txBody>
      <dsp:txXfrm>
        <a:off x="1864015" y="689"/>
        <a:ext cx="4933659" cy="1613866"/>
      </dsp:txXfrm>
    </dsp:sp>
    <dsp:sp modelId="{8ED1B283-271F-4AF7-A2B9-15FDE42F28E4}">
      <dsp:nvSpPr>
        <dsp:cNvPr id="0" name=""/>
        <dsp:cNvSpPr/>
      </dsp:nvSpPr>
      <dsp:spPr>
        <a:xfrm>
          <a:off x="0" y="2018022"/>
          <a:ext cx="6797675"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BA3B30-87E5-4ABF-A281-BA54DDF97CD9}">
      <dsp:nvSpPr>
        <dsp:cNvPr id="0" name=""/>
        <dsp:cNvSpPr/>
      </dsp:nvSpPr>
      <dsp:spPr>
        <a:xfrm>
          <a:off x="488194" y="2381142"/>
          <a:ext cx="887626" cy="887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23BA4C-1EEA-4655-B1EE-5B3B05E81831}">
      <dsp:nvSpPr>
        <dsp:cNvPr id="0" name=""/>
        <dsp:cNvSpPr/>
      </dsp:nvSpPr>
      <dsp:spPr>
        <a:xfrm>
          <a:off x="1864015" y="2018022"/>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111250">
            <a:lnSpc>
              <a:spcPct val="90000"/>
            </a:lnSpc>
            <a:spcBef>
              <a:spcPct val="0"/>
            </a:spcBef>
            <a:spcAft>
              <a:spcPct val="35000"/>
            </a:spcAft>
            <a:buNone/>
          </a:pPr>
          <a:r>
            <a:rPr lang="en-US" sz="2500" kern="1200"/>
            <a:t>Should be consistent with goal and data</a:t>
          </a:r>
        </a:p>
      </dsp:txBody>
      <dsp:txXfrm>
        <a:off x="1864015" y="2018022"/>
        <a:ext cx="4933659" cy="1613866"/>
      </dsp:txXfrm>
    </dsp:sp>
    <dsp:sp modelId="{F2424371-31A3-4C68-A92B-03F8B71DB85D}">
      <dsp:nvSpPr>
        <dsp:cNvPr id="0" name=""/>
        <dsp:cNvSpPr/>
      </dsp:nvSpPr>
      <dsp:spPr>
        <a:xfrm>
          <a:off x="0" y="4035355"/>
          <a:ext cx="6797675"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5FA1B0-975E-448F-9A86-5F6B75462429}">
      <dsp:nvSpPr>
        <dsp:cNvPr id="0" name=""/>
        <dsp:cNvSpPr/>
      </dsp:nvSpPr>
      <dsp:spPr>
        <a:xfrm>
          <a:off x="488194" y="4398475"/>
          <a:ext cx="887626" cy="887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53A0D4-7129-449E-8DD9-DBA1BC00E7A9}">
      <dsp:nvSpPr>
        <dsp:cNvPr id="0" name=""/>
        <dsp:cNvSpPr/>
      </dsp:nvSpPr>
      <dsp:spPr>
        <a:xfrm>
          <a:off x="1864015" y="4035355"/>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111250">
            <a:lnSpc>
              <a:spcPct val="90000"/>
            </a:lnSpc>
            <a:spcBef>
              <a:spcPct val="0"/>
            </a:spcBef>
            <a:spcAft>
              <a:spcPct val="35000"/>
            </a:spcAft>
            <a:buNone/>
          </a:pPr>
          <a:r>
            <a:rPr lang="en-US" sz="2500" kern="1200"/>
            <a:t>More complex is not automatically better</a:t>
          </a:r>
        </a:p>
      </dsp:txBody>
      <dsp:txXfrm>
        <a:off x="1864015" y="4035355"/>
        <a:ext cx="4933659" cy="161386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063CA3-4724-4155-B3DA-538CC35D552C}">
      <dsp:nvSpPr>
        <dsp:cNvPr id="0" name=""/>
        <dsp:cNvSpPr/>
      </dsp:nvSpPr>
      <dsp:spPr>
        <a:xfrm>
          <a:off x="0" y="1010105"/>
          <a:ext cx="6797675" cy="850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416560" rIns="527575"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Just define all your variables</a:t>
          </a:r>
        </a:p>
      </dsp:txBody>
      <dsp:txXfrm>
        <a:off x="0" y="1010105"/>
        <a:ext cx="6797675" cy="850500"/>
      </dsp:txXfrm>
    </dsp:sp>
    <dsp:sp modelId="{DECB4776-CD76-4F25-93EF-8C409939EB29}">
      <dsp:nvSpPr>
        <dsp:cNvPr id="0" name=""/>
        <dsp:cNvSpPr/>
      </dsp:nvSpPr>
      <dsp:spPr>
        <a:xfrm>
          <a:off x="339883" y="714905"/>
          <a:ext cx="4758372" cy="590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889000">
            <a:lnSpc>
              <a:spcPct val="90000"/>
            </a:lnSpc>
            <a:spcBef>
              <a:spcPct val="0"/>
            </a:spcBef>
            <a:spcAft>
              <a:spcPct val="35000"/>
            </a:spcAft>
            <a:buNone/>
          </a:pPr>
          <a:r>
            <a:rPr lang="en-US" sz="2000" kern="1200"/>
            <a:t>If the goal of your project is descriptive:</a:t>
          </a:r>
        </a:p>
      </dsp:txBody>
      <dsp:txXfrm>
        <a:off x="368704" y="743726"/>
        <a:ext cx="4700730" cy="532758"/>
      </dsp:txXfrm>
    </dsp:sp>
    <dsp:sp modelId="{7990FAF2-9E50-4394-8F7A-89BDE6BA71E7}">
      <dsp:nvSpPr>
        <dsp:cNvPr id="0" name=""/>
        <dsp:cNvSpPr/>
      </dsp:nvSpPr>
      <dsp:spPr>
        <a:xfrm>
          <a:off x="0" y="2263806"/>
          <a:ext cx="6797675" cy="1134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416560" rIns="527575"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Define independent variables (or predictors) and dependent variables (or outcomes)</a:t>
          </a:r>
        </a:p>
      </dsp:txBody>
      <dsp:txXfrm>
        <a:off x="0" y="2263806"/>
        <a:ext cx="6797675" cy="1134000"/>
      </dsp:txXfrm>
    </dsp:sp>
    <dsp:sp modelId="{840A0768-E91B-486B-BFBE-97BECDF8D7B8}">
      <dsp:nvSpPr>
        <dsp:cNvPr id="0" name=""/>
        <dsp:cNvSpPr/>
      </dsp:nvSpPr>
      <dsp:spPr>
        <a:xfrm>
          <a:off x="339883" y="1968606"/>
          <a:ext cx="4758372" cy="590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889000">
            <a:lnSpc>
              <a:spcPct val="90000"/>
            </a:lnSpc>
            <a:spcBef>
              <a:spcPct val="0"/>
            </a:spcBef>
            <a:spcAft>
              <a:spcPct val="35000"/>
            </a:spcAft>
            <a:buNone/>
          </a:pPr>
          <a:r>
            <a:rPr lang="en-US" sz="2000" kern="1200"/>
            <a:t>If the goal of your project is explanatory:</a:t>
          </a:r>
        </a:p>
      </dsp:txBody>
      <dsp:txXfrm>
        <a:off x="368704" y="1997427"/>
        <a:ext cx="4700730" cy="532758"/>
      </dsp:txXfrm>
    </dsp:sp>
    <dsp:sp modelId="{A396E50B-43DA-46F3-A7CA-06DE26DDEA8B}">
      <dsp:nvSpPr>
        <dsp:cNvPr id="0" name=""/>
        <dsp:cNvSpPr/>
      </dsp:nvSpPr>
      <dsp:spPr>
        <a:xfrm>
          <a:off x="0" y="3801006"/>
          <a:ext cx="6797675" cy="1134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416560" rIns="527575"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Define your features (or inputs) and your outcome (or output)</a:t>
          </a:r>
        </a:p>
      </dsp:txBody>
      <dsp:txXfrm>
        <a:off x="0" y="3801006"/>
        <a:ext cx="6797675" cy="1134000"/>
      </dsp:txXfrm>
    </dsp:sp>
    <dsp:sp modelId="{E36322B6-1F6F-4BCD-98C5-856E2AC167C6}">
      <dsp:nvSpPr>
        <dsp:cNvPr id="0" name=""/>
        <dsp:cNvSpPr/>
      </dsp:nvSpPr>
      <dsp:spPr>
        <a:xfrm>
          <a:off x="339883" y="3505806"/>
          <a:ext cx="4758372" cy="5904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889000">
            <a:lnSpc>
              <a:spcPct val="90000"/>
            </a:lnSpc>
            <a:spcBef>
              <a:spcPct val="0"/>
            </a:spcBef>
            <a:spcAft>
              <a:spcPct val="35000"/>
            </a:spcAft>
            <a:buNone/>
          </a:pPr>
          <a:r>
            <a:rPr lang="en-US" sz="2000" kern="1200"/>
            <a:t>If the goal of your project is predictive:</a:t>
          </a:r>
        </a:p>
      </dsp:txBody>
      <dsp:txXfrm>
        <a:off x="368704" y="3534627"/>
        <a:ext cx="4700730" cy="53275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BC33E-2638-449D-AF42-204DA741B19C}"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3DA53-C444-4E0C-B119-9FD565562930}" type="slidenum">
              <a:rPr lang="en-US" smtClean="0"/>
              <a:t>‹#›</a:t>
            </a:fld>
            <a:endParaRPr lang="en-US"/>
          </a:p>
        </p:txBody>
      </p:sp>
    </p:spTree>
    <p:extLst>
      <p:ext uri="{BB962C8B-B14F-4D97-AF65-F5344CB8AC3E}">
        <p14:creationId xmlns:p14="http://schemas.microsoft.com/office/powerpoint/2010/main" val="2824383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lecture, we will cover the full scope of what you need to include in your proposal and how it all fits together. And then starting next week, we'll start talking about specific types of research design and the various ways you might go about collecting your data.</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a:t>
            </a:fld>
            <a:endParaRPr lang="en-US"/>
          </a:p>
        </p:txBody>
      </p:sp>
    </p:spTree>
    <p:extLst>
      <p:ext uri="{BB962C8B-B14F-4D97-AF65-F5344CB8AC3E}">
        <p14:creationId xmlns:p14="http://schemas.microsoft.com/office/powerpoint/2010/main" val="474601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thing you're going to write is an introduction. At this point you should have at least skimmed some research articles and seen the general format of them, and after the abstract (which is often the last part written; you will write yours in 699), the first part is an introduction though it might not be labeled as such. There's just different norms and expectations in different fields and for different publications for what labels and headers are used. Often the introduction is just the first few paragraphs of the paper before it gets to the literature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the research proposal for this class, I'm not expecting anything more than about a page for an introduction, because sometimes this can be as short as a single paragraph, but more commonly 2 to 3 paragraphs. The purpose of the introduction section is to really set up what the problem is, set up the context and the importance or the implications for what it is you're studying.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a kind of high level overview of what you're studying and why, and at the end of the introduction you should end with something like a goal statement about what's the big thing, the broad purpose of the work, What is it you're trying to either build or trying to learn?</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2</a:t>
            </a:fld>
            <a:endParaRPr lang="en-US"/>
          </a:p>
        </p:txBody>
      </p:sp>
    </p:spTree>
    <p:extLst>
      <p:ext uri="{BB962C8B-B14F-4D97-AF65-F5344CB8AC3E}">
        <p14:creationId xmlns:p14="http://schemas.microsoft.com/office/powerpoint/2010/main" val="7875858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terms of the parts of the introduction, there are four basic components.</a:t>
            </a:r>
          </a:p>
          <a:p>
            <a:r>
              <a:rPr lang="en-US" sz="1200" kern="1200" dirty="0">
                <a:solidFill>
                  <a:schemeClr val="tx1"/>
                </a:solidFill>
                <a:effectLst/>
                <a:latin typeface="+mn-lt"/>
                <a:ea typeface="+mn-ea"/>
                <a:cs typeface="+mn-cs"/>
              </a:rPr>
              <a:t>Don’t use subheadings in the introduction, but rather in the two to three paragraphs you write, you need to hit all of these topics, or all of these functions.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3</a:t>
            </a:fld>
            <a:endParaRPr lang="en-US"/>
          </a:p>
        </p:txBody>
      </p:sp>
    </p:spTree>
    <p:extLst>
      <p:ext uri="{BB962C8B-B14F-4D97-AF65-F5344CB8AC3E}">
        <p14:creationId xmlns:p14="http://schemas.microsoft.com/office/powerpoint/2010/main" val="287782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component to have some sort of narrative hook.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usually in the first few sentences, but it could be scattered throughout the introduction.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information that gets the reader's attention and makes it clear why what you're studying, what you're writing about is important.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could be starting off with some statistics of how many people does this problem affect or how big is the problem in terms of money or time?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other thing you can start with is anecdotes or stories, anecdotes generally not good in science.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do not really constitute evidence, but stories can be good inspirations for scientific 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 news story or some other current event real world event that is relevant to the problem we're studying and that gives the reader an example of what this problem looks like, What's the real world application of it? Even if it's just a one off anecdote.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you're starting with something interesting that really allows you to show and contextualize and make the problem concrete.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pretty much the only place in the whole research article where you can have non academic sources. </a:t>
            </a:r>
          </a:p>
          <a:p>
            <a:r>
              <a:rPr lang="en-US" sz="1200" kern="1200" dirty="0">
                <a:solidFill>
                  <a:schemeClr val="tx1"/>
                </a:solidFill>
                <a:effectLst/>
                <a:latin typeface="+mn-lt"/>
                <a:ea typeface="+mn-ea"/>
                <a:cs typeface="+mn-cs"/>
              </a:rPr>
              <a:t>So unlike once you get to the literature review where you should be pulling primarily from research articles and other kind of academic peer reviewed work. In the introduction you might even cite social media post or news articles or blogs.  Avoid problematic or fake sources but you have a lot more flexibility in this section in terms of the types of citations you have.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note that you do need to cite these things, so if you're referencing a real world phenomenon, you need to cite a news article or some source that you know gives evidence for that thing happening, or how people talk about it. Or if you’re citing statistics you need to find a Gallup or Pew poll or whoever calculated those statistics to give support and evidence for them.</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4</a:t>
            </a:fld>
            <a:endParaRPr lang="en-US"/>
          </a:p>
        </p:txBody>
      </p:sp>
    </p:spTree>
    <p:extLst>
      <p:ext uri="{BB962C8B-B14F-4D97-AF65-F5344CB8AC3E}">
        <p14:creationId xmlns:p14="http://schemas.microsoft.com/office/powerpoint/2010/main" val="3803562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Another component is the basic background of the topic, so whatever it is you you're studying,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the boundaries?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the important terms?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Maybe the context?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does the thing you're studying look like?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long has it been studied?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do people generally talk about it, approach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doesn't have to be long; can be a few sentences, but just an orientation to what context we're working with.</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5</a:t>
            </a:fld>
            <a:endParaRPr lang="en-US"/>
          </a:p>
        </p:txBody>
      </p:sp>
    </p:spTree>
    <p:extLst>
      <p:ext uri="{BB962C8B-B14F-4D97-AF65-F5344CB8AC3E}">
        <p14:creationId xmlns:p14="http://schemas.microsoft.com/office/powerpoint/2010/main" val="1811464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You're also using this to show the importance of the topic.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Why should anyone care about this?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the real world applications?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the implications?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this problem is solved, what does that mean?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what that could that mean in terms of money saved or life saved or time saved whatever?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Just whatever is relevant to your problem to show that it is more than a simple academic problem or a thought exercise.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these first three things, those should all happen somewhere in this, two to three paragraphs you're writing to set up the introduction then you want to end the introduction with a goal statement.</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6</a:t>
            </a:fld>
            <a:endParaRPr lang="en-US"/>
          </a:p>
        </p:txBody>
      </p:sp>
    </p:spTree>
    <p:extLst>
      <p:ext uri="{BB962C8B-B14F-4D97-AF65-F5344CB8AC3E}">
        <p14:creationId xmlns:p14="http://schemas.microsoft.com/office/powerpoint/2010/main" val="269995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basically, what's the broad thing you want to accomplish in your project?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you don't want to get overly specific yet, so don't cite specific variables you're going to study, but cite the concepts. </a:t>
            </a:r>
          </a:p>
          <a:p>
            <a:r>
              <a:rPr lang="en-US" sz="1200" kern="1200" dirty="0">
                <a:solidFill>
                  <a:schemeClr val="tx1"/>
                </a:solidFill>
                <a:effectLst/>
                <a:latin typeface="+mn-lt"/>
                <a:ea typeface="+mn-ea"/>
                <a:cs typeface="+mn-cs"/>
              </a:rPr>
              <a:t>The general relationships or concepts that you’re going to be studying. And what are you doing with them?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should let the reader know what it is you're going to discover or find by the end of the paper.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variations on how this works based on different author styles, but given that you're all beginning scientific writers.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useful to follow convention here, and so I want you to be very explicit and actually use the phrase. The goal of the current project is to and then fill in the blank. That just makes it completely explicit and clear that this is what it is you're hoping to accomplish with your project.</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7</a:t>
            </a:fld>
            <a:endParaRPr lang="en-US"/>
          </a:p>
        </p:txBody>
      </p:sp>
    </p:spTree>
    <p:extLst>
      <p:ext uri="{BB962C8B-B14F-4D97-AF65-F5344CB8AC3E}">
        <p14:creationId xmlns:p14="http://schemas.microsoft.com/office/powerpoint/2010/main" val="2002559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And here's a few examples of how that might look.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you're trying to derive insights into something use words like explore or determine</a:t>
            </a:r>
          </a:p>
          <a:p>
            <a:r>
              <a:rPr lang="en-US" sz="1200" kern="1200" dirty="0">
                <a:solidFill>
                  <a:schemeClr val="tx1"/>
                </a:solidFill>
                <a:effectLst/>
                <a:latin typeface="+mn-lt"/>
                <a:ea typeface="+mn-ea"/>
                <a:cs typeface="+mn-cs"/>
              </a:rPr>
              <a:t>If you're trying to understand relationships between variables, examine. </a:t>
            </a:r>
          </a:p>
          <a:p>
            <a:r>
              <a:rPr lang="en-US" sz="1200" kern="1200" dirty="0">
                <a:solidFill>
                  <a:schemeClr val="tx1"/>
                </a:solidFill>
                <a:effectLst/>
                <a:latin typeface="+mn-lt"/>
                <a:ea typeface="+mn-ea"/>
                <a:cs typeface="+mn-cs"/>
              </a:rPr>
              <a:t>If you're trying to build a model or tool, you can say that you know the goal of the current study is to build X or develop X.</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Whatever it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this is the kind of general form it should take.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this will end the introduction and set you up to transition to your literature review.</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Note that the rubric for the assignment will list these components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they're not just a sequence of things you talk about.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shouldn’t have a paragraph on the background. A paragraph on the importance and an end on your goal statement, </a:t>
            </a:r>
          </a:p>
          <a:p>
            <a:r>
              <a:rPr lang="en-US" sz="1200" kern="1200" dirty="0">
                <a:solidFill>
                  <a:schemeClr val="tx1"/>
                </a:solidFill>
                <a:effectLst/>
                <a:latin typeface="+mn-lt"/>
                <a:ea typeface="+mn-ea"/>
                <a:cs typeface="+mn-cs"/>
              </a:rPr>
              <a:t>Rather they should be integrated together.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thing I suggest to help is, as you're reading research articles for your literature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Consider how they wrote their introductions, the information they provide and the flow of ideas. If you find really good introduction that you think is a good introduction for that paper, try to model yours after that in terms of the flow and the structure.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8</a:t>
            </a:fld>
            <a:endParaRPr lang="en-US"/>
          </a:p>
        </p:txBody>
      </p:sp>
    </p:spTree>
    <p:extLst>
      <p:ext uri="{BB962C8B-B14F-4D97-AF65-F5344CB8AC3E}">
        <p14:creationId xmlns:p14="http://schemas.microsoft.com/office/powerpoint/2010/main" val="1549776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once you have your problem kind of set up and got everyone on the same page in terms of what you're doing, the next section of any research article or any research proposal is the literature review (sometimes called a related works section).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where you connect the general problem and goal to specifically, how are you approaching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specific research questions are you answering? What specific hypothesis?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literature review will go from starting broad and explaining what's known in this field. What's already been done. What are the things everyone agrees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you'll get more and more specific to doing, maybe critiques of past work or showing what the limitations or the gaps of specific studies are and narrowed down to till you get to the purpose of your study, the specific thing you're trying to do as well as your research questions and through this the literature review should support and justify why you're going to study this problem in this 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Why are you choosing this research design?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Why are you choosing this analytic approach?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literature review should end on a paragraph that gives the kind of general approach and the purpose as well as the research questions.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can be just a few sentences followed by the research questions, but you want to specify your methodological approach to the problems.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9</a:t>
            </a:fld>
            <a:endParaRPr lang="en-US"/>
          </a:p>
        </p:txBody>
      </p:sp>
    </p:spTree>
    <p:extLst>
      <p:ext uri="{BB962C8B-B14F-4D97-AF65-F5344CB8AC3E}">
        <p14:creationId xmlns:p14="http://schemas.microsoft.com/office/powerpoint/2010/main" val="1641814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Again, you can use this kind of formulaic start to help you frame everything.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are the four versions you can have. </a:t>
            </a:r>
          </a:p>
          <a:p>
            <a:r>
              <a:rPr lang="en-US" sz="1200" kern="1200" dirty="0">
                <a:solidFill>
                  <a:schemeClr val="tx1"/>
                </a:solidFill>
                <a:effectLst/>
                <a:latin typeface="+mn-lt"/>
                <a:ea typeface="+mn-ea"/>
                <a:cs typeface="+mn-cs"/>
              </a:rPr>
              <a:t>If you're summarizing or trying or doing descriptive work, you might say something like purpose of the study is to describe and then whatever that is. </a:t>
            </a:r>
          </a:p>
          <a:p>
            <a:r>
              <a:rPr lang="en-US" sz="1200" kern="1200" dirty="0">
                <a:solidFill>
                  <a:schemeClr val="tx1"/>
                </a:solidFill>
                <a:effectLst/>
                <a:latin typeface="+mn-lt"/>
                <a:ea typeface="+mn-ea"/>
                <a:cs typeface="+mn-cs"/>
              </a:rPr>
              <a:t>If you're doing exploratory work, that's also fine. </a:t>
            </a:r>
          </a:p>
          <a:p>
            <a:r>
              <a:rPr lang="en-US" sz="1200" kern="1200" dirty="0">
                <a:solidFill>
                  <a:schemeClr val="tx1"/>
                </a:solidFill>
                <a:effectLst/>
                <a:latin typeface="+mn-lt"/>
                <a:ea typeface="+mn-ea"/>
                <a:cs typeface="+mn-cs"/>
              </a:rPr>
              <a:t>If you're trying to explain complex relationships, use the phrase to explain, or</a:t>
            </a:r>
          </a:p>
          <a:p>
            <a:r>
              <a:rPr lang="en-US" sz="1200" kern="1200" dirty="0">
                <a:solidFill>
                  <a:schemeClr val="tx1"/>
                </a:solidFill>
                <a:effectLst/>
                <a:latin typeface="+mn-lt"/>
                <a:ea typeface="+mn-ea"/>
                <a:cs typeface="+mn-cs"/>
              </a:rPr>
              <a:t>If you're building predictive models or trying to generate predictions or forecast to predict</a:t>
            </a:r>
          </a:p>
          <a:p>
            <a:r>
              <a:rPr lang="en-US" sz="1200" kern="1200" dirty="0">
                <a:solidFill>
                  <a:schemeClr val="tx1"/>
                </a:solidFill>
                <a:effectLst/>
                <a:latin typeface="+mn-lt"/>
                <a:ea typeface="+mn-ea"/>
                <a:cs typeface="+mn-cs"/>
              </a:rPr>
              <a:t>If you can also say the purpose of the study is to build a model, develop an algorithm that does X.</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have this and then you have either your hypothesis or your research questions.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10</a:t>
            </a:fld>
            <a:endParaRPr lang="en-US"/>
          </a:p>
        </p:txBody>
      </p:sp>
    </p:spTree>
    <p:extLst>
      <p:ext uri="{BB962C8B-B14F-4D97-AF65-F5344CB8AC3E}">
        <p14:creationId xmlns:p14="http://schemas.microsoft.com/office/powerpoint/2010/main" val="1473432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Historically, our traditionally speaking academic research has been very focused on hypothesis testing.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is, researchers make predictions about the relationship between variables, and then they test it with inferential statistics.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that was fine back in the day when you had to do math by hand and your sample sizes were small and when the work was very theoretically driven where researchers developed models and frameworks that they could conduct studies to support or not the predictions from that framework.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Nowadays it doesn't make as much sense for a few different reasons.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it was never ideal; It was always a work around to the limitations of computational methods and limitations of data collection methods and was based on making a lot of assumptions about data and about data collection.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where you get the assumptions for regression. You know that your variables have to be normally distributed, that there has to be independence of data points. The errors have to be distributed normally. </a:t>
            </a:r>
            <a:r>
              <a:rPr lang="en-US" sz="1200" kern="1200" dirty="0" err="1">
                <a:solidFill>
                  <a:schemeClr val="tx1"/>
                </a:solidFill>
                <a:effectLst/>
                <a:latin typeface="+mn-lt"/>
                <a:ea typeface="+mn-ea"/>
                <a:cs typeface="+mn-cs"/>
              </a:rPr>
              <a:t>etc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Many data sets that meet those assumptions and so in the last decade or so, there's been a shift away from all research being hypothesis testing to kind of a general discussion debate over what.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the alternatives are and what the best approach to actual science?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 with hypothesis testing is used if your whole study is based on some theories of past work that say you know this is how these variables relate to each other, and this is like what the if you collect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while hypothesis testing basically relies on P values to make judgments, which is not great because statistical significance does not mean practical significance and there's better measures for the magnitude of effects.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Plus, the words statistically significant are improperly used most of the time.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want to make sure that you're not just focusing on finding p value less than .05 because you can always do that if you throw enough data at it. Basically, with a large enough sample size, anything statistically significant, you want to consider the practical significance, </a:t>
            </a:r>
            <a:r>
              <a:rPr lang="en-US" sz="1200" kern="1200" dirty="0" err="1">
                <a:solidFill>
                  <a:schemeClr val="tx1"/>
                </a:solidFill>
                <a:effectLst/>
                <a:latin typeface="+mn-lt"/>
                <a:ea typeface="+mn-ea"/>
                <a:cs typeface="+mn-cs"/>
              </a:rPr>
              <a:t>ie</a:t>
            </a:r>
            <a:r>
              <a:rPr lang="en-US" sz="1200" kern="1200" dirty="0">
                <a:solidFill>
                  <a:schemeClr val="tx1"/>
                </a:solidFill>
                <a:effectLst/>
                <a:latin typeface="+mn-lt"/>
                <a:ea typeface="+mn-ea"/>
                <a:cs typeface="+mn-cs"/>
              </a:rPr>
              <a:t> the effect size to measure the magnitude of the effect. The difference the prediction, but also in real terms what does it mean?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much money does this save?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many lives does this save?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does this mean in terms of how people actually interact with the world.?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even if you're doing hypothesis testing, you should consider those things and consider how you can measure the real world application beyond just the P values.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11</a:t>
            </a:fld>
            <a:endParaRPr lang="en-US"/>
          </a:p>
        </p:txBody>
      </p:sp>
    </p:spTree>
    <p:extLst>
      <p:ext uri="{BB962C8B-B14F-4D97-AF65-F5344CB8AC3E}">
        <p14:creationId xmlns:p14="http://schemas.microsoft.com/office/powerpoint/2010/main" val="35680981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other issue with hypothesis, if you're going to do that is again, they need to be supported by the literature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need to be able to show specifically what is the past theories and frameworks you're leaning on to say that these are testable predictions.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two hypotheses rely on you to clearly define what your population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is the kind of realm?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sample space in which you're conducting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what are the outcomes and the variables that you're going to model? All of these have to be testable with statistical analysis.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basically a proper hypothesis. You should be able to look at the hypotheses, look at the output of a statistical test. So like a t-test or regression, what have you and say yes or no.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Yes, this hypothesis is supported by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 this hypothesis is not supported by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if you can't do that, then your hypotheses are not well defined, and it's possible that hypotheses just don't make sense for the type of problem that you're addressing.</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12</a:t>
            </a:fld>
            <a:endParaRPr lang="en-US"/>
          </a:p>
        </p:txBody>
      </p:sp>
    </p:spTree>
    <p:extLst>
      <p:ext uri="{BB962C8B-B14F-4D97-AF65-F5344CB8AC3E}">
        <p14:creationId xmlns:p14="http://schemas.microsoft.com/office/powerpoint/2010/main" val="2431119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research reports or in research articles, if you've been reading any that include hypothesis, you'll note that generally they don't actually state what the null hypothesis is, they only state what the alternative hypothesis is, and the null hypothesis is just implied.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Which causes some issues because if it's not well defined, alternative hypothesis, you're not really sure what the comparison being made is. So for all of these reasons and more, I don't actually recommend you necessarily framing your research in terms of hypothesis.</a:t>
            </a: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13</a:t>
            </a:fld>
            <a:endParaRPr lang="en-US"/>
          </a:p>
        </p:txBody>
      </p:sp>
    </p:spTree>
    <p:extLst>
      <p:ext uri="{BB962C8B-B14F-4D97-AF65-F5344CB8AC3E}">
        <p14:creationId xmlns:p14="http://schemas.microsoft.com/office/powerpoint/2010/main" val="567216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Better is research questions, so this is an alternative to defining the hypothesis.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is functionally the same as a hypothesis, but rather than approach research as being a prediction that you're making with a yes or no response.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frame it as, What do you learn about this question from this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still has to be testable and you still have to phrase it or construct it in such a way that you can answer the question with some sort of analytic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it's not so specific that there's only one way to look at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you're doing prediction models or you're doing descriptive studies, research questions will give you the freedom to say or to look at the data in a few different ways and not rely on P values and this kind of yes or no. Something is or is not supported.</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15</a:t>
            </a:fld>
            <a:endParaRPr lang="en-US"/>
          </a:p>
        </p:txBody>
      </p:sp>
    </p:spTree>
    <p:extLst>
      <p:ext uri="{BB962C8B-B14F-4D97-AF65-F5344CB8AC3E}">
        <p14:creationId xmlns:p14="http://schemas.microsoft.com/office/powerpoint/2010/main" val="1512629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ideally you would still define your target population here, What are the boundaries of the situations/people/the whatever that you're finding should generalize to or that you're pulling your data from?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needs to still state what are the variables to be studied, what kind of data are you working with and how is that data capturing different features or different variables?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this section, you're also going to discuss, you know, what are you adding on to the existing knowledge?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whole section here at the end of the literature review, you know, starts with the purpose and then you talk a little bit about these things in order to support your question.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might say that you know past work has looked at this, but they haven't considered this other variable.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Yu have a paragraph or so describing what it is you're trying to look for and find and kind of what the scope and the boundaries are and the objectives are and that all supports a clear question or questions.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can have more than one research question.</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16</a:t>
            </a:fld>
            <a:endParaRPr lang="en-US"/>
          </a:p>
        </p:txBody>
      </p:sp>
    </p:spTree>
    <p:extLst>
      <p:ext uri="{BB962C8B-B14F-4D97-AF65-F5344CB8AC3E}">
        <p14:creationId xmlns:p14="http://schemas.microsoft.com/office/powerpoint/2010/main" val="610731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And these are just some examples of good research questions. One common mistake I see is a lot of students will have a research question.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Something to the effect.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Can X predict 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That's a bad research question of course X can predict 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That's not what you actually want to know, you want to know can X predict Y better than Z?</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can this model outperform traditional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does these set of features do better than chance at predicting something?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want to make it clear in your research question what are you actually comparing?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do you want to learn from the data compared to what's already been done from your literature review?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would suggest most of you trying to frame your work as a research question cause not only did most of you are working on problems that are more data-driven rather than theoretically driven, but this also gives you a bit more flexibility as you design your work to make adjustments and shift variables if needed later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at the end of your literature review, you should either have a hypothesis or have a research question.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Generally, you don't do both unless they're about two different things.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you have to have at least one.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17</a:t>
            </a:fld>
            <a:endParaRPr lang="en-US"/>
          </a:p>
        </p:txBody>
      </p:sp>
    </p:spTree>
    <p:extLst>
      <p:ext uri="{BB962C8B-B14F-4D97-AF65-F5344CB8AC3E}">
        <p14:creationId xmlns:p14="http://schemas.microsoft.com/office/powerpoint/2010/main" val="1462265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final section draft you'll write is your proposed method section.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the part of the proposal where you basically lay out your plan of how are you going to answer that research question and ultimately solve your or achieve your initial goal for the project.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structure and content of the research design will depend heavily on your methodological approach.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you're doing kind of a more traditional social science approach to your problem by conducting interviews or collecting a survey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Then the structure of that method section is will look a lot different than if you are, you know, testing out parameters for AI model to see what yields the best performance.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in all of them, no matter what the design is, you basically need to hit at least these three things.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the data? What data are using? How's it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collected?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are things measured? So what are your variables or your features? How are things quantified basically? </a:t>
            </a:r>
          </a:p>
          <a:p>
            <a:r>
              <a:rPr lang="en-US" sz="1200" kern="1200" dirty="0">
                <a:solidFill>
                  <a:schemeClr val="tx1"/>
                </a:solidFill>
                <a:effectLst/>
                <a:latin typeface="+mn-lt"/>
                <a:ea typeface="+mn-ea"/>
                <a:cs typeface="+mn-cs"/>
              </a:rPr>
              <a:t>Then the analysis, How will you take the data and get insight? What either qualitative or quantitative models are you using on that data?</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18</a:t>
            </a:fld>
            <a:endParaRPr lang="en-US"/>
          </a:p>
        </p:txBody>
      </p:sp>
    </p:spTree>
    <p:extLst>
      <p:ext uri="{BB962C8B-B14F-4D97-AF65-F5344CB8AC3E}">
        <p14:creationId xmlns:p14="http://schemas.microsoft.com/office/powerpoint/2010/main" val="2254091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And a few things to keep in mind for each of these first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lot of you will be working with preexisting open source data, so you're not necessarily going to be collecting data from scratch and are going to be depending on, you know, data that someone else collected.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even if you are doing your own data collection, these are still applicable but how you address them is a little different.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first thing is, how accurate is the data? All data has some level of measurement error even in you know tightly controlled clinical trials. There's some level of error involved. Lots of different ways that errors can be introduced into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can you check for and quantify accuracy in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 of this might just be looking at distributions of variables to see are there are outliers.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Are there values that are weird? Like if one of your variables you have data set on people and you ask people their age and one of the values is 123; technically possible, but highly unlikely. Might represent an error.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the values of the variables you're collecting have reasonable ranges, that's a way to check for error sometimes.</a:t>
            </a:r>
            <a:endParaRPr lang="en-US" dirty="0"/>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Another thing is are the variables. The labels in the data? Are they useful? Do they match up with real world behavior?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example, in the realm of sentiment analysis, a very common NLP method, just widely applied to a lot of things, and most of the times it is doesn't on its own have any real world application. It doesn't necessarily tell you what you should do or what other people should do, or it doesn't give you any actionable insights.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Especially if it's just positive or negative label. You need to know more about like why is a positive or negative.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strength of the positivity or negativity? Or you know, how does it relate to specific attributes or features?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can apply in a lot of different cases because often the data that gets collected and recorded isn't necessarily the best way to quantify something.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just the easiest 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Which pros and cons? You know, sometimes the easier way to collect data is better than the right way that wouldn't have been feasible or would have had other problems, so there's trade-offs.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the key here is to recognize when the data you have was collected was because it was easy, not because it was necessarily the best way to do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 you can acknowledge that as a </a:t>
            </a:r>
            <a:r>
              <a:rPr lang="en-US" sz="1200" kern="1200" dirty="0" err="1">
                <a:solidFill>
                  <a:schemeClr val="tx1"/>
                </a:solidFill>
                <a:effectLst/>
                <a:latin typeface="+mn-lt"/>
                <a:ea typeface="+mn-ea"/>
                <a:cs typeface="+mn-cs"/>
              </a:rPr>
              <a:t>potentiall</a:t>
            </a:r>
            <a:r>
              <a:rPr lang="en-US" sz="1200" kern="1200" dirty="0">
                <a:solidFill>
                  <a:schemeClr val="tx1"/>
                </a:solidFill>
                <a:effectLst/>
                <a:latin typeface="+mn-lt"/>
                <a:ea typeface="+mn-ea"/>
                <a:cs typeface="+mn-cs"/>
              </a:rPr>
              <a:t> imitation and take that into account in doing your interpretation of the results.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Ideally you would have you know good measurements or have even multiple measures, multiple quantifications of the same variable, so that you can address some of the potential error and imprecision, but sometimes you have to work with what you have, and that's fine as long as you're honest and transparent about the limits of what you have.</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part of that is, you know, pretty much all of your studies going to be figuring out ways you can apply research to very real practical problems.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you always want to consider is the data you're working with a good representation to the problem, the processes in the real world is that how people interact.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evident in some of the work around AI; sometimes computer engineers, computer scientists, make assumptions about people that are not necessarily founded in evidence or good practice or psychology.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 products, the systems they end up making might not actually be all that useful to the end users because they never really considered how people would interact with the chat bot or with the system.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that's another thing to just keep in mind to help you both try to head off problems at the beginning, but also to more accurately and honestly interpret the results at the end and have a better, more realistic sense of what the limitations of what you're doing are.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19</a:t>
            </a:fld>
            <a:endParaRPr lang="en-US"/>
          </a:p>
        </p:txBody>
      </p:sp>
    </p:spTree>
    <p:extLst>
      <p:ext uri="{BB962C8B-B14F-4D97-AF65-F5344CB8AC3E}">
        <p14:creationId xmlns:p14="http://schemas.microsoft.com/office/powerpoint/2010/main" val="2972693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related to this is sampling as pretty much regardless of what you're doing you're not going to be working with your full population.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You're going to be working with </a:t>
            </a:r>
            <a:r>
              <a:rPr lang="en-US" sz="1200" kern="1200" dirty="0" err="1">
                <a:solidFill>
                  <a:schemeClr val="tx1"/>
                </a:solidFill>
                <a:effectLst/>
                <a:latin typeface="+mn-lt"/>
                <a:ea typeface="+mn-ea"/>
                <a:cs typeface="+mn-cs"/>
              </a:rPr>
              <a:t>asubset</a:t>
            </a:r>
            <a:r>
              <a:rPr lang="en-US" sz="1200" kern="1200" dirty="0">
                <a:solidFill>
                  <a:schemeClr val="tx1"/>
                </a:solidFill>
                <a:effectLst/>
                <a:latin typeface="+mn-lt"/>
                <a:ea typeface="+mn-ea"/>
                <a:cs typeface="+mn-cs"/>
              </a:rPr>
              <a:t> of data that is hopefully representative of the larger possible data you could pull from.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realistically, it's probably not representative and so it's important to both quantify and consider how that impacts the results.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you're building a model, building an algorithm, building an AI agent from training data or even fine tuning it, you want to consider does the data that you're using for training. Does it actually represent the people, the situations, the processes that that, that algorithm that model will be applied to later?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it's going to be, you know, applied to completely different situations, completely different data points, it will likely make some weird errors and possibly make some big mistakes.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how you get, AI models and you know, news stories about how AI is either racist or biased or discriminatory.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because no one really considered in the training data whether it was as diverse as the real world cases and situations where people will be up using that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quantifying the diversity, the kind of coverage of the training data set is essential to interpreting and explaining the results from any sort of model.</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Especially in predictive models you want to make sure that if there are categories or ranges of the variables that are missing that is considered in the interpretation. And I would say this is not just a problem for the modern issues of AI. This is kind of a long standing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psychology, often researcher want to understand the extremes of human behaviors like aggression or violent behavior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then they would survey college undergraduates and try to draw conclusions about  war and other, you know, extreme events from the hypothetical behavior of some freshmen in a psychology class.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they're not really capturing the full range of human experience there, nor the full range of human personality. so it doesn't make the work necessarily bad, but it does make the interpretation bad because they try to extrapolate and beyond what the data could actually do.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you want to consider that in your own work.</a:t>
            </a:r>
            <a:endParaRPr lang="en-US" dirty="0"/>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 lot of the Retrospective studies using of open source data. Sampling is always going to be a big issue.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can't necessarily control whether or not the sampling was random or how random it was, or whether or not there were systematic areas where groups or population samples of people that just got missed.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describing the data in detail and describing how it was collected will at least help to contextualize the data and the data quality.</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20</a:t>
            </a:fld>
            <a:endParaRPr lang="en-US"/>
          </a:p>
        </p:txBody>
      </p:sp>
    </p:spTree>
    <p:extLst>
      <p:ext uri="{BB962C8B-B14F-4D97-AF65-F5344CB8AC3E}">
        <p14:creationId xmlns:p14="http://schemas.microsoft.com/office/powerpoint/2010/main" val="659700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more for later once you kind of get to the writing the methods section and this is almost a bit too specific as in terms of how you'll talk about the data and the variables in the data in your methods section.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 is worth keeping in mind that you want to consider the types of variables you're working with, because they do have different constraints as to what you can do with them.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from a statistical point, you can get really detailed and get into this whole nominal ordinal, interval, whatever. Basically the two big ones that matter is categorical versus numeric. Is your data in discrete buckets or is it some sort of continuous number?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limits what you can learn and what you can do from an analytic approach.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 there's a third option here.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 are working either in a predictive space or working with unstructured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text, images, audio, et cetera.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might be talking about how you're converting variables into feature sets.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how are you taking? Product reviews and quantifying them in, you know, numeric vectors through topic modeling. Or word embeddings or whatever method you're using.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Another layer you kind of need to add in your methods of you know how are you going to take this inherently unquantifiable data and quantify it.</a:t>
            </a:r>
            <a:br>
              <a:rPr lang="en-US" sz="1200" kern="120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21</a:t>
            </a:fld>
            <a:endParaRPr lang="en-US"/>
          </a:p>
        </p:txBody>
      </p:sp>
    </p:spTree>
    <p:extLst>
      <p:ext uri="{BB962C8B-B14F-4D97-AF65-F5344CB8AC3E}">
        <p14:creationId xmlns:p14="http://schemas.microsoft.com/office/powerpoint/2010/main" val="1585552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your literature review and on a high level, you can talk about conceptual definitions of things.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these are definitions of your variables or definitions of your features, which are just kind of the plain language.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Straightforward.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Discussion of what they are, what their designed to capture.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would be, you know, talking about.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Sentiment as a general evaluation towards a person, place or 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would be a conceptual definition of sentiment.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this is where you kind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Expand on in a you know couple sentences about what? What it is you're trying to capture in your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connect it to the real world processes real world relationships.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that something some variables are going to have more than one definition because like sentiment actually does have more than one definition.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 one hand, it could be, you know, the general evaluation towards a person placing 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 another you could talk about it as.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effective response to.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Different situations to get it towards a more emotional side of the aisle.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you're working with variables like that, that might have more than one definition.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discuss that in the literature.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Review, you know, acknowledge that there's disagreement on how this is defined.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then you pick the one that either is the best match for what you're doing are the most common, or just how it's measured in the data you happen to have.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While, like I said, acknowledging that there is some disagreement. So that's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top level broad level where you start for variables.</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22</a:t>
            </a:fld>
            <a:endParaRPr lang="en-US"/>
          </a:p>
        </p:txBody>
      </p:sp>
    </p:spTree>
    <p:extLst>
      <p:ext uri="{BB962C8B-B14F-4D97-AF65-F5344CB8AC3E}">
        <p14:creationId xmlns:p14="http://schemas.microsoft.com/office/powerpoint/2010/main" val="118504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method section, you're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give the operational definition.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where you get into the kind of technical or statistical language of how are you actually quantifying this 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are you taking sentiment and converting it into something that could be analyzed in a statistical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if it is something with different values, what do those values mean?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How should those values be interpreted?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with the sentiment example, maybe.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this study, we're saying that sentiment will be measured using the Vader lexicon approach, which.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Scores text.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 positivity and negativity on a scale from -1 to one.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All right, Peter.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 Bader Zero 10.</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a lot of different measurements you can get from there, so I can't keep them all straight, but you're actually going to tie it to the specific.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Way that that variable is converted into numbers and just like conceptual definitions, there can in there can be and there often are multiple operational definitions for the same concept.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Like sentiment can be measured with the Vader lexicon.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it could be measured with a pre trained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you can infer positive, negative neutral labels.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it could be captured with other lexicon methods like Luke or Athen, or several others.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Again, you can just choose one if there's one that makes more sense for your specific problem than others.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if possible, and if you know logical, you should include as many of those operational definitions as make sense for your problem, because each operational definition is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involve some level of measurement error or some kind of weaknesses to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the more different quantification you can add in there, the better you're kind of triangulating the real value.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again, this goes in the method section and you should still be able to write about one full sentence for every variable or every set of features that you're going to be using in your study.</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23</a:t>
            </a:fld>
            <a:endParaRPr lang="en-US"/>
          </a:p>
        </p:txBody>
      </p:sp>
    </p:spTree>
    <p:extLst>
      <p:ext uri="{BB962C8B-B14F-4D97-AF65-F5344CB8AC3E}">
        <p14:creationId xmlns:p14="http://schemas.microsoft.com/office/powerpoint/2010/main" val="31393555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the last thing about go on the method section is kind of the analytic plan.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how are you going to actually take your data and what are you going to do with it to get it ready for doing statistics next semester?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more on this later, because the analysis is going to be an analytic plan, is very much tied to the specific method and approach you're using.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as we get into different methods and approaches, we'll discuss you know how this looks.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Analytically.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the key here is to make sure whatever plan you have that it's consistent with the goal consistent with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data and the type of data you have. And note that more complex is not automatically better just because it can build an AI model doesn't mean you.</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Should build an AI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Sometimes all you need is a logistic regression classifier.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making sure that whatever you do, whatever choices you make for the analysis.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Are based in logic and sound science and not just. This is the trendiest thing right 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 decision here should be justified and should be justifiable.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24</a:t>
            </a:fld>
            <a:endParaRPr lang="en-US"/>
          </a:p>
        </p:txBody>
      </p:sp>
    </p:spTree>
    <p:extLst>
      <p:ext uri="{BB962C8B-B14F-4D97-AF65-F5344CB8AC3E}">
        <p14:creationId xmlns:p14="http://schemas.microsoft.com/office/powerpoint/2010/main" val="7253744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in doing the analysis, this is also where you're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need to translate your the goal of your project to a specific analytic approach in a specific methodological approach.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the goal of your project is generally just descriptive or exploratory.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just basically define the variables and discuss the data, and then discuss the various EDA methods you're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describe the dev.</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 goal is explanatory or you know you're trying to figure out relationships.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Between variables and you know model them. You're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need to make sure that you define kind of what role each variable is playing in your model.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want to separate your variables into independent variables or predictors and your dependent variables or outcomes to kind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Provide structure to the data and how it's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used in the analysis.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Analysis.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you're building predictive models, then you need to make sure that you have your features or your inputs defined and your outcome or your output defined.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way it's clear you know what side of the analytic model is each you know component in your data going into.</a:t>
            </a:r>
            <a:endParaRPr lang="en-US" dirty="0"/>
          </a:p>
          <a:p>
            <a:endParaRPr lang="en-US" dirty="0"/>
          </a:p>
        </p:txBody>
      </p:sp>
      <p:sp>
        <p:nvSpPr>
          <p:cNvPr id="4" name="Slide Number Placeholder 3"/>
          <p:cNvSpPr>
            <a:spLocks noGrp="1"/>
          </p:cNvSpPr>
          <p:nvPr>
            <p:ph type="sldNum" sz="quarter" idx="5"/>
          </p:nvPr>
        </p:nvSpPr>
        <p:spPr/>
        <p:txBody>
          <a:bodyPr/>
          <a:lstStyle/>
          <a:p>
            <a:fld id="{9AB3DA53-C444-4E0C-B119-9FD565562930}" type="slidenum">
              <a:rPr lang="en-US" smtClean="0"/>
              <a:t>25</a:t>
            </a:fld>
            <a:endParaRPr lang="en-US"/>
          </a:p>
        </p:txBody>
      </p:sp>
    </p:spTree>
    <p:extLst>
      <p:ext uri="{BB962C8B-B14F-4D97-AF65-F5344CB8AC3E}">
        <p14:creationId xmlns:p14="http://schemas.microsoft.com/office/powerpoint/2010/main" val="3382018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6246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sz="4000">
                <a:latin typeface="Times New Roman" panose="02020603050405020304" pitchFamily="18" charset="0"/>
                <a:cs typeface="Times New Roman" panose="02020603050405020304" pitchFamily="18" charset="0"/>
              </a:defRPr>
            </a:lvl1pPr>
            <a:lvl2pPr>
              <a:defRPr sz="3200">
                <a:latin typeface="Times New Roman" panose="02020603050405020304" pitchFamily="18" charset="0"/>
                <a:cs typeface="Times New Roman" panose="02020603050405020304" pitchFamily="18" charset="0"/>
              </a:defRPr>
            </a:lvl2pPr>
            <a:lvl3pPr>
              <a:defRPr sz="2800">
                <a:latin typeface="Times New Roman" panose="02020603050405020304" pitchFamily="18" charset="0"/>
                <a:cs typeface="Times New Roman" panose="02020603050405020304" pitchFamily="18" charset="0"/>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226387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339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2576541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A8AE8F-8CA9-4781-8AD5-930643EC1E07}"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3773235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A0A8AE8F-8CA9-4781-8AD5-930643EC1E07}"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421909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A8AE8F-8CA9-4781-8AD5-930643EC1E07}" type="datetimeFigureOut">
              <a:rPr lang="en-US" smtClean="0"/>
              <a:t>11/12/2025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895866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7089E74-86C1-4F27-BFC9-124115DEE681}" type="slidenum">
              <a:rPr lang="en-US" smtClean="0"/>
              <a:t>‹#›</a:t>
            </a:fld>
            <a:endParaRPr lang="en-US"/>
          </a:p>
        </p:txBody>
      </p:sp>
    </p:spTree>
    <p:extLst>
      <p:ext uri="{BB962C8B-B14F-4D97-AF65-F5344CB8AC3E}">
        <p14:creationId xmlns:p14="http://schemas.microsoft.com/office/powerpoint/2010/main" val="4139151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946187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612633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882283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A8AE8F-8CA9-4781-8AD5-930643EC1E07}" type="datetimeFigureOut">
              <a:rPr lang="en-US" smtClean="0"/>
              <a:t>11/12/2025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7089E74-86C1-4F27-BFC9-124115DEE68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325112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Times New Roman" panose="02020603050405020304" pitchFamily="18" charset="0"/>
          <a:ea typeface="+mj-ea"/>
          <a:cs typeface="Times New Roman" panose="02020603050405020304" pitchFamily="18" charset="0"/>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320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Times New Roman" panose="02020603050405020304" pitchFamily="18" charset="0"/>
          <a:ea typeface="+mn-ea"/>
          <a:cs typeface="Times New Roman" panose="02020603050405020304" pitchFamily="18" charset="0"/>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779F603-B669-4AD6-82F9-E09F7616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pPr marL="0" lvl="0" indent="0">
              <a:buNone/>
            </a:pPr>
            <a:r>
              <a:rPr lang="en-US" sz="5600" dirty="0"/>
              <a:t>Research Basics: From the Introduction to the Research Questions</a:t>
            </a:r>
          </a:p>
        </p:txBody>
      </p:sp>
      <p:sp>
        <p:nvSpPr>
          <p:cNvPr id="5" name="Subtitle 4">
            <a:extLst>
              <a:ext uri="{FF2B5EF4-FFF2-40B4-BE49-F238E27FC236}">
                <a16:creationId xmlns:a16="http://schemas.microsoft.com/office/drawing/2014/main" id="{07731F3E-9C32-9300-E3BB-1440A112B965}"/>
              </a:ext>
            </a:extLst>
          </p:cNvPr>
          <p:cNvSpPr>
            <a:spLocks noGrp="1"/>
          </p:cNvSpPr>
          <p:nvPr>
            <p:ph type="subTitle" idx="1"/>
          </p:nvPr>
        </p:nvSpPr>
        <p:spPr>
          <a:xfrm>
            <a:off x="5289753" y="4455621"/>
            <a:ext cx="6269347" cy="1238616"/>
          </a:xfrm>
        </p:spPr>
        <p:txBody>
          <a:bodyPr>
            <a:normAutofit/>
          </a:bodyPr>
          <a:lstStyle/>
          <a:p>
            <a:r>
              <a:rPr lang="en-US" dirty="0">
                <a:solidFill>
                  <a:schemeClr val="tx1">
                    <a:lumMod val="85000"/>
                    <a:lumOff val="15000"/>
                  </a:schemeClr>
                </a:solidFill>
              </a:rPr>
              <a:t>GRAD 695</a:t>
            </a:r>
          </a:p>
        </p:txBody>
      </p:sp>
      <p:pic>
        <p:nvPicPr>
          <p:cNvPr id="9" name="Graphic 8" descr="Microscope">
            <a:extLst>
              <a:ext uri="{FF2B5EF4-FFF2-40B4-BE49-F238E27FC236}">
                <a16:creationId xmlns:a16="http://schemas.microsoft.com/office/drawing/2014/main" id="{EF9BB426-3E08-5B85-912A-53982547E2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3999" y="1163529"/>
            <a:ext cx="4001315" cy="4001315"/>
          </a:xfrm>
          <a:prstGeom prst="rect">
            <a:avLst/>
          </a:prstGeom>
        </p:spPr>
      </p:pic>
      <p:cxnSp>
        <p:nvCxnSpPr>
          <p:cNvPr id="14" name="Straight Connector 13">
            <a:extLst>
              <a:ext uri="{FF2B5EF4-FFF2-40B4-BE49-F238E27FC236}">
                <a16:creationId xmlns:a16="http://schemas.microsoft.com/office/drawing/2014/main" id="{7ABFD994-C2DC-4E7D-9411-C7FF7813E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071" y="4343400"/>
            <a:ext cx="5636107"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C0D1FC6-352C-4C7D-825F-C4E2F6A80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541AFC2C-CD98-4478-AB71-1A864026D9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81601" y="634946"/>
            <a:ext cx="6368142" cy="1450757"/>
          </a:xfrm>
        </p:spPr>
        <p:txBody>
          <a:bodyPr>
            <a:normAutofit/>
          </a:bodyPr>
          <a:lstStyle/>
          <a:p>
            <a:pPr marL="0" lvl="0" indent="0">
              <a:buNone/>
            </a:pPr>
            <a:r>
              <a:rPr lang="en-US" sz="5000">
                <a:solidFill>
                  <a:srgbClr val="846F52"/>
                </a:solidFill>
              </a:rPr>
              <a:t>What is an Introduction?</a:t>
            </a:r>
          </a:p>
        </p:txBody>
      </p:sp>
      <p:pic>
        <p:nvPicPr>
          <p:cNvPr id="5" name="Picture 4" descr="Pen placed on top of a signature line">
            <a:extLst>
              <a:ext uri="{FF2B5EF4-FFF2-40B4-BE49-F238E27FC236}">
                <a16:creationId xmlns:a16="http://schemas.microsoft.com/office/drawing/2014/main" id="{2AE567F2-FB3B-0EB7-993F-3ABEDC65BF9C}"/>
              </a:ext>
            </a:extLst>
          </p:cNvPr>
          <p:cNvPicPr>
            <a:picLocks noChangeAspect="1"/>
          </p:cNvPicPr>
          <p:nvPr/>
        </p:nvPicPr>
        <p:blipFill>
          <a:blip r:embed="rId3"/>
          <a:srcRect l="52335" r="2444" b="1"/>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181601" y="2198914"/>
            <a:ext cx="6368142" cy="3670180"/>
          </a:xfrm>
        </p:spPr>
        <p:txBody>
          <a:bodyPr>
            <a:normAutofit/>
          </a:bodyPr>
          <a:lstStyle/>
          <a:p>
            <a:pPr lvl="1"/>
            <a:r>
              <a:rPr dirty="0"/>
              <a:t>The first </a:t>
            </a:r>
            <a:r>
              <a:rPr lang="en-US" dirty="0"/>
              <a:t>page (-</a:t>
            </a:r>
            <a:r>
              <a:rPr lang="en-US" dirty="0" err="1"/>
              <a:t>ish</a:t>
            </a:r>
            <a:r>
              <a:rPr lang="en-US" dirty="0"/>
              <a:t>)</a:t>
            </a:r>
            <a:r>
              <a:rPr dirty="0"/>
              <a:t> of a research paper</a:t>
            </a:r>
          </a:p>
          <a:p>
            <a:pPr lvl="1"/>
            <a:r>
              <a:rPr dirty="0"/>
              <a:t>Sets up the context and importance of the topic</a:t>
            </a:r>
          </a:p>
          <a:p>
            <a:pPr lvl="1"/>
            <a:r>
              <a:rPr dirty="0"/>
              <a:t>End with a goal statement about the project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516835"/>
            <a:ext cx="3084844" cy="5772840"/>
          </a:xfrm>
        </p:spPr>
        <p:txBody>
          <a:bodyPr anchor="ctr">
            <a:normAutofit/>
          </a:bodyPr>
          <a:lstStyle/>
          <a:p>
            <a:pPr marL="0" lvl="0" indent="0">
              <a:buNone/>
            </a:pPr>
            <a:r>
              <a:rPr lang="en-US" sz="3600">
                <a:solidFill>
                  <a:srgbClr val="FFFFFF"/>
                </a:solidFill>
              </a:rPr>
              <a:t>Parts of an Introduction</a:t>
            </a:r>
          </a:p>
        </p:txBody>
      </p:sp>
      <p:sp>
        <p:nvSpPr>
          <p:cNvPr id="13" name="Rectangle 12">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4303A919-FD71-2C15-8C26-6710E3C2664D}"/>
              </a:ext>
            </a:extLst>
          </p:cNvPr>
          <p:cNvGraphicFramePr>
            <a:graphicFrameLocks noGrp="1"/>
          </p:cNvGraphicFramePr>
          <p:nvPr>
            <p:ph idx="1"/>
            <p:extLst>
              <p:ext uri="{D42A27DB-BD31-4B8C-83A1-F6EECF244321}">
                <p14:modId xmlns:p14="http://schemas.microsoft.com/office/powerpoint/2010/main" val="3828888420"/>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Narrative Hook</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rPr lang="en-US" sz="2800" dirty="0"/>
              <a:t>Start your introduction with something to grab your reader’s attention and make them want to keep reading</a:t>
            </a:r>
          </a:p>
          <a:p>
            <a:pPr lvl="1"/>
            <a:r>
              <a:rPr lang="en-US" sz="2800" dirty="0"/>
              <a:t>Potential Hooks:</a:t>
            </a:r>
          </a:p>
          <a:p>
            <a:pPr lvl="2"/>
            <a:r>
              <a:rPr lang="en-US" dirty="0"/>
              <a:t>Statistics</a:t>
            </a:r>
          </a:p>
          <a:p>
            <a:pPr lvl="2"/>
            <a:r>
              <a:rPr lang="en-US" dirty="0"/>
              <a:t>Anecdote or story</a:t>
            </a:r>
          </a:p>
          <a:p>
            <a:pPr lvl="2"/>
            <a:r>
              <a:rPr lang="en-US" dirty="0"/>
              <a:t>Interesting finding</a:t>
            </a:r>
          </a:p>
          <a:p>
            <a:pPr lvl="2"/>
            <a:r>
              <a:rPr lang="en-US" dirty="0"/>
              <a:t>Real world event or phenomena</a:t>
            </a:r>
          </a:p>
          <a:p>
            <a:pPr lvl="1"/>
            <a:r>
              <a:rPr lang="en-US" sz="2800" dirty="0"/>
              <a:t>Note: The introduction is where you can use a few non-academic sources (e.g. news articles, reputable blogs, social media, </a:t>
            </a:r>
            <a:r>
              <a:rPr lang="en-US" sz="2800" dirty="0" err="1"/>
              <a:t>etc</a:t>
            </a:r>
            <a:r>
              <a:rPr lang="en-US" sz="28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Background on the Topic</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rPr dirty="0"/>
              <a:t>Provide basic background on the topic</a:t>
            </a:r>
          </a:p>
          <a:p>
            <a:pPr lvl="1"/>
            <a:r>
              <a:rPr dirty="0"/>
              <a:t>Define what it is you want to study</a:t>
            </a:r>
          </a:p>
          <a:p>
            <a:pPr lvl="1"/>
            <a:r>
              <a:rPr dirty="0"/>
              <a:t>Orient your reader to any special terminology and the context of the topic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Importance of the Topic</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t>Explicitly state why the topic is important</a:t>
            </a:r>
          </a:p>
          <a:p>
            <a:pPr lvl="1"/>
            <a:r>
              <a:t>If you study this topic, what could be learned or how could the world be better?</a:t>
            </a:r>
          </a:p>
          <a:p>
            <a:pPr lvl="1"/>
            <a:r>
              <a:t>Give your reader a reason to care about the project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A Goal Statement</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t>Broad statement about what you want to accomplish in your project</a:t>
            </a:r>
          </a:p>
          <a:p>
            <a:pPr lvl="1"/>
            <a:r>
              <a:t>Uses constructs not variables</a:t>
            </a:r>
          </a:p>
          <a:p>
            <a:pPr lvl="1"/>
            <a:r>
              <a:t>Think about what you want to know once you finish your paper</a:t>
            </a:r>
          </a:p>
          <a:p>
            <a:pPr lvl="1"/>
            <a:r>
              <a:t>Statement should be ’The goal of the current project is 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97280" y="1086678"/>
            <a:ext cx="10027920" cy="3471467"/>
          </a:xfrm>
        </p:spPr>
        <p:txBody>
          <a:bodyPr>
            <a:normAutofit/>
          </a:bodyPr>
          <a:lstStyle/>
          <a:p>
            <a:pPr lvl="1"/>
            <a:r>
              <a:t>The goal of the current project is to explore how COVID has impacted healthcare industry stocks.</a:t>
            </a:r>
          </a:p>
          <a:p>
            <a:pPr lvl="1"/>
            <a:r>
              <a:t>The goal of the study is to determine how political candidates use Twitter push specific messaging during campaigns.</a:t>
            </a:r>
          </a:p>
          <a:p>
            <a:pPr lvl="1"/>
            <a:r>
              <a:t>The goal of the current study is to examine how negative reviews of companies impact stock prices.</a:t>
            </a:r>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66800" y="5252936"/>
            <a:ext cx="10058400" cy="1028715"/>
          </a:xfrm>
        </p:spPr>
        <p:txBody>
          <a:bodyPr anchor="ctr">
            <a:normAutofit/>
          </a:bodyPr>
          <a:lstStyle/>
          <a:p>
            <a:pPr marL="0" lvl="0" indent="0" algn="ctr">
              <a:buNone/>
            </a:pPr>
            <a:r>
              <a:rPr lang="en-US">
                <a:solidFill>
                  <a:srgbClr val="FFFFFF"/>
                </a:solidFill>
              </a:rPr>
              <a:t>Example Goal Statements</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46F4C6-F02A-F1F8-2F72-B82D8CAE0A7A}"/>
              </a:ext>
            </a:extLst>
          </p:cNvPr>
          <p:cNvSpPr>
            <a:spLocks noGrp="1"/>
          </p:cNvSpPr>
          <p:nvPr>
            <p:ph type="title"/>
          </p:nvPr>
        </p:nvSpPr>
        <p:spPr>
          <a:xfrm>
            <a:off x="5181601" y="634946"/>
            <a:ext cx="6368142" cy="1450757"/>
          </a:xfrm>
        </p:spPr>
        <p:txBody>
          <a:bodyPr>
            <a:normAutofit/>
          </a:bodyPr>
          <a:lstStyle/>
          <a:p>
            <a:r>
              <a:rPr lang="en-US" sz="5400">
                <a:solidFill>
                  <a:srgbClr val="3E6446"/>
                </a:solidFill>
              </a:rPr>
              <a:t>Literature Review</a:t>
            </a:r>
          </a:p>
        </p:txBody>
      </p:sp>
      <p:pic>
        <p:nvPicPr>
          <p:cNvPr id="5" name="Picture 4" descr="A top view of books with different cover colors">
            <a:extLst>
              <a:ext uri="{FF2B5EF4-FFF2-40B4-BE49-F238E27FC236}">
                <a16:creationId xmlns:a16="http://schemas.microsoft.com/office/drawing/2014/main" id="{F3ED7F54-BB3D-5645-8AD7-44ECF56E0FC3}"/>
              </a:ext>
            </a:extLst>
          </p:cNvPr>
          <p:cNvPicPr>
            <a:picLocks noChangeAspect="1"/>
          </p:cNvPicPr>
          <p:nvPr/>
        </p:nvPicPr>
        <p:blipFill>
          <a:blip r:embed="rId3"/>
          <a:srcRect l="11873" r="20379" b="-2"/>
          <a:stretch>
            <a:fillRect/>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2406DF0-214E-F064-C45E-A6FA5B27D8B1}"/>
              </a:ext>
            </a:extLst>
          </p:cNvPr>
          <p:cNvSpPr>
            <a:spLocks noGrp="1"/>
          </p:cNvSpPr>
          <p:nvPr>
            <p:ph idx="1"/>
          </p:nvPr>
        </p:nvSpPr>
        <p:spPr>
          <a:xfrm>
            <a:off x="5181601" y="2198914"/>
            <a:ext cx="6368142" cy="3670180"/>
          </a:xfrm>
        </p:spPr>
        <p:txBody>
          <a:bodyPr>
            <a:normAutofit/>
          </a:bodyPr>
          <a:lstStyle/>
          <a:p>
            <a:r>
              <a:rPr lang="en-US" sz="2500"/>
              <a:t>Connects the problem and general goal to your specific approach to it</a:t>
            </a:r>
          </a:p>
          <a:p>
            <a:r>
              <a:rPr lang="en-US" sz="2500"/>
              <a:t>Meant to show what has been done and what the accepted approaches are</a:t>
            </a:r>
          </a:p>
          <a:p>
            <a:r>
              <a:rPr lang="en-US" sz="2500"/>
              <a:t>Provides support and justification to your methodological and analytic approach</a:t>
            </a:r>
          </a:p>
          <a:p>
            <a:r>
              <a:rPr lang="en-US" sz="2500"/>
              <a:t>Leads to the purpose of the study and hypotheses/research questions</a:t>
            </a:r>
          </a:p>
        </p:txBody>
      </p:sp>
    </p:spTree>
    <p:extLst>
      <p:ext uri="{BB962C8B-B14F-4D97-AF65-F5344CB8AC3E}">
        <p14:creationId xmlns:p14="http://schemas.microsoft.com/office/powerpoint/2010/main" val="125783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Main Purposes of any Scientific Study</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rPr lang="en-US" sz="2400" dirty="0"/>
              <a:t>Purpose is more specific than the goal of the project and should reflect the research design to be used</a:t>
            </a:r>
          </a:p>
          <a:p>
            <a:pPr lvl="2"/>
            <a:r>
              <a:rPr lang="en-US" sz="2400" dirty="0"/>
              <a:t>‘The purpose of this study is to describe…’ (focus on gathering and summarizing information on a topic)</a:t>
            </a:r>
          </a:p>
          <a:p>
            <a:pPr lvl="2"/>
            <a:r>
              <a:rPr lang="en-US" sz="2400" dirty="0"/>
              <a:t>‘The purpose of this study is to explore…’ (focus on generating or discovering new information about a topic)</a:t>
            </a:r>
          </a:p>
          <a:p>
            <a:pPr lvl="2"/>
            <a:r>
              <a:rPr lang="en-US" sz="2400" dirty="0"/>
              <a:t>‘The purpose of this study is to explain…’ (focus on determining the causes or relationships between variables)</a:t>
            </a:r>
          </a:p>
          <a:p>
            <a:pPr lvl="2"/>
            <a:r>
              <a:rPr lang="en-US" sz="2400" dirty="0"/>
              <a:t>‘The purpose of this study is to predict…’ (focus on prediction and forecasting some outcome)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Hypothesis Testing</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lnSpcReduction="10000"/>
          </a:bodyPr>
          <a:lstStyle/>
          <a:p>
            <a:pPr lvl="1"/>
            <a:r>
              <a:rPr lang="en-US" sz="2800" dirty="0"/>
              <a:t>Recent source of controversy in science</a:t>
            </a:r>
          </a:p>
          <a:p>
            <a:pPr lvl="1"/>
            <a:r>
              <a:rPr lang="en-US" sz="2800" dirty="0"/>
              <a:t>At a basic level, hypothesis testing is simply defining all the possible outcomes of your study</a:t>
            </a:r>
          </a:p>
          <a:p>
            <a:pPr lvl="2"/>
            <a:r>
              <a:rPr lang="en-US" dirty="0"/>
              <a:t>The academic intervention does not have an effect on grades.</a:t>
            </a:r>
          </a:p>
          <a:p>
            <a:pPr lvl="2"/>
            <a:r>
              <a:rPr lang="en-US" dirty="0"/>
              <a:t>The academic intervention has a negative effect on grades.</a:t>
            </a:r>
          </a:p>
          <a:p>
            <a:pPr lvl="2"/>
            <a:r>
              <a:rPr lang="en-US" dirty="0"/>
              <a:t>The academic intervention has a positive effect on grades.</a:t>
            </a:r>
          </a:p>
          <a:p>
            <a:pPr lvl="1"/>
            <a:r>
              <a:rPr lang="en-US" sz="2800" dirty="0"/>
              <a:t>In addition to ‘statistically significance’, important to consider:</a:t>
            </a:r>
          </a:p>
          <a:p>
            <a:pPr lvl="2"/>
            <a:r>
              <a:rPr lang="en-US" dirty="0"/>
              <a:t>Effect size</a:t>
            </a:r>
          </a:p>
          <a:p>
            <a:pPr lvl="2"/>
            <a:r>
              <a:rPr lang="en-US" dirty="0"/>
              <a:t>Practical significance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81601" y="634946"/>
            <a:ext cx="6368142" cy="1450757"/>
          </a:xfrm>
        </p:spPr>
        <p:txBody>
          <a:bodyPr>
            <a:normAutofit/>
          </a:bodyPr>
          <a:lstStyle/>
          <a:p>
            <a:pPr marL="0" lvl="0" indent="0">
              <a:buNone/>
            </a:pPr>
            <a:r>
              <a:rPr lang="en-US" sz="5400">
                <a:solidFill>
                  <a:srgbClr val="444666"/>
                </a:solidFill>
              </a:rPr>
              <a:t>Hypotheses</a:t>
            </a:r>
          </a:p>
        </p:txBody>
      </p:sp>
      <p:pic>
        <p:nvPicPr>
          <p:cNvPr id="5" name="Picture 4" descr="Magnifying glass showing decling performance">
            <a:extLst>
              <a:ext uri="{FF2B5EF4-FFF2-40B4-BE49-F238E27FC236}">
                <a16:creationId xmlns:a16="http://schemas.microsoft.com/office/drawing/2014/main" id="{4158BF75-5286-9074-3889-E1222EF58FF8}"/>
              </a:ext>
            </a:extLst>
          </p:cNvPr>
          <p:cNvPicPr>
            <a:picLocks noChangeAspect="1"/>
          </p:cNvPicPr>
          <p:nvPr/>
        </p:nvPicPr>
        <p:blipFill>
          <a:blip r:embed="rId3"/>
          <a:srcRect l="12107" r="42672" b="1"/>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181601" y="2198914"/>
            <a:ext cx="6368142" cy="3670180"/>
          </a:xfrm>
        </p:spPr>
        <p:txBody>
          <a:bodyPr>
            <a:normAutofit/>
          </a:bodyPr>
          <a:lstStyle/>
          <a:p>
            <a:pPr lvl="1"/>
            <a:r>
              <a:t>Single, simple statement predicting the outcome of your study</a:t>
            </a:r>
          </a:p>
          <a:p>
            <a:pPr lvl="1"/>
            <a:r>
              <a:t>Testable with a statistical analysis</a:t>
            </a:r>
          </a:p>
          <a:p>
            <a:pPr lvl="1"/>
            <a:r>
              <a:t>All variables quantitatively defined</a:t>
            </a:r>
          </a:p>
          <a:p>
            <a:pPr lvl="1"/>
            <a:r>
              <a:t>Population is defined</a:t>
            </a:r>
          </a:p>
          <a:p>
            <a:pPr lvl="1"/>
            <a:r>
              <a:t>Prediction should be supported by the literature 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81601" y="634946"/>
            <a:ext cx="6368142" cy="1450757"/>
          </a:xfrm>
        </p:spPr>
        <p:txBody>
          <a:bodyPr>
            <a:normAutofit/>
          </a:bodyPr>
          <a:lstStyle/>
          <a:p>
            <a:pPr marL="0" lvl="0" indent="0">
              <a:buNone/>
            </a:pPr>
            <a:r>
              <a:rPr lang="en-US" sz="5000"/>
              <a:t>Null versus Alternative Hypotheses</a:t>
            </a:r>
          </a:p>
        </p:txBody>
      </p:sp>
      <p:pic>
        <p:nvPicPr>
          <p:cNvPr id="5" name="Picture 4" descr="Formulas written on a blackboard">
            <a:extLst>
              <a:ext uri="{FF2B5EF4-FFF2-40B4-BE49-F238E27FC236}">
                <a16:creationId xmlns:a16="http://schemas.microsoft.com/office/drawing/2014/main" id="{23D8298B-2334-A412-FA37-3307A54EDD00}"/>
              </a:ext>
            </a:extLst>
          </p:cNvPr>
          <p:cNvPicPr>
            <a:picLocks noChangeAspect="1"/>
          </p:cNvPicPr>
          <p:nvPr/>
        </p:nvPicPr>
        <p:blipFill>
          <a:blip r:embed="rId3"/>
          <a:srcRect l="25490" r="29290" b="1"/>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181601" y="2198913"/>
            <a:ext cx="6368142" cy="4659081"/>
          </a:xfrm>
        </p:spPr>
        <p:txBody>
          <a:bodyPr>
            <a:normAutofit/>
          </a:bodyPr>
          <a:lstStyle/>
          <a:p>
            <a:pPr lvl="1"/>
            <a:r>
              <a:rPr lang="en-US" sz="1800" dirty="0"/>
              <a:t>An alternative hypothesis is the result you expect/hope to happen.</a:t>
            </a:r>
          </a:p>
          <a:p>
            <a:pPr lvl="1"/>
            <a:r>
              <a:rPr lang="en-US" sz="1800" dirty="0"/>
              <a:t>The null hypothesis is the other result.</a:t>
            </a:r>
          </a:p>
          <a:p>
            <a:pPr lvl="1"/>
            <a:r>
              <a:rPr lang="en-US" sz="1800" dirty="0"/>
              <a:t>Statistically, these are denoted as H0 and H1 and can be expressed mathematically.</a:t>
            </a:r>
          </a:p>
          <a:p>
            <a:pPr lvl="2"/>
            <a:r>
              <a:rPr lang="en-US" sz="1800" dirty="0"/>
              <a:t>H0: M1 = M2</a:t>
            </a:r>
          </a:p>
          <a:p>
            <a:pPr lvl="2"/>
            <a:r>
              <a:rPr lang="en-US" sz="1800" dirty="0"/>
              <a:t>H1: M1 ≠ M2</a:t>
            </a:r>
          </a:p>
          <a:p>
            <a:pPr lvl="1"/>
            <a:r>
              <a:rPr lang="en-US" sz="1800" dirty="0"/>
              <a:t>Can be directional or non-directional but must cover all possible outcomes.</a:t>
            </a:r>
          </a:p>
          <a:p>
            <a:pPr lvl="1"/>
            <a:r>
              <a:rPr lang="en-US" sz="1800" dirty="0"/>
              <a:t>In a research report, generally only the alternative hypothesis is explicitly defined and is described in words rather than mathematically</a:t>
            </a:r>
          </a:p>
          <a:p>
            <a:pPr lvl="2"/>
            <a:r>
              <a:rPr lang="en-US" sz="1800" dirty="0"/>
              <a:t>Positive mentions of a stock on Twitter increase stock price for the company. (testable with the right data and a simple regression model)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97280" y="1086678"/>
            <a:ext cx="10027920" cy="3471467"/>
          </a:xfrm>
        </p:spPr>
        <p:txBody>
          <a:bodyPr>
            <a:normAutofit/>
          </a:bodyPr>
          <a:lstStyle/>
          <a:p>
            <a:pPr lvl="1"/>
            <a:r>
              <a:t>The number of retweets of a political candidate’s tweets is positively correlated with their approval rating.</a:t>
            </a:r>
          </a:p>
          <a:p>
            <a:pPr lvl="1"/>
            <a:r>
              <a:t>The use of Instagram for marketing increases a small business’s profits.</a:t>
            </a:r>
          </a:p>
          <a:p>
            <a:pPr lvl="1"/>
            <a:r>
              <a:t>The consumer confidence index in one quarter significantly predicts the Dow index in the following quarter.</a:t>
            </a:r>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66800" y="5252936"/>
            <a:ext cx="10058400" cy="1028715"/>
          </a:xfrm>
        </p:spPr>
        <p:txBody>
          <a:bodyPr anchor="ctr">
            <a:normAutofit/>
          </a:bodyPr>
          <a:lstStyle/>
          <a:p>
            <a:pPr marL="0" lvl="0" indent="0" algn="ctr">
              <a:buNone/>
            </a:pPr>
            <a:r>
              <a:rPr lang="en-US">
                <a:solidFill>
                  <a:srgbClr val="FFFFFF"/>
                </a:solidFill>
              </a:rPr>
              <a:t>Example Hypotheses</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Research Questions</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rPr lang="en-US" sz="2800" dirty="0"/>
              <a:t>Alternative to defining a hypothesis</a:t>
            </a:r>
          </a:p>
          <a:p>
            <a:pPr lvl="1"/>
            <a:r>
              <a:rPr lang="en-US" sz="2800" dirty="0"/>
              <a:t>Functionally similar to a hypothesis but written as a question rather than a prediction</a:t>
            </a:r>
          </a:p>
          <a:p>
            <a:pPr lvl="1"/>
            <a:r>
              <a:rPr lang="en-US" sz="2800" dirty="0"/>
              <a:t>Still must be testable with the statistical analysis leading to a clear answer</a:t>
            </a:r>
          </a:p>
          <a:p>
            <a:pPr lvl="1"/>
            <a:r>
              <a:rPr lang="en-US" sz="2800" dirty="0"/>
              <a:t>Used when:</a:t>
            </a:r>
          </a:p>
          <a:p>
            <a:pPr lvl="2"/>
            <a:r>
              <a:rPr lang="en-US" dirty="0"/>
              <a:t>Specific prediction not supported by past research such as in exploratory studies</a:t>
            </a:r>
          </a:p>
          <a:p>
            <a:pPr lvl="2"/>
            <a:r>
              <a:rPr lang="en-US" dirty="0"/>
              <a:t>Hypothesis testing will not be used (e.g. prediction models, descriptive studies)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a:solidFill>
                  <a:srgbClr val="FFFFFF"/>
                </a:solidFill>
              </a:rPr>
              <a:t>Characteristics of Good Research Questions</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lnSpcReduction="10000"/>
          </a:bodyPr>
          <a:lstStyle/>
          <a:p>
            <a:pPr lvl="1"/>
            <a:r>
              <a:rPr lang="en-US" sz="2800" dirty="0"/>
              <a:t>Clearly states target population</a:t>
            </a:r>
          </a:p>
          <a:p>
            <a:pPr lvl="2"/>
            <a:r>
              <a:rPr lang="en-US" dirty="0"/>
              <a:t>What/who do you want your findings to generalize to?</a:t>
            </a:r>
          </a:p>
          <a:p>
            <a:pPr lvl="1"/>
            <a:r>
              <a:rPr lang="en-US" sz="2800" dirty="0"/>
              <a:t>Descriptive</a:t>
            </a:r>
          </a:p>
          <a:p>
            <a:pPr lvl="2"/>
            <a:r>
              <a:rPr lang="en-US" dirty="0"/>
              <a:t>Clearly states the variables to be studied</a:t>
            </a:r>
          </a:p>
          <a:p>
            <a:pPr lvl="1"/>
            <a:r>
              <a:rPr lang="en-US" sz="2800" dirty="0"/>
              <a:t>Adds new knowledge to existing knowledge</a:t>
            </a:r>
          </a:p>
          <a:p>
            <a:pPr lvl="2"/>
            <a:r>
              <a:rPr lang="en-US" dirty="0"/>
              <a:t>Addresses gap or limitation in past work</a:t>
            </a:r>
          </a:p>
          <a:p>
            <a:pPr lvl="1"/>
            <a:r>
              <a:rPr lang="en-US" sz="2800" dirty="0"/>
              <a:t>Scope of data needed is clear</a:t>
            </a:r>
          </a:p>
          <a:p>
            <a:pPr lvl="2"/>
            <a:r>
              <a:rPr lang="en-US" dirty="0"/>
              <a:t>Know what data needed and how to acquire</a:t>
            </a:r>
          </a:p>
          <a:p>
            <a:pPr lvl="1"/>
            <a:r>
              <a:rPr lang="en-US" sz="2800" dirty="0"/>
              <a:t>Clear objective</a:t>
            </a:r>
          </a:p>
          <a:p>
            <a:pPr lvl="2"/>
            <a:r>
              <a:rPr lang="en-US" dirty="0"/>
              <a:t>What will you know after doing this study?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097280" y="1086678"/>
            <a:ext cx="10027920" cy="3471467"/>
          </a:xfrm>
        </p:spPr>
        <p:txBody>
          <a:bodyPr>
            <a:normAutofit/>
          </a:bodyPr>
          <a:lstStyle/>
          <a:p>
            <a:pPr lvl="1"/>
            <a:r>
              <a:t>Can a neural network based model outperform traditional models for forecasting stock prices?</a:t>
            </a:r>
          </a:p>
          <a:p>
            <a:pPr lvl="1"/>
            <a:r>
              <a:t>What economic and social factors, such as GDP, education levels, and overall health indicators, explain a country’s subjective wellbeing?</a:t>
            </a:r>
          </a:p>
          <a:p>
            <a:pPr lvl="1"/>
            <a:r>
              <a:t>How does the content of tweets impact the Tweeters’ influence (e.g. number of followers and retweets)?</a:t>
            </a:r>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66800" y="5252936"/>
            <a:ext cx="10058400" cy="1028715"/>
          </a:xfrm>
        </p:spPr>
        <p:txBody>
          <a:bodyPr anchor="ctr">
            <a:normAutofit/>
          </a:bodyPr>
          <a:lstStyle/>
          <a:p>
            <a:pPr marL="0" lvl="0" indent="0" algn="ctr">
              <a:buNone/>
            </a:pPr>
            <a:r>
              <a:rPr lang="en-US">
                <a:solidFill>
                  <a:srgbClr val="FFFFFF"/>
                </a:solidFill>
              </a:rPr>
              <a:t>Example Research Questions</a:t>
            </a: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F91A46-FBE1-F54C-77C0-49C7D5056327}"/>
              </a:ext>
            </a:extLst>
          </p:cNvPr>
          <p:cNvSpPr>
            <a:spLocks noGrp="1"/>
          </p:cNvSpPr>
          <p:nvPr>
            <p:ph type="title"/>
          </p:nvPr>
        </p:nvSpPr>
        <p:spPr>
          <a:xfrm>
            <a:off x="5181601" y="634946"/>
            <a:ext cx="6368142" cy="1450757"/>
          </a:xfrm>
        </p:spPr>
        <p:txBody>
          <a:bodyPr>
            <a:normAutofit/>
          </a:bodyPr>
          <a:lstStyle/>
          <a:p>
            <a:r>
              <a:rPr lang="en-US" sz="5000">
                <a:solidFill>
                  <a:srgbClr val="619126"/>
                </a:solidFill>
              </a:rPr>
              <a:t>Building Blocks of Research Design</a:t>
            </a:r>
          </a:p>
        </p:txBody>
      </p:sp>
      <p:pic>
        <p:nvPicPr>
          <p:cNvPr id="5" name="Picture 4" descr="3D Tetris pieces">
            <a:extLst>
              <a:ext uri="{FF2B5EF4-FFF2-40B4-BE49-F238E27FC236}">
                <a16:creationId xmlns:a16="http://schemas.microsoft.com/office/drawing/2014/main" id="{5D041EEB-EFB4-A7EB-01F3-53FAE41EA16C}"/>
              </a:ext>
            </a:extLst>
          </p:cNvPr>
          <p:cNvPicPr>
            <a:picLocks noChangeAspect="1"/>
          </p:cNvPicPr>
          <p:nvPr/>
        </p:nvPicPr>
        <p:blipFill>
          <a:blip r:embed="rId3"/>
          <a:srcRect l="22168" r="32611" b="1"/>
          <a:stretch>
            <a:fillRect/>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863042B-F558-13B1-94A8-E43B58A706F0}"/>
              </a:ext>
            </a:extLst>
          </p:cNvPr>
          <p:cNvSpPr>
            <a:spLocks noGrp="1"/>
          </p:cNvSpPr>
          <p:nvPr>
            <p:ph idx="1"/>
          </p:nvPr>
        </p:nvSpPr>
        <p:spPr>
          <a:xfrm>
            <a:off x="5181601" y="2198914"/>
            <a:ext cx="6368142" cy="3670180"/>
          </a:xfrm>
        </p:spPr>
        <p:txBody>
          <a:bodyPr>
            <a:normAutofit/>
          </a:bodyPr>
          <a:lstStyle/>
          <a:p>
            <a:r>
              <a:rPr lang="en-US" dirty="0"/>
              <a:t>- Data</a:t>
            </a:r>
          </a:p>
          <a:p>
            <a:r>
              <a:rPr lang="en-US" dirty="0"/>
              <a:t>- Measurement</a:t>
            </a:r>
          </a:p>
          <a:p>
            <a:r>
              <a:rPr lang="en-US" dirty="0"/>
              <a:t>- Analysis</a:t>
            </a:r>
          </a:p>
        </p:txBody>
      </p:sp>
    </p:spTree>
    <p:extLst>
      <p:ext uri="{BB962C8B-B14F-4D97-AF65-F5344CB8AC3E}">
        <p14:creationId xmlns:p14="http://schemas.microsoft.com/office/powerpoint/2010/main" val="3238228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A8B95-6968-EA8C-BA0D-01C624182C0B}"/>
              </a:ext>
            </a:extLst>
          </p:cNvPr>
          <p:cNvSpPr>
            <a:spLocks noGrp="1"/>
          </p:cNvSpPr>
          <p:nvPr>
            <p:ph type="title"/>
          </p:nvPr>
        </p:nvSpPr>
        <p:spPr>
          <a:xfrm>
            <a:off x="838200" y="557188"/>
            <a:ext cx="10515600" cy="1133499"/>
          </a:xfrm>
        </p:spPr>
        <p:txBody>
          <a:bodyPr>
            <a:normAutofit/>
          </a:bodyPr>
          <a:lstStyle/>
          <a:p>
            <a:pPr algn="ctr"/>
            <a:r>
              <a:rPr lang="en-US" sz="5200"/>
              <a:t>Data Quality</a:t>
            </a:r>
          </a:p>
        </p:txBody>
      </p:sp>
      <p:graphicFrame>
        <p:nvGraphicFramePr>
          <p:cNvPr id="5" name="Content Placeholder 2">
            <a:extLst>
              <a:ext uri="{FF2B5EF4-FFF2-40B4-BE49-F238E27FC236}">
                <a16:creationId xmlns:a16="http://schemas.microsoft.com/office/drawing/2014/main" id="{F9C9BFBC-6493-901E-A2B4-63D668916C08}"/>
              </a:ext>
            </a:extLst>
          </p:cNvPr>
          <p:cNvGraphicFramePr>
            <a:graphicFrameLocks noGrp="1"/>
          </p:cNvGraphicFramePr>
          <p:nvPr>
            <p:ph idx="1"/>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468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BA53-6CB7-E570-0C18-52D4D41EF1C3}"/>
              </a:ext>
            </a:extLst>
          </p:cNvPr>
          <p:cNvSpPr>
            <a:spLocks noGrp="1"/>
          </p:cNvSpPr>
          <p:nvPr>
            <p:ph type="title"/>
          </p:nvPr>
        </p:nvSpPr>
        <p:spPr>
          <a:xfrm>
            <a:off x="838200" y="557188"/>
            <a:ext cx="10515600" cy="1133499"/>
          </a:xfrm>
        </p:spPr>
        <p:txBody>
          <a:bodyPr>
            <a:normAutofit/>
          </a:bodyPr>
          <a:lstStyle/>
          <a:p>
            <a:pPr algn="ctr"/>
            <a:r>
              <a:rPr lang="en-US" sz="5200"/>
              <a:t>Sampling</a:t>
            </a:r>
          </a:p>
        </p:txBody>
      </p:sp>
      <p:graphicFrame>
        <p:nvGraphicFramePr>
          <p:cNvPr id="5" name="Content Placeholder 2">
            <a:extLst>
              <a:ext uri="{FF2B5EF4-FFF2-40B4-BE49-F238E27FC236}">
                <a16:creationId xmlns:a16="http://schemas.microsoft.com/office/drawing/2014/main" id="{9B929548-1132-B02B-DAD2-4670817C16B1}"/>
              </a:ext>
            </a:extLst>
          </p:cNvPr>
          <p:cNvGraphicFramePr>
            <a:graphicFrameLocks noGrp="1"/>
          </p:cNvGraphicFramePr>
          <p:nvPr>
            <p:ph idx="1"/>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1636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1B41-8621-4427-E7E2-E568BA27C792}"/>
              </a:ext>
            </a:extLst>
          </p:cNvPr>
          <p:cNvSpPr>
            <a:spLocks noGrp="1"/>
          </p:cNvSpPr>
          <p:nvPr>
            <p:ph type="title"/>
          </p:nvPr>
        </p:nvSpPr>
        <p:spPr/>
        <p:txBody>
          <a:bodyPr/>
          <a:lstStyle/>
          <a:p>
            <a:r>
              <a:rPr lang="en-US" dirty="0"/>
              <a:t>Types of Variables</a:t>
            </a:r>
          </a:p>
        </p:txBody>
      </p:sp>
      <p:graphicFrame>
        <p:nvGraphicFramePr>
          <p:cNvPr id="5" name="Content Placeholder 2">
            <a:extLst>
              <a:ext uri="{FF2B5EF4-FFF2-40B4-BE49-F238E27FC236}">
                <a16:creationId xmlns:a16="http://schemas.microsoft.com/office/drawing/2014/main" id="{2F064705-5C56-DFAF-27E7-9449FD6D9F2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9376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90533F-B9BC-8ABB-7C8E-CB0EFB100BD8}"/>
              </a:ext>
            </a:extLst>
          </p:cNvPr>
          <p:cNvSpPr>
            <a:spLocks noGrp="1"/>
          </p:cNvSpPr>
          <p:nvPr>
            <p:ph type="title"/>
          </p:nvPr>
        </p:nvSpPr>
        <p:spPr>
          <a:xfrm>
            <a:off x="5181601" y="634946"/>
            <a:ext cx="6368142" cy="1450757"/>
          </a:xfrm>
        </p:spPr>
        <p:txBody>
          <a:bodyPr>
            <a:normAutofit/>
          </a:bodyPr>
          <a:lstStyle/>
          <a:p>
            <a:r>
              <a:rPr lang="en-US" sz="5000"/>
              <a:t>Conceptual Definitions</a:t>
            </a:r>
          </a:p>
        </p:txBody>
      </p:sp>
      <p:pic>
        <p:nvPicPr>
          <p:cNvPr id="17" name="Picture 4" descr="Question mark on green pastel background">
            <a:extLst>
              <a:ext uri="{FF2B5EF4-FFF2-40B4-BE49-F238E27FC236}">
                <a16:creationId xmlns:a16="http://schemas.microsoft.com/office/drawing/2014/main" id="{1366B9DD-46EA-C2C7-D997-91E0B50B5D1D}"/>
              </a:ext>
            </a:extLst>
          </p:cNvPr>
          <p:cNvPicPr>
            <a:picLocks noChangeAspect="1"/>
          </p:cNvPicPr>
          <p:nvPr/>
        </p:nvPicPr>
        <p:blipFill rotWithShape="1">
          <a:blip r:embed="rId3"/>
          <a:srcRect l="44502" r="4687" b="-2"/>
          <a:stretch/>
        </p:blipFill>
        <p:spPr>
          <a:xfrm>
            <a:off x="20" y="-12128"/>
            <a:ext cx="4654276" cy="6870127"/>
          </a:xfrm>
          <a:prstGeom prst="rect">
            <a:avLst/>
          </a:prstGeom>
        </p:spPr>
      </p:pic>
      <p:cxnSp>
        <p:nvCxnSpPr>
          <p:cNvPr id="30" name="Straight Connector 29">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EF3AA802-D484-7D83-DED3-883085039F6B}"/>
              </a:ext>
            </a:extLst>
          </p:cNvPr>
          <p:cNvSpPr>
            <a:spLocks noGrp="1"/>
          </p:cNvSpPr>
          <p:nvPr>
            <p:ph idx="1"/>
          </p:nvPr>
        </p:nvSpPr>
        <p:spPr>
          <a:xfrm>
            <a:off x="5181601" y="2198913"/>
            <a:ext cx="6368142" cy="4321621"/>
          </a:xfrm>
        </p:spPr>
        <p:txBody>
          <a:bodyPr>
            <a:normAutofit fontScale="92500"/>
          </a:bodyPr>
          <a:lstStyle/>
          <a:p>
            <a:r>
              <a:rPr lang="en-US" sz="2400" dirty="0"/>
              <a:t>Variable definition that explains in plain language what the variable is, what it is designed to capture, and why it matters</a:t>
            </a:r>
          </a:p>
          <a:p>
            <a:r>
              <a:rPr lang="en-US" sz="2400" dirty="0"/>
              <a:t>These generally will go in your Literature Review as your definitions should be supported with sources showing how other researchers define that variable</a:t>
            </a:r>
          </a:p>
          <a:p>
            <a:r>
              <a:rPr lang="en-US" sz="2400" dirty="0"/>
              <a:t>If a variable has more than one definition, you just need to justify why you chose the one you did (i.e. best match for the domain, most common definition, how it is measured in your data)</a:t>
            </a:r>
          </a:p>
          <a:p>
            <a:r>
              <a:rPr lang="en-US" sz="2400" dirty="0"/>
              <a:t>Should write at least a couple of sentences about your main variables</a:t>
            </a:r>
          </a:p>
        </p:txBody>
      </p:sp>
    </p:spTree>
    <p:extLst>
      <p:ext uri="{BB962C8B-B14F-4D97-AF65-F5344CB8AC3E}">
        <p14:creationId xmlns:p14="http://schemas.microsoft.com/office/powerpoint/2010/main" val="3840889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90533F-B9BC-8ABB-7C8E-CB0EFB100BD8}"/>
              </a:ext>
            </a:extLst>
          </p:cNvPr>
          <p:cNvSpPr>
            <a:spLocks noGrp="1"/>
          </p:cNvSpPr>
          <p:nvPr>
            <p:ph type="title"/>
          </p:nvPr>
        </p:nvSpPr>
        <p:spPr>
          <a:xfrm>
            <a:off x="5181601" y="634946"/>
            <a:ext cx="6368142" cy="1450757"/>
          </a:xfrm>
        </p:spPr>
        <p:txBody>
          <a:bodyPr>
            <a:normAutofit/>
          </a:bodyPr>
          <a:lstStyle/>
          <a:p>
            <a:r>
              <a:rPr lang="en-US" sz="5000" dirty="0"/>
              <a:t>Operational Definitions</a:t>
            </a:r>
          </a:p>
        </p:txBody>
      </p:sp>
      <p:pic>
        <p:nvPicPr>
          <p:cNvPr id="17" name="Picture 4" descr="Question mark on green pastel background">
            <a:extLst>
              <a:ext uri="{FF2B5EF4-FFF2-40B4-BE49-F238E27FC236}">
                <a16:creationId xmlns:a16="http://schemas.microsoft.com/office/drawing/2014/main" id="{1366B9DD-46EA-C2C7-D997-91E0B50B5D1D}"/>
              </a:ext>
            </a:extLst>
          </p:cNvPr>
          <p:cNvPicPr>
            <a:picLocks noChangeAspect="1"/>
          </p:cNvPicPr>
          <p:nvPr/>
        </p:nvPicPr>
        <p:blipFill rotWithShape="1">
          <a:blip r:embed="rId3"/>
          <a:srcRect l="44502" r="4687" b="-2"/>
          <a:stretch/>
        </p:blipFill>
        <p:spPr>
          <a:xfrm>
            <a:off x="20" y="-12128"/>
            <a:ext cx="4654276" cy="6870127"/>
          </a:xfrm>
          <a:prstGeom prst="rect">
            <a:avLst/>
          </a:prstGeom>
        </p:spPr>
      </p:pic>
      <p:cxnSp>
        <p:nvCxnSpPr>
          <p:cNvPr id="30" name="Straight Connector 29">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EF3AA802-D484-7D83-DED3-883085039F6B}"/>
              </a:ext>
            </a:extLst>
          </p:cNvPr>
          <p:cNvSpPr>
            <a:spLocks noGrp="1"/>
          </p:cNvSpPr>
          <p:nvPr>
            <p:ph idx="1"/>
          </p:nvPr>
        </p:nvSpPr>
        <p:spPr>
          <a:xfrm>
            <a:off x="5181601" y="2198913"/>
            <a:ext cx="6368142" cy="4256311"/>
          </a:xfrm>
        </p:spPr>
        <p:txBody>
          <a:bodyPr>
            <a:normAutofit lnSpcReduction="10000"/>
          </a:bodyPr>
          <a:lstStyle/>
          <a:p>
            <a:r>
              <a:rPr lang="en-US" sz="2400" dirty="0"/>
              <a:t>Explains in more technical/statistical language how the variable will be quantified, what the values of the variables mean, and how the values should be interpreted</a:t>
            </a:r>
          </a:p>
          <a:p>
            <a:r>
              <a:rPr lang="en-US" sz="2400" dirty="0"/>
              <a:t>These will go in your Methods section in a subsection dedicated to the variables in your study</a:t>
            </a:r>
          </a:p>
          <a:p>
            <a:r>
              <a:rPr lang="en-US" sz="2400" dirty="0"/>
              <a:t>Variables can have multiple operational definitions which is especially useful for complex variable to show robustness</a:t>
            </a:r>
          </a:p>
          <a:p>
            <a:r>
              <a:rPr lang="en-US" sz="2400" dirty="0"/>
              <a:t>Should write at least one full sentence for each variable</a:t>
            </a:r>
          </a:p>
          <a:p>
            <a:endParaRPr lang="en-US" sz="2400" dirty="0"/>
          </a:p>
        </p:txBody>
      </p:sp>
    </p:spTree>
    <p:extLst>
      <p:ext uri="{BB962C8B-B14F-4D97-AF65-F5344CB8AC3E}">
        <p14:creationId xmlns:p14="http://schemas.microsoft.com/office/powerpoint/2010/main" val="3666465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8E9E37-E838-7F89-1E05-5B01D29DBF7C}"/>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Analysis</a:t>
            </a:r>
          </a:p>
        </p:txBody>
      </p:sp>
      <p:sp>
        <p:nvSpPr>
          <p:cNvPr id="13" name="Rectangle 12">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CD55C534-B7AE-7D43-7EF2-F967CE753A1E}"/>
              </a:ext>
            </a:extLst>
          </p:cNvPr>
          <p:cNvGraphicFramePr>
            <a:graphicFrameLocks noGrp="1"/>
          </p:cNvGraphicFramePr>
          <p:nvPr>
            <p:ph idx="1"/>
            <p:extLst>
              <p:ext uri="{D42A27DB-BD31-4B8C-83A1-F6EECF244321}">
                <p14:modId xmlns:p14="http://schemas.microsoft.com/office/powerpoint/2010/main" val="390018101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5342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69DFB70-332C-9206-2790-688A0798A7E4}"/>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Types of Variable Relationships</a:t>
            </a:r>
          </a:p>
        </p:txBody>
      </p:sp>
      <p:sp>
        <p:nvSpPr>
          <p:cNvPr id="14" name="Rectangle 13">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D95C58E-B5D1-9C28-0C9F-AC6AE1FAC23C}"/>
              </a:ext>
            </a:extLst>
          </p:cNvPr>
          <p:cNvGraphicFramePr>
            <a:graphicFrameLocks noGrp="1"/>
          </p:cNvGraphicFramePr>
          <p:nvPr>
            <p:ph idx="1"/>
            <p:extLst>
              <p:ext uri="{D42A27DB-BD31-4B8C-83A1-F6EECF244321}">
                <p14:modId xmlns:p14="http://schemas.microsoft.com/office/powerpoint/2010/main" val="88538349"/>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4527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58A55F-29AC-2508-8E4C-34AC5A6B37FA}"/>
              </a:ext>
            </a:extLst>
          </p:cNvPr>
          <p:cNvSpPr>
            <a:spLocks noGrp="1"/>
          </p:cNvSpPr>
          <p:nvPr>
            <p:ph type="title"/>
          </p:nvPr>
        </p:nvSpPr>
        <p:spPr>
          <a:xfrm>
            <a:off x="5181601" y="634946"/>
            <a:ext cx="6368142" cy="1450757"/>
          </a:xfrm>
        </p:spPr>
        <p:txBody>
          <a:bodyPr>
            <a:normAutofit/>
          </a:bodyPr>
          <a:lstStyle/>
          <a:p>
            <a:r>
              <a:rPr lang="en-US" sz="5400"/>
              <a:t>Refinement</a:t>
            </a:r>
          </a:p>
        </p:txBody>
      </p:sp>
      <p:pic>
        <p:nvPicPr>
          <p:cNvPr id="5" name="Picture 4" descr="Question mark on green pastel background">
            <a:extLst>
              <a:ext uri="{FF2B5EF4-FFF2-40B4-BE49-F238E27FC236}">
                <a16:creationId xmlns:a16="http://schemas.microsoft.com/office/drawing/2014/main" id="{C9758363-70E2-6B86-B690-70295B867BCE}"/>
              </a:ext>
            </a:extLst>
          </p:cNvPr>
          <p:cNvPicPr>
            <a:picLocks noChangeAspect="1"/>
          </p:cNvPicPr>
          <p:nvPr/>
        </p:nvPicPr>
        <p:blipFill rotWithShape="1">
          <a:blip r:embed="rId2"/>
          <a:srcRect l="44502" r="4687" b="-2"/>
          <a:stretch/>
        </p:blipFill>
        <p:spPr>
          <a:xfrm>
            <a:off x="20" y="-12128"/>
            <a:ext cx="4654276" cy="6870127"/>
          </a:xfrm>
          <a:prstGeom prst="rect">
            <a:avLst/>
          </a:prstGeom>
        </p:spPr>
      </p:pic>
      <p:cxnSp>
        <p:nvCxnSpPr>
          <p:cNvPr id="14" name="Straight Connector 1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951533B-0C8B-2620-3AFA-B9EF7826F03C}"/>
              </a:ext>
            </a:extLst>
          </p:cNvPr>
          <p:cNvSpPr>
            <a:spLocks noGrp="1"/>
          </p:cNvSpPr>
          <p:nvPr>
            <p:ph idx="1"/>
          </p:nvPr>
        </p:nvSpPr>
        <p:spPr>
          <a:xfrm>
            <a:off x="5181601" y="2198914"/>
            <a:ext cx="6368142" cy="3670180"/>
          </a:xfrm>
        </p:spPr>
        <p:txBody>
          <a:bodyPr>
            <a:normAutofit lnSpcReduction="10000"/>
          </a:bodyPr>
          <a:lstStyle/>
          <a:p>
            <a:r>
              <a:rPr lang="en-US" sz="2800" dirty="0"/>
              <a:t>If your data cannot answer your research question,</a:t>
            </a:r>
          </a:p>
          <a:p>
            <a:pPr lvl="1"/>
            <a:r>
              <a:rPr lang="en-US" sz="2800" dirty="0"/>
              <a:t>Change your research question</a:t>
            </a:r>
          </a:p>
          <a:p>
            <a:pPr lvl="1"/>
            <a:r>
              <a:rPr lang="en-US" sz="2800" dirty="0"/>
              <a:t>Get different data</a:t>
            </a:r>
          </a:p>
          <a:p>
            <a:pPr lvl="1"/>
            <a:r>
              <a:rPr lang="en-US" sz="2800" dirty="0"/>
              <a:t>Consider how data could be extract (e.g. feature engineering)</a:t>
            </a:r>
          </a:p>
          <a:p>
            <a:r>
              <a:rPr lang="en-US" sz="2800" dirty="0"/>
              <a:t>In the end, if the analysis does not clearly answer the research question, then you didn’t design a good study</a:t>
            </a:r>
          </a:p>
        </p:txBody>
      </p:sp>
    </p:spTree>
    <p:extLst>
      <p:ext uri="{BB962C8B-B14F-4D97-AF65-F5344CB8AC3E}">
        <p14:creationId xmlns:p14="http://schemas.microsoft.com/office/powerpoint/2010/main" val="182512144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3238</TotalTime>
  <Words>7448</Words>
  <Application>Microsoft Office PowerPoint</Application>
  <PresentationFormat>Widescreen</PresentationFormat>
  <Paragraphs>218</Paragraphs>
  <Slides>26</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Calibri</vt:lpstr>
      <vt:lpstr>Times New Roman</vt:lpstr>
      <vt:lpstr>Retrospect</vt:lpstr>
      <vt:lpstr>Research Basics: From the Introduction to the Research Questions</vt:lpstr>
      <vt:lpstr>What is an Introduction?</vt:lpstr>
      <vt:lpstr>Parts of an Introduction</vt:lpstr>
      <vt:lpstr>Narrative Hook</vt:lpstr>
      <vt:lpstr>Background on the Topic</vt:lpstr>
      <vt:lpstr>Importance of the Topic</vt:lpstr>
      <vt:lpstr>A Goal Statement</vt:lpstr>
      <vt:lpstr>Example Goal Statements</vt:lpstr>
      <vt:lpstr>Literature Review</vt:lpstr>
      <vt:lpstr>Main Purposes of any Scientific Study</vt:lpstr>
      <vt:lpstr>Hypothesis Testing</vt:lpstr>
      <vt:lpstr>Hypotheses</vt:lpstr>
      <vt:lpstr>Null versus Alternative Hypotheses</vt:lpstr>
      <vt:lpstr>Example Hypotheses</vt:lpstr>
      <vt:lpstr>Research Questions</vt:lpstr>
      <vt:lpstr>Characteristics of Good Research Questions</vt:lpstr>
      <vt:lpstr>Example Research Questions</vt:lpstr>
      <vt:lpstr>Building Blocks of Research Design</vt:lpstr>
      <vt:lpstr>Data Quality</vt:lpstr>
      <vt:lpstr>Sampling</vt:lpstr>
      <vt:lpstr>Types of Variables</vt:lpstr>
      <vt:lpstr>Conceptual Definitions</vt:lpstr>
      <vt:lpstr>Operational Definitions</vt:lpstr>
      <vt:lpstr>Analysis</vt:lpstr>
      <vt:lpstr>Types of Variable Relationships</vt:lpstr>
      <vt:lpstr>Refinement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TM02900769[[fn=Retrospect]]</Template>
  <TotalTime>5</TotalTime>
  <Words>5</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Calibri Light</vt:lpstr>
      <vt:lpstr>Times New Roman</vt:lpstr>
      <vt:lpstr>Retrospect</vt:lpstr>
      <vt:lpstr>Title</vt:lpstr>
      <vt:lpstr>Slide 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Crafting Hypotheses and Research Questions</dc:title>
  <dc:creator>Dr. Kayla Jordan</dc:creator>
  <cp:keywords/>
  <cp:lastModifiedBy>Kayden Jordan</cp:lastModifiedBy>
  <cp:revision>3</cp:revision>
  <dcterms:created xsi:type="dcterms:W3CDTF">2021-06-08T20:51:01Z</dcterms:created>
  <dcterms:modified xsi:type="dcterms:W3CDTF">2025-11-13T01:17:43Z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6/8/2021</vt:lpwstr>
  </property>
  <property fmtid="{D5CDD505-2E9C-101B-9397-08002B2CF9AE}" pid="3" name="output">
    <vt:lpwstr/>
  </property>
</Properties>
</file>