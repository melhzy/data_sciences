
<file path=[Content_Types].xml><?xml version="1.0" encoding="utf-8"?>
<Types xmlns="http://schemas.openxmlformats.org/package/2006/content-types">
  <Default Extension="jpeg" ContentType="image/jpeg"/>
  <Default Extension="jpg" ContentType="image/jpeg"/>
  <Default Extension="mp4" ContentType="video/mp4"/>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xml" ContentType="application/vnd.openxmlformats-officedocument.themeOverr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57" r:id="rId3"/>
    <p:sldId id="258" r:id="rId4"/>
    <p:sldId id="260" r:id="rId5"/>
    <p:sldId id="261" r:id="rId6"/>
    <p:sldId id="262" r:id="rId7"/>
    <p:sldId id="263" r:id="rId8"/>
    <p:sldId id="264" r:id="rId9"/>
    <p:sldId id="265" r:id="rId10"/>
    <p:sldId id="266" r:id="rId11"/>
    <p:sldId id="269" r:id="rId12"/>
    <p:sldId id="259" r:id="rId13"/>
    <p:sldId id="267" r:id="rId14"/>
    <p:sldId id="268"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2536" autoAdjust="0"/>
  </p:normalViewPr>
  <p:slideViewPr>
    <p:cSldViewPr snapToGrid="0">
      <p:cViewPr varScale="1">
        <p:scale>
          <a:sx n="39" d="100"/>
          <a:sy n="39" d="100"/>
        </p:scale>
        <p:origin x="1708" y="56"/>
      </p:cViewPr>
      <p:guideLst/>
    </p:cSldViewPr>
  </p:slideViewPr>
  <p:notesTextViewPr>
    <p:cViewPr>
      <p:scale>
        <a:sx n="1" d="1"/>
        <a:sy n="1" d="1"/>
      </p:scale>
      <p:origin x="0" y="-1388"/>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Kayden Jordan" userId="e8c6793a-f4f0-4dab-a372-bcc2bed74348" providerId="ADAL" clId="{2D097765-E3AD-4BF7-A734-A5DEE3B1B8ED}"/>
    <pc:docChg chg="custSel modSld">
      <pc:chgData name="Kayden Jordan" userId="e8c6793a-f4f0-4dab-a372-bcc2bed74348" providerId="ADAL" clId="{2D097765-E3AD-4BF7-A734-A5DEE3B1B8ED}" dt="2025-11-15T04:25:10.253" v="697" actId="20577"/>
      <pc:docMkLst>
        <pc:docMk/>
      </pc:docMkLst>
      <pc:sldChg chg="modNotesTx">
        <pc:chgData name="Kayden Jordan" userId="e8c6793a-f4f0-4dab-a372-bcc2bed74348" providerId="ADAL" clId="{2D097765-E3AD-4BF7-A734-A5DEE3B1B8ED}" dt="2025-11-15T04:09:59.262" v="75" actId="20577"/>
        <pc:sldMkLst>
          <pc:docMk/>
          <pc:sldMk cId="1573546808" sldId="256"/>
        </pc:sldMkLst>
      </pc:sldChg>
      <pc:sldChg chg="modNotesTx">
        <pc:chgData name="Kayden Jordan" userId="e8c6793a-f4f0-4dab-a372-bcc2bed74348" providerId="ADAL" clId="{2D097765-E3AD-4BF7-A734-A5DEE3B1B8ED}" dt="2025-11-15T04:25:10.253" v="697" actId="20577"/>
        <pc:sldMkLst>
          <pc:docMk/>
          <pc:sldMk cId="3416727599" sldId="257"/>
        </pc:sldMkLst>
      </pc:sldChg>
      <pc:sldChg chg="modNotesTx">
        <pc:chgData name="Kayden Jordan" userId="e8c6793a-f4f0-4dab-a372-bcc2bed74348" providerId="ADAL" clId="{2D097765-E3AD-4BF7-A734-A5DEE3B1B8ED}" dt="2025-11-13T02:32:00.287" v="10" actId="20577"/>
        <pc:sldMkLst>
          <pc:docMk/>
          <pc:sldMk cId="8714732" sldId="259"/>
        </pc:sldMkLst>
      </pc:sldChg>
      <pc:sldChg chg="modNotesTx">
        <pc:chgData name="Kayden Jordan" userId="e8c6793a-f4f0-4dab-a372-bcc2bed74348" providerId="ADAL" clId="{2D097765-E3AD-4BF7-A734-A5DEE3B1B8ED}" dt="2025-11-13T02:32:12.040" v="41" actId="20577"/>
        <pc:sldMkLst>
          <pc:docMk/>
          <pc:sldMk cId="1964531937" sldId="269"/>
        </pc:sldMkLst>
      </pc:sldChg>
    </pc:docChg>
  </pc:docChgLst>
</pc:chgInfo>
</file>

<file path=ppt/diagrams/_rels/data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ata3.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6.png"/><Relationship Id="rId7" Type="http://schemas.openxmlformats.org/officeDocument/2006/relationships/image" Target="../media/image20.png"/><Relationship Id="rId12" Type="http://schemas.openxmlformats.org/officeDocument/2006/relationships/image" Target="../media/image25.svg"/><Relationship Id="rId2" Type="http://schemas.openxmlformats.org/officeDocument/2006/relationships/hyperlink" Target="https://www.w3schools.com/sql/sql_intro.asp" TargetMode="External"/><Relationship Id="rId1" Type="http://schemas.openxmlformats.org/officeDocument/2006/relationships/hyperlink" Target="https://medium.com/@rwilliams_bv/intro-to-databases-for-people-who-dont-know-a-whole-lot-about-them-a64ae9af712" TargetMode="External"/><Relationship Id="rId6" Type="http://schemas.openxmlformats.org/officeDocument/2006/relationships/image" Target="../media/image19.svg"/><Relationship Id="rId11" Type="http://schemas.openxmlformats.org/officeDocument/2006/relationships/image" Target="../media/image24.png"/><Relationship Id="rId5" Type="http://schemas.openxmlformats.org/officeDocument/2006/relationships/image" Target="../media/image18.png"/><Relationship Id="rId10" Type="http://schemas.openxmlformats.org/officeDocument/2006/relationships/image" Target="../media/image23.svg"/><Relationship Id="rId4" Type="http://schemas.openxmlformats.org/officeDocument/2006/relationships/image" Target="../media/image17.svg"/><Relationship Id="rId9" Type="http://schemas.openxmlformats.org/officeDocument/2006/relationships/image" Target="../media/image22.png"/></Relationships>
</file>

<file path=ppt/diagrams/_rels/drawing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svg"/><Relationship Id="rId1" Type="http://schemas.openxmlformats.org/officeDocument/2006/relationships/image" Target="../media/image3.png"/><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png"/><Relationship Id="rId7" Type="http://schemas.openxmlformats.org/officeDocument/2006/relationships/hyperlink" Target="https://medium.com/@rwilliams_bv/intro-to-databases-for-people-who-dont-know-a-whole-lot-about-them-a64ae9af712" TargetMode="External"/><Relationship Id="rId12" Type="http://schemas.openxmlformats.org/officeDocument/2006/relationships/image" Target="../media/image25.svg"/><Relationship Id="rId2" Type="http://schemas.openxmlformats.org/officeDocument/2006/relationships/image" Target="../media/image17.svg"/><Relationship Id="rId1" Type="http://schemas.openxmlformats.org/officeDocument/2006/relationships/image" Target="../media/image16.png"/><Relationship Id="rId6" Type="http://schemas.openxmlformats.org/officeDocument/2006/relationships/image" Target="../media/image21.svg"/><Relationship Id="rId11" Type="http://schemas.openxmlformats.org/officeDocument/2006/relationships/image" Target="../media/image24.png"/><Relationship Id="rId5" Type="http://schemas.openxmlformats.org/officeDocument/2006/relationships/image" Target="../media/image20.png"/><Relationship Id="rId10" Type="http://schemas.openxmlformats.org/officeDocument/2006/relationships/hyperlink" Target="https://www.w3schools.com/sql/sql_intro.asp" TargetMode="External"/><Relationship Id="rId4" Type="http://schemas.openxmlformats.org/officeDocument/2006/relationships/image" Target="../media/image19.svg"/><Relationship Id="rId9"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accent6_2">
  <dgm:title val=""/>
  <dgm:desc val=""/>
  <dgm:catLst>
    <dgm:cat type="accent6" pri="16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a:alpha val="0"/>
      </a:schemeClr>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73C5BE4-F8EE-4002-85C0-125F567A9696}" type="doc">
      <dgm:prSet loTypeId="urn:microsoft.com/office/officeart/2005/8/layout/vList2" loCatId="list" qsTypeId="urn:microsoft.com/office/officeart/2005/8/quickstyle/simple4" qsCatId="simple" csTypeId="urn:microsoft.com/office/officeart/2005/8/colors/colorful5" csCatId="colorful"/>
      <dgm:spPr/>
      <dgm:t>
        <a:bodyPr/>
        <a:lstStyle/>
        <a:p>
          <a:endParaRPr lang="en-US"/>
        </a:p>
      </dgm:t>
    </dgm:pt>
    <dgm:pt modelId="{EC71E75D-7FFC-4079-A49F-7045115BC995}">
      <dgm:prSet/>
      <dgm:spPr/>
      <dgm:t>
        <a:bodyPr/>
        <a:lstStyle/>
        <a:p>
          <a:r>
            <a:rPr lang="en-US"/>
            <a:t>Public versus Private</a:t>
          </a:r>
        </a:p>
      </dgm:t>
    </dgm:pt>
    <dgm:pt modelId="{4D583AA0-66E5-4114-A83A-1CCF034678EF}" type="parTrans" cxnId="{7517E299-C9C1-4233-A131-85523AB9A189}">
      <dgm:prSet/>
      <dgm:spPr/>
      <dgm:t>
        <a:bodyPr/>
        <a:lstStyle/>
        <a:p>
          <a:endParaRPr lang="en-US"/>
        </a:p>
      </dgm:t>
    </dgm:pt>
    <dgm:pt modelId="{1895B5D1-66EE-441E-A545-896AEBAB8BAF}" type="sibTrans" cxnId="{7517E299-C9C1-4233-A131-85523AB9A189}">
      <dgm:prSet/>
      <dgm:spPr/>
      <dgm:t>
        <a:bodyPr/>
        <a:lstStyle/>
        <a:p>
          <a:endParaRPr lang="en-US"/>
        </a:p>
      </dgm:t>
    </dgm:pt>
    <dgm:pt modelId="{DCAF981C-CE0B-45E4-AD18-59844BE19CDE}">
      <dgm:prSet/>
      <dgm:spPr/>
      <dgm:t>
        <a:bodyPr/>
        <a:lstStyle/>
        <a:p>
          <a:r>
            <a:rPr lang="en-US"/>
            <a:t>Structured versus Unstructured versus Semi-structured</a:t>
          </a:r>
        </a:p>
      </dgm:t>
    </dgm:pt>
    <dgm:pt modelId="{A0740334-FE43-40B1-9A76-8C08DD05E317}" type="parTrans" cxnId="{6548511C-E57E-4749-905F-F49EA3AE084C}">
      <dgm:prSet/>
      <dgm:spPr/>
      <dgm:t>
        <a:bodyPr/>
        <a:lstStyle/>
        <a:p>
          <a:endParaRPr lang="en-US"/>
        </a:p>
      </dgm:t>
    </dgm:pt>
    <dgm:pt modelId="{D066E01C-B5F6-4C10-9A88-1392DC5BCFF2}" type="sibTrans" cxnId="{6548511C-E57E-4749-905F-F49EA3AE084C}">
      <dgm:prSet/>
      <dgm:spPr/>
      <dgm:t>
        <a:bodyPr/>
        <a:lstStyle/>
        <a:p>
          <a:endParaRPr lang="en-US"/>
        </a:p>
      </dgm:t>
    </dgm:pt>
    <dgm:pt modelId="{F5C7CF2A-0800-4D2D-8331-A0BB07DE239A}">
      <dgm:prSet/>
      <dgm:spPr/>
      <dgm:t>
        <a:bodyPr/>
        <a:lstStyle/>
        <a:p>
          <a:r>
            <a:rPr lang="en-US"/>
            <a:t>Sparse versus Dense</a:t>
          </a:r>
        </a:p>
      </dgm:t>
    </dgm:pt>
    <dgm:pt modelId="{AAE7AEC3-D143-47B6-B1D6-6B8FB3ECA245}" type="parTrans" cxnId="{102612DF-2363-46E2-B61C-121034A4BFDA}">
      <dgm:prSet/>
      <dgm:spPr/>
      <dgm:t>
        <a:bodyPr/>
        <a:lstStyle/>
        <a:p>
          <a:endParaRPr lang="en-US"/>
        </a:p>
      </dgm:t>
    </dgm:pt>
    <dgm:pt modelId="{8C9512A4-F926-41B5-B907-056A2714AF8C}" type="sibTrans" cxnId="{102612DF-2363-46E2-B61C-121034A4BFDA}">
      <dgm:prSet/>
      <dgm:spPr/>
      <dgm:t>
        <a:bodyPr/>
        <a:lstStyle/>
        <a:p>
          <a:endParaRPr lang="en-US"/>
        </a:p>
      </dgm:t>
    </dgm:pt>
    <dgm:pt modelId="{20147F6D-995C-4DC3-876B-8F6989E887BE}">
      <dgm:prSet/>
      <dgm:spPr/>
      <dgm:t>
        <a:bodyPr/>
        <a:lstStyle/>
        <a:p>
          <a:r>
            <a:rPr lang="en-US"/>
            <a:t>Raw versus Transformed</a:t>
          </a:r>
        </a:p>
      </dgm:t>
    </dgm:pt>
    <dgm:pt modelId="{C6D908E2-1E4E-4C53-845B-E666A4586F3D}" type="parTrans" cxnId="{081827F2-678C-4E61-A8A4-A6D85F5C6ABF}">
      <dgm:prSet/>
      <dgm:spPr/>
      <dgm:t>
        <a:bodyPr/>
        <a:lstStyle/>
        <a:p>
          <a:endParaRPr lang="en-US"/>
        </a:p>
      </dgm:t>
    </dgm:pt>
    <dgm:pt modelId="{36978FAC-297A-4575-BC96-0A71C1BF69C0}" type="sibTrans" cxnId="{081827F2-678C-4E61-A8A4-A6D85F5C6ABF}">
      <dgm:prSet/>
      <dgm:spPr/>
      <dgm:t>
        <a:bodyPr/>
        <a:lstStyle/>
        <a:p>
          <a:endParaRPr lang="en-US"/>
        </a:p>
      </dgm:t>
    </dgm:pt>
    <dgm:pt modelId="{2215262E-08F3-4AA3-B4D7-3A7073E42853}">
      <dgm:prSet/>
      <dgm:spPr/>
      <dgm:t>
        <a:bodyPr/>
        <a:lstStyle/>
        <a:p>
          <a:r>
            <a:rPr lang="en-US"/>
            <a:t>Well-documented versus Poorly Documented</a:t>
          </a:r>
        </a:p>
      </dgm:t>
    </dgm:pt>
    <dgm:pt modelId="{141E4038-B237-4862-B1E4-FAB699D06D2D}" type="parTrans" cxnId="{4C1D40EE-9C85-4FCC-8F84-7EF4FA3339EF}">
      <dgm:prSet/>
      <dgm:spPr/>
      <dgm:t>
        <a:bodyPr/>
        <a:lstStyle/>
        <a:p>
          <a:endParaRPr lang="en-US"/>
        </a:p>
      </dgm:t>
    </dgm:pt>
    <dgm:pt modelId="{DCF26C7F-FB32-4AB7-9E4B-3168A509BC58}" type="sibTrans" cxnId="{4C1D40EE-9C85-4FCC-8F84-7EF4FA3339EF}">
      <dgm:prSet/>
      <dgm:spPr/>
      <dgm:t>
        <a:bodyPr/>
        <a:lstStyle/>
        <a:p>
          <a:endParaRPr lang="en-US"/>
        </a:p>
      </dgm:t>
    </dgm:pt>
    <dgm:pt modelId="{1A835FE4-B28B-4983-9D18-B68C7853147B}" type="pres">
      <dgm:prSet presAssocID="{573C5BE4-F8EE-4002-85C0-125F567A9696}" presName="linear" presStyleCnt="0">
        <dgm:presLayoutVars>
          <dgm:animLvl val="lvl"/>
          <dgm:resizeHandles val="exact"/>
        </dgm:presLayoutVars>
      </dgm:prSet>
      <dgm:spPr/>
    </dgm:pt>
    <dgm:pt modelId="{12972E35-C9CF-4684-8B2C-A118140AB19A}" type="pres">
      <dgm:prSet presAssocID="{EC71E75D-7FFC-4079-A49F-7045115BC995}" presName="parentText" presStyleLbl="node1" presStyleIdx="0" presStyleCnt="5">
        <dgm:presLayoutVars>
          <dgm:chMax val="0"/>
          <dgm:bulletEnabled val="1"/>
        </dgm:presLayoutVars>
      </dgm:prSet>
      <dgm:spPr/>
    </dgm:pt>
    <dgm:pt modelId="{4A3763A9-957E-435C-AFE5-B95AADBAE1EE}" type="pres">
      <dgm:prSet presAssocID="{1895B5D1-66EE-441E-A545-896AEBAB8BAF}" presName="spacer" presStyleCnt="0"/>
      <dgm:spPr/>
    </dgm:pt>
    <dgm:pt modelId="{349E3DA2-9823-4D30-B95B-7CB16E64E711}" type="pres">
      <dgm:prSet presAssocID="{DCAF981C-CE0B-45E4-AD18-59844BE19CDE}" presName="parentText" presStyleLbl="node1" presStyleIdx="1" presStyleCnt="5">
        <dgm:presLayoutVars>
          <dgm:chMax val="0"/>
          <dgm:bulletEnabled val="1"/>
        </dgm:presLayoutVars>
      </dgm:prSet>
      <dgm:spPr/>
    </dgm:pt>
    <dgm:pt modelId="{42497CC3-BE23-4271-94B4-6AEF75FA6342}" type="pres">
      <dgm:prSet presAssocID="{D066E01C-B5F6-4C10-9A88-1392DC5BCFF2}" presName="spacer" presStyleCnt="0"/>
      <dgm:spPr/>
    </dgm:pt>
    <dgm:pt modelId="{A2148CD1-BC14-4B74-9E17-F35EFFF65FC6}" type="pres">
      <dgm:prSet presAssocID="{F5C7CF2A-0800-4D2D-8331-A0BB07DE239A}" presName="parentText" presStyleLbl="node1" presStyleIdx="2" presStyleCnt="5">
        <dgm:presLayoutVars>
          <dgm:chMax val="0"/>
          <dgm:bulletEnabled val="1"/>
        </dgm:presLayoutVars>
      </dgm:prSet>
      <dgm:spPr/>
    </dgm:pt>
    <dgm:pt modelId="{06E415C2-FA2F-4A85-B128-A29660FC8198}" type="pres">
      <dgm:prSet presAssocID="{8C9512A4-F926-41B5-B907-056A2714AF8C}" presName="spacer" presStyleCnt="0"/>
      <dgm:spPr/>
    </dgm:pt>
    <dgm:pt modelId="{9F52CD94-2AD1-43F1-85D4-F47758FCFAD5}" type="pres">
      <dgm:prSet presAssocID="{20147F6D-995C-4DC3-876B-8F6989E887BE}" presName="parentText" presStyleLbl="node1" presStyleIdx="3" presStyleCnt="5">
        <dgm:presLayoutVars>
          <dgm:chMax val="0"/>
          <dgm:bulletEnabled val="1"/>
        </dgm:presLayoutVars>
      </dgm:prSet>
      <dgm:spPr/>
    </dgm:pt>
    <dgm:pt modelId="{3A5239A8-1B7A-435F-A0DC-57B9E31655E2}" type="pres">
      <dgm:prSet presAssocID="{36978FAC-297A-4575-BC96-0A71C1BF69C0}" presName="spacer" presStyleCnt="0"/>
      <dgm:spPr/>
    </dgm:pt>
    <dgm:pt modelId="{1ABF54BC-221A-49E2-B398-FBD31464C835}" type="pres">
      <dgm:prSet presAssocID="{2215262E-08F3-4AA3-B4D7-3A7073E42853}" presName="parentText" presStyleLbl="node1" presStyleIdx="4" presStyleCnt="5">
        <dgm:presLayoutVars>
          <dgm:chMax val="0"/>
          <dgm:bulletEnabled val="1"/>
        </dgm:presLayoutVars>
      </dgm:prSet>
      <dgm:spPr/>
    </dgm:pt>
  </dgm:ptLst>
  <dgm:cxnLst>
    <dgm:cxn modelId="{5165650B-1F01-4719-893D-0BB84ACB8D02}" type="presOf" srcId="{EC71E75D-7FFC-4079-A49F-7045115BC995}" destId="{12972E35-C9CF-4684-8B2C-A118140AB19A}" srcOrd="0" destOrd="0" presId="urn:microsoft.com/office/officeart/2005/8/layout/vList2"/>
    <dgm:cxn modelId="{6548511C-E57E-4749-905F-F49EA3AE084C}" srcId="{573C5BE4-F8EE-4002-85C0-125F567A9696}" destId="{DCAF981C-CE0B-45E4-AD18-59844BE19CDE}" srcOrd="1" destOrd="0" parTransId="{A0740334-FE43-40B1-9A76-8C08DD05E317}" sibTransId="{D066E01C-B5F6-4C10-9A88-1392DC5BCFF2}"/>
    <dgm:cxn modelId="{4DFA2736-D9C0-4C73-80DF-05A150A791D0}" type="presOf" srcId="{2215262E-08F3-4AA3-B4D7-3A7073E42853}" destId="{1ABF54BC-221A-49E2-B398-FBD31464C835}" srcOrd="0" destOrd="0" presId="urn:microsoft.com/office/officeart/2005/8/layout/vList2"/>
    <dgm:cxn modelId="{0F427A67-486D-47A9-8A6F-861D8066E445}" type="presOf" srcId="{DCAF981C-CE0B-45E4-AD18-59844BE19CDE}" destId="{349E3DA2-9823-4D30-B95B-7CB16E64E711}" srcOrd="0" destOrd="0" presId="urn:microsoft.com/office/officeart/2005/8/layout/vList2"/>
    <dgm:cxn modelId="{4EA0DB4F-8565-443A-AFBB-8BBB41DB3E6A}" type="presOf" srcId="{F5C7CF2A-0800-4D2D-8331-A0BB07DE239A}" destId="{A2148CD1-BC14-4B74-9E17-F35EFFF65FC6}" srcOrd="0" destOrd="0" presId="urn:microsoft.com/office/officeart/2005/8/layout/vList2"/>
    <dgm:cxn modelId="{ACF7BC93-001F-46FA-8139-E18B1B6D7138}" type="presOf" srcId="{20147F6D-995C-4DC3-876B-8F6989E887BE}" destId="{9F52CD94-2AD1-43F1-85D4-F47758FCFAD5}" srcOrd="0" destOrd="0" presId="urn:microsoft.com/office/officeart/2005/8/layout/vList2"/>
    <dgm:cxn modelId="{5C91A696-41F1-4610-9E35-D6DE4AA9147A}" type="presOf" srcId="{573C5BE4-F8EE-4002-85C0-125F567A9696}" destId="{1A835FE4-B28B-4983-9D18-B68C7853147B}" srcOrd="0" destOrd="0" presId="urn:microsoft.com/office/officeart/2005/8/layout/vList2"/>
    <dgm:cxn modelId="{7517E299-C9C1-4233-A131-85523AB9A189}" srcId="{573C5BE4-F8EE-4002-85C0-125F567A9696}" destId="{EC71E75D-7FFC-4079-A49F-7045115BC995}" srcOrd="0" destOrd="0" parTransId="{4D583AA0-66E5-4114-A83A-1CCF034678EF}" sibTransId="{1895B5D1-66EE-441E-A545-896AEBAB8BAF}"/>
    <dgm:cxn modelId="{102612DF-2363-46E2-B61C-121034A4BFDA}" srcId="{573C5BE4-F8EE-4002-85C0-125F567A9696}" destId="{F5C7CF2A-0800-4D2D-8331-A0BB07DE239A}" srcOrd="2" destOrd="0" parTransId="{AAE7AEC3-D143-47B6-B1D6-6B8FB3ECA245}" sibTransId="{8C9512A4-F926-41B5-B907-056A2714AF8C}"/>
    <dgm:cxn modelId="{4C1D40EE-9C85-4FCC-8F84-7EF4FA3339EF}" srcId="{573C5BE4-F8EE-4002-85C0-125F567A9696}" destId="{2215262E-08F3-4AA3-B4D7-3A7073E42853}" srcOrd="4" destOrd="0" parTransId="{141E4038-B237-4862-B1E4-FAB699D06D2D}" sibTransId="{DCF26C7F-FB32-4AB7-9E4B-3168A509BC58}"/>
    <dgm:cxn modelId="{081827F2-678C-4E61-A8A4-A6D85F5C6ABF}" srcId="{573C5BE4-F8EE-4002-85C0-125F567A9696}" destId="{20147F6D-995C-4DC3-876B-8F6989E887BE}" srcOrd="3" destOrd="0" parTransId="{C6D908E2-1E4E-4C53-845B-E666A4586F3D}" sibTransId="{36978FAC-297A-4575-BC96-0A71C1BF69C0}"/>
    <dgm:cxn modelId="{9503AE73-4225-404D-AC52-B81026A6F433}" type="presParOf" srcId="{1A835FE4-B28B-4983-9D18-B68C7853147B}" destId="{12972E35-C9CF-4684-8B2C-A118140AB19A}" srcOrd="0" destOrd="0" presId="urn:microsoft.com/office/officeart/2005/8/layout/vList2"/>
    <dgm:cxn modelId="{BB821064-39C2-43A1-BD07-F5D45191CD11}" type="presParOf" srcId="{1A835FE4-B28B-4983-9D18-B68C7853147B}" destId="{4A3763A9-957E-435C-AFE5-B95AADBAE1EE}" srcOrd="1" destOrd="0" presId="urn:microsoft.com/office/officeart/2005/8/layout/vList2"/>
    <dgm:cxn modelId="{A34FE077-8F6B-41C2-ACE5-4DE1E2978251}" type="presParOf" srcId="{1A835FE4-B28B-4983-9D18-B68C7853147B}" destId="{349E3DA2-9823-4D30-B95B-7CB16E64E711}" srcOrd="2" destOrd="0" presId="urn:microsoft.com/office/officeart/2005/8/layout/vList2"/>
    <dgm:cxn modelId="{6930C33A-4D3A-41F4-94A1-8FE1577589E7}" type="presParOf" srcId="{1A835FE4-B28B-4983-9D18-B68C7853147B}" destId="{42497CC3-BE23-4271-94B4-6AEF75FA6342}" srcOrd="3" destOrd="0" presId="urn:microsoft.com/office/officeart/2005/8/layout/vList2"/>
    <dgm:cxn modelId="{8F361C61-CB2D-4CC6-94D9-B1C27EE7D756}" type="presParOf" srcId="{1A835FE4-B28B-4983-9D18-B68C7853147B}" destId="{A2148CD1-BC14-4B74-9E17-F35EFFF65FC6}" srcOrd="4" destOrd="0" presId="urn:microsoft.com/office/officeart/2005/8/layout/vList2"/>
    <dgm:cxn modelId="{C6FE3B36-6189-4597-8B6F-05354F4B621E}" type="presParOf" srcId="{1A835FE4-B28B-4983-9D18-B68C7853147B}" destId="{06E415C2-FA2F-4A85-B128-A29660FC8198}" srcOrd="5" destOrd="0" presId="urn:microsoft.com/office/officeart/2005/8/layout/vList2"/>
    <dgm:cxn modelId="{BD2D8EE4-27FA-4669-AE93-AFD1A3238A97}" type="presParOf" srcId="{1A835FE4-B28B-4983-9D18-B68C7853147B}" destId="{9F52CD94-2AD1-43F1-85D4-F47758FCFAD5}" srcOrd="6" destOrd="0" presId="urn:microsoft.com/office/officeart/2005/8/layout/vList2"/>
    <dgm:cxn modelId="{D5C9E66D-46AE-4DF4-BA7D-CB6DF090B4E6}" type="presParOf" srcId="{1A835FE4-B28B-4983-9D18-B68C7853147B}" destId="{3A5239A8-1B7A-435F-A0DC-57B9E31655E2}" srcOrd="7" destOrd="0" presId="urn:microsoft.com/office/officeart/2005/8/layout/vList2"/>
    <dgm:cxn modelId="{CD750A90-A1E1-4756-8AC6-A8F45AE00EAD}" type="presParOf" srcId="{1A835FE4-B28B-4983-9D18-B68C7853147B}" destId="{1ABF54BC-221A-49E2-B398-FBD31464C835}" srcOrd="8"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99AAD14-88FC-4C01-873A-68158746962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119145FA-C2F5-46E3-934B-6FD0787D1EB4}">
      <dgm:prSet/>
      <dgm:spPr/>
      <dgm:t>
        <a:bodyPr/>
        <a:lstStyle/>
        <a:p>
          <a:pPr>
            <a:lnSpc>
              <a:spcPct val="100000"/>
            </a:lnSpc>
          </a:pPr>
          <a:r>
            <a:rPr lang="en-US"/>
            <a:t>APIs (application programming interface)</a:t>
          </a:r>
        </a:p>
      </dgm:t>
    </dgm:pt>
    <dgm:pt modelId="{E107FC48-3563-475C-9D33-2E96F46B7316}" type="parTrans" cxnId="{E707BBAA-271D-47F8-8030-F47159BC03A4}">
      <dgm:prSet/>
      <dgm:spPr/>
      <dgm:t>
        <a:bodyPr/>
        <a:lstStyle/>
        <a:p>
          <a:endParaRPr lang="en-US"/>
        </a:p>
      </dgm:t>
    </dgm:pt>
    <dgm:pt modelId="{54EE8476-E911-49BB-97F5-88F2BBF02BBB}" type="sibTrans" cxnId="{E707BBAA-271D-47F8-8030-F47159BC03A4}">
      <dgm:prSet/>
      <dgm:spPr/>
      <dgm:t>
        <a:bodyPr/>
        <a:lstStyle/>
        <a:p>
          <a:pPr>
            <a:lnSpc>
              <a:spcPct val="100000"/>
            </a:lnSpc>
          </a:pPr>
          <a:endParaRPr lang="en-US"/>
        </a:p>
      </dgm:t>
    </dgm:pt>
    <dgm:pt modelId="{BAEF4F55-B62C-4D3B-8332-59E3D8778481}">
      <dgm:prSet/>
      <dgm:spPr/>
      <dgm:t>
        <a:bodyPr/>
        <a:lstStyle/>
        <a:p>
          <a:pPr>
            <a:lnSpc>
              <a:spcPct val="100000"/>
            </a:lnSpc>
          </a:pPr>
          <a:r>
            <a:rPr lang="en-US"/>
            <a:t>Databases (SQL, MongoDB)</a:t>
          </a:r>
        </a:p>
      </dgm:t>
    </dgm:pt>
    <dgm:pt modelId="{0E1D6FA8-B624-41C3-BDE0-1668A4869AA4}" type="parTrans" cxnId="{63955B50-EBC9-4072-AA3C-0AB9AB1C6BF2}">
      <dgm:prSet/>
      <dgm:spPr/>
      <dgm:t>
        <a:bodyPr/>
        <a:lstStyle/>
        <a:p>
          <a:endParaRPr lang="en-US"/>
        </a:p>
      </dgm:t>
    </dgm:pt>
    <dgm:pt modelId="{A03A6696-9581-4425-A4A0-560931E7C3E3}" type="sibTrans" cxnId="{63955B50-EBC9-4072-AA3C-0AB9AB1C6BF2}">
      <dgm:prSet/>
      <dgm:spPr/>
      <dgm:t>
        <a:bodyPr/>
        <a:lstStyle/>
        <a:p>
          <a:pPr>
            <a:lnSpc>
              <a:spcPct val="100000"/>
            </a:lnSpc>
          </a:pPr>
          <a:endParaRPr lang="en-US"/>
        </a:p>
      </dgm:t>
    </dgm:pt>
    <dgm:pt modelId="{2C36A7EE-61EE-4EFB-83AA-D63D8A1CA43E}">
      <dgm:prSet/>
      <dgm:spPr/>
      <dgm:t>
        <a:bodyPr/>
        <a:lstStyle/>
        <a:p>
          <a:pPr>
            <a:lnSpc>
              <a:spcPct val="100000"/>
            </a:lnSpc>
          </a:pPr>
          <a:r>
            <a:rPr lang="en-US"/>
            <a:t>Web Scraping</a:t>
          </a:r>
        </a:p>
      </dgm:t>
    </dgm:pt>
    <dgm:pt modelId="{00BEB541-7771-4ABB-9332-2307801D776B}" type="parTrans" cxnId="{99F5A7E7-C56F-45DA-9B23-4D3120FE8AF9}">
      <dgm:prSet/>
      <dgm:spPr/>
      <dgm:t>
        <a:bodyPr/>
        <a:lstStyle/>
        <a:p>
          <a:endParaRPr lang="en-US"/>
        </a:p>
      </dgm:t>
    </dgm:pt>
    <dgm:pt modelId="{9B35BA85-FAE5-4B3E-8D7D-8C70E5B4FA1E}" type="sibTrans" cxnId="{99F5A7E7-C56F-45DA-9B23-4D3120FE8AF9}">
      <dgm:prSet/>
      <dgm:spPr/>
      <dgm:t>
        <a:bodyPr/>
        <a:lstStyle/>
        <a:p>
          <a:pPr>
            <a:lnSpc>
              <a:spcPct val="100000"/>
            </a:lnSpc>
          </a:pPr>
          <a:endParaRPr lang="en-US"/>
        </a:p>
      </dgm:t>
    </dgm:pt>
    <dgm:pt modelId="{AC53D9F4-19D1-4FB8-8B4A-0AAD140202E2}">
      <dgm:prSet/>
      <dgm:spPr/>
      <dgm:t>
        <a:bodyPr/>
        <a:lstStyle/>
        <a:p>
          <a:pPr>
            <a:lnSpc>
              <a:spcPct val="100000"/>
            </a:lnSpc>
          </a:pPr>
          <a:r>
            <a:rPr lang="en-US"/>
            <a:t>Archives and Repositories</a:t>
          </a:r>
        </a:p>
      </dgm:t>
    </dgm:pt>
    <dgm:pt modelId="{DD12FF18-747B-49B3-A9A9-4AD0963C70C2}" type="parTrans" cxnId="{B1F59C57-8918-4049-BB24-D08F067F9D2B}">
      <dgm:prSet/>
      <dgm:spPr/>
      <dgm:t>
        <a:bodyPr/>
        <a:lstStyle/>
        <a:p>
          <a:endParaRPr lang="en-US"/>
        </a:p>
      </dgm:t>
    </dgm:pt>
    <dgm:pt modelId="{63E8A863-A86E-4834-B07C-94D1253BEF69}" type="sibTrans" cxnId="{B1F59C57-8918-4049-BB24-D08F067F9D2B}">
      <dgm:prSet/>
      <dgm:spPr/>
      <dgm:t>
        <a:bodyPr/>
        <a:lstStyle/>
        <a:p>
          <a:endParaRPr lang="en-US"/>
        </a:p>
      </dgm:t>
    </dgm:pt>
    <dgm:pt modelId="{B5832187-0FE9-44E3-A19A-A7ECBAB8F0B9}" type="pres">
      <dgm:prSet presAssocID="{699AAD14-88FC-4C01-873A-68158746962F}" presName="root" presStyleCnt="0">
        <dgm:presLayoutVars>
          <dgm:dir/>
          <dgm:resizeHandles val="exact"/>
        </dgm:presLayoutVars>
      </dgm:prSet>
      <dgm:spPr/>
    </dgm:pt>
    <dgm:pt modelId="{ABA848CC-73C2-4378-A6EB-607146B9F568}" type="pres">
      <dgm:prSet presAssocID="{699AAD14-88FC-4C01-873A-68158746962F}" presName="container" presStyleCnt="0">
        <dgm:presLayoutVars>
          <dgm:dir/>
          <dgm:resizeHandles val="exact"/>
        </dgm:presLayoutVars>
      </dgm:prSet>
      <dgm:spPr/>
    </dgm:pt>
    <dgm:pt modelId="{E9D07405-FEA8-4A18-9832-191F37CF0B86}" type="pres">
      <dgm:prSet presAssocID="{119145FA-C2F5-46E3-934B-6FD0787D1EB4}" presName="compNode" presStyleCnt="0"/>
      <dgm:spPr/>
    </dgm:pt>
    <dgm:pt modelId="{A6DADE68-80FB-456E-9725-BA8078609A3A}" type="pres">
      <dgm:prSet presAssocID="{119145FA-C2F5-46E3-934B-6FD0787D1EB4}" presName="iconBgRect" presStyleLbl="bgShp" presStyleIdx="0" presStyleCnt="4"/>
      <dgm:spPr/>
    </dgm:pt>
    <dgm:pt modelId="{EC5676DF-8473-47AD-B017-71D0ED314066}" type="pres">
      <dgm:prSet presAssocID="{119145FA-C2F5-46E3-934B-6FD0787D1EB4}"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lowchart"/>
        </a:ext>
      </dgm:extLst>
    </dgm:pt>
    <dgm:pt modelId="{55B4193F-4BA6-48B2-BEDB-FE4260B61DAA}" type="pres">
      <dgm:prSet presAssocID="{119145FA-C2F5-46E3-934B-6FD0787D1EB4}" presName="spaceRect" presStyleCnt="0"/>
      <dgm:spPr/>
    </dgm:pt>
    <dgm:pt modelId="{94A49FB7-AD58-401C-BB95-E6D11B557DF0}" type="pres">
      <dgm:prSet presAssocID="{119145FA-C2F5-46E3-934B-6FD0787D1EB4}" presName="textRect" presStyleLbl="revTx" presStyleIdx="0" presStyleCnt="4">
        <dgm:presLayoutVars>
          <dgm:chMax val="1"/>
          <dgm:chPref val="1"/>
        </dgm:presLayoutVars>
      </dgm:prSet>
      <dgm:spPr/>
    </dgm:pt>
    <dgm:pt modelId="{05804C97-3641-4C40-A756-366625D82E4E}" type="pres">
      <dgm:prSet presAssocID="{54EE8476-E911-49BB-97F5-88F2BBF02BBB}" presName="sibTrans" presStyleLbl="sibTrans2D1" presStyleIdx="0" presStyleCnt="0"/>
      <dgm:spPr/>
    </dgm:pt>
    <dgm:pt modelId="{7A939423-5877-4673-BA8C-BFF4D0F73E0D}" type="pres">
      <dgm:prSet presAssocID="{BAEF4F55-B62C-4D3B-8332-59E3D8778481}" presName="compNode" presStyleCnt="0"/>
      <dgm:spPr/>
    </dgm:pt>
    <dgm:pt modelId="{136CE418-45CB-4108-9937-C3F605EF82ED}" type="pres">
      <dgm:prSet presAssocID="{BAEF4F55-B62C-4D3B-8332-59E3D8778481}" presName="iconBgRect" presStyleLbl="bgShp" presStyleIdx="1" presStyleCnt="4"/>
      <dgm:spPr/>
    </dgm:pt>
    <dgm:pt modelId="{9226E23E-A954-4F1E-A9EC-28E7514F975C}" type="pres">
      <dgm:prSet presAssocID="{BAEF4F55-B62C-4D3B-8332-59E3D8778481}"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0F09DA94-8BC7-4686-9AE6-A6E48EFF1528}" type="pres">
      <dgm:prSet presAssocID="{BAEF4F55-B62C-4D3B-8332-59E3D8778481}" presName="spaceRect" presStyleCnt="0"/>
      <dgm:spPr/>
    </dgm:pt>
    <dgm:pt modelId="{F5F2961D-7C9E-450B-924E-880E53F43CAD}" type="pres">
      <dgm:prSet presAssocID="{BAEF4F55-B62C-4D3B-8332-59E3D8778481}" presName="textRect" presStyleLbl="revTx" presStyleIdx="1" presStyleCnt="4">
        <dgm:presLayoutVars>
          <dgm:chMax val="1"/>
          <dgm:chPref val="1"/>
        </dgm:presLayoutVars>
      </dgm:prSet>
      <dgm:spPr/>
    </dgm:pt>
    <dgm:pt modelId="{F86BE328-4CC3-400C-9A7D-29B8A0B3C57F}" type="pres">
      <dgm:prSet presAssocID="{A03A6696-9581-4425-A4A0-560931E7C3E3}" presName="sibTrans" presStyleLbl="sibTrans2D1" presStyleIdx="0" presStyleCnt="0"/>
      <dgm:spPr/>
    </dgm:pt>
    <dgm:pt modelId="{FFFE7741-EBAC-4F46-BBB4-F71A2F8F98D6}" type="pres">
      <dgm:prSet presAssocID="{2C36A7EE-61EE-4EFB-83AA-D63D8A1CA43E}" presName="compNode" presStyleCnt="0"/>
      <dgm:spPr/>
    </dgm:pt>
    <dgm:pt modelId="{7486A3E0-6861-4864-9A2B-AA49157BFCA8}" type="pres">
      <dgm:prSet presAssocID="{2C36A7EE-61EE-4EFB-83AA-D63D8A1CA43E}" presName="iconBgRect" presStyleLbl="bgShp" presStyleIdx="2" presStyleCnt="4"/>
      <dgm:spPr/>
    </dgm:pt>
    <dgm:pt modelId="{D94BCD87-1951-4DDB-B9C6-1DFC341F7F39}" type="pres">
      <dgm:prSet presAssocID="{2C36A7EE-61EE-4EFB-83AA-D63D8A1CA43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Monitor"/>
        </a:ext>
      </dgm:extLst>
    </dgm:pt>
    <dgm:pt modelId="{3E1E444D-A53F-45D4-A868-3980F622619D}" type="pres">
      <dgm:prSet presAssocID="{2C36A7EE-61EE-4EFB-83AA-D63D8A1CA43E}" presName="spaceRect" presStyleCnt="0"/>
      <dgm:spPr/>
    </dgm:pt>
    <dgm:pt modelId="{334A6AEF-BCBA-4F9B-8265-B38910653899}" type="pres">
      <dgm:prSet presAssocID="{2C36A7EE-61EE-4EFB-83AA-D63D8A1CA43E}" presName="textRect" presStyleLbl="revTx" presStyleIdx="2" presStyleCnt="4">
        <dgm:presLayoutVars>
          <dgm:chMax val="1"/>
          <dgm:chPref val="1"/>
        </dgm:presLayoutVars>
      </dgm:prSet>
      <dgm:spPr/>
    </dgm:pt>
    <dgm:pt modelId="{6FB5FA35-3674-43AB-928A-CDF5642BD2AF}" type="pres">
      <dgm:prSet presAssocID="{9B35BA85-FAE5-4B3E-8D7D-8C70E5B4FA1E}" presName="sibTrans" presStyleLbl="sibTrans2D1" presStyleIdx="0" presStyleCnt="0"/>
      <dgm:spPr/>
    </dgm:pt>
    <dgm:pt modelId="{13BA64D8-DCDF-4020-8277-D2171D8F1870}" type="pres">
      <dgm:prSet presAssocID="{AC53D9F4-19D1-4FB8-8B4A-0AAD140202E2}" presName="compNode" presStyleCnt="0"/>
      <dgm:spPr/>
    </dgm:pt>
    <dgm:pt modelId="{4C7B5958-D13A-4FCA-ADF3-35AB86030043}" type="pres">
      <dgm:prSet presAssocID="{AC53D9F4-19D1-4FB8-8B4A-0AAD140202E2}" presName="iconBgRect" presStyleLbl="bgShp" presStyleIdx="3" presStyleCnt="4"/>
      <dgm:spPr/>
    </dgm:pt>
    <dgm:pt modelId="{A5BD97AA-B956-443B-9596-A05BF00B1F0D}" type="pres">
      <dgm:prSet presAssocID="{AC53D9F4-19D1-4FB8-8B4A-0AAD140202E2}"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Open Folder"/>
        </a:ext>
      </dgm:extLst>
    </dgm:pt>
    <dgm:pt modelId="{F08993F5-738F-4C5A-A110-CC641FE094A5}" type="pres">
      <dgm:prSet presAssocID="{AC53D9F4-19D1-4FB8-8B4A-0AAD140202E2}" presName="spaceRect" presStyleCnt="0"/>
      <dgm:spPr/>
    </dgm:pt>
    <dgm:pt modelId="{7F5C57B2-8CA6-4713-AB8D-2FF7144ADF4C}" type="pres">
      <dgm:prSet presAssocID="{AC53D9F4-19D1-4FB8-8B4A-0AAD140202E2}" presName="textRect" presStyleLbl="revTx" presStyleIdx="3" presStyleCnt="4">
        <dgm:presLayoutVars>
          <dgm:chMax val="1"/>
          <dgm:chPref val="1"/>
        </dgm:presLayoutVars>
      </dgm:prSet>
      <dgm:spPr/>
    </dgm:pt>
  </dgm:ptLst>
  <dgm:cxnLst>
    <dgm:cxn modelId="{C8556805-E41E-4D8F-A08D-A667881968CC}" type="presOf" srcId="{AC53D9F4-19D1-4FB8-8B4A-0AAD140202E2}" destId="{7F5C57B2-8CA6-4713-AB8D-2FF7144ADF4C}" srcOrd="0" destOrd="0" presId="urn:microsoft.com/office/officeart/2018/2/layout/IconCircleList"/>
    <dgm:cxn modelId="{63955B50-EBC9-4072-AA3C-0AB9AB1C6BF2}" srcId="{699AAD14-88FC-4C01-873A-68158746962F}" destId="{BAEF4F55-B62C-4D3B-8332-59E3D8778481}" srcOrd="1" destOrd="0" parTransId="{0E1D6FA8-B624-41C3-BDE0-1668A4869AA4}" sibTransId="{A03A6696-9581-4425-A4A0-560931E7C3E3}"/>
    <dgm:cxn modelId="{B1F59C57-8918-4049-BB24-D08F067F9D2B}" srcId="{699AAD14-88FC-4C01-873A-68158746962F}" destId="{AC53D9F4-19D1-4FB8-8B4A-0AAD140202E2}" srcOrd="3" destOrd="0" parTransId="{DD12FF18-747B-49B3-A9A9-4AD0963C70C2}" sibTransId="{63E8A863-A86E-4834-B07C-94D1253BEF69}"/>
    <dgm:cxn modelId="{0F7B387A-EE8D-4750-B9D7-28A8994528B8}" type="presOf" srcId="{A03A6696-9581-4425-A4A0-560931E7C3E3}" destId="{F86BE328-4CC3-400C-9A7D-29B8A0B3C57F}" srcOrd="0" destOrd="0" presId="urn:microsoft.com/office/officeart/2018/2/layout/IconCircleList"/>
    <dgm:cxn modelId="{2A0CCB5A-B9FB-47F6-ADF0-06A08161DC10}" type="presOf" srcId="{699AAD14-88FC-4C01-873A-68158746962F}" destId="{B5832187-0FE9-44E3-A19A-A7ECBAB8F0B9}" srcOrd="0" destOrd="0" presId="urn:microsoft.com/office/officeart/2018/2/layout/IconCircleList"/>
    <dgm:cxn modelId="{88D1C29C-B981-4B7C-BA2E-5F5B17310ABE}" type="presOf" srcId="{9B35BA85-FAE5-4B3E-8D7D-8C70E5B4FA1E}" destId="{6FB5FA35-3674-43AB-928A-CDF5642BD2AF}" srcOrd="0" destOrd="0" presId="urn:microsoft.com/office/officeart/2018/2/layout/IconCircleList"/>
    <dgm:cxn modelId="{56C3859D-2A67-4A78-A7E1-ED0F7A0E5F99}" type="presOf" srcId="{54EE8476-E911-49BB-97F5-88F2BBF02BBB}" destId="{05804C97-3641-4C40-A756-366625D82E4E}" srcOrd="0" destOrd="0" presId="urn:microsoft.com/office/officeart/2018/2/layout/IconCircleList"/>
    <dgm:cxn modelId="{E707BBAA-271D-47F8-8030-F47159BC03A4}" srcId="{699AAD14-88FC-4C01-873A-68158746962F}" destId="{119145FA-C2F5-46E3-934B-6FD0787D1EB4}" srcOrd="0" destOrd="0" parTransId="{E107FC48-3563-475C-9D33-2E96F46B7316}" sibTransId="{54EE8476-E911-49BB-97F5-88F2BBF02BBB}"/>
    <dgm:cxn modelId="{99F5A7E7-C56F-45DA-9B23-4D3120FE8AF9}" srcId="{699AAD14-88FC-4C01-873A-68158746962F}" destId="{2C36A7EE-61EE-4EFB-83AA-D63D8A1CA43E}" srcOrd="2" destOrd="0" parTransId="{00BEB541-7771-4ABB-9332-2307801D776B}" sibTransId="{9B35BA85-FAE5-4B3E-8D7D-8C70E5B4FA1E}"/>
    <dgm:cxn modelId="{A8CAA3EB-D335-49FD-97AE-8614DC14C83D}" type="presOf" srcId="{2C36A7EE-61EE-4EFB-83AA-D63D8A1CA43E}" destId="{334A6AEF-BCBA-4F9B-8265-B38910653899}" srcOrd="0" destOrd="0" presId="urn:microsoft.com/office/officeart/2018/2/layout/IconCircleList"/>
    <dgm:cxn modelId="{2982A5EF-CE01-4A8C-A088-C1F6838F4253}" type="presOf" srcId="{BAEF4F55-B62C-4D3B-8332-59E3D8778481}" destId="{F5F2961D-7C9E-450B-924E-880E53F43CAD}" srcOrd="0" destOrd="0" presId="urn:microsoft.com/office/officeart/2018/2/layout/IconCircleList"/>
    <dgm:cxn modelId="{FA9257FD-0417-4DA8-89C6-ECF8565D255C}" type="presOf" srcId="{119145FA-C2F5-46E3-934B-6FD0787D1EB4}" destId="{94A49FB7-AD58-401C-BB95-E6D11B557DF0}" srcOrd="0" destOrd="0" presId="urn:microsoft.com/office/officeart/2018/2/layout/IconCircleList"/>
    <dgm:cxn modelId="{615EA52B-6C98-46D7-A0C9-69CB6B32E5F7}" type="presParOf" srcId="{B5832187-0FE9-44E3-A19A-A7ECBAB8F0B9}" destId="{ABA848CC-73C2-4378-A6EB-607146B9F568}" srcOrd="0" destOrd="0" presId="urn:microsoft.com/office/officeart/2018/2/layout/IconCircleList"/>
    <dgm:cxn modelId="{A5ED9B98-7F7E-4E2C-8486-5DB2643A2483}" type="presParOf" srcId="{ABA848CC-73C2-4378-A6EB-607146B9F568}" destId="{E9D07405-FEA8-4A18-9832-191F37CF0B86}" srcOrd="0" destOrd="0" presId="urn:microsoft.com/office/officeart/2018/2/layout/IconCircleList"/>
    <dgm:cxn modelId="{804DFE11-4F2C-4350-A00C-B072ABBCD45A}" type="presParOf" srcId="{E9D07405-FEA8-4A18-9832-191F37CF0B86}" destId="{A6DADE68-80FB-456E-9725-BA8078609A3A}" srcOrd="0" destOrd="0" presId="urn:microsoft.com/office/officeart/2018/2/layout/IconCircleList"/>
    <dgm:cxn modelId="{74E9539D-0CCA-4F63-9DA2-588C635A8BC9}" type="presParOf" srcId="{E9D07405-FEA8-4A18-9832-191F37CF0B86}" destId="{EC5676DF-8473-47AD-B017-71D0ED314066}" srcOrd="1" destOrd="0" presId="urn:microsoft.com/office/officeart/2018/2/layout/IconCircleList"/>
    <dgm:cxn modelId="{A07C98DA-F872-4D6A-A2BA-91DA7A46A246}" type="presParOf" srcId="{E9D07405-FEA8-4A18-9832-191F37CF0B86}" destId="{55B4193F-4BA6-48B2-BEDB-FE4260B61DAA}" srcOrd="2" destOrd="0" presId="urn:microsoft.com/office/officeart/2018/2/layout/IconCircleList"/>
    <dgm:cxn modelId="{5D88A1FE-5384-4B63-9071-8216B1D955F2}" type="presParOf" srcId="{E9D07405-FEA8-4A18-9832-191F37CF0B86}" destId="{94A49FB7-AD58-401C-BB95-E6D11B557DF0}" srcOrd="3" destOrd="0" presId="urn:microsoft.com/office/officeart/2018/2/layout/IconCircleList"/>
    <dgm:cxn modelId="{57482AD1-CCE2-4227-B47D-80D9D24FEEA2}" type="presParOf" srcId="{ABA848CC-73C2-4378-A6EB-607146B9F568}" destId="{05804C97-3641-4C40-A756-366625D82E4E}" srcOrd="1" destOrd="0" presId="urn:microsoft.com/office/officeart/2018/2/layout/IconCircleList"/>
    <dgm:cxn modelId="{2B52CC9E-56DF-4379-B85D-22A0F4013D00}" type="presParOf" srcId="{ABA848CC-73C2-4378-A6EB-607146B9F568}" destId="{7A939423-5877-4673-BA8C-BFF4D0F73E0D}" srcOrd="2" destOrd="0" presId="urn:microsoft.com/office/officeart/2018/2/layout/IconCircleList"/>
    <dgm:cxn modelId="{C65D94F5-1ED3-49C6-BD5D-5337FD4C6BA4}" type="presParOf" srcId="{7A939423-5877-4673-BA8C-BFF4D0F73E0D}" destId="{136CE418-45CB-4108-9937-C3F605EF82ED}" srcOrd="0" destOrd="0" presId="urn:microsoft.com/office/officeart/2018/2/layout/IconCircleList"/>
    <dgm:cxn modelId="{C72B059C-6309-415B-82CA-88A00EF7CBC5}" type="presParOf" srcId="{7A939423-5877-4673-BA8C-BFF4D0F73E0D}" destId="{9226E23E-A954-4F1E-A9EC-28E7514F975C}" srcOrd="1" destOrd="0" presId="urn:microsoft.com/office/officeart/2018/2/layout/IconCircleList"/>
    <dgm:cxn modelId="{286CE936-72E5-4B3E-8D2A-8B5BCDFB90FD}" type="presParOf" srcId="{7A939423-5877-4673-BA8C-BFF4D0F73E0D}" destId="{0F09DA94-8BC7-4686-9AE6-A6E48EFF1528}" srcOrd="2" destOrd="0" presId="urn:microsoft.com/office/officeart/2018/2/layout/IconCircleList"/>
    <dgm:cxn modelId="{45F70D43-CCBA-4925-A6AE-90886DF0F3DB}" type="presParOf" srcId="{7A939423-5877-4673-BA8C-BFF4D0F73E0D}" destId="{F5F2961D-7C9E-450B-924E-880E53F43CAD}" srcOrd="3" destOrd="0" presId="urn:microsoft.com/office/officeart/2018/2/layout/IconCircleList"/>
    <dgm:cxn modelId="{58EC3FAB-FBE6-4E15-AD29-F4F0BC80892C}" type="presParOf" srcId="{ABA848CC-73C2-4378-A6EB-607146B9F568}" destId="{F86BE328-4CC3-400C-9A7D-29B8A0B3C57F}" srcOrd="3" destOrd="0" presId="urn:microsoft.com/office/officeart/2018/2/layout/IconCircleList"/>
    <dgm:cxn modelId="{98329348-93C6-444C-A3B5-42F92874E208}" type="presParOf" srcId="{ABA848CC-73C2-4378-A6EB-607146B9F568}" destId="{FFFE7741-EBAC-4F46-BBB4-F71A2F8F98D6}" srcOrd="4" destOrd="0" presId="urn:microsoft.com/office/officeart/2018/2/layout/IconCircleList"/>
    <dgm:cxn modelId="{6DC9DCF5-0FD2-431C-A2E8-0FD87AF02FBD}" type="presParOf" srcId="{FFFE7741-EBAC-4F46-BBB4-F71A2F8F98D6}" destId="{7486A3E0-6861-4864-9A2B-AA49157BFCA8}" srcOrd="0" destOrd="0" presId="urn:microsoft.com/office/officeart/2018/2/layout/IconCircleList"/>
    <dgm:cxn modelId="{82A8691F-C1BB-4628-BA67-135F9CACF99A}" type="presParOf" srcId="{FFFE7741-EBAC-4F46-BBB4-F71A2F8F98D6}" destId="{D94BCD87-1951-4DDB-B9C6-1DFC341F7F39}" srcOrd="1" destOrd="0" presId="urn:microsoft.com/office/officeart/2018/2/layout/IconCircleList"/>
    <dgm:cxn modelId="{CB08C16A-2DB5-43FE-B113-37B568CB85C7}" type="presParOf" srcId="{FFFE7741-EBAC-4F46-BBB4-F71A2F8F98D6}" destId="{3E1E444D-A53F-45D4-A868-3980F622619D}" srcOrd="2" destOrd="0" presId="urn:microsoft.com/office/officeart/2018/2/layout/IconCircleList"/>
    <dgm:cxn modelId="{E89A4956-AD30-4E70-85D7-AB873B2474B9}" type="presParOf" srcId="{FFFE7741-EBAC-4F46-BBB4-F71A2F8F98D6}" destId="{334A6AEF-BCBA-4F9B-8265-B38910653899}" srcOrd="3" destOrd="0" presId="urn:microsoft.com/office/officeart/2018/2/layout/IconCircleList"/>
    <dgm:cxn modelId="{6A11803E-20C1-46B0-BC3E-5E1504C86A1C}" type="presParOf" srcId="{ABA848CC-73C2-4378-A6EB-607146B9F568}" destId="{6FB5FA35-3674-43AB-928A-CDF5642BD2AF}" srcOrd="5" destOrd="0" presId="urn:microsoft.com/office/officeart/2018/2/layout/IconCircleList"/>
    <dgm:cxn modelId="{E07C9D5A-FA48-421B-92B7-F03021087961}" type="presParOf" srcId="{ABA848CC-73C2-4378-A6EB-607146B9F568}" destId="{13BA64D8-DCDF-4020-8277-D2171D8F1870}" srcOrd="6" destOrd="0" presId="urn:microsoft.com/office/officeart/2018/2/layout/IconCircleList"/>
    <dgm:cxn modelId="{4569DBC5-B3F7-453E-8667-70E7D8F0EA7B}" type="presParOf" srcId="{13BA64D8-DCDF-4020-8277-D2171D8F1870}" destId="{4C7B5958-D13A-4FCA-ADF3-35AB86030043}" srcOrd="0" destOrd="0" presId="urn:microsoft.com/office/officeart/2018/2/layout/IconCircleList"/>
    <dgm:cxn modelId="{212690AA-FBD5-4ACD-BE56-19E852283DA6}" type="presParOf" srcId="{13BA64D8-DCDF-4020-8277-D2171D8F1870}" destId="{A5BD97AA-B956-443B-9596-A05BF00B1F0D}" srcOrd="1" destOrd="0" presId="urn:microsoft.com/office/officeart/2018/2/layout/IconCircleList"/>
    <dgm:cxn modelId="{83688C81-BC16-45D6-ACEB-6A18A76ADF9E}" type="presParOf" srcId="{13BA64D8-DCDF-4020-8277-D2171D8F1870}" destId="{F08993F5-738F-4C5A-A110-CC641FE094A5}" srcOrd="2" destOrd="0" presId="urn:microsoft.com/office/officeart/2018/2/layout/IconCircleList"/>
    <dgm:cxn modelId="{82D908C7-4ED4-4614-9633-FABF34444331}" type="presParOf" srcId="{13BA64D8-DCDF-4020-8277-D2171D8F1870}" destId="{7F5C57B2-8CA6-4713-AB8D-2FF7144ADF4C}"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301D202-4AF7-4E6B-B28E-9A0E4091493D}" type="doc">
      <dgm:prSet loTypeId="urn:microsoft.com/office/officeart/2018/2/layout/IconVerticalSolidList" loCatId="icon" qsTypeId="urn:microsoft.com/office/officeart/2005/8/quickstyle/simple1" qsCatId="simple" csTypeId="urn:microsoft.com/office/officeart/2018/5/colors/Iconchunking_neutralbg_accent6_2" csCatId="accent6" phldr="1"/>
      <dgm:spPr/>
      <dgm:t>
        <a:bodyPr/>
        <a:lstStyle/>
        <a:p>
          <a:endParaRPr lang="en-US"/>
        </a:p>
      </dgm:t>
    </dgm:pt>
    <dgm:pt modelId="{F16A7957-C588-4054-8001-9176DC095336}">
      <dgm:prSet/>
      <dgm:spPr/>
      <dgm:t>
        <a:bodyPr/>
        <a:lstStyle/>
        <a:p>
          <a:pPr>
            <a:lnSpc>
              <a:spcPct val="100000"/>
            </a:lnSpc>
          </a:pPr>
          <a:r>
            <a:rPr lang="en-US"/>
            <a:t>For many private, offline datasets, data may be stored in a database structure like SQL, MongoDB</a:t>
          </a:r>
        </a:p>
      </dgm:t>
    </dgm:pt>
    <dgm:pt modelId="{5B0E9EDF-1295-47B0-86CC-EA6E380E6EBB}" type="parTrans" cxnId="{D990CA15-4CE6-4529-B93F-4C32FEB6FFD3}">
      <dgm:prSet/>
      <dgm:spPr/>
      <dgm:t>
        <a:bodyPr/>
        <a:lstStyle/>
        <a:p>
          <a:endParaRPr lang="en-US"/>
        </a:p>
      </dgm:t>
    </dgm:pt>
    <dgm:pt modelId="{AE867E62-9E67-47DE-9C06-7D2881350933}" type="sibTrans" cxnId="{D990CA15-4CE6-4529-B93F-4C32FEB6FFD3}">
      <dgm:prSet/>
      <dgm:spPr/>
      <dgm:t>
        <a:bodyPr/>
        <a:lstStyle/>
        <a:p>
          <a:endParaRPr lang="en-US"/>
        </a:p>
      </dgm:t>
    </dgm:pt>
    <dgm:pt modelId="{CEE73A8C-2537-4838-A7B5-53274F65E60E}">
      <dgm:prSet/>
      <dgm:spPr/>
      <dgm:t>
        <a:bodyPr/>
        <a:lstStyle/>
        <a:p>
          <a:pPr>
            <a:lnSpc>
              <a:spcPct val="100000"/>
            </a:lnSpc>
          </a:pPr>
          <a:r>
            <a:rPr lang="en-US"/>
            <a:t>Key to working with databases is having clear documentation of the database structure and knowing what data to select and extract from the database</a:t>
          </a:r>
        </a:p>
      </dgm:t>
    </dgm:pt>
    <dgm:pt modelId="{9E8B9E91-EE52-4567-A270-4A8416EAB750}" type="parTrans" cxnId="{24875B28-2E1F-4BB2-B631-AB77FB675902}">
      <dgm:prSet/>
      <dgm:spPr/>
      <dgm:t>
        <a:bodyPr/>
        <a:lstStyle/>
        <a:p>
          <a:endParaRPr lang="en-US"/>
        </a:p>
      </dgm:t>
    </dgm:pt>
    <dgm:pt modelId="{F5FF522A-386F-4086-88F3-2317283E1291}" type="sibTrans" cxnId="{24875B28-2E1F-4BB2-B631-AB77FB675902}">
      <dgm:prSet/>
      <dgm:spPr/>
      <dgm:t>
        <a:bodyPr/>
        <a:lstStyle/>
        <a:p>
          <a:endParaRPr lang="en-US"/>
        </a:p>
      </dgm:t>
    </dgm:pt>
    <dgm:pt modelId="{806509FC-C9C0-4D20-B043-9DD7E1F2455A}">
      <dgm:prSet/>
      <dgm:spPr/>
      <dgm:t>
        <a:bodyPr/>
        <a:lstStyle/>
        <a:p>
          <a:pPr>
            <a:lnSpc>
              <a:spcPct val="100000"/>
            </a:lnSpc>
          </a:pPr>
          <a:r>
            <a:rPr lang="en-US">
              <a:hlinkClick xmlns:r="http://schemas.openxmlformats.org/officeDocument/2006/relationships" r:id="rId1"/>
            </a:rPr>
            <a:t>Key Terminology</a:t>
          </a:r>
          <a:endParaRPr lang="en-US"/>
        </a:p>
      </dgm:t>
    </dgm:pt>
    <dgm:pt modelId="{A048D262-2308-44C0-85AA-0F159BADDEDA}" type="parTrans" cxnId="{67DEF7FC-014E-4464-955A-D76E1D6615F2}">
      <dgm:prSet/>
      <dgm:spPr/>
      <dgm:t>
        <a:bodyPr/>
        <a:lstStyle/>
        <a:p>
          <a:endParaRPr lang="en-US"/>
        </a:p>
      </dgm:t>
    </dgm:pt>
    <dgm:pt modelId="{04E96315-60CA-457F-906C-3E0166FBF3C7}" type="sibTrans" cxnId="{67DEF7FC-014E-4464-955A-D76E1D6615F2}">
      <dgm:prSet/>
      <dgm:spPr/>
      <dgm:t>
        <a:bodyPr/>
        <a:lstStyle/>
        <a:p>
          <a:endParaRPr lang="en-US"/>
        </a:p>
      </dgm:t>
    </dgm:pt>
    <dgm:pt modelId="{BD70156E-DB08-4394-A388-A08CF0D77808}">
      <dgm:prSet/>
      <dgm:spPr/>
      <dgm:t>
        <a:bodyPr/>
        <a:lstStyle/>
        <a:p>
          <a:pPr>
            <a:lnSpc>
              <a:spcPct val="100000"/>
            </a:lnSpc>
          </a:pPr>
          <a:r>
            <a:rPr lang="en-US">
              <a:hlinkClick xmlns:r="http://schemas.openxmlformats.org/officeDocument/2006/relationships" r:id="rId2"/>
            </a:rPr>
            <a:t>Coding Example</a:t>
          </a:r>
          <a:endParaRPr lang="en-US"/>
        </a:p>
      </dgm:t>
    </dgm:pt>
    <dgm:pt modelId="{47C0AD1E-62AB-4AAF-BA2B-7D1DB8773111}" type="parTrans" cxnId="{69FCFD00-4FA7-4CF1-B28B-94467BE1FE23}">
      <dgm:prSet/>
      <dgm:spPr/>
      <dgm:t>
        <a:bodyPr/>
        <a:lstStyle/>
        <a:p>
          <a:endParaRPr lang="en-US"/>
        </a:p>
      </dgm:t>
    </dgm:pt>
    <dgm:pt modelId="{F81E286F-4124-4626-87A1-7AD3DD862539}" type="sibTrans" cxnId="{69FCFD00-4FA7-4CF1-B28B-94467BE1FE23}">
      <dgm:prSet/>
      <dgm:spPr/>
      <dgm:t>
        <a:bodyPr/>
        <a:lstStyle/>
        <a:p>
          <a:endParaRPr lang="en-US"/>
        </a:p>
      </dgm:t>
    </dgm:pt>
    <dgm:pt modelId="{0E083E01-6E07-454D-B9B2-05DE2F7AAFC4}">
      <dgm:prSet/>
      <dgm:spPr/>
      <dgm:t>
        <a:bodyPr/>
        <a:lstStyle/>
        <a:p>
          <a:pPr>
            <a:lnSpc>
              <a:spcPct val="100000"/>
            </a:lnSpc>
          </a:pPr>
          <a:r>
            <a:rPr lang="en-US"/>
            <a:t>Similar to dataframes or JSON just with different syntax and memory storage</a:t>
          </a:r>
        </a:p>
      </dgm:t>
    </dgm:pt>
    <dgm:pt modelId="{9005F7F0-0A22-4E9F-A53D-6F2DE72C3A0D}" type="parTrans" cxnId="{BB66F8B5-2C1C-4200-B5F5-07489A27A4E0}">
      <dgm:prSet/>
      <dgm:spPr/>
      <dgm:t>
        <a:bodyPr/>
        <a:lstStyle/>
        <a:p>
          <a:endParaRPr lang="en-US"/>
        </a:p>
      </dgm:t>
    </dgm:pt>
    <dgm:pt modelId="{71754C76-A46E-4A32-A472-7454222BD250}" type="sibTrans" cxnId="{BB66F8B5-2C1C-4200-B5F5-07489A27A4E0}">
      <dgm:prSet/>
      <dgm:spPr/>
      <dgm:t>
        <a:bodyPr/>
        <a:lstStyle/>
        <a:p>
          <a:endParaRPr lang="en-US"/>
        </a:p>
      </dgm:t>
    </dgm:pt>
    <dgm:pt modelId="{BD242898-F202-4018-9AAB-D50610C16E3F}" type="pres">
      <dgm:prSet presAssocID="{C301D202-4AF7-4E6B-B28E-9A0E4091493D}" presName="root" presStyleCnt="0">
        <dgm:presLayoutVars>
          <dgm:dir/>
          <dgm:resizeHandles val="exact"/>
        </dgm:presLayoutVars>
      </dgm:prSet>
      <dgm:spPr/>
    </dgm:pt>
    <dgm:pt modelId="{09661BF5-1A7D-4005-909C-422A80F94969}" type="pres">
      <dgm:prSet presAssocID="{F16A7957-C588-4054-8001-9176DC095336}" presName="compNode" presStyleCnt="0"/>
      <dgm:spPr/>
    </dgm:pt>
    <dgm:pt modelId="{09995ACD-F58C-4A82-9E69-03D448E4A8A2}" type="pres">
      <dgm:prSet presAssocID="{F16A7957-C588-4054-8001-9176DC095336}" presName="bgRect" presStyleLbl="bgShp" presStyleIdx="0" presStyleCnt="5"/>
      <dgm:spPr/>
    </dgm:pt>
    <dgm:pt modelId="{40C2FFF8-B264-479C-859C-97F6F9664758}" type="pres">
      <dgm:prSet presAssocID="{F16A7957-C588-4054-8001-9176DC095336}" presName="iconRect" presStyleLbl="node1" presStyleIdx="0"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Database"/>
        </a:ext>
      </dgm:extLst>
    </dgm:pt>
    <dgm:pt modelId="{0BCB1231-1CBE-4479-AC14-CD4EF96D9CFE}" type="pres">
      <dgm:prSet presAssocID="{F16A7957-C588-4054-8001-9176DC095336}" presName="spaceRect" presStyleCnt="0"/>
      <dgm:spPr/>
    </dgm:pt>
    <dgm:pt modelId="{1B9F5A95-F3E4-4F7B-A342-18FDF8D010A0}" type="pres">
      <dgm:prSet presAssocID="{F16A7957-C588-4054-8001-9176DC095336}" presName="parTx" presStyleLbl="revTx" presStyleIdx="0" presStyleCnt="5">
        <dgm:presLayoutVars>
          <dgm:chMax val="0"/>
          <dgm:chPref val="0"/>
        </dgm:presLayoutVars>
      </dgm:prSet>
      <dgm:spPr/>
    </dgm:pt>
    <dgm:pt modelId="{658B0A7D-87B5-4E7A-851E-9770C984FE26}" type="pres">
      <dgm:prSet presAssocID="{AE867E62-9E67-47DE-9C06-7D2881350933}" presName="sibTrans" presStyleCnt="0"/>
      <dgm:spPr/>
    </dgm:pt>
    <dgm:pt modelId="{C7E81C98-4B75-4806-B2D3-0FB36DE3D7BC}" type="pres">
      <dgm:prSet presAssocID="{CEE73A8C-2537-4838-A7B5-53274F65E60E}" presName="compNode" presStyleCnt="0"/>
      <dgm:spPr/>
    </dgm:pt>
    <dgm:pt modelId="{9E4081F3-405B-4871-8B4A-9534B45C69D6}" type="pres">
      <dgm:prSet presAssocID="{CEE73A8C-2537-4838-A7B5-53274F65E60E}" presName="bgRect" presStyleLbl="bgShp" presStyleIdx="1" presStyleCnt="5"/>
      <dgm:spPr/>
    </dgm:pt>
    <dgm:pt modelId="{B3FE32F5-8BB2-4785-8A9D-86883BF38ABC}" type="pres">
      <dgm:prSet presAssocID="{CEE73A8C-2537-4838-A7B5-53274F65E60E}" presName="iconRect" presStyleLbl="node1" presStyleIdx="1"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Flowchart"/>
        </a:ext>
      </dgm:extLst>
    </dgm:pt>
    <dgm:pt modelId="{2B75A598-C9A3-4387-A5C9-41502950A794}" type="pres">
      <dgm:prSet presAssocID="{CEE73A8C-2537-4838-A7B5-53274F65E60E}" presName="spaceRect" presStyleCnt="0"/>
      <dgm:spPr/>
    </dgm:pt>
    <dgm:pt modelId="{1150853B-4D0D-4CC7-AEC1-DE6E4081C334}" type="pres">
      <dgm:prSet presAssocID="{CEE73A8C-2537-4838-A7B5-53274F65E60E}" presName="parTx" presStyleLbl="revTx" presStyleIdx="1" presStyleCnt="5">
        <dgm:presLayoutVars>
          <dgm:chMax val="0"/>
          <dgm:chPref val="0"/>
        </dgm:presLayoutVars>
      </dgm:prSet>
      <dgm:spPr/>
    </dgm:pt>
    <dgm:pt modelId="{7FF4F2D3-98A1-4793-801F-F0FAD85F8C4E}" type="pres">
      <dgm:prSet presAssocID="{F5FF522A-386F-4086-88F3-2317283E1291}" presName="sibTrans" presStyleCnt="0"/>
      <dgm:spPr/>
    </dgm:pt>
    <dgm:pt modelId="{82D7A193-FA53-4F5A-B410-0D741AA1F9EB}" type="pres">
      <dgm:prSet presAssocID="{806509FC-C9C0-4D20-B043-9DD7E1F2455A}" presName="compNode" presStyleCnt="0"/>
      <dgm:spPr/>
    </dgm:pt>
    <dgm:pt modelId="{EFA67E5F-3270-45F1-8AC6-ED7C8334214B}" type="pres">
      <dgm:prSet presAssocID="{806509FC-C9C0-4D20-B043-9DD7E1F2455A}" presName="bgRect" presStyleLbl="bgShp" presStyleIdx="2" presStyleCnt="5"/>
      <dgm:spPr/>
    </dgm:pt>
    <dgm:pt modelId="{62FB2E07-8FF3-446D-8CC9-1F8E34EAE462}" type="pres">
      <dgm:prSet presAssocID="{806509FC-C9C0-4D20-B043-9DD7E1F2455A}" presName="iconRect" presStyleLbl="node1" presStyleIdx="2"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Key"/>
        </a:ext>
      </dgm:extLst>
    </dgm:pt>
    <dgm:pt modelId="{C4810008-817C-4AF3-A638-E83C666C83F4}" type="pres">
      <dgm:prSet presAssocID="{806509FC-C9C0-4D20-B043-9DD7E1F2455A}" presName="spaceRect" presStyleCnt="0"/>
      <dgm:spPr/>
    </dgm:pt>
    <dgm:pt modelId="{A0720E67-B221-409C-9D1E-C72B5EFA2C75}" type="pres">
      <dgm:prSet presAssocID="{806509FC-C9C0-4D20-B043-9DD7E1F2455A}" presName="parTx" presStyleLbl="revTx" presStyleIdx="2" presStyleCnt="5">
        <dgm:presLayoutVars>
          <dgm:chMax val="0"/>
          <dgm:chPref val="0"/>
        </dgm:presLayoutVars>
      </dgm:prSet>
      <dgm:spPr/>
    </dgm:pt>
    <dgm:pt modelId="{21A8EA94-3C74-4092-BD78-B7A9FA254A6E}" type="pres">
      <dgm:prSet presAssocID="{04E96315-60CA-457F-906C-3E0166FBF3C7}" presName="sibTrans" presStyleCnt="0"/>
      <dgm:spPr/>
    </dgm:pt>
    <dgm:pt modelId="{A08829DE-2C05-47B2-BC40-6AFC5B4ECA70}" type="pres">
      <dgm:prSet presAssocID="{BD70156E-DB08-4394-A388-A08CF0D77808}" presName="compNode" presStyleCnt="0"/>
      <dgm:spPr/>
    </dgm:pt>
    <dgm:pt modelId="{2AA3FAFF-A4EC-4A56-BC85-11E185597DE0}" type="pres">
      <dgm:prSet presAssocID="{BD70156E-DB08-4394-A388-A08CF0D77808}" presName="bgRect" presStyleLbl="bgShp" presStyleIdx="3" presStyleCnt="5"/>
      <dgm:spPr/>
    </dgm:pt>
    <dgm:pt modelId="{2CBE7EF3-C999-47EA-8376-025ABF894089}" type="pres">
      <dgm:prSet presAssocID="{BD70156E-DB08-4394-A388-A08CF0D77808}" presName="iconRect" presStyleLbl="node1" presStyleIdx="3"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Document"/>
        </a:ext>
      </dgm:extLst>
    </dgm:pt>
    <dgm:pt modelId="{F8052F3F-0DB8-42BD-A3AB-ADF0D4778509}" type="pres">
      <dgm:prSet presAssocID="{BD70156E-DB08-4394-A388-A08CF0D77808}" presName="spaceRect" presStyleCnt="0"/>
      <dgm:spPr/>
    </dgm:pt>
    <dgm:pt modelId="{D07B76B9-46D0-462E-99A2-70D82A68F16E}" type="pres">
      <dgm:prSet presAssocID="{BD70156E-DB08-4394-A388-A08CF0D77808}" presName="parTx" presStyleLbl="revTx" presStyleIdx="3" presStyleCnt="5">
        <dgm:presLayoutVars>
          <dgm:chMax val="0"/>
          <dgm:chPref val="0"/>
        </dgm:presLayoutVars>
      </dgm:prSet>
      <dgm:spPr/>
    </dgm:pt>
    <dgm:pt modelId="{7DB43DEB-A123-47FF-A7D1-9610EBF6DF4F}" type="pres">
      <dgm:prSet presAssocID="{F81E286F-4124-4626-87A1-7AD3DD862539}" presName="sibTrans" presStyleCnt="0"/>
      <dgm:spPr/>
    </dgm:pt>
    <dgm:pt modelId="{19CF46E4-E9FC-4A3D-AD0D-BE60B0EC488C}" type="pres">
      <dgm:prSet presAssocID="{0E083E01-6E07-454D-B9B2-05DE2F7AAFC4}" presName="compNode" presStyleCnt="0"/>
      <dgm:spPr/>
    </dgm:pt>
    <dgm:pt modelId="{1FB9BBE6-D2E7-4350-80F2-953238D2D60C}" type="pres">
      <dgm:prSet presAssocID="{0E083E01-6E07-454D-B9B2-05DE2F7AAFC4}" presName="bgRect" presStyleLbl="bgShp" presStyleIdx="4" presStyleCnt="5"/>
      <dgm:spPr/>
    </dgm:pt>
    <dgm:pt modelId="{5A69E4C7-8456-464B-B573-481B9E69272A}" type="pres">
      <dgm:prSet presAssocID="{0E083E01-6E07-454D-B9B2-05DE2F7AAFC4}" presName="iconRect" presStyleLbl="node1" presStyleIdx="4" presStyleCnt="5"/>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a:noFill/>
        </a:ln>
      </dgm:spPr>
      <dgm:extLst>
        <a:ext uri="{E40237B7-FDA0-4F09-8148-C483321AD2D9}">
          <dgm14:cNvPr xmlns:dgm14="http://schemas.microsoft.com/office/drawing/2010/diagram" id="0" name="" descr="Checkmark"/>
        </a:ext>
      </dgm:extLst>
    </dgm:pt>
    <dgm:pt modelId="{7B17C576-47AC-4C67-B97C-933968F5A9DB}" type="pres">
      <dgm:prSet presAssocID="{0E083E01-6E07-454D-B9B2-05DE2F7AAFC4}" presName="spaceRect" presStyleCnt="0"/>
      <dgm:spPr/>
    </dgm:pt>
    <dgm:pt modelId="{17F4DD08-E0C8-4DE0-8ABE-7CDD5CA4F3FD}" type="pres">
      <dgm:prSet presAssocID="{0E083E01-6E07-454D-B9B2-05DE2F7AAFC4}" presName="parTx" presStyleLbl="revTx" presStyleIdx="4" presStyleCnt="5">
        <dgm:presLayoutVars>
          <dgm:chMax val="0"/>
          <dgm:chPref val="0"/>
        </dgm:presLayoutVars>
      </dgm:prSet>
      <dgm:spPr/>
    </dgm:pt>
  </dgm:ptLst>
  <dgm:cxnLst>
    <dgm:cxn modelId="{69FCFD00-4FA7-4CF1-B28B-94467BE1FE23}" srcId="{C301D202-4AF7-4E6B-B28E-9A0E4091493D}" destId="{BD70156E-DB08-4394-A388-A08CF0D77808}" srcOrd="3" destOrd="0" parTransId="{47C0AD1E-62AB-4AAF-BA2B-7D1DB8773111}" sibTransId="{F81E286F-4124-4626-87A1-7AD3DD862539}"/>
    <dgm:cxn modelId="{D990CA15-4CE6-4529-B93F-4C32FEB6FFD3}" srcId="{C301D202-4AF7-4E6B-B28E-9A0E4091493D}" destId="{F16A7957-C588-4054-8001-9176DC095336}" srcOrd="0" destOrd="0" parTransId="{5B0E9EDF-1295-47B0-86CC-EA6E380E6EBB}" sibTransId="{AE867E62-9E67-47DE-9C06-7D2881350933}"/>
    <dgm:cxn modelId="{24875B28-2E1F-4BB2-B631-AB77FB675902}" srcId="{C301D202-4AF7-4E6B-B28E-9A0E4091493D}" destId="{CEE73A8C-2537-4838-A7B5-53274F65E60E}" srcOrd="1" destOrd="0" parTransId="{9E8B9E91-EE52-4567-A270-4A8416EAB750}" sibTransId="{F5FF522A-386F-4086-88F3-2317283E1291}"/>
    <dgm:cxn modelId="{9B61DC3A-8A2E-4E0D-BC5A-EBB449FCC4B3}" type="presOf" srcId="{806509FC-C9C0-4D20-B043-9DD7E1F2455A}" destId="{A0720E67-B221-409C-9D1E-C72B5EFA2C75}" srcOrd="0" destOrd="0" presId="urn:microsoft.com/office/officeart/2018/2/layout/IconVerticalSolidList"/>
    <dgm:cxn modelId="{846C7A3D-A5A7-4950-A6CD-CDDF8BC02E1E}" type="presOf" srcId="{0E083E01-6E07-454D-B9B2-05DE2F7AAFC4}" destId="{17F4DD08-E0C8-4DE0-8ABE-7CDD5CA4F3FD}" srcOrd="0" destOrd="0" presId="urn:microsoft.com/office/officeart/2018/2/layout/IconVerticalSolidList"/>
    <dgm:cxn modelId="{C82A3A79-3896-429A-A0E1-0F515EE97056}" type="presOf" srcId="{C301D202-4AF7-4E6B-B28E-9A0E4091493D}" destId="{BD242898-F202-4018-9AAB-D50610C16E3F}" srcOrd="0" destOrd="0" presId="urn:microsoft.com/office/officeart/2018/2/layout/IconVerticalSolidList"/>
    <dgm:cxn modelId="{5A1DE09E-80E0-45DA-9EAC-8DA96F8A7E94}" type="presOf" srcId="{BD70156E-DB08-4394-A388-A08CF0D77808}" destId="{D07B76B9-46D0-462E-99A2-70D82A68F16E}" srcOrd="0" destOrd="0" presId="urn:microsoft.com/office/officeart/2018/2/layout/IconVerticalSolidList"/>
    <dgm:cxn modelId="{BB66F8B5-2C1C-4200-B5F5-07489A27A4E0}" srcId="{C301D202-4AF7-4E6B-B28E-9A0E4091493D}" destId="{0E083E01-6E07-454D-B9B2-05DE2F7AAFC4}" srcOrd="4" destOrd="0" parTransId="{9005F7F0-0A22-4E9F-A53D-6F2DE72C3A0D}" sibTransId="{71754C76-A46E-4A32-A472-7454222BD250}"/>
    <dgm:cxn modelId="{463F1FCC-FCE2-4BB7-804A-0B17FEA25D67}" type="presOf" srcId="{F16A7957-C588-4054-8001-9176DC095336}" destId="{1B9F5A95-F3E4-4F7B-A342-18FDF8D010A0}" srcOrd="0" destOrd="0" presId="urn:microsoft.com/office/officeart/2018/2/layout/IconVerticalSolidList"/>
    <dgm:cxn modelId="{0C04C2D4-9FF9-48D0-9FE8-CC0A8DB2363D}" type="presOf" srcId="{CEE73A8C-2537-4838-A7B5-53274F65E60E}" destId="{1150853B-4D0D-4CC7-AEC1-DE6E4081C334}" srcOrd="0" destOrd="0" presId="urn:microsoft.com/office/officeart/2018/2/layout/IconVerticalSolidList"/>
    <dgm:cxn modelId="{67DEF7FC-014E-4464-955A-D76E1D6615F2}" srcId="{C301D202-4AF7-4E6B-B28E-9A0E4091493D}" destId="{806509FC-C9C0-4D20-B043-9DD7E1F2455A}" srcOrd="2" destOrd="0" parTransId="{A048D262-2308-44C0-85AA-0F159BADDEDA}" sibTransId="{04E96315-60CA-457F-906C-3E0166FBF3C7}"/>
    <dgm:cxn modelId="{A851E09B-FBCA-4FE8-96C2-FEEEC468B442}" type="presParOf" srcId="{BD242898-F202-4018-9AAB-D50610C16E3F}" destId="{09661BF5-1A7D-4005-909C-422A80F94969}" srcOrd="0" destOrd="0" presId="urn:microsoft.com/office/officeart/2018/2/layout/IconVerticalSolidList"/>
    <dgm:cxn modelId="{0A455747-BE04-4B85-9E6A-FDF543B69343}" type="presParOf" srcId="{09661BF5-1A7D-4005-909C-422A80F94969}" destId="{09995ACD-F58C-4A82-9E69-03D448E4A8A2}" srcOrd="0" destOrd="0" presId="urn:microsoft.com/office/officeart/2018/2/layout/IconVerticalSolidList"/>
    <dgm:cxn modelId="{49ED26BC-BE9B-4D78-A3A2-3656A8826C83}" type="presParOf" srcId="{09661BF5-1A7D-4005-909C-422A80F94969}" destId="{40C2FFF8-B264-479C-859C-97F6F9664758}" srcOrd="1" destOrd="0" presId="urn:microsoft.com/office/officeart/2018/2/layout/IconVerticalSolidList"/>
    <dgm:cxn modelId="{BDC7249F-50F4-4A01-95E2-C4702C33E8CF}" type="presParOf" srcId="{09661BF5-1A7D-4005-909C-422A80F94969}" destId="{0BCB1231-1CBE-4479-AC14-CD4EF96D9CFE}" srcOrd="2" destOrd="0" presId="urn:microsoft.com/office/officeart/2018/2/layout/IconVerticalSolidList"/>
    <dgm:cxn modelId="{E91BCFB8-7B19-4E9C-894E-F5E83A0953F7}" type="presParOf" srcId="{09661BF5-1A7D-4005-909C-422A80F94969}" destId="{1B9F5A95-F3E4-4F7B-A342-18FDF8D010A0}" srcOrd="3" destOrd="0" presId="urn:microsoft.com/office/officeart/2018/2/layout/IconVerticalSolidList"/>
    <dgm:cxn modelId="{9E13B883-A22B-480D-82ED-DE1FF750B3DF}" type="presParOf" srcId="{BD242898-F202-4018-9AAB-D50610C16E3F}" destId="{658B0A7D-87B5-4E7A-851E-9770C984FE26}" srcOrd="1" destOrd="0" presId="urn:microsoft.com/office/officeart/2018/2/layout/IconVerticalSolidList"/>
    <dgm:cxn modelId="{4D31D650-8005-490D-A7CD-9E6C6CE267E1}" type="presParOf" srcId="{BD242898-F202-4018-9AAB-D50610C16E3F}" destId="{C7E81C98-4B75-4806-B2D3-0FB36DE3D7BC}" srcOrd="2" destOrd="0" presId="urn:microsoft.com/office/officeart/2018/2/layout/IconVerticalSolidList"/>
    <dgm:cxn modelId="{D7124FD8-4179-44ED-AA27-F863FB14A093}" type="presParOf" srcId="{C7E81C98-4B75-4806-B2D3-0FB36DE3D7BC}" destId="{9E4081F3-405B-4871-8B4A-9534B45C69D6}" srcOrd="0" destOrd="0" presId="urn:microsoft.com/office/officeart/2018/2/layout/IconVerticalSolidList"/>
    <dgm:cxn modelId="{396FECD9-132E-4733-96E4-26D6961B979E}" type="presParOf" srcId="{C7E81C98-4B75-4806-B2D3-0FB36DE3D7BC}" destId="{B3FE32F5-8BB2-4785-8A9D-86883BF38ABC}" srcOrd="1" destOrd="0" presId="urn:microsoft.com/office/officeart/2018/2/layout/IconVerticalSolidList"/>
    <dgm:cxn modelId="{D060A13F-1A78-4038-9A3D-17D5FE83DAD0}" type="presParOf" srcId="{C7E81C98-4B75-4806-B2D3-0FB36DE3D7BC}" destId="{2B75A598-C9A3-4387-A5C9-41502950A794}" srcOrd="2" destOrd="0" presId="urn:microsoft.com/office/officeart/2018/2/layout/IconVerticalSolidList"/>
    <dgm:cxn modelId="{2DBC4102-9A7A-48E5-83A2-FF408210C673}" type="presParOf" srcId="{C7E81C98-4B75-4806-B2D3-0FB36DE3D7BC}" destId="{1150853B-4D0D-4CC7-AEC1-DE6E4081C334}" srcOrd="3" destOrd="0" presId="urn:microsoft.com/office/officeart/2018/2/layout/IconVerticalSolidList"/>
    <dgm:cxn modelId="{F090B463-4017-4C03-ADE8-4479C23C6FDB}" type="presParOf" srcId="{BD242898-F202-4018-9AAB-D50610C16E3F}" destId="{7FF4F2D3-98A1-4793-801F-F0FAD85F8C4E}" srcOrd="3" destOrd="0" presId="urn:microsoft.com/office/officeart/2018/2/layout/IconVerticalSolidList"/>
    <dgm:cxn modelId="{F07165D8-EB77-40B7-8EC5-22A9FD3C693A}" type="presParOf" srcId="{BD242898-F202-4018-9AAB-D50610C16E3F}" destId="{82D7A193-FA53-4F5A-B410-0D741AA1F9EB}" srcOrd="4" destOrd="0" presId="urn:microsoft.com/office/officeart/2018/2/layout/IconVerticalSolidList"/>
    <dgm:cxn modelId="{1714DF84-4BA3-4D97-AFE7-B0811B33DA35}" type="presParOf" srcId="{82D7A193-FA53-4F5A-B410-0D741AA1F9EB}" destId="{EFA67E5F-3270-45F1-8AC6-ED7C8334214B}" srcOrd="0" destOrd="0" presId="urn:microsoft.com/office/officeart/2018/2/layout/IconVerticalSolidList"/>
    <dgm:cxn modelId="{C6A5450F-FE58-4C00-8D97-BB0F2D5FE494}" type="presParOf" srcId="{82D7A193-FA53-4F5A-B410-0D741AA1F9EB}" destId="{62FB2E07-8FF3-446D-8CC9-1F8E34EAE462}" srcOrd="1" destOrd="0" presId="urn:microsoft.com/office/officeart/2018/2/layout/IconVerticalSolidList"/>
    <dgm:cxn modelId="{52ECEE16-EDD7-4EBF-AED0-9F5F8B2F69C1}" type="presParOf" srcId="{82D7A193-FA53-4F5A-B410-0D741AA1F9EB}" destId="{C4810008-817C-4AF3-A638-E83C666C83F4}" srcOrd="2" destOrd="0" presId="urn:microsoft.com/office/officeart/2018/2/layout/IconVerticalSolidList"/>
    <dgm:cxn modelId="{06A53C21-9659-4CE5-905A-75EDBA04DE63}" type="presParOf" srcId="{82D7A193-FA53-4F5A-B410-0D741AA1F9EB}" destId="{A0720E67-B221-409C-9D1E-C72B5EFA2C75}" srcOrd="3" destOrd="0" presId="urn:microsoft.com/office/officeart/2018/2/layout/IconVerticalSolidList"/>
    <dgm:cxn modelId="{12B9A16A-2A1D-45E3-85CD-D3A12CCE66E5}" type="presParOf" srcId="{BD242898-F202-4018-9AAB-D50610C16E3F}" destId="{21A8EA94-3C74-4092-BD78-B7A9FA254A6E}" srcOrd="5" destOrd="0" presId="urn:microsoft.com/office/officeart/2018/2/layout/IconVerticalSolidList"/>
    <dgm:cxn modelId="{ED7E6A63-AB7F-40C2-B69A-597FCDD531B3}" type="presParOf" srcId="{BD242898-F202-4018-9AAB-D50610C16E3F}" destId="{A08829DE-2C05-47B2-BC40-6AFC5B4ECA70}" srcOrd="6" destOrd="0" presId="urn:microsoft.com/office/officeart/2018/2/layout/IconVerticalSolidList"/>
    <dgm:cxn modelId="{1896B1DD-A4FC-49D7-960B-AE724075B0BE}" type="presParOf" srcId="{A08829DE-2C05-47B2-BC40-6AFC5B4ECA70}" destId="{2AA3FAFF-A4EC-4A56-BC85-11E185597DE0}" srcOrd="0" destOrd="0" presId="urn:microsoft.com/office/officeart/2018/2/layout/IconVerticalSolidList"/>
    <dgm:cxn modelId="{45268367-7B54-47B5-B64A-5FBE95A6C740}" type="presParOf" srcId="{A08829DE-2C05-47B2-BC40-6AFC5B4ECA70}" destId="{2CBE7EF3-C999-47EA-8376-025ABF894089}" srcOrd="1" destOrd="0" presId="urn:microsoft.com/office/officeart/2018/2/layout/IconVerticalSolidList"/>
    <dgm:cxn modelId="{078515B5-A3E5-413F-91A1-250C92DD8C2A}" type="presParOf" srcId="{A08829DE-2C05-47B2-BC40-6AFC5B4ECA70}" destId="{F8052F3F-0DB8-42BD-A3AB-ADF0D4778509}" srcOrd="2" destOrd="0" presId="urn:microsoft.com/office/officeart/2018/2/layout/IconVerticalSolidList"/>
    <dgm:cxn modelId="{AABC1F2D-E8DB-4E7C-B349-028C1003275B}" type="presParOf" srcId="{A08829DE-2C05-47B2-BC40-6AFC5B4ECA70}" destId="{D07B76B9-46D0-462E-99A2-70D82A68F16E}" srcOrd="3" destOrd="0" presId="urn:microsoft.com/office/officeart/2018/2/layout/IconVerticalSolidList"/>
    <dgm:cxn modelId="{6FA85FEC-6FFB-4FFD-B2E1-716D63D06ACA}" type="presParOf" srcId="{BD242898-F202-4018-9AAB-D50610C16E3F}" destId="{7DB43DEB-A123-47FF-A7D1-9610EBF6DF4F}" srcOrd="7" destOrd="0" presId="urn:microsoft.com/office/officeart/2018/2/layout/IconVerticalSolidList"/>
    <dgm:cxn modelId="{C5DBBC76-08D5-4166-BBAD-8D806544FAB4}" type="presParOf" srcId="{BD242898-F202-4018-9AAB-D50610C16E3F}" destId="{19CF46E4-E9FC-4A3D-AD0D-BE60B0EC488C}" srcOrd="8" destOrd="0" presId="urn:microsoft.com/office/officeart/2018/2/layout/IconVerticalSolidList"/>
    <dgm:cxn modelId="{66CDA171-D720-4AB8-9FB3-7B2652A7224F}" type="presParOf" srcId="{19CF46E4-E9FC-4A3D-AD0D-BE60B0EC488C}" destId="{1FB9BBE6-D2E7-4350-80F2-953238D2D60C}" srcOrd="0" destOrd="0" presId="urn:microsoft.com/office/officeart/2018/2/layout/IconVerticalSolidList"/>
    <dgm:cxn modelId="{CC286C1D-4F7C-4D7B-8A6A-693CBE446A12}" type="presParOf" srcId="{19CF46E4-E9FC-4A3D-AD0D-BE60B0EC488C}" destId="{5A69E4C7-8456-464B-B573-481B9E69272A}" srcOrd="1" destOrd="0" presId="urn:microsoft.com/office/officeart/2018/2/layout/IconVerticalSolidList"/>
    <dgm:cxn modelId="{8EBB46F8-B888-491D-8F5C-CAD939680DEB}" type="presParOf" srcId="{19CF46E4-E9FC-4A3D-AD0D-BE60B0EC488C}" destId="{7B17C576-47AC-4C67-B97C-933968F5A9DB}" srcOrd="2" destOrd="0" presId="urn:microsoft.com/office/officeart/2018/2/layout/IconVerticalSolidList"/>
    <dgm:cxn modelId="{12C7E2BF-9D73-4C77-BB57-74F09AAF81D5}" type="presParOf" srcId="{19CF46E4-E9FC-4A3D-AD0D-BE60B0EC488C}" destId="{17F4DD08-E0C8-4DE0-8ABE-7CDD5CA4F3FD}"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972E35-C9CF-4684-8B2C-A118140AB19A}">
      <dsp:nvSpPr>
        <dsp:cNvPr id="0" name=""/>
        <dsp:cNvSpPr/>
      </dsp:nvSpPr>
      <dsp:spPr>
        <a:xfrm>
          <a:off x="0" y="87569"/>
          <a:ext cx="6666833" cy="998156"/>
        </a:xfrm>
        <a:prstGeom prst="round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Public versus Private</a:t>
          </a:r>
        </a:p>
      </dsp:txBody>
      <dsp:txXfrm>
        <a:off x="48726" y="136295"/>
        <a:ext cx="6569381" cy="900704"/>
      </dsp:txXfrm>
    </dsp:sp>
    <dsp:sp modelId="{349E3DA2-9823-4D30-B95B-7CB16E64E711}">
      <dsp:nvSpPr>
        <dsp:cNvPr id="0" name=""/>
        <dsp:cNvSpPr/>
      </dsp:nvSpPr>
      <dsp:spPr>
        <a:xfrm>
          <a:off x="0" y="1157725"/>
          <a:ext cx="6666833" cy="998156"/>
        </a:xfrm>
        <a:prstGeom prst="roundRect">
          <a:avLst/>
        </a:prstGeom>
        <a:gradFill rotWithShape="0">
          <a:gsLst>
            <a:gs pos="0">
              <a:schemeClr val="accent5">
                <a:hueOff val="-3038037"/>
                <a:satOff val="-207"/>
                <a:lumOff val="490"/>
                <a:alphaOff val="0"/>
                <a:satMod val="103000"/>
                <a:lumMod val="102000"/>
                <a:tint val="94000"/>
              </a:schemeClr>
            </a:gs>
            <a:gs pos="50000">
              <a:schemeClr val="accent5">
                <a:hueOff val="-3038037"/>
                <a:satOff val="-207"/>
                <a:lumOff val="490"/>
                <a:alphaOff val="0"/>
                <a:satMod val="110000"/>
                <a:lumMod val="100000"/>
                <a:shade val="100000"/>
              </a:schemeClr>
            </a:gs>
            <a:gs pos="100000">
              <a:schemeClr val="accent5">
                <a:hueOff val="-3038037"/>
                <a:satOff val="-207"/>
                <a:lumOff val="49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Structured versus Unstructured versus Semi-structured</a:t>
          </a:r>
        </a:p>
      </dsp:txBody>
      <dsp:txXfrm>
        <a:off x="48726" y="1206451"/>
        <a:ext cx="6569381" cy="900704"/>
      </dsp:txXfrm>
    </dsp:sp>
    <dsp:sp modelId="{A2148CD1-BC14-4B74-9E17-F35EFFF65FC6}">
      <dsp:nvSpPr>
        <dsp:cNvPr id="0" name=""/>
        <dsp:cNvSpPr/>
      </dsp:nvSpPr>
      <dsp:spPr>
        <a:xfrm>
          <a:off x="0" y="2227881"/>
          <a:ext cx="6666833" cy="998156"/>
        </a:xfrm>
        <a:prstGeom prst="roundRect">
          <a:avLst/>
        </a:prstGeom>
        <a:gradFill rotWithShape="0">
          <a:gsLst>
            <a:gs pos="0">
              <a:schemeClr val="accent5">
                <a:hueOff val="-6076075"/>
                <a:satOff val="-413"/>
                <a:lumOff val="981"/>
                <a:alphaOff val="0"/>
                <a:satMod val="103000"/>
                <a:lumMod val="102000"/>
                <a:tint val="94000"/>
              </a:schemeClr>
            </a:gs>
            <a:gs pos="50000">
              <a:schemeClr val="accent5">
                <a:hueOff val="-6076075"/>
                <a:satOff val="-413"/>
                <a:lumOff val="981"/>
                <a:alphaOff val="0"/>
                <a:satMod val="110000"/>
                <a:lumMod val="100000"/>
                <a:shade val="100000"/>
              </a:schemeClr>
            </a:gs>
            <a:gs pos="100000">
              <a:schemeClr val="accent5">
                <a:hueOff val="-6076075"/>
                <a:satOff val="-413"/>
                <a:lumOff val="98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Sparse versus Dense</a:t>
          </a:r>
        </a:p>
      </dsp:txBody>
      <dsp:txXfrm>
        <a:off x="48726" y="2276607"/>
        <a:ext cx="6569381" cy="900704"/>
      </dsp:txXfrm>
    </dsp:sp>
    <dsp:sp modelId="{9F52CD94-2AD1-43F1-85D4-F47758FCFAD5}">
      <dsp:nvSpPr>
        <dsp:cNvPr id="0" name=""/>
        <dsp:cNvSpPr/>
      </dsp:nvSpPr>
      <dsp:spPr>
        <a:xfrm>
          <a:off x="0" y="3298038"/>
          <a:ext cx="6666833" cy="998156"/>
        </a:xfrm>
        <a:prstGeom prst="roundRect">
          <a:avLst/>
        </a:prstGeom>
        <a:gradFill rotWithShape="0">
          <a:gsLst>
            <a:gs pos="0">
              <a:schemeClr val="accent5">
                <a:hueOff val="-9114112"/>
                <a:satOff val="-620"/>
                <a:lumOff val="1471"/>
                <a:alphaOff val="0"/>
                <a:satMod val="103000"/>
                <a:lumMod val="102000"/>
                <a:tint val="94000"/>
              </a:schemeClr>
            </a:gs>
            <a:gs pos="50000">
              <a:schemeClr val="accent5">
                <a:hueOff val="-9114112"/>
                <a:satOff val="-620"/>
                <a:lumOff val="1471"/>
                <a:alphaOff val="0"/>
                <a:satMod val="110000"/>
                <a:lumMod val="100000"/>
                <a:shade val="100000"/>
              </a:schemeClr>
            </a:gs>
            <a:gs pos="100000">
              <a:schemeClr val="accent5">
                <a:hueOff val="-9114112"/>
                <a:satOff val="-620"/>
                <a:lumOff val="147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Raw versus Transformed</a:t>
          </a:r>
        </a:p>
      </dsp:txBody>
      <dsp:txXfrm>
        <a:off x="48726" y="3346764"/>
        <a:ext cx="6569381" cy="900704"/>
      </dsp:txXfrm>
    </dsp:sp>
    <dsp:sp modelId="{1ABF54BC-221A-49E2-B398-FBD31464C835}">
      <dsp:nvSpPr>
        <dsp:cNvPr id="0" name=""/>
        <dsp:cNvSpPr/>
      </dsp:nvSpPr>
      <dsp:spPr>
        <a:xfrm>
          <a:off x="0" y="4368194"/>
          <a:ext cx="6666833" cy="998156"/>
        </a:xfrm>
        <a:prstGeom prst="roundRect">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5250" tIns="95250" rIns="95250" bIns="95250" numCol="1" spcCol="1270" anchor="ctr" anchorCtr="0">
          <a:noAutofit/>
        </a:bodyPr>
        <a:lstStyle/>
        <a:p>
          <a:pPr marL="0" lvl="0" indent="0" algn="l" defTabSz="1111250">
            <a:lnSpc>
              <a:spcPct val="90000"/>
            </a:lnSpc>
            <a:spcBef>
              <a:spcPct val="0"/>
            </a:spcBef>
            <a:spcAft>
              <a:spcPct val="35000"/>
            </a:spcAft>
            <a:buNone/>
          </a:pPr>
          <a:r>
            <a:rPr lang="en-US" sz="2500" kern="1200"/>
            <a:t>Well-documented versus Poorly Documented</a:t>
          </a:r>
        </a:p>
      </dsp:txBody>
      <dsp:txXfrm>
        <a:off x="48726" y="4416920"/>
        <a:ext cx="6569381" cy="90070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DADE68-80FB-456E-9725-BA8078609A3A}">
      <dsp:nvSpPr>
        <dsp:cNvPr id="0" name=""/>
        <dsp:cNvSpPr/>
      </dsp:nvSpPr>
      <dsp:spPr>
        <a:xfrm>
          <a:off x="212335"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C5676DF-8473-47AD-B017-71D0ED314066}">
      <dsp:nvSpPr>
        <dsp:cNvPr id="0" name=""/>
        <dsp:cNvSpPr/>
      </dsp:nvSpPr>
      <dsp:spPr>
        <a:xfrm>
          <a:off x="492877" y="750432"/>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4A49FB7-AD58-401C-BB95-E6D11B557DF0}">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APIs (application programming interface)</a:t>
          </a:r>
        </a:p>
      </dsp:txBody>
      <dsp:txXfrm>
        <a:off x="1834517" y="469890"/>
        <a:ext cx="3148942" cy="1335915"/>
      </dsp:txXfrm>
    </dsp:sp>
    <dsp:sp modelId="{136CE418-45CB-4108-9937-C3F605EF82ED}">
      <dsp:nvSpPr>
        <dsp:cNvPr id="0" name=""/>
        <dsp:cNvSpPr/>
      </dsp:nvSpPr>
      <dsp:spPr>
        <a:xfrm>
          <a:off x="5532139"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26E23E-A954-4F1E-A9EC-28E7514F975C}">
      <dsp:nvSpPr>
        <dsp:cNvPr id="0" name=""/>
        <dsp:cNvSpPr/>
      </dsp:nvSpPr>
      <dsp:spPr>
        <a:xfrm>
          <a:off x="5812681" y="750432"/>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5F2961D-7C9E-450B-924E-880E53F43CAD}">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Databases (SQL, MongoDB)</a:t>
          </a:r>
        </a:p>
      </dsp:txBody>
      <dsp:txXfrm>
        <a:off x="7154322" y="469890"/>
        <a:ext cx="3148942" cy="1335915"/>
      </dsp:txXfrm>
    </dsp:sp>
    <dsp:sp modelId="{7486A3E0-6861-4864-9A2B-AA49157BFCA8}">
      <dsp:nvSpPr>
        <dsp:cNvPr id="0" name=""/>
        <dsp:cNvSpPr/>
      </dsp:nvSpPr>
      <dsp:spPr>
        <a:xfrm>
          <a:off x="212335"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94BCD87-1951-4DDB-B9C6-1DFC341F7F39}">
      <dsp:nvSpPr>
        <dsp:cNvPr id="0" name=""/>
        <dsp:cNvSpPr/>
      </dsp:nvSpPr>
      <dsp:spPr>
        <a:xfrm>
          <a:off x="492877" y="2826074"/>
          <a:ext cx="774830" cy="77483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34A6AEF-BCBA-4F9B-8265-B38910653899}">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Web Scraping</a:t>
          </a:r>
        </a:p>
      </dsp:txBody>
      <dsp:txXfrm>
        <a:off x="1834517" y="2545532"/>
        <a:ext cx="3148942" cy="1335915"/>
      </dsp:txXfrm>
    </dsp:sp>
    <dsp:sp modelId="{4C7B5958-D13A-4FCA-ADF3-35AB86030043}">
      <dsp:nvSpPr>
        <dsp:cNvPr id="0" name=""/>
        <dsp:cNvSpPr/>
      </dsp:nvSpPr>
      <dsp:spPr>
        <a:xfrm>
          <a:off x="5532139"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5BD97AA-B956-443B-9596-A05BF00B1F0D}">
      <dsp:nvSpPr>
        <dsp:cNvPr id="0" name=""/>
        <dsp:cNvSpPr/>
      </dsp:nvSpPr>
      <dsp:spPr>
        <a:xfrm>
          <a:off x="5812681" y="2826074"/>
          <a:ext cx="774830" cy="77483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F5C57B2-8CA6-4713-AB8D-2FF7144ADF4C}">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Archives and Repositories</a:t>
          </a:r>
        </a:p>
      </dsp:txBody>
      <dsp:txXfrm>
        <a:off x="7154322" y="2545532"/>
        <a:ext cx="3148942" cy="133591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9995ACD-F58C-4A82-9E69-03D448E4A8A2}">
      <dsp:nvSpPr>
        <dsp:cNvPr id="0" name=""/>
        <dsp:cNvSpPr/>
      </dsp:nvSpPr>
      <dsp:spPr>
        <a:xfrm>
          <a:off x="0" y="3400"/>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C2FFF8-B264-479C-859C-97F6F9664758}">
      <dsp:nvSpPr>
        <dsp:cNvPr id="0" name=""/>
        <dsp:cNvSpPr/>
      </dsp:nvSpPr>
      <dsp:spPr>
        <a:xfrm>
          <a:off x="219097" y="166365"/>
          <a:ext cx="398359" cy="39835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9F5A95-F3E4-4F7B-A342-18FDF8D010A0}">
      <dsp:nvSpPr>
        <dsp:cNvPr id="0" name=""/>
        <dsp:cNvSpPr/>
      </dsp:nvSpPr>
      <dsp:spPr>
        <a:xfrm>
          <a:off x="836555" y="3400"/>
          <a:ext cx="967904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800100">
            <a:lnSpc>
              <a:spcPct val="100000"/>
            </a:lnSpc>
            <a:spcBef>
              <a:spcPct val="0"/>
            </a:spcBef>
            <a:spcAft>
              <a:spcPct val="35000"/>
            </a:spcAft>
            <a:buNone/>
          </a:pPr>
          <a:r>
            <a:rPr lang="en-US" sz="1800" kern="1200"/>
            <a:t>For many private, offline datasets, data may be stored in a database structure like SQL, MongoDB</a:t>
          </a:r>
        </a:p>
      </dsp:txBody>
      <dsp:txXfrm>
        <a:off x="836555" y="3400"/>
        <a:ext cx="9679044" cy="724290"/>
      </dsp:txXfrm>
    </dsp:sp>
    <dsp:sp modelId="{9E4081F3-405B-4871-8B4A-9534B45C69D6}">
      <dsp:nvSpPr>
        <dsp:cNvPr id="0" name=""/>
        <dsp:cNvSpPr/>
      </dsp:nvSpPr>
      <dsp:spPr>
        <a:xfrm>
          <a:off x="0" y="908763"/>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FE32F5-8BB2-4785-8A9D-86883BF38ABC}">
      <dsp:nvSpPr>
        <dsp:cNvPr id="0" name=""/>
        <dsp:cNvSpPr/>
      </dsp:nvSpPr>
      <dsp:spPr>
        <a:xfrm>
          <a:off x="219097" y="1071728"/>
          <a:ext cx="398359" cy="39835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150853B-4D0D-4CC7-AEC1-DE6E4081C334}">
      <dsp:nvSpPr>
        <dsp:cNvPr id="0" name=""/>
        <dsp:cNvSpPr/>
      </dsp:nvSpPr>
      <dsp:spPr>
        <a:xfrm>
          <a:off x="836555" y="908763"/>
          <a:ext cx="967904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800100">
            <a:lnSpc>
              <a:spcPct val="100000"/>
            </a:lnSpc>
            <a:spcBef>
              <a:spcPct val="0"/>
            </a:spcBef>
            <a:spcAft>
              <a:spcPct val="35000"/>
            </a:spcAft>
            <a:buNone/>
          </a:pPr>
          <a:r>
            <a:rPr lang="en-US" sz="1800" kern="1200"/>
            <a:t>Key to working with databases is having clear documentation of the database structure and knowing what data to select and extract from the database</a:t>
          </a:r>
        </a:p>
      </dsp:txBody>
      <dsp:txXfrm>
        <a:off x="836555" y="908763"/>
        <a:ext cx="9679044" cy="724290"/>
      </dsp:txXfrm>
    </dsp:sp>
    <dsp:sp modelId="{EFA67E5F-3270-45F1-8AC6-ED7C8334214B}">
      <dsp:nvSpPr>
        <dsp:cNvPr id="0" name=""/>
        <dsp:cNvSpPr/>
      </dsp:nvSpPr>
      <dsp:spPr>
        <a:xfrm>
          <a:off x="0" y="1814126"/>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2FB2E07-8FF3-446D-8CC9-1F8E34EAE462}">
      <dsp:nvSpPr>
        <dsp:cNvPr id="0" name=""/>
        <dsp:cNvSpPr/>
      </dsp:nvSpPr>
      <dsp:spPr>
        <a:xfrm>
          <a:off x="219097" y="1977092"/>
          <a:ext cx="398359" cy="39835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0720E67-B221-409C-9D1E-C72B5EFA2C75}">
      <dsp:nvSpPr>
        <dsp:cNvPr id="0" name=""/>
        <dsp:cNvSpPr/>
      </dsp:nvSpPr>
      <dsp:spPr>
        <a:xfrm>
          <a:off x="836555" y="1814126"/>
          <a:ext cx="967904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800100">
            <a:lnSpc>
              <a:spcPct val="100000"/>
            </a:lnSpc>
            <a:spcBef>
              <a:spcPct val="0"/>
            </a:spcBef>
            <a:spcAft>
              <a:spcPct val="35000"/>
            </a:spcAft>
            <a:buNone/>
          </a:pPr>
          <a:r>
            <a:rPr lang="en-US" sz="1800" kern="1200">
              <a:hlinkClick xmlns:r="http://schemas.openxmlformats.org/officeDocument/2006/relationships" r:id="rId7"/>
            </a:rPr>
            <a:t>Key Terminology</a:t>
          </a:r>
          <a:endParaRPr lang="en-US" sz="1800" kern="1200"/>
        </a:p>
      </dsp:txBody>
      <dsp:txXfrm>
        <a:off x="836555" y="1814126"/>
        <a:ext cx="9679044" cy="724290"/>
      </dsp:txXfrm>
    </dsp:sp>
    <dsp:sp modelId="{2AA3FAFF-A4EC-4A56-BC85-11E185597DE0}">
      <dsp:nvSpPr>
        <dsp:cNvPr id="0" name=""/>
        <dsp:cNvSpPr/>
      </dsp:nvSpPr>
      <dsp:spPr>
        <a:xfrm>
          <a:off x="0" y="2719489"/>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CBE7EF3-C999-47EA-8376-025ABF894089}">
      <dsp:nvSpPr>
        <dsp:cNvPr id="0" name=""/>
        <dsp:cNvSpPr/>
      </dsp:nvSpPr>
      <dsp:spPr>
        <a:xfrm>
          <a:off x="219097" y="2882455"/>
          <a:ext cx="398359" cy="398359"/>
        </a:xfrm>
        <a:prstGeom prst="rect">
          <a:avLst/>
        </a:prstGeom>
        <a:blipFill>
          <a:blip xmlns:r="http://schemas.openxmlformats.org/officeDocument/2006/relationships"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07B76B9-46D0-462E-99A2-70D82A68F16E}">
      <dsp:nvSpPr>
        <dsp:cNvPr id="0" name=""/>
        <dsp:cNvSpPr/>
      </dsp:nvSpPr>
      <dsp:spPr>
        <a:xfrm>
          <a:off x="836555" y="2719489"/>
          <a:ext cx="967904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800100">
            <a:lnSpc>
              <a:spcPct val="100000"/>
            </a:lnSpc>
            <a:spcBef>
              <a:spcPct val="0"/>
            </a:spcBef>
            <a:spcAft>
              <a:spcPct val="35000"/>
            </a:spcAft>
            <a:buNone/>
          </a:pPr>
          <a:r>
            <a:rPr lang="en-US" sz="1800" kern="1200">
              <a:hlinkClick xmlns:r="http://schemas.openxmlformats.org/officeDocument/2006/relationships" r:id="rId10"/>
            </a:rPr>
            <a:t>Coding Example</a:t>
          </a:r>
          <a:endParaRPr lang="en-US" sz="1800" kern="1200"/>
        </a:p>
      </dsp:txBody>
      <dsp:txXfrm>
        <a:off x="836555" y="2719489"/>
        <a:ext cx="9679044" cy="724290"/>
      </dsp:txXfrm>
    </dsp:sp>
    <dsp:sp modelId="{1FB9BBE6-D2E7-4350-80F2-953238D2D60C}">
      <dsp:nvSpPr>
        <dsp:cNvPr id="0" name=""/>
        <dsp:cNvSpPr/>
      </dsp:nvSpPr>
      <dsp:spPr>
        <a:xfrm>
          <a:off x="0" y="3624853"/>
          <a:ext cx="10515600" cy="72429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69E4C7-8456-464B-B573-481B9E69272A}">
      <dsp:nvSpPr>
        <dsp:cNvPr id="0" name=""/>
        <dsp:cNvSpPr/>
      </dsp:nvSpPr>
      <dsp:spPr>
        <a:xfrm>
          <a:off x="219097" y="3787818"/>
          <a:ext cx="398359" cy="39835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7F4DD08-E0C8-4DE0-8ABE-7CDD5CA4F3FD}">
      <dsp:nvSpPr>
        <dsp:cNvPr id="0" name=""/>
        <dsp:cNvSpPr/>
      </dsp:nvSpPr>
      <dsp:spPr>
        <a:xfrm>
          <a:off x="836555" y="3624853"/>
          <a:ext cx="9679044" cy="724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6654" tIns="76654" rIns="76654" bIns="76654" numCol="1" spcCol="1270" anchor="ctr" anchorCtr="0">
          <a:noAutofit/>
        </a:bodyPr>
        <a:lstStyle/>
        <a:p>
          <a:pPr marL="0" lvl="0" indent="0" algn="l" defTabSz="800100">
            <a:lnSpc>
              <a:spcPct val="100000"/>
            </a:lnSpc>
            <a:spcBef>
              <a:spcPct val="0"/>
            </a:spcBef>
            <a:spcAft>
              <a:spcPct val="35000"/>
            </a:spcAft>
            <a:buNone/>
          </a:pPr>
          <a:r>
            <a:rPr lang="en-US" sz="1800" kern="1200"/>
            <a:t>Similar to dataframes or JSON just with different syntax and memory storage</a:t>
          </a:r>
        </a:p>
      </dsp:txBody>
      <dsp:txXfrm>
        <a:off x="836555" y="3624853"/>
        <a:ext cx="9679044" cy="724290"/>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DCAE16-F973-425D-BC1B-5EFF772AAD1B}" type="datetimeFigureOut">
              <a:rPr lang="en-US" smtClean="0"/>
              <a:t>11/12/2025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CFFD00-6715-43DE-BA89-FB8B40806C3E}" type="slidenum">
              <a:rPr lang="en-US" smtClean="0"/>
              <a:t>‹#›</a:t>
            </a:fld>
            <a:endParaRPr lang="en-US"/>
          </a:p>
        </p:txBody>
      </p:sp>
    </p:spTree>
    <p:extLst>
      <p:ext uri="{BB962C8B-B14F-4D97-AF65-F5344CB8AC3E}">
        <p14:creationId xmlns:p14="http://schemas.microsoft.com/office/powerpoint/2010/main" val="2227066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majority of you will probably end up using will data mining.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Which here we define as taking existing data that's out there and doing cool stuff with it.</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4CFFD00-6715-43DE-BA89-FB8B40806C3E}" type="slidenum">
              <a:rPr lang="en-US" smtClean="0"/>
              <a:t>1</a:t>
            </a:fld>
            <a:endParaRPr lang="en-US"/>
          </a:p>
        </p:txBody>
      </p:sp>
    </p:spTree>
    <p:extLst>
      <p:ext uri="{BB962C8B-B14F-4D97-AF65-F5344CB8AC3E}">
        <p14:creationId xmlns:p14="http://schemas.microsoft.com/office/powerpoint/2010/main" val="41868583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There's obviously no shortage of data in today's world.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Every day we're generating up to terabytes of new data now. Not all that data is useful. Not all of it's really all that meaningful, but there is data out there.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often, large quantities that can be useful in answering certain questions and understanding a lot of real world applications and real world behaviors and systems.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availability of data, though, does come with its own challenges; one of those is just dealing with large data sets.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As you need the technical systems in place in order to both store and process large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We'll talk a little bit about working with big data as we probably go along, and then you'll hear a bit more in 699, but we will mainly focus on these last three points, which is with so much data out there, the key skill is to select the appropriate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easy to just throw data at a problem.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yes, with enough data that might get you some good results, but that comes with its own tradeoffs.</a:t>
            </a:r>
          </a:p>
          <a:p>
            <a:r>
              <a:rPr lang="en-US" sz="1200" kern="1200" dirty="0">
                <a:solidFill>
                  <a:schemeClr val="tx1"/>
                </a:solidFill>
                <a:effectLst/>
                <a:latin typeface="+mn-lt"/>
                <a:ea typeface="+mn-ea"/>
                <a:cs typeface="+mn-cs"/>
              </a:rPr>
              <a:t>But that comes with its own tradeoffs.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Obviously you have to have the resources just to handle all of the hardware and energy demands.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many problems, smaller, higher quality datasets could be curated to build ML/AI models in more efficient, sustainable ways.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Rather than ill-defined general models, models built for specific tasks with more robust testing can be more useful.</a:t>
            </a:r>
          </a:p>
          <a:p>
            <a:r>
              <a:rPr lang="en-US" sz="1200" kern="1200" dirty="0">
                <a:solidFill>
                  <a:schemeClr val="tx1"/>
                </a:solidFill>
                <a:effectLst/>
                <a:latin typeface="+mn-lt"/>
                <a:ea typeface="+mn-ea"/>
                <a:cs typeface="+mn-cs"/>
              </a:rPr>
              <a:t>Curating the appropriate data and figure out how much of it you need and what you need to measure. That is a skill and not always the easiest.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can be technically challenging and resource intensive to carefully curate a data set compared to just take whatever data you can get easily.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Once you have the data, there is cleaning and processing the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vast majority of the data that's out there nowadays </a:t>
            </a:r>
            <a:r>
              <a:rPr lang="en-US" sz="1200" kern="1200">
                <a:solidFill>
                  <a:schemeClr val="tx1"/>
                </a:solidFill>
                <a:effectLst/>
                <a:latin typeface="+mn-lt"/>
                <a:ea typeface="+mn-ea"/>
                <a:cs typeface="+mn-cs"/>
              </a:rPr>
              <a:t>is unstructured, </a:t>
            </a:r>
            <a:r>
              <a:rPr lang="en-US" sz="1200" kern="1200" dirty="0">
                <a:solidFill>
                  <a:schemeClr val="tx1"/>
                </a:solidFill>
                <a:effectLst/>
                <a:latin typeface="+mn-lt"/>
                <a:ea typeface="+mn-ea"/>
                <a:cs typeface="+mn-cs"/>
              </a:rPr>
              <a:t>in formats that are not easily quantifiable or easily analyzable.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in things like.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Structured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like Jason's and SQL formats could be non numeric data like text and images.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Could be a lot of time series data that often is not necessarily the cleanest or the most readily useful for </a:t>
            </a:r>
            <a:r>
              <a:rPr lang="en-US" sz="1200" kern="1200" dirty="0" err="1">
                <a:solidFill>
                  <a:schemeClr val="tx1"/>
                </a:solidFill>
                <a:effectLst/>
                <a:latin typeface="+mn-lt"/>
                <a:ea typeface="+mn-ea"/>
                <a:cs typeface="+mn-cs"/>
              </a:rPr>
              <a:t>for</a:t>
            </a:r>
            <a:r>
              <a:rPr lang="en-US" sz="1200" kern="1200" dirty="0">
                <a:solidFill>
                  <a:schemeClr val="tx1"/>
                </a:solidFill>
                <a:effectLst/>
                <a:latin typeface="+mn-lt"/>
                <a:ea typeface="+mn-ea"/>
                <a:cs typeface="+mn-cs"/>
              </a:rPr>
              <a:t> analysis, so lots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Issues and each kind of type of data will have its own recommendations and.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Best practices involving cleaning and processing, that's another thing you need to think about and that will be part of what you actually write about in your methods is, you know, given what your problem is and what your data is, what are the most appropriate cleaning and preprocessing steps.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some of you have taken the NLP classes where we talked about, you know.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 people approach NLP and think that you can just apply the same preprocessing and cleaning steps.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To every single case, and that is just a checklist, and that's not a good way to think about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shows you don't really understand how text works or how analyzing it works. You know you really have to think about for whatever your problem is, whatever techniques you're going to be applying.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What's the most appropriate pre processing kind of pipeline to appropriately?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Handle the data for that problem.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then the kind of big thing is all of this is so that we can actually extract useful insights from data because.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There's with the data that is being constantly generated by all our apps and all our devices, and you know all the organizations and systems.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lot of it's noise and a lot of it's garbage, so finding the signals and finding the </a:t>
            </a:r>
            <a:r>
              <a:rPr lang="en-US" sz="1200" kern="1200" dirty="0" err="1">
                <a:solidFill>
                  <a:schemeClr val="tx1"/>
                </a:solidFill>
                <a:effectLst/>
                <a:latin typeface="+mn-lt"/>
                <a:ea typeface="+mn-ea"/>
                <a:cs typeface="+mn-cs"/>
              </a:rPr>
              <a:t>the</a:t>
            </a:r>
            <a:r>
              <a:rPr lang="en-US" sz="1200" kern="1200" dirty="0">
                <a:solidFill>
                  <a:schemeClr val="tx1"/>
                </a:solidFill>
                <a:effectLst/>
                <a:latin typeface="+mn-lt"/>
                <a:ea typeface="+mn-ea"/>
                <a:cs typeface="+mn-cs"/>
              </a:rPr>
              <a:t> right useful patterns.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insights can be a struggle. So.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That's one of the things that you will really want to think about as your developing your methods for your capstone project is, you know, what is the </a:t>
            </a:r>
            <a:r>
              <a:rPr lang="en-US" sz="1200" kern="1200" dirty="0" err="1">
                <a:solidFill>
                  <a:schemeClr val="tx1"/>
                </a:solidFill>
                <a:effectLst/>
                <a:latin typeface="+mn-lt"/>
                <a:ea typeface="+mn-ea"/>
                <a:cs typeface="+mn-cs"/>
              </a:rPr>
              <a:t>the</a:t>
            </a:r>
            <a:r>
              <a:rPr lang="en-US" sz="1200" kern="1200" dirty="0">
                <a:solidFill>
                  <a:schemeClr val="tx1"/>
                </a:solidFill>
                <a:effectLst/>
                <a:latin typeface="+mn-lt"/>
                <a:ea typeface="+mn-ea"/>
                <a:cs typeface="+mn-cs"/>
              </a:rPr>
              <a:t> signal you're looking for in the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is it that you're trying to extract?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Now, for tonight at least, we're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focus on selecting the appropriate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We'll kind of hit a little bit of the other stuff, but mostly those are covered in other courses.</a:t>
            </a:r>
            <a:endParaRPr lang="en-US" dirty="0"/>
          </a:p>
        </p:txBody>
      </p:sp>
      <p:sp>
        <p:nvSpPr>
          <p:cNvPr id="4" name="Slide Number Placeholder 3"/>
          <p:cNvSpPr>
            <a:spLocks noGrp="1"/>
          </p:cNvSpPr>
          <p:nvPr>
            <p:ph type="sldNum" sz="quarter" idx="5"/>
          </p:nvPr>
        </p:nvSpPr>
        <p:spPr/>
        <p:txBody>
          <a:bodyPr/>
          <a:lstStyle/>
          <a:p>
            <a:fld id="{94CFFD00-6715-43DE-BA89-FB8B40806C3E}" type="slidenum">
              <a:rPr lang="en-US" smtClean="0"/>
              <a:t>2</a:t>
            </a:fld>
            <a:endParaRPr lang="en-US"/>
          </a:p>
        </p:txBody>
      </p:sp>
    </p:spTree>
    <p:extLst>
      <p:ext uri="{BB962C8B-B14F-4D97-AF65-F5344CB8AC3E}">
        <p14:creationId xmlns:p14="http://schemas.microsoft.com/office/powerpoint/2010/main" val="808067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So when it comes to kind of categorizing or systematizing.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data that is available, there's a lot of features to consider.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terms of like the most practical one for you to consider with your capstone project is do you have access to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is it a public data set or is a private data set because a lot of the </a:t>
            </a:r>
            <a:r>
              <a:rPr lang="en-US" sz="1200" kern="1200" dirty="0" err="1">
                <a:solidFill>
                  <a:schemeClr val="tx1"/>
                </a:solidFill>
                <a:effectLst/>
                <a:latin typeface="+mn-lt"/>
                <a:ea typeface="+mn-ea"/>
                <a:cs typeface="+mn-cs"/>
              </a:rPr>
              <a:t>the</a:t>
            </a:r>
            <a:r>
              <a:rPr lang="en-US" sz="1200" kern="1200" dirty="0">
                <a:solidFill>
                  <a:schemeClr val="tx1"/>
                </a:solidFill>
                <a:effectLst/>
                <a:latin typeface="+mn-lt"/>
                <a:ea typeface="+mn-ea"/>
                <a:cs typeface="+mn-cs"/>
              </a:rPr>
              <a:t> data sets out there and a lot of the most interesting data sets?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Are being generated are collected by companies who? That's their proprietary data. They're not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want to share that necessarily.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there is also a lot of public data sets out there, either a lot of companies will modify or de identify or otherwise try to anonymize some of their data sets to put out into the public to kind of for things like hackathons to see what can be.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Done. But for the most part, you know you're going to be limited to the </a:t>
            </a:r>
            <a:r>
              <a:rPr lang="en-US" sz="1200" kern="1200" dirty="0" err="1">
                <a:solidFill>
                  <a:schemeClr val="tx1"/>
                </a:solidFill>
                <a:effectLst/>
                <a:latin typeface="+mn-lt"/>
                <a:ea typeface="+mn-ea"/>
                <a:cs typeface="+mn-cs"/>
              </a:rPr>
              <a:t>the</a:t>
            </a:r>
            <a:r>
              <a:rPr lang="en-US" sz="1200" kern="1200" dirty="0">
                <a:solidFill>
                  <a:schemeClr val="tx1"/>
                </a:solidFill>
                <a:effectLst/>
                <a:latin typeface="+mn-lt"/>
                <a:ea typeface="+mn-ea"/>
                <a:cs typeface="+mn-cs"/>
              </a:rPr>
              <a:t> data that everyone has access to.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 do.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talking to some of you about your projects, a few of you might have access or connections to private data, and if so, totally cool.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just got to make sure you get all the right permissions and everyone's on board with how you need to use the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important when you're using private data for academic or other purposes that it's not designed for, that you really.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Make sure that you have all the necessary.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Necessary consent and agreement and a plan for protecting the data and the </a:t>
            </a:r>
            <a:r>
              <a:rPr lang="en-US" sz="1200" kern="1200" dirty="0" err="1">
                <a:solidFill>
                  <a:schemeClr val="tx1"/>
                </a:solidFill>
                <a:effectLst/>
                <a:latin typeface="+mn-lt"/>
                <a:ea typeface="+mn-ea"/>
                <a:cs typeface="+mn-cs"/>
              </a:rPr>
              <a:t>the</a:t>
            </a:r>
            <a:r>
              <a:rPr lang="en-US" sz="1200" kern="1200" dirty="0">
                <a:solidFill>
                  <a:schemeClr val="tx1"/>
                </a:solidFill>
                <a:effectLst/>
                <a:latin typeface="+mn-lt"/>
                <a:ea typeface="+mn-ea"/>
                <a:cs typeface="+mn-cs"/>
              </a:rPr>
              <a:t> privacy of the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most of you will be working with public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Next thing is you know the structure of the data set a lot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Well, all of analytics, every kind of quantitative thing that you can do with data does require that data be structured.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IE that data needs to be in basically numeric data frames.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a lot of data is not already in that form.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if you have unstructured or semi structured data you have to figure out ways in which to quantify it and those often introduce some level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Of error or imprecision to the </a:t>
            </a:r>
            <a:r>
              <a:rPr lang="en-US" sz="1200" kern="1200" dirty="0" err="1">
                <a:solidFill>
                  <a:schemeClr val="tx1"/>
                </a:solidFill>
                <a:effectLst/>
                <a:latin typeface="+mn-lt"/>
                <a:ea typeface="+mn-ea"/>
                <a:cs typeface="+mn-cs"/>
              </a:rPr>
              <a:t>the</a:t>
            </a:r>
            <a:r>
              <a:rPr lang="en-US" sz="1200" kern="1200" dirty="0">
                <a:solidFill>
                  <a:schemeClr val="tx1"/>
                </a:solidFill>
                <a:effectLst/>
                <a:latin typeface="+mn-lt"/>
                <a:ea typeface="+mn-ea"/>
                <a:cs typeface="+mn-cs"/>
              </a:rPr>
              <a:t> proceeding. So in the case of text and natural language processing, there are a ton of different ways that you can take words and convert them to numbers.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every single way you want to do that will involve some information loss.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 is deep and rich and nuanced, meaning in words generally, some more than others.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depends on the context, but in converting words.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kind of patterns of language and to numbers. You're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lose some of that meaning and some of that nuance now some of the more complex.</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Methods for quantifying and structuring text like the you know, the deep neural Nets.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Those have less information loss and say if you do a simple.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Word frequency analysis. But even those complex models, you're still losing information. You're still.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Sacrificing.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 of the information that people get from language in order to make it, you know, something that's analyzable now, I </a:t>
            </a:r>
            <a:r>
              <a:rPr lang="en-US" sz="1200" kern="1200" dirty="0" err="1">
                <a:solidFill>
                  <a:schemeClr val="tx1"/>
                </a:solidFill>
                <a:effectLst/>
                <a:latin typeface="+mn-lt"/>
                <a:ea typeface="+mn-ea"/>
                <a:cs typeface="+mn-cs"/>
              </a:rPr>
              <a:t>I</a:t>
            </a:r>
            <a:r>
              <a:rPr lang="en-US" sz="1200" kern="1200" dirty="0">
                <a:solidFill>
                  <a:schemeClr val="tx1"/>
                </a:solidFill>
                <a:effectLst/>
                <a:latin typeface="+mn-lt"/>
                <a:ea typeface="+mn-ea"/>
                <a:cs typeface="+mn-cs"/>
              </a:rPr>
              <a:t> think one of the best.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Approaches to a lot of the issues with big data and various things is to really consider semi structured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generally is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refer to data that's in certain formats.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Jason formats what we'll talk about in a second.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are mainly useful because one of the downsides to data frames and like you know,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Excel Sheets spreadsheets 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They're not the most efficient way to store data. It you know the memory requirements can balloon pretty quickly, and so other types of data structures like Jason.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 an XML and sequel.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While you have to do some trade-offs with those.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Structures are not as easily analyzable.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 are much more efficient memory wise and still allow you to keep a lot of the same relationships and structures of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whether or not you use that really depends on what data you're working with and how people stored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Next kind of two things come to are related to each other so.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your data can be sparse at or could be dense, so this is mainly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be an issue of temporal or geospatial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one of the big things we often want to look at is forecasting over time.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you know otherwise understanding temporal patterns and.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some problems, sometimes the data that's easier than others </a:t>
            </a:r>
            <a:r>
              <a:rPr lang="en-US" sz="1200" kern="1200" dirty="0" err="1">
                <a:solidFill>
                  <a:schemeClr val="tx1"/>
                </a:solidFill>
                <a:effectLst/>
                <a:latin typeface="+mn-lt"/>
                <a:ea typeface="+mn-ea"/>
                <a:cs typeface="+mn-cs"/>
              </a:rPr>
              <a:t>'cause</a:t>
            </a:r>
            <a:r>
              <a:rPr lang="en-US" sz="1200" kern="1200" dirty="0">
                <a:solidFill>
                  <a:schemeClr val="tx1"/>
                </a:solidFill>
                <a:effectLst/>
                <a:latin typeface="+mn-lt"/>
                <a:ea typeface="+mn-ea"/>
                <a:cs typeface="+mn-cs"/>
              </a:rPr>
              <a:t> there's a lot of time series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Where the data points are nice and regular and maybe even, you know represent.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Second, by second or minute by minute measurements, whereas other time based data might be a little less frequent or a little less.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Regular.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when I worked a lot with social media data, you know, while people were pretty much always tweeting.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 weren't necessarily doing so regularly.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not, you know, I guess some people schedule their </a:t>
            </a:r>
            <a:r>
              <a:rPr lang="en-US" sz="1200" kern="1200" dirty="0" err="1">
                <a:solidFill>
                  <a:schemeClr val="tx1"/>
                </a:solidFill>
                <a:effectLst/>
                <a:latin typeface="+mn-lt"/>
                <a:ea typeface="+mn-ea"/>
                <a:cs typeface="+mn-cs"/>
              </a:rPr>
              <a:t>their</a:t>
            </a:r>
            <a:r>
              <a:rPr lang="en-US" sz="1200" kern="1200" dirty="0">
                <a:solidFill>
                  <a:schemeClr val="tx1"/>
                </a:solidFill>
                <a:effectLst/>
                <a:latin typeface="+mn-lt"/>
                <a:ea typeface="+mn-ea"/>
                <a:cs typeface="+mn-cs"/>
              </a:rPr>
              <a:t> social media posts, but.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time between post could vary quite a bit.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know some people.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Post every day, every several times a day.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Others might post once a year, and so that sparsity of that data can create its own issues, but often represents.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Is a little bit more realistic, whereas you know if you're working with stock market values, those are nice ones. They're dense. And two, the regular you have very little missing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you know stock.</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Returns.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it's not one is not better than the other.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 just come with their own challenges that you want to consider because if you want to do forecasting, you know time models.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do often need dense regular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Sparse data won't really work, but there are ways around that.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There's other types of methods you can work with </a:t>
            </a:r>
            <a:r>
              <a:rPr lang="en-US" sz="1200" kern="1200" dirty="0" err="1">
                <a:solidFill>
                  <a:schemeClr val="tx1"/>
                </a:solidFill>
                <a:effectLst/>
                <a:latin typeface="+mn-lt"/>
                <a:ea typeface="+mn-ea"/>
                <a:cs typeface="+mn-cs"/>
              </a:rPr>
              <a:t>with</a:t>
            </a:r>
            <a:r>
              <a:rPr lang="en-US" sz="1200" kern="1200" dirty="0">
                <a:solidFill>
                  <a:schemeClr val="tx1"/>
                </a:solidFill>
                <a:effectLst/>
                <a:latin typeface="+mn-lt"/>
                <a:ea typeface="+mn-ea"/>
                <a:cs typeface="+mn-cs"/>
              </a:rPr>
              <a:t> sparse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then raw versus transformed so.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Is a big issue with unstructured data, because obviously that has to be transformed in some way.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even other data sets you know?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numbers you see in the data frame may not be the original numbers for several different reasons.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sometimes data is transformed so it's modified somehow in order to anonymize the data, so it could be that the original data was way too personable, personally identifiable.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so before it got made public, you know, that was transformed. So it was.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Less identifiable so.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Sometimes this is done with demographic information where maybe originally the data set had, like a specific birth date for a person which is not super identifiable, but it's not great to have that just publicly out there. So that might get transformed into an age range.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while not a problem necessarily, is important to note those </a:t>
            </a:r>
            <a:r>
              <a:rPr lang="en-US" sz="1200" kern="1200" dirty="0" err="1">
                <a:solidFill>
                  <a:schemeClr val="tx1"/>
                </a:solidFill>
                <a:effectLst/>
                <a:latin typeface="+mn-lt"/>
                <a:ea typeface="+mn-ea"/>
                <a:cs typeface="+mn-cs"/>
              </a:rPr>
              <a:t>those</a:t>
            </a:r>
            <a:r>
              <a:rPr lang="en-US" sz="1200" kern="1200" dirty="0">
                <a:solidFill>
                  <a:schemeClr val="tx1"/>
                </a:solidFill>
                <a:effectLst/>
                <a:latin typeface="+mn-lt"/>
                <a:ea typeface="+mn-ea"/>
                <a:cs typeface="+mn-cs"/>
              </a:rPr>
              <a:t> shifts and changes in the data, because it does impact the interpretation.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Sometimes Data's transformed because the transformation makes more sense mathematically.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Like you know, maybe the original.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Form of the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Was kind of a frequency count that might not be very normally distributed.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and so it got, you know, normalized to account for frequency or population values.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Again, not a problem.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often you would do that anyway as part of the analysis, but you want to note that and make sure it's documented.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then the final thing is what I really </a:t>
            </a:r>
            <a:r>
              <a:rPr lang="en-US" sz="1200" kern="1200" dirty="0" err="1">
                <a:solidFill>
                  <a:schemeClr val="tx1"/>
                </a:solidFill>
                <a:effectLst/>
                <a:latin typeface="+mn-lt"/>
                <a:ea typeface="+mn-ea"/>
                <a:cs typeface="+mn-cs"/>
              </a:rPr>
              <a:t>wanna</a:t>
            </a:r>
            <a:r>
              <a:rPr lang="en-US" sz="1200" kern="1200" dirty="0">
                <a:solidFill>
                  <a:schemeClr val="tx1"/>
                </a:solidFill>
                <a:effectLst/>
                <a:latin typeface="+mn-lt"/>
                <a:ea typeface="+mn-ea"/>
                <a:cs typeface="+mn-cs"/>
              </a:rPr>
              <a:t> focus on and what I'm really.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I'm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judge your data source selections 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you're getting.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Available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has to be well documented.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that means that there has to be information tied to the data about where it came from, how it was collected, when it was collected.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Any inclusion exclusion criteria used for the data collection.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Any transformations done to the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As much information about the source of the data as possible.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 one of the kind of downsides to a lot of the database and data archives like Kaggle is anyone can post to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while that is also kind of a good thing, and you know terms of democratization of information, also a bad thing, because there's no necessary checks in terms of is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Reliable source of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Is it a meaningful data set?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so when you go on cable and you see perfect data set and you click on it and it has the data set for like no other information.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is not data that's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be useful.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Even if it is, you know, legitimate quality data if no one took the time to explain that and to give evidence for it being.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Good quality.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Data. It's not something you should be using.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Even in the case of so talk to a few of you about synthetic data and when you can and can't use that.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another thing to watch out for on these database science is often people will post synthetic data which could be useful in limited cases, but synthetic data is not going to be useful in getting you insights about the.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that data is about like you can't use that to get insights and make recommendations about how people are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behave or, you know what might be impactful to people because at the end of the day, it's fake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doesn't actually represent people's attitudes, behaviors, beliefs, whatever.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is good at testing out math and algorithms.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Good at, you know, trying to figure out the boundaries and the kind of assumptions being made about.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patterns and the data and the distributions of the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to kind of pilot and build certain tools, but it at the end of the day, it's not real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 actually a good representation necessarily.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Of whatever it is you're studying in the real world.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that's the one.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other four things you know, it all depends on what it is you're working on and what's available.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this last thing, that's where we're really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judge whether or not data you find or data you can collect is good.</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4CFFD00-6715-43DE-BA89-FB8B40806C3E}" type="slidenum">
              <a:rPr lang="en-US" smtClean="0"/>
              <a:t>3</a:t>
            </a:fld>
            <a:endParaRPr lang="en-US"/>
          </a:p>
        </p:txBody>
      </p:sp>
    </p:spTree>
    <p:extLst>
      <p:ext uri="{BB962C8B-B14F-4D97-AF65-F5344CB8AC3E}">
        <p14:creationId xmlns:p14="http://schemas.microsoft.com/office/powerpoint/2010/main" val="40347560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some common strategies for getting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easiest one's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be the archives and repositories of finding data set datasets that others have already kind of constructed and built.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that's not always going to be possible.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kind of next level would be databases.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those are going to be systems for storing data, but generally speaking databases are used in private sector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 are a few public databases that use this architecture, but not as commonly.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sometimes you might be left with getting data through either an API, which is basically just a system for connecting to.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To an app or to a website or web scraping.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just getting data from on the web 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you're really interested in these.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These things.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one of the natural language processing classes annually 540. We actually go into and have demos of how you use some of these things.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Especially because it is especially web scraping.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Is one of the best ways of getting text data and other unstructured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Kind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 will kind of briefly go over the steps in the processes and I have some links to some resources.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if you </a:t>
            </a:r>
            <a:r>
              <a:rPr lang="en-US" sz="1200" kern="1200" dirty="0" err="1">
                <a:solidFill>
                  <a:schemeClr val="tx1"/>
                </a:solidFill>
                <a:effectLst/>
                <a:latin typeface="+mn-lt"/>
                <a:ea typeface="+mn-ea"/>
                <a:cs typeface="+mn-cs"/>
              </a:rPr>
              <a:t>wanna</a:t>
            </a:r>
            <a:r>
              <a:rPr lang="en-US" sz="1200" kern="1200" dirty="0">
                <a:solidFill>
                  <a:schemeClr val="tx1"/>
                </a:solidFill>
                <a:effectLst/>
                <a:latin typeface="+mn-lt"/>
                <a:ea typeface="+mn-ea"/>
                <a:cs typeface="+mn-cs"/>
              </a:rPr>
              <a:t> learn more, but let's start with APIs so.</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4CFFD00-6715-43DE-BA89-FB8B40806C3E}" type="slidenum">
              <a:rPr lang="en-US" smtClean="0"/>
              <a:t>4</a:t>
            </a:fld>
            <a:endParaRPr lang="en-US"/>
          </a:p>
        </p:txBody>
      </p:sp>
    </p:spTree>
    <p:extLst>
      <p:ext uri="{BB962C8B-B14F-4D97-AF65-F5344CB8AC3E}">
        <p14:creationId xmlns:p14="http://schemas.microsoft.com/office/powerpoint/2010/main" val="42002113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API's were developed.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For software developers.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 were built to allow developers to have access and connections to websites and apps so that they could, you know, automate processes.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control information flow, things like that.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secondary use of AP is though, is data collection.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 the connection is not one way.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not just a matter of pushing information or data to the source, but you can also get data from the source.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Most of the time it depends on the API and what the permissions are.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Five years ago, seven years ago.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amount and access to AP is was a lot more expansive than it is today.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 the last few years, especially social media sites have really locked down. Their AP is and access.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researchers, for good and bad reasons on the good side.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 you know, became a bit more concerned with the privacy of their users and ensuring you know that.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People weren't collecting data that could be tied to individuals on the bad side. Most of them actually did it so they could make money off of it, like Twitter used to have. One of the best AP is and the best access for academic research.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when a certain someone bought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pay too much money for it. Decided that the way he can make his money back was by charging people to have access to the API and for getting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Twitter's out </a:t>
            </a:r>
            <a:r>
              <a:rPr lang="en-US" sz="1200" kern="1200" dirty="0" err="1">
                <a:solidFill>
                  <a:schemeClr val="tx1"/>
                </a:solidFill>
                <a:effectLst/>
                <a:latin typeface="+mn-lt"/>
                <a:ea typeface="+mn-ea"/>
                <a:cs typeface="+mn-cs"/>
              </a:rPr>
              <a:t>out</a:t>
            </a:r>
            <a:r>
              <a:rPr lang="en-US" sz="1200" kern="1200" dirty="0">
                <a:solidFill>
                  <a:schemeClr val="tx1"/>
                </a:solidFill>
                <a:effectLst/>
                <a:latin typeface="+mn-lt"/>
                <a:ea typeface="+mn-ea"/>
                <a:cs typeface="+mn-cs"/>
              </a:rPr>
              <a:t> of most people's price ranges now, but there are plenty of others that are still kind of existing now, not all of them are free, and not all of them are completely opened like YouTube has an API where you're able to get video.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Comments and some other sources of data, but you can't get everything and there are some limits as to how much you can get.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Generally added time.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Others are a bit more.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Open Reddit.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depends on the day they go back and forth with how open.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expansive their API access is, but generally speaking greed is pretty easy to get and to get quite a bit of IMDb also is pretty open for getting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newest one that's really interesting is Blue Sky.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Blue Sky is the kind of new alternative.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To Twitter.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Actually built by the original.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One of the founders of Twitter.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has pretty much the exact same interface and like design, it just has some different background architecture. I think it's still not the size of Twitter, but it's been pretty rapidly growing, especially in the last half a year.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Think so far?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a lot of academics.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Intellectual on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imagine that will </a:t>
            </a:r>
            <a:r>
              <a:rPr lang="en-US" sz="1200" kern="1200" dirty="0" err="1">
                <a:solidFill>
                  <a:schemeClr val="tx1"/>
                </a:solidFill>
                <a:effectLst/>
                <a:latin typeface="+mn-lt"/>
                <a:ea typeface="+mn-ea"/>
                <a:cs typeface="+mn-cs"/>
              </a:rPr>
              <a:t>will</a:t>
            </a:r>
            <a:r>
              <a:rPr lang="en-US" sz="1200" kern="1200" dirty="0">
                <a:solidFill>
                  <a:schemeClr val="tx1"/>
                </a:solidFill>
                <a:effectLst/>
                <a:latin typeface="+mn-lt"/>
                <a:ea typeface="+mn-ea"/>
                <a:cs typeface="+mn-cs"/>
              </a:rPr>
              <a:t> shift.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plenty of these out there in the lecture notes, they have a GitHub link that links to a list of public APIs.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Now note that just because it's a public API doesn't mean you can actually get data from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just means that anyone can request a developer account.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Exactly what?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can use the API for and what you can get. That's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depend on the </a:t>
            </a:r>
            <a:r>
              <a:rPr lang="en-US" sz="1200" kern="1200" dirty="0" err="1">
                <a:solidFill>
                  <a:schemeClr val="tx1"/>
                </a:solidFill>
                <a:effectLst/>
                <a:latin typeface="+mn-lt"/>
                <a:ea typeface="+mn-ea"/>
                <a:cs typeface="+mn-cs"/>
              </a:rPr>
              <a:t>the</a:t>
            </a:r>
            <a:r>
              <a:rPr lang="en-US" sz="1200" kern="1200" dirty="0">
                <a:solidFill>
                  <a:schemeClr val="tx1"/>
                </a:solidFill>
                <a:effectLst/>
                <a:latin typeface="+mn-lt"/>
                <a:ea typeface="+mn-ea"/>
                <a:cs typeface="+mn-cs"/>
              </a:rPr>
              <a:t> API access.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 So there's a </a:t>
            </a:r>
            <a:r>
              <a:rPr lang="en-US" sz="1200" kern="1200" dirty="0" err="1">
                <a:solidFill>
                  <a:schemeClr val="tx1"/>
                </a:solidFill>
                <a:effectLst/>
                <a:latin typeface="+mn-lt"/>
                <a:ea typeface="+mn-ea"/>
                <a:cs typeface="+mn-cs"/>
              </a:rPr>
              <a:t>a</a:t>
            </a:r>
            <a:r>
              <a:rPr lang="en-US" sz="1200" kern="1200" dirty="0">
                <a:solidFill>
                  <a:schemeClr val="tx1"/>
                </a:solidFill>
                <a:effectLst/>
                <a:latin typeface="+mn-lt"/>
                <a:ea typeface="+mn-ea"/>
                <a:cs typeface="+mn-cs"/>
              </a:rPr>
              <a:t> big amount of variance in terms of the level of access for different types of APIs. Some of them require like an approval process to get a developer account, but then once you're approved for that, you have pretty.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Free rein on the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Others.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Any collection of data requires approval ahead of time.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Like Red, depending on the day will sometimes require you to tell them exactly what you're wanting to collect and why before they will allow access to some of the bigger data sets.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 really </a:t>
            </a:r>
            <a:r>
              <a:rPr lang="en-US" sz="1200" kern="1200" dirty="0" err="1">
                <a:solidFill>
                  <a:schemeClr val="tx1"/>
                </a:solidFill>
                <a:effectLst/>
                <a:latin typeface="+mn-lt"/>
                <a:ea typeface="+mn-ea"/>
                <a:cs typeface="+mn-cs"/>
              </a:rPr>
              <a:t>wanna</a:t>
            </a:r>
            <a:r>
              <a:rPr lang="en-US" sz="1200" kern="1200" dirty="0">
                <a:solidFill>
                  <a:schemeClr val="tx1"/>
                </a:solidFill>
                <a:effectLst/>
                <a:latin typeface="+mn-lt"/>
                <a:ea typeface="+mn-ea"/>
                <a:cs typeface="+mn-cs"/>
              </a:rPr>
              <a:t> pay attention to the documentation of the APIs and the all the terms of service.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 have different levels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Authentication as well. Some like blue sky is very basic.</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really just have to have your own blue Sky account. You can use that to access the API. Others it's like several layers of encryption and authentication before you can actually get to anything.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lot of the bigger AP is have either specific Python packages or like wrapper packages that have custom functions for dealing with that API in specific, specifically, which does help the process cause the one of the problems of APIs which, yeah, is the data structures. It varies from.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API to API and just.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request package in Python that allows you to.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Connect to websites and apps.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Works, but it can be a slog to figure out exactly how to get to the information you need, and these pretty expansive data structures sometimes.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Steps.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 are also a few different types of AP is there's the rest API which is by far the most common and easiest to use.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There's also something called graph QL which.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Basically it's the same function and idea.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just a little bit of a difference in how the data is stored and sent between systems.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from looking at the documentation and everything.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Hypothetically, graph QL is supposed to be more efficient.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At sending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it is much harder to use than the rest API's.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comes with its own Python package. You have to use.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it can be a lot steeper learning curve to figure out exactly how you </a:t>
            </a:r>
            <a:r>
              <a:rPr lang="en-US" sz="1200" kern="1200" dirty="0" err="1">
                <a:solidFill>
                  <a:schemeClr val="tx1"/>
                </a:solidFill>
                <a:effectLst/>
                <a:latin typeface="+mn-lt"/>
                <a:ea typeface="+mn-ea"/>
                <a:cs typeface="+mn-cs"/>
              </a:rPr>
              <a:t>you</a:t>
            </a:r>
            <a:r>
              <a:rPr lang="en-US" sz="1200" kern="1200" dirty="0">
                <a:solidFill>
                  <a:schemeClr val="tx1"/>
                </a:solidFill>
                <a:effectLst/>
                <a:latin typeface="+mn-lt"/>
                <a:ea typeface="+mn-ea"/>
                <a:cs typeface="+mn-cs"/>
              </a:rPr>
              <a:t> deal with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most of this, you're just going to, you know, if you have an API for the website or app you want data from.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the code you write is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be specific to that API, but there's a lot of, you know, tutorials out there.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lot of guides, usually when I come across a new API, do a mixture of looking at the documentation.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 are better documented than others, like blue skies.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Pretty well documented. Like what?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Their API is and how to use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There's a few errors they need to fix on their documentation, but generally pretty good.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Other APIs.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 so.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Not so much like </a:t>
            </a:r>
            <a:r>
              <a:rPr lang="en-US" sz="1200" kern="1200" dirty="0" err="1">
                <a:solidFill>
                  <a:schemeClr val="tx1"/>
                </a:solidFill>
                <a:effectLst/>
                <a:latin typeface="+mn-lt"/>
                <a:ea typeface="+mn-ea"/>
                <a:cs typeface="+mn-cs"/>
              </a:rPr>
              <a:t>Imdb's</a:t>
            </a:r>
            <a:r>
              <a:rPr lang="en-US" sz="1200" kern="1200" dirty="0">
                <a:solidFill>
                  <a:schemeClr val="tx1"/>
                </a:solidFill>
                <a:effectLst/>
                <a:latin typeface="+mn-lt"/>
                <a:ea typeface="+mn-ea"/>
                <a:cs typeface="+mn-cs"/>
              </a:rPr>
              <a:t> API is a bit confusing.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don't think it's super well documented.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so many people use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if nothing else, there's like Stack overflow post and other like tech blogs and articles with examples and tutorials on how to use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this is kind of an example of the different data structures you might.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Come across an API.</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not an exhaustive list, but these two are the most common.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basically the issue with AP is that you're sending data across.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AI.</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Don't know virtual </a:t>
            </a:r>
            <a:r>
              <a:rPr lang="en-US" sz="1200" kern="1200" dirty="0" err="1">
                <a:solidFill>
                  <a:schemeClr val="tx1"/>
                </a:solidFill>
                <a:effectLst/>
                <a:latin typeface="+mn-lt"/>
                <a:ea typeface="+mn-ea"/>
                <a:cs typeface="+mn-cs"/>
              </a:rPr>
              <a:t>hindling</a:t>
            </a:r>
            <a:r>
              <a:rPr lang="en-US" sz="1200" kern="1200" dirty="0">
                <a:solidFill>
                  <a:schemeClr val="tx1"/>
                </a:solidFill>
                <a:effectLst/>
                <a:latin typeface="+mn-lt"/>
                <a:ea typeface="+mn-ea"/>
                <a:cs typeface="+mn-cs"/>
              </a:rPr>
              <a:t> whatever analogy you want to use there, but you're sending data between 2 apps. The app you're wanting to connect to and then your own system.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to send data it needs to be, you know, structured and packaged in a way that's both effective and efficient.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these two are two of the architectures that seem to do that the best. So Jason is JavaScript.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Oriented Object </a:t>
            </a:r>
            <a:r>
              <a:rPr lang="en-US" sz="1200" kern="1200" dirty="0" err="1">
                <a:solidFill>
                  <a:schemeClr val="tx1"/>
                </a:solidFill>
                <a:effectLst/>
                <a:latin typeface="+mn-lt"/>
                <a:ea typeface="+mn-ea"/>
                <a:cs typeface="+mn-cs"/>
              </a:rPr>
              <a:t>object</a:t>
            </a:r>
            <a:r>
              <a:rPr lang="en-US" sz="1200" kern="1200" dirty="0">
                <a:solidFill>
                  <a:schemeClr val="tx1"/>
                </a:solidFill>
                <a:effectLst/>
                <a:latin typeface="+mn-lt"/>
                <a:ea typeface="+mn-ea"/>
                <a:cs typeface="+mn-cs"/>
              </a:rPr>
              <a:t> notation.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Something like that. It stands for something.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basically it is a nested type of data frame which allows you to have levels of data attributes.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With all the various.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Levels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Values associated with those various attributes.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Twitter use Jason.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at the top level, you would have the tweet itself.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Then the next level would be like the message and the user and then some stuff about replies and within each of those you know you have the message and then you would have the text of the message and the hashtags and all of that. And for the US.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would have the user name, the user URL, the follower account, all that kind of stuff.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you would be able to pull the specific parts of that Jason you wanted.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There's also some AP. Is that use XML which?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Is the same </a:t>
            </a:r>
            <a:r>
              <a:rPr lang="en-US" sz="1200" kern="1200" dirty="0" err="1">
                <a:solidFill>
                  <a:schemeClr val="tx1"/>
                </a:solidFill>
                <a:effectLst/>
                <a:latin typeface="+mn-lt"/>
                <a:ea typeface="+mn-ea"/>
                <a:cs typeface="+mn-cs"/>
              </a:rPr>
              <a:t>ish</a:t>
            </a:r>
            <a:r>
              <a:rPr lang="en-US" sz="1200" kern="1200" dirty="0">
                <a:solidFill>
                  <a:schemeClr val="tx1"/>
                </a:solidFill>
                <a:effectLst/>
                <a:latin typeface="+mn-lt"/>
                <a:ea typeface="+mn-ea"/>
                <a:cs typeface="+mn-cs"/>
              </a:rPr>
              <a:t> idea, but rather than having this kind of nested dictionary kind of structure.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That kind of is analogous to Python dictionaries. XML is more like HTML.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it's more a series of nested tags, so you still have levels to it, but each attribute is associated with A tag.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Rather than kind of this level in a key value pair for Jason.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that's the overview of AP is any questions on that before we talk about web scraping?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All right then.</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4CFFD00-6715-43DE-BA89-FB8B40806C3E}" type="slidenum">
              <a:rPr lang="en-US" smtClean="0"/>
              <a:t>5</a:t>
            </a:fld>
            <a:endParaRPr lang="en-US"/>
          </a:p>
        </p:txBody>
      </p:sp>
    </p:spTree>
    <p:extLst>
      <p:ext uri="{BB962C8B-B14F-4D97-AF65-F5344CB8AC3E}">
        <p14:creationId xmlns:p14="http://schemas.microsoft.com/office/powerpoint/2010/main" val="34151565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Moving on to web scraping.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This is a method for basically just getting content from websites.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 are some websites where even if you technically could.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Do web scraping. It's very much.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 enormous pain to do it, and it's better to use the API.</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 have access to like so.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Hypothetically.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could use web scraping to get tweets still.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would be violating the terms of service and potentially get in legal trouble.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hypothetically, it could happen.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even if you could, because of the structure of a lot of social media sites.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 is sucked enormously inefficient.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tedious process to try to do these things.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With those, so for social media and some of those more kind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Social media, like where there's a lot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Engagement and back and forth.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Web scraping I would not recommend, but for other things where there you know.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Pages of text or pages of information.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structures to information web scraping can be a very good tool, so probably one of the most common things web scraping is used for is to get news.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Either news headlines or news articles, depending on terms of use.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Are getting, you know.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Various pages from websites Wikipedia. Because Wikipedia's also has an API, but it's a garbage fire.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could not figure that out their documentation.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basically what this does is allows you to take advantage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HTML requests and HTML structure to get large amounts of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Now there's kind of two approaches.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one that a lot of early.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Language models use was something called a common crawl, where basically you set you start on some webpage on the Internet.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get all the data from that Web page, including in the background HTML that supports the web page. You'll be able to get all the web.</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Web pages the URLs that that first page links to, so all the hyperlinks.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 get all the hyperlinks from page one, you go to them, you get those pages, you get all their hyperlinks and then you keep doing that.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that's why it's called a crawl, because it's kind of like a spider web. You just keep getting more and more as you move through the process.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Does get you large amounts of web content, but tends to be very messy.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generic and.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Unfocused that it's often not very useful.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this is what I'm saying. You know, with the big </a:t>
            </a:r>
            <a:r>
              <a:rPr lang="en-US" sz="1200" kern="1200" dirty="0" err="1">
                <a:solidFill>
                  <a:schemeClr val="tx1"/>
                </a:solidFill>
                <a:effectLst/>
                <a:latin typeface="+mn-lt"/>
                <a:ea typeface="+mn-ea"/>
                <a:cs typeface="+mn-cs"/>
              </a:rPr>
              <a:t>llm's</a:t>
            </a:r>
            <a:r>
              <a:rPr lang="en-US" sz="1200" kern="1200" dirty="0">
                <a:solidFill>
                  <a:schemeClr val="tx1"/>
                </a:solidFill>
                <a:effectLst/>
                <a:latin typeface="+mn-lt"/>
                <a:ea typeface="+mn-ea"/>
                <a:cs typeface="+mn-cs"/>
              </a:rPr>
              <a:t>, they use something like this to basically get the entirety of language on the Internet.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just shove that into a neural net, which.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mean, you could see how this was a problem in the very early iterations of ChatGPT and the other models. Those early versions did not work very well.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just not a good way to learn language.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Yeah, been on the Internet. The Internet's a weird place.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so.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Later versions of all the language models incorporated.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Feedback and reinforcement loops and some more targeted.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Training.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just common crawl usually isn't super useful.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what's a better approach is to be intentional with what you collected and collect it in a kind of semi structured data format. So not just getting text.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From websites, but getting metadata associated with that text and creating something a lot more comprehensive.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Now, like I said, you have to be careful to respect terms of use and privacy.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kind of good rule of thumb I use is that if you have to have a sign in or an account to see the web page, that's off limits for scraping, because that's probably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violate the terms of use.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if it's a web page that anyone could go and access to and there's no log in required.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Generally it's up for grabs, but you do want to be a bit careful with it.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Often times, if you're trying to get something that you shouldn't be, you'll get a four.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O3 error.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Yeah, that's the forbidden 1.</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error you get when you hit, you're trying to access something you don't have access to.</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if you hit that, usually that's a good sign that maybe this isn't something you can get.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Sometimes it's not.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Sometimes it's just. I have firewalls against you.</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DoD attacks.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Whatever that thing 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When a hacker spam something so they can shut it down.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it does depend a bit, you know.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usually you can Google and kind of get a sense of whether or not it's actually going to be a problem, or if it's just something you have to approach slightly differently.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just like the common crawl, though, even if you're trying to get.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Specific set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Text or.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Curated corpus.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data set.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data set.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general process just involves using HTML code to identify and generate and or generate URLs and then extracting.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data you need from that underlying HTML code from those URLs.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 are, depending on what it is you're wanting to get and the.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Structure of the site.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There are also ways to use RSS feeds and site maps.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To generate the URLs and to get the information needed. RSS feeds are particularly useful for.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News sites almost every news site has an RSS feed that will store basically all the.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Headlines and brief descriptions and then URLs to the full articles, all in one spot. That's really easy to extract.</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4CFFD00-6715-43DE-BA89-FB8B40806C3E}" type="slidenum">
              <a:rPr lang="en-US" smtClean="0"/>
              <a:t>7</a:t>
            </a:fld>
            <a:endParaRPr lang="en-US"/>
          </a:p>
        </p:txBody>
      </p:sp>
    </p:spTree>
    <p:extLst>
      <p:ext uri="{BB962C8B-B14F-4D97-AF65-F5344CB8AC3E}">
        <p14:creationId xmlns:p14="http://schemas.microsoft.com/office/powerpoint/2010/main" val="6882582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In terms of the kind of how you have to go about web scraping, it depends entirely on what it is you're trying to get, but generally speaking you need to figure out you know what's your starting URL like where are you.</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are the </a:t>
            </a:r>
            <a:r>
              <a:rPr lang="en-US" sz="1200" kern="1200" dirty="0" err="1">
                <a:solidFill>
                  <a:schemeClr val="tx1"/>
                </a:solidFill>
                <a:effectLst/>
                <a:latin typeface="+mn-lt"/>
                <a:ea typeface="+mn-ea"/>
                <a:cs typeface="+mn-cs"/>
              </a:rPr>
              <a:t>Url's</a:t>
            </a:r>
            <a:r>
              <a:rPr lang="en-US" sz="1200" kern="1200" dirty="0">
                <a:solidFill>
                  <a:schemeClr val="tx1"/>
                </a:solidFill>
                <a:effectLst/>
                <a:latin typeface="+mn-lt"/>
                <a:ea typeface="+mn-ea"/>
                <a:cs typeface="+mn-cs"/>
              </a:rPr>
              <a:t> you need to define in order to get the data you need?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What are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be the inclusion criteria so you know and getting a lot of new sites?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 news links will be for text based.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Stories others will be for video based stories, and generally when I'm doing this.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you can use videos, but it's a whole thing so I always generally limit to only text based articles.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from there you can start getting the kind of patterns of URLs to loop through.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if you know you're on a web page and has pagination.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Typically speaking, those are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Involve having a very regular URL where you're just changing maybe the number at the end to get to the next page, and so you can loop through that pattern, then use HTML tags and patterns to get you know new URLs and to get the data you need from.</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Each page using again the HTML tag tags and patterns for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After I get through everything, I'll actually go and show you some examples of these different types of data and what they look like and what you want to look for.</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4CFFD00-6715-43DE-BA89-FB8B40806C3E}" type="slidenum">
              <a:rPr lang="en-US" smtClean="0"/>
              <a:t>8</a:t>
            </a:fld>
            <a:endParaRPr lang="en-US"/>
          </a:p>
        </p:txBody>
      </p:sp>
    </p:spTree>
    <p:extLst>
      <p:ext uri="{BB962C8B-B14F-4D97-AF65-F5344CB8AC3E}">
        <p14:creationId xmlns:p14="http://schemas.microsoft.com/office/powerpoint/2010/main" val="25656311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easiest way to get data is with repositories and archives, so you know you're all familiar with the.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Places like GitHub and Huggins and Kaggle there are some more like specialized and domain specific repositories.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lot of government websites actually will have data repositories.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again, you need to make sure that you're getting.</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Good data, so especially Kaggle, but even GitHub and hugging face to some extent.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lot of people just post datasets on those without any supporting documentation, without any kind of evidence, and it'll just be, you know, CSV file.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you need to use these carefully.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All of so hugging KAF and </a:t>
            </a:r>
            <a:r>
              <a:rPr lang="en-US" sz="1200" kern="1200" dirty="0" err="1">
                <a:solidFill>
                  <a:schemeClr val="tx1"/>
                </a:solidFill>
                <a:effectLst/>
                <a:latin typeface="+mn-lt"/>
                <a:ea typeface="+mn-ea"/>
                <a:cs typeface="+mn-cs"/>
              </a:rPr>
              <a:t>Kaygel</a:t>
            </a:r>
            <a:r>
              <a:rPr lang="en-US" sz="1200" kern="1200" dirty="0">
                <a:solidFill>
                  <a:schemeClr val="tx1"/>
                </a:solidFill>
                <a:effectLst/>
                <a:latin typeface="+mn-lt"/>
                <a:ea typeface="+mn-ea"/>
                <a:cs typeface="+mn-cs"/>
              </a:rPr>
              <a:t> both have data cards.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Associated with each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Now, sometimes people don't fill out the data cards and it's blank, but you're looking for data that has a well developed data card with all that documentation on the source and data, and while it's collected GitHub, you want repositories that have you know.</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Readme files that are clearly and </a:t>
            </a:r>
            <a:r>
              <a:rPr lang="en-US" sz="1200" kern="1200" dirty="0" err="1">
                <a:solidFill>
                  <a:schemeClr val="tx1"/>
                </a:solidFill>
                <a:effectLst/>
                <a:latin typeface="+mn-lt"/>
                <a:ea typeface="+mn-ea"/>
                <a:cs typeface="+mn-cs"/>
              </a:rPr>
              <a:t>amekily</a:t>
            </a:r>
            <a:r>
              <a:rPr lang="en-US" sz="1200" kern="1200" dirty="0">
                <a:solidFill>
                  <a:schemeClr val="tx1"/>
                </a:solidFill>
                <a:effectLst/>
                <a:latin typeface="+mn-lt"/>
                <a:ea typeface="+mn-ea"/>
                <a:cs typeface="+mn-cs"/>
              </a:rPr>
              <a:t> described what's in the.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repo and how the data was collected.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Sometimes you'll get lucky and you'll find data that's actually tied to a peer review publication.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Because increasingly in the last decade or so, big push in academic research to make data publicly available for published research.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so a lot of academics who are doing, you know, research in various domains.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Will, when they publish their findings, will also publish the data sets and code that they were working with as well.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Beyond, you know, making sure you're only getting data that has.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 know good supporting documentation.</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It's if possible. It's also good to check some of the data points against the original source. So like you know, if you find 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Data set on </a:t>
            </a:r>
            <a:r>
              <a:rPr lang="en-US" sz="1200" kern="1200" dirty="0" err="1">
                <a:solidFill>
                  <a:schemeClr val="tx1"/>
                </a:solidFill>
                <a:effectLst/>
                <a:latin typeface="+mn-lt"/>
                <a:ea typeface="+mn-ea"/>
                <a:cs typeface="+mn-cs"/>
              </a:rPr>
              <a:t>kaggol</a:t>
            </a:r>
            <a:r>
              <a:rPr lang="en-US" sz="1200" kern="1200" dirty="0">
                <a:solidFill>
                  <a:schemeClr val="tx1"/>
                </a:solidFill>
                <a:effectLst/>
                <a:latin typeface="+mn-lt"/>
                <a:ea typeface="+mn-ea"/>
                <a:cs typeface="+mn-cs"/>
              </a:rPr>
              <a:t> that's stock values over the last five years.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Go check other sources that report stock values and just you know 5-10 data points.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other numbers match up. Or is there some discrepancies?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You're just basically looking to see, you know is there.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Good reason to believe that the data's mostly accurate.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Or are there bigger problems?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again, there are other data archives out there that are either openly available or accessible with permissions, like there's a couple that I sometimes use that are survey based.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 the American National election studies.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Where it's a repository of.</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Every other year.</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Very large, nationally representative survey of Americans about politics and elections. And it is not completely open, but you can apply for access and they pretty much will approve all the academic uses of the data.</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then for specific domains, there might be repositories like for healthcare the CDC.</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NIH.</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At least until recently.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Extensive repositories and archives of relevant data sets from public health studies believe most of them are still there, but.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So that if that's the domain you're working with, you might check there for other domains. There's other archives that have some links here for economics and public policy.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 make these are generally </a:t>
            </a:r>
            <a:r>
              <a:rPr lang="en-US" sz="1200" kern="1200" dirty="0" err="1">
                <a:solidFill>
                  <a:schemeClr val="tx1"/>
                </a:solidFill>
                <a:effectLst/>
                <a:latin typeface="+mn-lt"/>
                <a:ea typeface="+mn-ea"/>
                <a:cs typeface="+mn-cs"/>
              </a:rPr>
              <a:t>gonna</a:t>
            </a:r>
            <a:r>
              <a:rPr lang="en-US" sz="1200" kern="1200" dirty="0">
                <a:solidFill>
                  <a:schemeClr val="tx1"/>
                </a:solidFill>
                <a:effectLst/>
                <a:latin typeface="+mn-lt"/>
                <a:ea typeface="+mn-ea"/>
                <a:cs typeface="+mn-cs"/>
              </a:rPr>
              <a:t> have a stricter terms of use than you know, hugging fans and cable.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They should allow for noncommercial academic use.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 lot of them just restrict commercial use.</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4CFFD00-6715-43DE-BA89-FB8B40806C3E}" type="slidenum">
              <a:rPr lang="en-US" smtClean="0"/>
              <a:t>9</a:t>
            </a:fld>
            <a:endParaRPr lang="en-US"/>
          </a:p>
        </p:txBody>
      </p:sp>
    </p:spTree>
    <p:extLst>
      <p:ext uri="{BB962C8B-B14F-4D97-AF65-F5344CB8AC3E}">
        <p14:creationId xmlns:p14="http://schemas.microsoft.com/office/powerpoint/2010/main" val="21169793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There are some other courses that you can take if you're interested in learning about.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Database structures, but a lot of you know the private datasets.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Might the data might be stored in these types of structures like SQL or Mongo DB?</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The key here is making sure that whoever built this.</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Properly documented what they did.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And documented what the structure is and what you know. All the values are that you need.</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To collect that.</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Have some links here if you </a:t>
            </a:r>
            <a:r>
              <a:rPr lang="en-US" sz="1200" kern="1200" dirty="0" err="1">
                <a:solidFill>
                  <a:schemeClr val="tx1"/>
                </a:solidFill>
                <a:effectLst/>
                <a:latin typeface="+mn-lt"/>
                <a:ea typeface="+mn-ea"/>
                <a:cs typeface="+mn-cs"/>
              </a:rPr>
              <a:t>wanna</a:t>
            </a:r>
            <a:r>
              <a:rPr lang="en-US" sz="1200" kern="1200" dirty="0">
                <a:solidFill>
                  <a:schemeClr val="tx1"/>
                </a:solidFill>
                <a:effectLst/>
                <a:latin typeface="+mn-lt"/>
                <a:ea typeface="+mn-ea"/>
                <a:cs typeface="+mn-cs"/>
              </a:rPr>
              <a:t> know. You know get the terminology of these around and a brief coding example as well to use with SQL.</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I've only ever done worked with SQL myself, but it's pretty straightforward I would say.</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Very similar to working with Pandas </a:t>
            </a:r>
            <a:r>
              <a:rPr lang="en-US" sz="1200" kern="1200" dirty="0" err="1">
                <a:solidFill>
                  <a:schemeClr val="tx1"/>
                </a:solidFill>
                <a:effectLst/>
                <a:latin typeface="+mn-lt"/>
                <a:ea typeface="+mn-ea"/>
                <a:cs typeface="+mn-cs"/>
              </a:rPr>
              <a:t>dataframes</a:t>
            </a:r>
            <a:r>
              <a:rPr lang="en-US" sz="1200" kern="1200" dirty="0">
                <a:solidFill>
                  <a:schemeClr val="tx1"/>
                </a:solidFill>
                <a:effectLst/>
                <a:latin typeface="+mn-lt"/>
                <a:ea typeface="+mn-ea"/>
                <a:cs typeface="+mn-cs"/>
              </a:rPr>
              <a:t>, just you know little different in terms of the syntax.</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But otherwise you know very comparable.</a:t>
            </a:r>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If you're familiar with working with either data frames or Jason or other data architecture.</a:t>
            </a:r>
            <a:br>
              <a:rPr lang="en-US" sz="1200" kern="1200" dirty="0">
                <a:solidFill>
                  <a:schemeClr val="tx1"/>
                </a:solidFill>
                <a:effectLst/>
                <a:latin typeface="+mn-lt"/>
                <a:ea typeface="+mn-ea"/>
                <a:cs typeface="+mn-cs"/>
              </a:rPr>
            </a:br>
            <a:endParaRPr lang="en-US" dirty="0"/>
          </a:p>
        </p:txBody>
      </p:sp>
      <p:sp>
        <p:nvSpPr>
          <p:cNvPr id="4" name="Slide Number Placeholder 3"/>
          <p:cNvSpPr>
            <a:spLocks noGrp="1"/>
          </p:cNvSpPr>
          <p:nvPr>
            <p:ph type="sldNum" sz="quarter" idx="5"/>
          </p:nvPr>
        </p:nvSpPr>
        <p:spPr/>
        <p:txBody>
          <a:bodyPr/>
          <a:lstStyle/>
          <a:p>
            <a:fld id="{94CFFD00-6715-43DE-BA89-FB8B40806C3E}" type="slidenum">
              <a:rPr lang="en-US" smtClean="0"/>
              <a:t>10</a:t>
            </a:fld>
            <a:endParaRPr lang="en-US"/>
          </a:p>
        </p:txBody>
      </p:sp>
    </p:spTree>
    <p:extLst>
      <p:ext uri="{BB962C8B-B14F-4D97-AF65-F5344CB8AC3E}">
        <p14:creationId xmlns:p14="http://schemas.microsoft.com/office/powerpoint/2010/main" val="27190569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 Example to run through</a:t>
            </a:r>
          </a:p>
        </p:txBody>
      </p:sp>
      <p:sp>
        <p:nvSpPr>
          <p:cNvPr id="4" name="Slide Number Placeholder 3"/>
          <p:cNvSpPr>
            <a:spLocks noGrp="1"/>
          </p:cNvSpPr>
          <p:nvPr>
            <p:ph type="sldNum" sz="quarter" idx="5"/>
          </p:nvPr>
        </p:nvSpPr>
        <p:spPr/>
        <p:txBody>
          <a:bodyPr/>
          <a:lstStyle/>
          <a:p>
            <a:fld id="{94CFFD00-6715-43DE-BA89-FB8B40806C3E}" type="slidenum">
              <a:rPr lang="en-US" smtClean="0"/>
              <a:t>11</a:t>
            </a:fld>
            <a:endParaRPr lang="en-US"/>
          </a:p>
        </p:txBody>
      </p:sp>
    </p:spTree>
    <p:extLst>
      <p:ext uri="{BB962C8B-B14F-4D97-AF65-F5344CB8AC3E}">
        <p14:creationId xmlns:p14="http://schemas.microsoft.com/office/powerpoint/2010/main" val="8990651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4CFFD00-6715-43DE-BA89-FB8B40806C3E}" type="slidenum">
              <a:rPr lang="en-US" smtClean="0"/>
              <a:t>12</a:t>
            </a:fld>
            <a:endParaRPr lang="en-US"/>
          </a:p>
        </p:txBody>
      </p:sp>
    </p:spTree>
    <p:extLst>
      <p:ext uri="{BB962C8B-B14F-4D97-AF65-F5344CB8AC3E}">
        <p14:creationId xmlns:p14="http://schemas.microsoft.com/office/powerpoint/2010/main" val="4015796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9F996-E59D-3E11-1E94-FBF88DFFF1C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8F280A7-2FAF-D308-EF47-A0E9141C4B7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02712B0-43E1-3A5E-7A1E-336245FF6786}"/>
              </a:ext>
            </a:extLst>
          </p:cNvPr>
          <p:cNvSpPr>
            <a:spLocks noGrp="1"/>
          </p:cNvSpPr>
          <p:nvPr>
            <p:ph type="dt" sz="half" idx="10"/>
          </p:nvPr>
        </p:nvSpPr>
        <p:spPr/>
        <p:txBody>
          <a:bodyPr/>
          <a:lstStyle/>
          <a:p>
            <a:fld id="{3ADF55E8-267E-4144-848D-6600FC66DEC2}" type="datetimeFigureOut">
              <a:rPr lang="en-US" smtClean="0"/>
              <a:t>11/12/2025</a:t>
            </a:fld>
            <a:endParaRPr lang="en-US"/>
          </a:p>
        </p:txBody>
      </p:sp>
      <p:sp>
        <p:nvSpPr>
          <p:cNvPr id="5" name="Footer Placeholder 4">
            <a:extLst>
              <a:ext uri="{FF2B5EF4-FFF2-40B4-BE49-F238E27FC236}">
                <a16:creationId xmlns:a16="http://schemas.microsoft.com/office/drawing/2014/main" id="{7C6920EB-03BD-C983-31F9-CD88BC97C4F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B5F8C1-C10B-42B9-9AD3-1EA579C23228}"/>
              </a:ext>
            </a:extLst>
          </p:cNvPr>
          <p:cNvSpPr>
            <a:spLocks noGrp="1"/>
          </p:cNvSpPr>
          <p:nvPr>
            <p:ph type="sldNum" sz="quarter" idx="12"/>
          </p:nvPr>
        </p:nvSpPr>
        <p:spPr/>
        <p:txBody>
          <a:bodyPr/>
          <a:lstStyle/>
          <a:p>
            <a:fld id="{708ECDB4-1844-41C6-9AA8-9B9BB5833B9B}" type="slidenum">
              <a:rPr lang="en-US" smtClean="0"/>
              <a:t>‹#›</a:t>
            </a:fld>
            <a:endParaRPr lang="en-US"/>
          </a:p>
        </p:txBody>
      </p:sp>
    </p:spTree>
    <p:extLst>
      <p:ext uri="{BB962C8B-B14F-4D97-AF65-F5344CB8AC3E}">
        <p14:creationId xmlns:p14="http://schemas.microsoft.com/office/powerpoint/2010/main" val="2970270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6926FA-E048-FA2D-374A-C44C3401EEC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9A487D-3511-1A46-FAD7-D41A13D4B08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4C0A618-972C-1676-2FA6-43B3C2F1580B}"/>
              </a:ext>
            </a:extLst>
          </p:cNvPr>
          <p:cNvSpPr>
            <a:spLocks noGrp="1"/>
          </p:cNvSpPr>
          <p:nvPr>
            <p:ph type="dt" sz="half" idx="10"/>
          </p:nvPr>
        </p:nvSpPr>
        <p:spPr/>
        <p:txBody>
          <a:bodyPr/>
          <a:lstStyle/>
          <a:p>
            <a:fld id="{3ADF55E8-267E-4144-848D-6600FC66DEC2}" type="datetimeFigureOut">
              <a:rPr lang="en-US" smtClean="0"/>
              <a:t>11/12/2025</a:t>
            </a:fld>
            <a:endParaRPr lang="en-US"/>
          </a:p>
        </p:txBody>
      </p:sp>
      <p:sp>
        <p:nvSpPr>
          <p:cNvPr id="5" name="Footer Placeholder 4">
            <a:extLst>
              <a:ext uri="{FF2B5EF4-FFF2-40B4-BE49-F238E27FC236}">
                <a16:creationId xmlns:a16="http://schemas.microsoft.com/office/drawing/2014/main" id="{4CE6E649-BFF0-F69F-9BD0-A4F7DDBBC8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E0D41F-3AC1-63A1-56CC-73D04CE6738D}"/>
              </a:ext>
            </a:extLst>
          </p:cNvPr>
          <p:cNvSpPr>
            <a:spLocks noGrp="1"/>
          </p:cNvSpPr>
          <p:nvPr>
            <p:ph type="sldNum" sz="quarter" idx="12"/>
          </p:nvPr>
        </p:nvSpPr>
        <p:spPr/>
        <p:txBody>
          <a:bodyPr/>
          <a:lstStyle/>
          <a:p>
            <a:fld id="{708ECDB4-1844-41C6-9AA8-9B9BB5833B9B}" type="slidenum">
              <a:rPr lang="en-US" smtClean="0"/>
              <a:t>‹#›</a:t>
            </a:fld>
            <a:endParaRPr lang="en-US"/>
          </a:p>
        </p:txBody>
      </p:sp>
    </p:spTree>
    <p:extLst>
      <p:ext uri="{BB962C8B-B14F-4D97-AF65-F5344CB8AC3E}">
        <p14:creationId xmlns:p14="http://schemas.microsoft.com/office/powerpoint/2010/main" val="3742720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86107-6A35-2F0F-3043-A75AC6F5992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AF47E10-E054-B2AB-7D46-45DB11633B3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6DFE719-599E-1E7E-8B75-A35D2ACAA351}"/>
              </a:ext>
            </a:extLst>
          </p:cNvPr>
          <p:cNvSpPr>
            <a:spLocks noGrp="1"/>
          </p:cNvSpPr>
          <p:nvPr>
            <p:ph type="dt" sz="half" idx="10"/>
          </p:nvPr>
        </p:nvSpPr>
        <p:spPr/>
        <p:txBody>
          <a:bodyPr/>
          <a:lstStyle/>
          <a:p>
            <a:fld id="{3ADF55E8-267E-4144-848D-6600FC66DEC2}" type="datetimeFigureOut">
              <a:rPr lang="en-US" smtClean="0"/>
              <a:t>11/12/2025</a:t>
            </a:fld>
            <a:endParaRPr lang="en-US"/>
          </a:p>
        </p:txBody>
      </p:sp>
      <p:sp>
        <p:nvSpPr>
          <p:cNvPr id="5" name="Footer Placeholder 4">
            <a:extLst>
              <a:ext uri="{FF2B5EF4-FFF2-40B4-BE49-F238E27FC236}">
                <a16:creationId xmlns:a16="http://schemas.microsoft.com/office/drawing/2014/main" id="{EFBF5FB4-D724-FE5A-635C-A3FED5F752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4DFEB1-8C71-3594-9B97-644A9EFEF2BB}"/>
              </a:ext>
            </a:extLst>
          </p:cNvPr>
          <p:cNvSpPr>
            <a:spLocks noGrp="1"/>
          </p:cNvSpPr>
          <p:nvPr>
            <p:ph type="sldNum" sz="quarter" idx="12"/>
          </p:nvPr>
        </p:nvSpPr>
        <p:spPr/>
        <p:txBody>
          <a:bodyPr/>
          <a:lstStyle/>
          <a:p>
            <a:fld id="{708ECDB4-1844-41C6-9AA8-9B9BB5833B9B}" type="slidenum">
              <a:rPr lang="en-US" smtClean="0"/>
              <a:t>‹#›</a:t>
            </a:fld>
            <a:endParaRPr lang="en-US"/>
          </a:p>
        </p:txBody>
      </p:sp>
    </p:spTree>
    <p:extLst>
      <p:ext uri="{BB962C8B-B14F-4D97-AF65-F5344CB8AC3E}">
        <p14:creationId xmlns:p14="http://schemas.microsoft.com/office/powerpoint/2010/main" val="39988288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47FF07-CA02-59CD-E827-6473A67003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EE5EE53-CCEE-D36F-8FE6-F26AFD3272F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D081C8C-65E3-97CF-30CE-9AF676D2C2D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E4CDB0F-5B9F-A8DE-A884-A3C7F49CB9AF}"/>
              </a:ext>
            </a:extLst>
          </p:cNvPr>
          <p:cNvSpPr>
            <a:spLocks noGrp="1"/>
          </p:cNvSpPr>
          <p:nvPr>
            <p:ph type="dt" sz="half" idx="10"/>
          </p:nvPr>
        </p:nvSpPr>
        <p:spPr/>
        <p:txBody>
          <a:bodyPr/>
          <a:lstStyle/>
          <a:p>
            <a:fld id="{3ADF55E8-267E-4144-848D-6600FC66DEC2}" type="datetimeFigureOut">
              <a:rPr lang="en-US" smtClean="0"/>
              <a:t>11/12/2025</a:t>
            </a:fld>
            <a:endParaRPr lang="en-US"/>
          </a:p>
        </p:txBody>
      </p:sp>
      <p:sp>
        <p:nvSpPr>
          <p:cNvPr id="6" name="Footer Placeholder 5">
            <a:extLst>
              <a:ext uri="{FF2B5EF4-FFF2-40B4-BE49-F238E27FC236}">
                <a16:creationId xmlns:a16="http://schemas.microsoft.com/office/drawing/2014/main" id="{694BDCC1-1AE6-7F36-D095-697604B53BC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DD6BBDF-7BC5-52D1-6CB8-DADD369F5426}"/>
              </a:ext>
            </a:extLst>
          </p:cNvPr>
          <p:cNvSpPr>
            <a:spLocks noGrp="1"/>
          </p:cNvSpPr>
          <p:nvPr>
            <p:ph type="sldNum" sz="quarter" idx="12"/>
          </p:nvPr>
        </p:nvSpPr>
        <p:spPr/>
        <p:txBody>
          <a:bodyPr/>
          <a:lstStyle/>
          <a:p>
            <a:fld id="{708ECDB4-1844-41C6-9AA8-9B9BB5833B9B}" type="slidenum">
              <a:rPr lang="en-US" smtClean="0"/>
              <a:t>‹#›</a:t>
            </a:fld>
            <a:endParaRPr lang="en-US"/>
          </a:p>
        </p:txBody>
      </p:sp>
    </p:spTree>
    <p:extLst>
      <p:ext uri="{BB962C8B-B14F-4D97-AF65-F5344CB8AC3E}">
        <p14:creationId xmlns:p14="http://schemas.microsoft.com/office/powerpoint/2010/main" val="29712645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95A6FB-DF68-36B9-2664-E8186A79BFC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01E583B-3830-496E-B34C-A1F734EBCCD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8EAE64-5CA4-F32C-CCAE-50A5D2C3890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67363D1-7472-0D30-7B55-9CEA17CD45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412C4A5-8D3E-B0A8-D90A-BFEBD60EF67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BBCA96D-25FE-A419-9F70-BE0084293043}"/>
              </a:ext>
            </a:extLst>
          </p:cNvPr>
          <p:cNvSpPr>
            <a:spLocks noGrp="1"/>
          </p:cNvSpPr>
          <p:nvPr>
            <p:ph type="dt" sz="half" idx="10"/>
          </p:nvPr>
        </p:nvSpPr>
        <p:spPr/>
        <p:txBody>
          <a:bodyPr/>
          <a:lstStyle/>
          <a:p>
            <a:fld id="{3ADF55E8-267E-4144-848D-6600FC66DEC2}" type="datetimeFigureOut">
              <a:rPr lang="en-US" smtClean="0"/>
              <a:t>11/12/2025</a:t>
            </a:fld>
            <a:endParaRPr lang="en-US"/>
          </a:p>
        </p:txBody>
      </p:sp>
      <p:sp>
        <p:nvSpPr>
          <p:cNvPr id="8" name="Footer Placeholder 7">
            <a:extLst>
              <a:ext uri="{FF2B5EF4-FFF2-40B4-BE49-F238E27FC236}">
                <a16:creationId xmlns:a16="http://schemas.microsoft.com/office/drawing/2014/main" id="{0AD60D08-02BF-B587-E41F-DD8242D948B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92619ED-1EF7-2A20-A807-4BB8B3BB5A5D}"/>
              </a:ext>
            </a:extLst>
          </p:cNvPr>
          <p:cNvSpPr>
            <a:spLocks noGrp="1"/>
          </p:cNvSpPr>
          <p:nvPr>
            <p:ph type="sldNum" sz="quarter" idx="12"/>
          </p:nvPr>
        </p:nvSpPr>
        <p:spPr/>
        <p:txBody>
          <a:bodyPr/>
          <a:lstStyle/>
          <a:p>
            <a:fld id="{708ECDB4-1844-41C6-9AA8-9B9BB5833B9B}" type="slidenum">
              <a:rPr lang="en-US" smtClean="0"/>
              <a:t>‹#›</a:t>
            </a:fld>
            <a:endParaRPr lang="en-US"/>
          </a:p>
        </p:txBody>
      </p:sp>
    </p:spTree>
    <p:extLst>
      <p:ext uri="{BB962C8B-B14F-4D97-AF65-F5344CB8AC3E}">
        <p14:creationId xmlns:p14="http://schemas.microsoft.com/office/powerpoint/2010/main" val="18806827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B7D178-D257-5D9E-6B2A-02B23DBD6F1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F607B05-7458-B0CF-9093-AEFF3E423A4E}"/>
              </a:ext>
            </a:extLst>
          </p:cNvPr>
          <p:cNvSpPr>
            <a:spLocks noGrp="1"/>
          </p:cNvSpPr>
          <p:nvPr>
            <p:ph type="dt" sz="half" idx="10"/>
          </p:nvPr>
        </p:nvSpPr>
        <p:spPr/>
        <p:txBody>
          <a:bodyPr/>
          <a:lstStyle/>
          <a:p>
            <a:fld id="{3ADF55E8-267E-4144-848D-6600FC66DEC2}" type="datetimeFigureOut">
              <a:rPr lang="en-US" smtClean="0"/>
              <a:t>11/12/2025</a:t>
            </a:fld>
            <a:endParaRPr lang="en-US"/>
          </a:p>
        </p:txBody>
      </p:sp>
      <p:sp>
        <p:nvSpPr>
          <p:cNvPr id="4" name="Footer Placeholder 3">
            <a:extLst>
              <a:ext uri="{FF2B5EF4-FFF2-40B4-BE49-F238E27FC236}">
                <a16:creationId xmlns:a16="http://schemas.microsoft.com/office/drawing/2014/main" id="{D4227C32-4D65-4761-DB49-C8857965738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2AA60DA-19CF-3D2A-3A20-82925FFA94D4}"/>
              </a:ext>
            </a:extLst>
          </p:cNvPr>
          <p:cNvSpPr>
            <a:spLocks noGrp="1"/>
          </p:cNvSpPr>
          <p:nvPr>
            <p:ph type="sldNum" sz="quarter" idx="12"/>
          </p:nvPr>
        </p:nvSpPr>
        <p:spPr/>
        <p:txBody>
          <a:bodyPr/>
          <a:lstStyle/>
          <a:p>
            <a:fld id="{708ECDB4-1844-41C6-9AA8-9B9BB5833B9B}" type="slidenum">
              <a:rPr lang="en-US" smtClean="0"/>
              <a:t>‹#›</a:t>
            </a:fld>
            <a:endParaRPr lang="en-US"/>
          </a:p>
        </p:txBody>
      </p:sp>
    </p:spTree>
    <p:extLst>
      <p:ext uri="{BB962C8B-B14F-4D97-AF65-F5344CB8AC3E}">
        <p14:creationId xmlns:p14="http://schemas.microsoft.com/office/powerpoint/2010/main" val="8081341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03C1EF-B6A3-7422-FD10-11BBFA91781B}"/>
              </a:ext>
            </a:extLst>
          </p:cNvPr>
          <p:cNvSpPr>
            <a:spLocks noGrp="1"/>
          </p:cNvSpPr>
          <p:nvPr>
            <p:ph type="dt" sz="half" idx="10"/>
          </p:nvPr>
        </p:nvSpPr>
        <p:spPr/>
        <p:txBody>
          <a:bodyPr/>
          <a:lstStyle/>
          <a:p>
            <a:fld id="{3ADF55E8-267E-4144-848D-6600FC66DEC2}" type="datetimeFigureOut">
              <a:rPr lang="en-US" smtClean="0"/>
              <a:t>11/12/2025</a:t>
            </a:fld>
            <a:endParaRPr lang="en-US"/>
          </a:p>
        </p:txBody>
      </p:sp>
      <p:sp>
        <p:nvSpPr>
          <p:cNvPr id="3" name="Footer Placeholder 2">
            <a:extLst>
              <a:ext uri="{FF2B5EF4-FFF2-40B4-BE49-F238E27FC236}">
                <a16:creationId xmlns:a16="http://schemas.microsoft.com/office/drawing/2014/main" id="{79AEEF23-B1EB-CB8A-EB5A-3D8311BAD3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408E3F0-A639-0582-CDF9-E6B2E50A057D}"/>
              </a:ext>
            </a:extLst>
          </p:cNvPr>
          <p:cNvSpPr>
            <a:spLocks noGrp="1"/>
          </p:cNvSpPr>
          <p:nvPr>
            <p:ph type="sldNum" sz="quarter" idx="12"/>
          </p:nvPr>
        </p:nvSpPr>
        <p:spPr/>
        <p:txBody>
          <a:bodyPr/>
          <a:lstStyle/>
          <a:p>
            <a:fld id="{708ECDB4-1844-41C6-9AA8-9B9BB5833B9B}" type="slidenum">
              <a:rPr lang="en-US" smtClean="0"/>
              <a:t>‹#›</a:t>
            </a:fld>
            <a:endParaRPr lang="en-US"/>
          </a:p>
        </p:txBody>
      </p:sp>
    </p:spTree>
    <p:extLst>
      <p:ext uri="{BB962C8B-B14F-4D97-AF65-F5344CB8AC3E}">
        <p14:creationId xmlns:p14="http://schemas.microsoft.com/office/powerpoint/2010/main" val="10576717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23BDA-DFC1-6390-3CC3-A2F98C80FED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96D1919-0E12-4FD7-0D26-2D394637B7A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E5E0BEB-A13E-9571-E1BD-979A51EDABA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B1E1D0-920F-AB5D-0548-7DAA303FC0A7}"/>
              </a:ext>
            </a:extLst>
          </p:cNvPr>
          <p:cNvSpPr>
            <a:spLocks noGrp="1"/>
          </p:cNvSpPr>
          <p:nvPr>
            <p:ph type="dt" sz="half" idx="10"/>
          </p:nvPr>
        </p:nvSpPr>
        <p:spPr/>
        <p:txBody>
          <a:bodyPr/>
          <a:lstStyle/>
          <a:p>
            <a:fld id="{3ADF55E8-267E-4144-848D-6600FC66DEC2}" type="datetimeFigureOut">
              <a:rPr lang="en-US" smtClean="0"/>
              <a:t>11/12/2025</a:t>
            </a:fld>
            <a:endParaRPr lang="en-US"/>
          </a:p>
        </p:txBody>
      </p:sp>
      <p:sp>
        <p:nvSpPr>
          <p:cNvPr id="6" name="Footer Placeholder 5">
            <a:extLst>
              <a:ext uri="{FF2B5EF4-FFF2-40B4-BE49-F238E27FC236}">
                <a16:creationId xmlns:a16="http://schemas.microsoft.com/office/drawing/2014/main" id="{2098B8AF-44AE-0061-912E-BDD700EBA8E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0EC474F-B25B-4074-6CBE-C1E3B3E22996}"/>
              </a:ext>
            </a:extLst>
          </p:cNvPr>
          <p:cNvSpPr>
            <a:spLocks noGrp="1"/>
          </p:cNvSpPr>
          <p:nvPr>
            <p:ph type="sldNum" sz="quarter" idx="12"/>
          </p:nvPr>
        </p:nvSpPr>
        <p:spPr/>
        <p:txBody>
          <a:bodyPr/>
          <a:lstStyle/>
          <a:p>
            <a:fld id="{708ECDB4-1844-41C6-9AA8-9B9BB5833B9B}" type="slidenum">
              <a:rPr lang="en-US" smtClean="0"/>
              <a:t>‹#›</a:t>
            </a:fld>
            <a:endParaRPr lang="en-US"/>
          </a:p>
        </p:txBody>
      </p:sp>
    </p:spTree>
    <p:extLst>
      <p:ext uri="{BB962C8B-B14F-4D97-AF65-F5344CB8AC3E}">
        <p14:creationId xmlns:p14="http://schemas.microsoft.com/office/powerpoint/2010/main" val="6677057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41E537-40B5-20D8-63BB-41DFF9F5E72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3E1288A-5FD1-3D1A-7E51-D0B430D5E8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793873-82BB-0E5E-BACC-4725C931E0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420AB14-7E92-2745-8682-D1A0DE0A9758}"/>
              </a:ext>
            </a:extLst>
          </p:cNvPr>
          <p:cNvSpPr>
            <a:spLocks noGrp="1"/>
          </p:cNvSpPr>
          <p:nvPr>
            <p:ph type="dt" sz="half" idx="10"/>
          </p:nvPr>
        </p:nvSpPr>
        <p:spPr/>
        <p:txBody>
          <a:bodyPr/>
          <a:lstStyle/>
          <a:p>
            <a:fld id="{3ADF55E8-267E-4144-848D-6600FC66DEC2}" type="datetimeFigureOut">
              <a:rPr lang="en-US" smtClean="0"/>
              <a:t>11/12/2025</a:t>
            </a:fld>
            <a:endParaRPr lang="en-US"/>
          </a:p>
        </p:txBody>
      </p:sp>
      <p:sp>
        <p:nvSpPr>
          <p:cNvPr id="6" name="Footer Placeholder 5">
            <a:extLst>
              <a:ext uri="{FF2B5EF4-FFF2-40B4-BE49-F238E27FC236}">
                <a16:creationId xmlns:a16="http://schemas.microsoft.com/office/drawing/2014/main" id="{E2076DB7-D22E-D66D-85F3-C0D87F50B30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9E41FB9-8C25-847A-8CD8-A94877592272}"/>
              </a:ext>
            </a:extLst>
          </p:cNvPr>
          <p:cNvSpPr>
            <a:spLocks noGrp="1"/>
          </p:cNvSpPr>
          <p:nvPr>
            <p:ph type="sldNum" sz="quarter" idx="12"/>
          </p:nvPr>
        </p:nvSpPr>
        <p:spPr/>
        <p:txBody>
          <a:bodyPr/>
          <a:lstStyle/>
          <a:p>
            <a:fld id="{708ECDB4-1844-41C6-9AA8-9B9BB5833B9B}" type="slidenum">
              <a:rPr lang="en-US" smtClean="0"/>
              <a:t>‹#›</a:t>
            </a:fld>
            <a:endParaRPr lang="en-US"/>
          </a:p>
        </p:txBody>
      </p:sp>
    </p:spTree>
    <p:extLst>
      <p:ext uri="{BB962C8B-B14F-4D97-AF65-F5344CB8AC3E}">
        <p14:creationId xmlns:p14="http://schemas.microsoft.com/office/powerpoint/2010/main" val="4332658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710AE-1E96-FF81-5194-838505ECE19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7B56AD6-303C-4286-D81C-F69FA72D520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F7722B-F706-AC5A-4759-83B2DA1FC088}"/>
              </a:ext>
            </a:extLst>
          </p:cNvPr>
          <p:cNvSpPr>
            <a:spLocks noGrp="1"/>
          </p:cNvSpPr>
          <p:nvPr>
            <p:ph type="dt" sz="half" idx="10"/>
          </p:nvPr>
        </p:nvSpPr>
        <p:spPr/>
        <p:txBody>
          <a:bodyPr/>
          <a:lstStyle/>
          <a:p>
            <a:fld id="{3ADF55E8-267E-4144-848D-6600FC66DEC2}" type="datetimeFigureOut">
              <a:rPr lang="en-US" smtClean="0"/>
              <a:t>11/12/2025</a:t>
            </a:fld>
            <a:endParaRPr lang="en-US"/>
          </a:p>
        </p:txBody>
      </p:sp>
      <p:sp>
        <p:nvSpPr>
          <p:cNvPr id="5" name="Footer Placeholder 4">
            <a:extLst>
              <a:ext uri="{FF2B5EF4-FFF2-40B4-BE49-F238E27FC236}">
                <a16:creationId xmlns:a16="http://schemas.microsoft.com/office/drawing/2014/main" id="{F2DD72F6-84D9-616D-90C4-2E7BF327BD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AFEF0A-4FCA-6B72-2FFC-B55A82CA7974}"/>
              </a:ext>
            </a:extLst>
          </p:cNvPr>
          <p:cNvSpPr>
            <a:spLocks noGrp="1"/>
          </p:cNvSpPr>
          <p:nvPr>
            <p:ph type="sldNum" sz="quarter" idx="12"/>
          </p:nvPr>
        </p:nvSpPr>
        <p:spPr/>
        <p:txBody>
          <a:bodyPr/>
          <a:lstStyle/>
          <a:p>
            <a:fld id="{708ECDB4-1844-41C6-9AA8-9B9BB5833B9B}" type="slidenum">
              <a:rPr lang="en-US" smtClean="0"/>
              <a:t>‹#›</a:t>
            </a:fld>
            <a:endParaRPr lang="en-US"/>
          </a:p>
        </p:txBody>
      </p:sp>
    </p:spTree>
    <p:extLst>
      <p:ext uri="{BB962C8B-B14F-4D97-AF65-F5344CB8AC3E}">
        <p14:creationId xmlns:p14="http://schemas.microsoft.com/office/powerpoint/2010/main" val="23250252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ED2AE3D-65D9-5169-51E3-44F84109143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B29D34-E5AC-4C2D-96B1-15B8F3C1C00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1C34AE8-0794-DE91-1A73-AD04305AA32E}"/>
              </a:ext>
            </a:extLst>
          </p:cNvPr>
          <p:cNvSpPr>
            <a:spLocks noGrp="1"/>
          </p:cNvSpPr>
          <p:nvPr>
            <p:ph type="dt" sz="half" idx="10"/>
          </p:nvPr>
        </p:nvSpPr>
        <p:spPr/>
        <p:txBody>
          <a:bodyPr/>
          <a:lstStyle/>
          <a:p>
            <a:fld id="{3ADF55E8-267E-4144-848D-6600FC66DEC2}" type="datetimeFigureOut">
              <a:rPr lang="en-US" smtClean="0"/>
              <a:t>11/12/2025</a:t>
            </a:fld>
            <a:endParaRPr lang="en-US"/>
          </a:p>
        </p:txBody>
      </p:sp>
      <p:sp>
        <p:nvSpPr>
          <p:cNvPr id="5" name="Footer Placeholder 4">
            <a:extLst>
              <a:ext uri="{FF2B5EF4-FFF2-40B4-BE49-F238E27FC236}">
                <a16:creationId xmlns:a16="http://schemas.microsoft.com/office/drawing/2014/main" id="{D3936A52-5622-7A75-54C3-6BF1463C03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2C8AE5-5D17-90CA-4D08-91E5C1EFD1F4}"/>
              </a:ext>
            </a:extLst>
          </p:cNvPr>
          <p:cNvSpPr>
            <a:spLocks noGrp="1"/>
          </p:cNvSpPr>
          <p:nvPr>
            <p:ph type="sldNum" sz="quarter" idx="12"/>
          </p:nvPr>
        </p:nvSpPr>
        <p:spPr/>
        <p:txBody>
          <a:bodyPr/>
          <a:lstStyle/>
          <a:p>
            <a:fld id="{708ECDB4-1844-41C6-9AA8-9B9BB5833B9B}" type="slidenum">
              <a:rPr lang="en-US" smtClean="0"/>
              <a:t>‹#›</a:t>
            </a:fld>
            <a:endParaRPr lang="en-US"/>
          </a:p>
        </p:txBody>
      </p:sp>
    </p:spTree>
    <p:extLst>
      <p:ext uri="{BB962C8B-B14F-4D97-AF65-F5344CB8AC3E}">
        <p14:creationId xmlns:p14="http://schemas.microsoft.com/office/powerpoint/2010/main" val="34688388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1C2A80A-6277-E389-752E-AAB01402DDF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FA5C9B-A50E-25A0-6651-75B52F0E071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1027CEE-CE9F-5CF0-3D86-282338CAD1A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ADF55E8-267E-4144-848D-6600FC66DEC2}" type="datetimeFigureOut">
              <a:rPr lang="en-US" smtClean="0"/>
              <a:t>11/12/2025</a:t>
            </a:fld>
            <a:endParaRPr lang="en-US"/>
          </a:p>
        </p:txBody>
      </p:sp>
      <p:sp>
        <p:nvSpPr>
          <p:cNvPr id="5" name="Footer Placeholder 4">
            <a:extLst>
              <a:ext uri="{FF2B5EF4-FFF2-40B4-BE49-F238E27FC236}">
                <a16:creationId xmlns:a16="http://schemas.microsoft.com/office/drawing/2014/main" id="{4884A4BD-6F81-7D6F-FC66-3687C4EBF9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BA90D6E-BFC5-5949-360B-9ED447C44F2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08ECDB4-1844-41C6-9AA8-9B9BB5833B9B}" type="slidenum">
              <a:rPr lang="en-US" smtClean="0"/>
              <a:t>‹#›</a:t>
            </a:fld>
            <a:endParaRPr lang="en-US"/>
          </a:p>
        </p:txBody>
      </p:sp>
    </p:spTree>
    <p:extLst>
      <p:ext uri="{BB962C8B-B14F-4D97-AF65-F5344CB8AC3E}">
        <p14:creationId xmlns:p14="http://schemas.microsoft.com/office/powerpoint/2010/main" val="18973599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5.xml.rels><?xml version="1.0" encoding="UTF-8" standalone="yes"?>
<Relationships xmlns="http://schemas.openxmlformats.org/package/2006/relationships"><Relationship Id="rId8" Type="http://schemas.openxmlformats.org/officeDocument/2006/relationships/hyperlink" Target="https://docs.bsky.app/docs/get-started" TargetMode="External"/><Relationship Id="rId3" Type="http://schemas.openxmlformats.org/officeDocument/2006/relationships/hyperlink" Target="https://praw.readthedocs.io/en/stable/" TargetMode="External"/><Relationship Id="rId7" Type="http://schemas.openxmlformats.org/officeDocument/2006/relationships/hyperlink" Target="https://business.yelp.com/data/products/fusion/" TargetMode="Externa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hyperlink" Target="https://documents.worldbank.org/en/publication/documents-reports/api" TargetMode="External"/><Relationship Id="rId5" Type="http://schemas.openxmlformats.org/officeDocument/2006/relationships/hyperlink" Target="https://developers.google.com/youtube/v3" TargetMode="External"/><Relationship Id="rId10" Type="http://schemas.openxmlformats.org/officeDocument/2006/relationships/image" Target="../media/image11.jpeg"/><Relationship Id="rId4" Type="http://schemas.openxmlformats.org/officeDocument/2006/relationships/hyperlink" Target="https://developer.imdb.com/" TargetMode="External"/><Relationship Id="rId9" Type="http://schemas.openxmlformats.org/officeDocument/2006/relationships/hyperlink" Target="https://github.com/public-apis/public-apis"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hyperlink" Target="https://docs.python.org/3/library/json.html" TargetMode="External"/><Relationship Id="rId1" Type="http://schemas.openxmlformats.org/officeDocument/2006/relationships/slideLayout" Target="../slideLayouts/slideLayout5.xml"/><Relationship Id="rId5" Type="http://schemas.openxmlformats.org/officeDocument/2006/relationships/image" Target="../media/image13.jpg"/><Relationship Id="rId4" Type="http://schemas.openxmlformats.org/officeDocument/2006/relationships/hyperlink" Target="https://docs.python.org/3/library/xml.html"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hyperlink" Target="https://data.gov/" TargetMode="External"/><Relationship Id="rId5" Type="http://schemas.openxmlformats.org/officeDocument/2006/relationships/hyperlink" Target="https://www.nber.org/research/data?page=1&amp;perPage=50" TargetMode="External"/><Relationship Id="rId4" Type="http://schemas.openxmlformats.org/officeDocument/2006/relationships/hyperlink" Target="https://healthdata.gov/" TargetMode="Externa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Video 4" descr="Wires Linked To Core Router">
            <a:extLst>
              <a:ext uri="{FF2B5EF4-FFF2-40B4-BE49-F238E27FC236}">
                <a16:creationId xmlns:a16="http://schemas.microsoft.com/office/drawing/2014/main" id="{1883AADE-9E61-6DD5-2EE6-0CE76D0D3F5E}"/>
              </a:ext>
            </a:extLst>
          </p:cNvPr>
          <p:cNvPicPr>
            <a:picLocks noChangeAspect="1"/>
          </p:cNvPicPr>
          <p:nvPr>
            <a:videoFile r:link="rId2"/>
            <p:extLst>
              <p:ext uri="{DAA4B4D4-6D71-4841-9C94-3DE7FCFB9230}">
                <p14:media xmlns:p14="http://schemas.microsoft.com/office/powerpoint/2010/main" r:embed="rId1"/>
              </p:ext>
            </p:extLst>
          </p:nvPr>
        </p:nvPicPr>
        <p:blipFill>
          <a:blip r:embed="rId5"/>
          <a:srcRect t="101" r="1" b="184"/>
          <a:stretch/>
        </p:blipFill>
        <p:spPr>
          <a:xfrm>
            <a:off x="-3047" y="10"/>
            <a:ext cx="12191999" cy="6857990"/>
          </a:xfrm>
          <a:prstGeom prst="rect">
            <a:avLst/>
          </a:prstGeom>
        </p:spPr>
      </p:pic>
      <p:sp>
        <p:nvSpPr>
          <p:cNvPr id="11" name="Rectangle 10">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EF3578A-B26F-6812-E4D2-3DCB70866D98}"/>
              </a:ext>
            </a:extLst>
          </p:cNvPr>
          <p:cNvSpPr>
            <a:spLocks noGrp="1"/>
          </p:cNvSpPr>
          <p:nvPr>
            <p:ph type="ctrTitle"/>
          </p:nvPr>
        </p:nvSpPr>
        <p:spPr>
          <a:xfrm>
            <a:off x="1097280" y="325550"/>
            <a:ext cx="10058400" cy="3574778"/>
          </a:xfrm>
          <a:effectLst>
            <a:outerShdw blurRad="50800" dist="38100" dir="2700000" algn="tl" rotWithShape="0">
              <a:prstClr val="black">
                <a:alpha val="40000"/>
              </a:prstClr>
            </a:outerShdw>
          </a:effectLst>
        </p:spPr>
        <p:txBody>
          <a:bodyPr>
            <a:normAutofit/>
          </a:bodyPr>
          <a:lstStyle/>
          <a:p>
            <a:r>
              <a:rPr lang="en-US" sz="5200">
                <a:solidFill>
                  <a:srgbClr val="FFFFFF"/>
                </a:solidFill>
              </a:rPr>
              <a:t>Data Mining</a:t>
            </a:r>
          </a:p>
        </p:txBody>
      </p:sp>
      <p:sp>
        <p:nvSpPr>
          <p:cNvPr id="3" name="Subtitle 2">
            <a:extLst>
              <a:ext uri="{FF2B5EF4-FFF2-40B4-BE49-F238E27FC236}">
                <a16:creationId xmlns:a16="http://schemas.microsoft.com/office/drawing/2014/main" id="{AD3B8D18-69E2-996E-021F-AEA941BB9C69}"/>
              </a:ext>
            </a:extLst>
          </p:cNvPr>
          <p:cNvSpPr>
            <a:spLocks noGrp="1"/>
          </p:cNvSpPr>
          <p:nvPr>
            <p:ph type="subTitle" idx="1"/>
          </p:nvPr>
        </p:nvSpPr>
        <p:spPr>
          <a:xfrm>
            <a:off x="1100051" y="4072043"/>
            <a:ext cx="10058400" cy="1282707"/>
          </a:xfrm>
          <a:effectLst>
            <a:outerShdw blurRad="50800" dist="38100" dir="2700000" algn="tl" rotWithShape="0">
              <a:prstClr val="black">
                <a:alpha val="40000"/>
              </a:prstClr>
            </a:outerShdw>
          </a:effectLst>
        </p:spPr>
        <p:txBody>
          <a:bodyPr>
            <a:normAutofit/>
          </a:bodyPr>
          <a:lstStyle/>
          <a:p>
            <a:r>
              <a:rPr lang="en-US">
                <a:solidFill>
                  <a:srgbClr val="FFFFFF"/>
                </a:solidFill>
              </a:rPr>
              <a:t>GRAD 695</a:t>
            </a:r>
          </a:p>
        </p:txBody>
      </p:sp>
    </p:spTree>
    <p:extLst>
      <p:ext uri="{BB962C8B-B14F-4D97-AF65-F5344CB8AC3E}">
        <p14:creationId xmlns:p14="http://schemas.microsoft.com/office/powerpoint/2010/main" val="1573546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9877"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seq concurrent="1" nextAc="seek">
              <p:cTn id="7" restart="whenNotActive" fill="hold" evtFilter="cancelBubble" nodeType="interactiveSeq">
                <p:stCondLst>
                  <p:cond evt="onClick" delay="0">
                    <p:tgtEl>
                      <p:spTgt spid="5"/>
                    </p:tgtEl>
                  </p:cond>
                </p:stCondLst>
                <p:endSync evt="end" delay="0">
                  <p:rtn val="all"/>
                </p:endSync>
                <p:childTnLst>
                  <p:par>
                    <p:cTn id="8" fill="hold">
                      <p:stCondLst>
                        <p:cond delay="0"/>
                      </p:stCondLst>
                      <p:childTnLst>
                        <p:par>
                          <p:cTn id="9" fill="hold">
                            <p:stCondLst>
                              <p:cond delay="0"/>
                            </p:stCondLst>
                            <p:childTnLst>
                              <p:par>
                                <p:cTn id="10" presetID="2" presetClass="mediacall" presetSubtype="0" fill="hold" nodeType="clickEffect">
                                  <p:stCondLst>
                                    <p:cond delay="0"/>
                                  </p:stCondLst>
                                  <p:childTnLst>
                                    <p:cmd type="call" cmd="togglePause">
                                      <p:cBhvr>
                                        <p:cTn id="11" dur="1" fill="hold"/>
                                        <p:tgtEl>
                                          <p:spTgt spid="5"/>
                                        </p:tgtEl>
                                      </p:cBhvr>
                                    </p:cmd>
                                  </p:childTnLst>
                                </p:cTn>
                              </p:par>
                            </p:childTnLst>
                          </p:cTn>
                        </p:par>
                      </p:childTnLst>
                    </p:cTn>
                  </p:par>
                </p:childTnLst>
              </p:cTn>
              <p:nextCondLst>
                <p:cond evt="onClick" delay="0">
                  <p:tgtEl>
                    <p:spTgt spid="5"/>
                  </p:tgtEl>
                </p:cond>
              </p:nextCondLst>
            </p:seq>
            <p:video>
              <p:cMediaNode mute="1">
                <p:cTn id="12" repeatCount="indefinite" fill="hold" display="0">
                  <p:stCondLst>
                    <p:cond delay="indefinite"/>
                  </p:stCondLst>
                </p:cTn>
                <p:tgtEl>
                  <p:spTgt spid="5"/>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3683A94-07DE-3CA1-5BEB-3C7EDF2EDA57}"/>
              </a:ext>
            </a:extLst>
          </p:cNvPr>
          <p:cNvSpPr>
            <a:spLocks noGrp="1"/>
          </p:cNvSpPr>
          <p:nvPr>
            <p:ph type="title"/>
          </p:nvPr>
        </p:nvSpPr>
        <p:spPr>
          <a:xfrm>
            <a:off x="761803" y="350196"/>
            <a:ext cx="4646904" cy="1624520"/>
          </a:xfrm>
        </p:spPr>
        <p:txBody>
          <a:bodyPr anchor="ctr">
            <a:normAutofit/>
          </a:bodyPr>
          <a:lstStyle/>
          <a:p>
            <a:r>
              <a:rPr lang="en-US" sz="4000"/>
              <a:t>Data Availability</a:t>
            </a:r>
          </a:p>
        </p:txBody>
      </p:sp>
      <p:sp>
        <p:nvSpPr>
          <p:cNvPr id="3" name="Content Placeholder 2">
            <a:extLst>
              <a:ext uri="{FF2B5EF4-FFF2-40B4-BE49-F238E27FC236}">
                <a16:creationId xmlns:a16="http://schemas.microsoft.com/office/drawing/2014/main" id="{88AAC439-6CD9-CABF-2A58-5CB80B7ADCFF}"/>
              </a:ext>
            </a:extLst>
          </p:cNvPr>
          <p:cNvSpPr>
            <a:spLocks noGrp="1"/>
          </p:cNvSpPr>
          <p:nvPr>
            <p:ph idx="1"/>
          </p:nvPr>
        </p:nvSpPr>
        <p:spPr>
          <a:xfrm>
            <a:off x="761802" y="2743200"/>
            <a:ext cx="4646905" cy="3613149"/>
          </a:xfrm>
        </p:spPr>
        <p:txBody>
          <a:bodyPr anchor="ctr">
            <a:normAutofit/>
          </a:bodyPr>
          <a:lstStyle/>
          <a:p>
            <a:r>
              <a:rPr lang="en-US" sz="2000"/>
              <a:t>No shortage of data in today’s world</a:t>
            </a:r>
          </a:p>
          <a:p>
            <a:r>
              <a:rPr lang="en-US" sz="2000"/>
              <a:t>But that comes with numerous challenges:</a:t>
            </a:r>
          </a:p>
          <a:p>
            <a:pPr lvl="1"/>
            <a:r>
              <a:rPr lang="en-US" sz="2000"/>
              <a:t>Dealing with big data</a:t>
            </a:r>
          </a:p>
          <a:p>
            <a:pPr lvl="1"/>
            <a:r>
              <a:rPr lang="en-US" sz="2000"/>
              <a:t>Selecting appropriate data</a:t>
            </a:r>
          </a:p>
          <a:p>
            <a:pPr lvl="1"/>
            <a:r>
              <a:rPr lang="en-US" sz="2000"/>
              <a:t>Cleaning and processing data</a:t>
            </a:r>
          </a:p>
          <a:p>
            <a:pPr lvl="1"/>
            <a:r>
              <a:rPr lang="en-US" sz="2000"/>
              <a:t>Extracting useful insights</a:t>
            </a:r>
          </a:p>
          <a:p>
            <a:r>
              <a:rPr lang="en-US" sz="2000"/>
              <a:t>Other courses cover most of these challenges, so for now, let’s focus on selecting appropriate data</a:t>
            </a:r>
          </a:p>
        </p:txBody>
      </p:sp>
      <p:pic>
        <p:nvPicPr>
          <p:cNvPr id="5" name="Picture 4" descr="Illuminated server room panel">
            <a:extLst>
              <a:ext uri="{FF2B5EF4-FFF2-40B4-BE49-F238E27FC236}">
                <a16:creationId xmlns:a16="http://schemas.microsoft.com/office/drawing/2014/main" id="{3DCD8717-0333-6FF9-F271-E4AB4BF27F33}"/>
              </a:ext>
            </a:extLst>
          </p:cNvPr>
          <p:cNvPicPr>
            <a:picLocks noChangeAspect="1"/>
          </p:cNvPicPr>
          <p:nvPr/>
        </p:nvPicPr>
        <p:blipFill>
          <a:blip r:embed="rId3"/>
          <a:srcRect l="16934" r="23665" b="-2"/>
          <a:stretch/>
        </p:blipFill>
        <p:spPr>
          <a:xfrm>
            <a:off x="6096000" y="1"/>
            <a:ext cx="6102825" cy="6858000"/>
          </a:xfrm>
          <a:prstGeom prst="rect">
            <a:avLst/>
          </a:prstGeom>
        </p:spPr>
      </p:pic>
    </p:spTree>
    <p:extLst>
      <p:ext uri="{BB962C8B-B14F-4D97-AF65-F5344CB8AC3E}">
        <p14:creationId xmlns:p14="http://schemas.microsoft.com/office/powerpoint/2010/main" val="34167275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9" name="Rectangle 18">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A82B76F-E118-6D09-4AC5-FD291F5831AA}"/>
              </a:ext>
            </a:extLst>
          </p:cNvPr>
          <p:cNvSpPr>
            <a:spLocks noGrp="1"/>
          </p:cNvSpPr>
          <p:nvPr>
            <p:ph type="title"/>
          </p:nvPr>
        </p:nvSpPr>
        <p:spPr>
          <a:xfrm>
            <a:off x="586478" y="1683756"/>
            <a:ext cx="3115265" cy="2396359"/>
          </a:xfrm>
        </p:spPr>
        <p:txBody>
          <a:bodyPr anchor="b">
            <a:normAutofit/>
          </a:bodyPr>
          <a:lstStyle/>
          <a:p>
            <a:pPr algn="r"/>
            <a:r>
              <a:rPr lang="en-US" sz="4000">
                <a:solidFill>
                  <a:srgbClr val="FFFFFF"/>
                </a:solidFill>
              </a:rPr>
              <a:t>Features of Available Data</a:t>
            </a:r>
          </a:p>
        </p:txBody>
      </p:sp>
      <p:graphicFrame>
        <p:nvGraphicFramePr>
          <p:cNvPr id="5" name="Content Placeholder 2">
            <a:extLst>
              <a:ext uri="{FF2B5EF4-FFF2-40B4-BE49-F238E27FC236}">
                <a16:creationId xmlns:a16="http://schemas.microsoft.com/office/drawing/2014/main" id="{1F600D8C-E7E5-1AA3-BEDC-13C5ADDEF675}"/>
              </a:ext>
            </a:extLst>
          </p:cNvPr>
          <p:cNvGraphicFramePr>
            <a:graphicFrameLocks noGrp="1"/>
          </p:cNvGraphicFramePr>
          <p:nvPr>
            <p:ph idx="1"/>
            <p:extLst>
              <p:ext uri="{D42A27DB-BD31-4B8C-83A1-F6EECF244321}">
                <p14:modId xmlns:p14="http://schemas.microsoft.com/office/powerpoint/2010/main" val="4211801947"/>
              </p:ext>
            </p:extLst>
          </p:nvPr>
        </p:nvGraphicFramePr>
        <p:xfrm>
          <a:off x="4905052" y="750440"/>
          <a:ext cx="6666833" cy="545392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196847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07F584-5753-8DF5-B60B-8000FAAE6D10}"/>
              </a:ext>
            </a:extLst>
          </p:cNvPr>
          <p:cNvSpPr>
            <a:spLocks noGrp="1"/>
          </p:cNvSpPr>
          <p:nvPr>
            <p:ph type="title"/>
          </p:nvPr>
        </p:nvSpPr>
        <p:spPr/>
        <p:txBody>
          <a:bodyPr/>
          <a:lstStyle/>
          <a:p>
            <a:r>
              <a:rPr lang="en-US" dirty="0"/>
              <a:t>Common Strategies for Getting Data</a:t>
            </a:r>
          </a:p>
        </p:txBody>
      </p:sp>
      <p:graphicFrame>
        <p:nvGraphicFramePr>
          <p:cNvPr id="5" name="Content Placeholder 2">
            <a:extLst>
              <a:ext uri="{FF2B5EF4-FFF2-40B4-BE49-F238E27FC236}">
                <a16:creationId xmlns:a16="http://schemas.microsoft.com/office/drawing/2014/main" id="{86064F23-8BFC-7F23-4CFD-DF5FE31F4D21}"/>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668315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AEBCCD-5943-9AB0-9FD8-A033A447C24B}"/>
              </a:ext>
            </a:extLst>
          </p:cNvPr>
          <p:cNvSpPr>
            <a:spLocks noGrp="1"/>
          </p:cNvSpPr>
          <p:nvPr>
            <p:ph type="title"/>
          </p:nvPr>
        </p:nvSpPr>
        <p:spPr>
          <a:xfrm>
            <a:off x="761800" y="32655"/>
            <a:ext cx="5334197" cy="1708242"/>
          </a:xfrm>
        </p:spPr>
        <p:txBody>
          <a:bodyPr anchor="ctr">
            <a:normAutofit/>
          </a:bodyPr>
          <a:lstStyle/>
          <a:p>
            <a:r>
              <a:rPr lang="en-US" sz="4000" dirty="0"/>
              <a:t>APIs</a:t>
            </a:r>
          </a:p>
        </p:txBody>
      </p:sp>
      <p:sp>
        <p:nvSpPr>
          <p:cNvPr id="3" name="Content Placeholder 2">
            <a:extLst>
              <a:ext uri="{FF2B5EF4-FFF2-40B4-BE49-F238E27FC236}">
                <a16:creationId xmlns:a16="http://schemas.microsoft.com/office/drawing/2014/main" id="{9FA1BB12-9FD0-0AC4-FDE7-B8BDEC23439B}"/>
              </a:ext>
            </a:extLst>
          </p:cNvPr>
          <p:cNvSpPr>
            <a:spLocks noGrp="1"/>
          </p:cNvSpPr>
          <p:nvPr>
            <p:ph idx="1"/>
          </p:nvPr>
        </p:nvSpPr>
        <p:spPr>
          <a:xfrm>
            <a:off x="761800" y="1208314"/>
            <a:ext cx="5334197" cy="5257800"/>
          </a:xfrm>
        </p:spPr>
        <p:txBody>
          <a:bodyPr anchor="ctr">
            <a:normAutofit/>
          </a:bodyPr>
          <a:lstStyle/>
          <a:p>
            <a:r>
              <a:rPr lang="en-US" sz="2000" dirty="0"/>
              <a:t>Used by many websites and apps to allow developers and others access</a:t>
            </a:r>
          </a:p>
          <a:p>
            <a:r>
              <a:rPr lang="en-US" sz="2000" dirty="0"/>
              <a:t>Common APIs for research: </a:t>
            </a:r>
            <a:r>
              <a:rPr lang="en-US" sz="2000" dirty="0">
                <a:hlinkClick r:id="rId3"/>
              </a:rPr>
              <a:t>Reddit</a:t>
            </a:r>
            <a:r>
              <a:rPr lang="en-US" sz="2000" dirty="0"/>
              <a:t>, </a:t>
            </a:r>
            <a:r>
              <a:rPr lang="en-US" sz="2000" dirty="0" err="1">
                <a:hlinkClick r:id="rId4"/>
              </a:rPr>
              <a:t>IMdB</a:t>
            </a:r>
            <a:r>
              <a:rPr lang="en-US" sz="2000" dirty="0"/>
              <a:t>, </a:t>
            </a:r>
            <a:r>
              <a:rPr lang="en-US" sz="2000" dirty="0">
                <a:hlinkClick r:id="rId5"/>
              </a:rPr>
              <a:t>YouTube</a:t>
            </a:r>
            <a:r>
              <a:rPr lang="en-US" sz="2000" dirty="0"/>
              <a:t> (limited), </a:t>
            </a:r>
            <a:r>
              <a:rPr lang="en-US" sz="2000" dirty="0" err="1">
                <a:hlinkClick r:id="rId6"/>
              </a:rPr>
              <a:t>WorldBank</a:t>
            </a:r>
            <a:r>
              <a:rPr lang="en-US" sz="2000" dirty="0"/>
              <a:t>, </a:t>
            </a:r>
            <a:r>
              <a:rPr lang="en-US" sz="2000" dirty="0">
                <a:hlinkClick r:id="rId7"/>
              </a:rPr>
              <a:t>Yelp</a:t>
            </a:r>
            <a:r>
              <a:rPr lang="en-US" sz="2000" dirty="0"/>
              <a:t> (not free), </a:t>
            </a:r>
            <a:r>
              <a:rPr lang="en-US" sz="2000" dirty="0">
                <a:hlinkClick r:id="rId8"/>
              </a:rPr>
              <a:t>Bluesky</a:t>
            </a:r>
            <a:endParaRPr lang="en-US" sz="2000" dirty="0"/>
          </a:p>
          <a:p>
            <a:pPr lvl="1"/>
            <a:r>
              <a:rPr lang="en-US" sz="2000" dirty="0">
                <a:hlinkClick r:id="rId9"/>
              </a:rPr>
              <a:t>List of Public APIs</a:t>
            </a:r>
            <a:endParaRPr lang="en-US" sz="2000" dirty="0"/>
          </a:p>
          <a:p>
            <a:r>
              <a:rPr lang="en-US" sz="2000" dirty="0"/>
              <a:t>Vary in terms of type and level of access</a:t>
            </a:r>
          </a:p>
          <a:p>
            <a:pPr lvl="1"/>
            <a:r>
              <a:rPr lang="en-US" sz="2000" dirty="0"/>
              <a:t>Many require special permissions and have restrictions on use</a:t>
            </a:r>
          </a:p>
          <a:p>
            <a:r>
              <a:rPr lang="en-US" sz="2000" dirty="0"/>
              <a:t>Many APIs have specific Python packages with custom functions</a:t>
            </a:r>
          </a:p>
          <a:p>
            <a:pPr lvl="1"/>
            <a:r>
              <a:rPr lang="en-US" sz="2000" dirty="0"/>
              <a:t>Alternatively, requests package can be used for any API</a:t>
            </a:r>
          </a:p>
          <a:p>
            <a:r>
              <a:rPr lang="en-US" sz="2000" dirty="0"/>
              <a:t>Common types of APIs: REST and </a:t>
            </a:r>
            <a:r>
              <a:rPr lang="en-US" sz="2000" dirty="0" err="1"/>
              <a:t>GraphQL</a:t>
            </a:r>
            <a:endParaRPr lang="en-US" sz="2000" dirty="0"/>
          </a:p>
          <a:p>
            <a:pPr lvl="1"/>
            <a:endParaRPr lang="en-US" sz="2000" dirty="0"/>
          </a:p>
        </p:txBody>
      </p:sp>
      <p:pic>
        <p:nvPicPr>
          <p:cNvPr id="5" name="Picture 4" descr="Computer script on a screen">
            <a:extLst>
              <a:ext uri="{FF2B5EF4-FFF2-40B4-BE49-F238E27FC236}">
                <a16:creationId xmlns:a16="http://schemas.microsoft.com/office/drawing/2014/main" id="{CC2D9B40-BD0C-CD3D-BD37-0808E75DA3DD}"/>
              </a:ext>
            </a:extLst>
          </p:cNvPr>
          <p:cNvPicPr>
            <a:picLocks noChangeAspect="1"/>
          </p:cNvPicPr>
          <p:nvPr/>
        </p:nvPicPr>
        <p:blipFill>
          <a:blip r:embed="rId10"/>
          <a:srcRect l="4195" r="43968" b="-1"/>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spTree>
    <p:extLst>
      <p:ext uri="{BB962C8B-B14F-4D97-AF65-F5344CB8AC3E}">
        <p14:creationId xmlns:p14="http://schemas.microsoft.com/office/powerpoint/2010/main" val="256920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32815-1FF1-901D-BF25-05B75FE32BCC}"/>
              </a:ext>
            </a:extLst>
          </p:cNvPr>
          <p:cNvSpPr>
            <a:spLocks noGrp="1"/>
          </p:cNvSpPr>
          <p:nvPr>
            <p:ph type="title"/>
          </p:nvPr>
        </p:nvSpPr>
        <p:spPr/>
        <p:txBody>
          <a:bodyPr/>
          <a:lstStyle/>
          <a:p>
            <a:r>
              <a:rPr lang="en-US" dirty="0"/>
              <a:t>Data Structures in APIs</a:t>
            </a:r>
          </a:p>
        </p:txBody>
      </p:sp>
      <p:sp>
        <p:nvSpPr>
          <p:cNvPr id="4" name="Text Placeholder 3">
            <a:extLst>
              <a:ext uri="{FF2B5EF4-FFF2-40B4-BE49-F238E27FC236}">
                <a16:creationId xmlns:a16="http://schemas.microsoft.com/office/drawing/2014/main" id="{7E0EFF69-DF09-22BF-3EC8-3C1F75E34371}"/>
              </a:ext>
            </a:extLst>
          </p:cNvPr>
          <p:cNvSpPr>
            <a:spLocks noGrp="1"/>
          </p:cNvSpPr>
          <p:nvPr>
            <p:ph type="body" idx="1"/>
          </p:nvPr>
        </p:nvSpPr>
        <p:spPr/>
        <p:txBody>
          <a:bodyPr/>
          <a:lstStyle/>
          <a:p>
            <a:r>
              <a:rPr lang="en-US" dirty="0">
                <a:hlinkClick r:id="rId2"/>
              </a:rPr>
              <a:t>JSON</a:t>
            </a:r>
            <a:endParaRPr lang="en-US" dirty="0"/>
          </a:p>
        </p:txBody>
      </p:sp>
      <p:pic>
        <p:nvPicPr>
          <p:cNvPr id="9" name="Content Placeholder 8" descr="A screenshot of a computer program&#10;&#10;AI-generated content may be incorrect.">
            <a:extLst>
              <a:ext uri="{FF2B5EF4-FFF2-40B4-BE49-F238E27FC236}">
                <a16:creationId xmlns:a16="http://schemas.microsoft.com/office/drawing/2014/main" id="{890AE2E1-3F6F-2AB5-5885-188BF3AF211F}"/>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839787" y="2647156"/>
            <a:ext cx="4956093" cy="3370872"/>
          </a:xfrm>
        </p:spPr>
      </p:pic>
      <p:sp>
        <p:nvSpPr>
          <p:cNvPr id="6" name="Text Placeholder 5">
            <a:extLst>
              <a:ext uri="{FF2B5EF4-FFF2-40B4-BE49-F238E27FC236}">
                <a16:creationId xmlns:a16="http://schemas.microsoft.com/office/drawing/2014/main" id="{548FB535-4BDD-C094-1706-90DAF93AD40B}"/>
              </a:ext>
            </a:extLst>
          </p:cNvPr>
          <p:cNvSpPr>
            <a:spLocks noGrp="1"/>
          </p:cNvSpPr>
          <p:nvPr>
            <p:ph type="body" sz="quarter" idx="3"/>
          </p:nvPr>
        </p:nvSpPr>
        <p:spPr/>
        <p:txBody>
          <a:bodyPr/>
          <a:lstStyle/>
          <a:p>
            <a:r>
              <a:rPr lang="en-US" dirty="0">
                <a:hlinkClick r:id="rId4"/>
              </a:rPr>
              <a:t>XML</a:t>
            </a:r>
            <a:endParaRPr lang="en-US" dirty="0"/>
          </a:p>
        </p:txBody>
      </p:sp>
      <p:pic>
        <p:nvPicPr>
          <p:cNvPr id="11" name="Content Placeholder 10" descr="A screenshot of a computer code&#10;&#10;AI-generated content may be incorrect.">
            <a:extLst>
              <a:ext uri="{FF2B5EF4-FFF2-40B4-BE49-F238E27FC236}">
                <a16:creationId xmlns:a16="http://schemas.microsoft.com/office/drawing/2014/main" id="{9B1812D7-7D98-342F-09D4-C229BF4B735A}"/>
              </a:ext>
            </a:extLst>
          </p:cNvPr>
          <p:cNvPicPr>
            <a:picLocks noGrp="1" noChangeAspect="1"/>
          </p:cNvPicPr>
          <p:nvPr>
            <p:ph sz="quarter" idx="4"/>
          </p:nvPr>
        </p:nvPicPr>
        <p:blipFill>
          <a:blip r:embed="rId5">
            <a:extLst>
              <a:ext uri="{28A0092B-C50C-407E-A947-70E740481C1C}">
                <a14:useLocalDpi xmlns:a14="http://schemas.microsoft.com/office/drawing/2010/main" val="0"/>
              </a:ext>
            </a:extLst>
          </a:blip>
          <a:stretch>
            <a:fillRect/>
          </a:stretch>
        </p:blipFill>
        <p:spPr>
          <a:xfrm>
            <a:off x="6172199" y="2609849"/>
            <a:ext cx="5544879" cy="3266161"/>
          </a:xfrm>
        </p:spPr>
      </p:pic>
    </p:spTree>
    <p:extLst>
      <p:ext uri="{BB962C8B-B14F-4D97-AF65-F5344CB8AC3E}">
        <p14:creationId xmlns:p14="http://schemas.microsoft.com/office/powerpoint/2010/main" val="30762149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640E93D9-F13F-4097-A159-E0A6CEBA8F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7" name="Title 6">
            <a:extLst>
              <a:ext uri="{FF2B5EF4-FFF2-40B4-BE49-F238E27FC236}">
                <a16:creationId xmlns:a16="http://schemas.microsoft.com/office/drawing/2014/main" id="{D7F8E8A4-6312-D50F-3BEA-5711C31081F3}"/>
              </a:ext>
            </a:extLst>
          </p:cNvPr>
          <p:cNvSpPr>
            <a:spLocks noGrp="1"/>
          </p:cNvSpPr>
          <p:nvPr>
            <p:ph type="title"/>
          </p:nvPr>
        </p:nvSpPr>
        <p:spPr>
          <a:xfrm>
            <a:off x="389916" y="444464"/>
            <a:ext cx="3420305" cy="1906317"/>
          </a:xfrm>
        </p:spPr>
        <p:txBody>
          <a:bodyPr>
            <a:normAutofit/>
          </a:bodyPr>
          <a:lstStyle/>
          <a:p>
            <a:pPr algn="ctr"/>
            <a:r>
              <a:rPr lang="en-US" sz="2800"/>
              <a:t>Web Scraping</a:t>
            </a:r>
          </a:p>
        </p:txBody>
      </p:sp>
      <p:pic>
        <p:nvPicPr>
          <p:cNvPr id="10" name="Picture 9" descr="Hands on keyboard and mouse">
            <a:extLst>
              <a:ext uri="{FF2B5EF4-FFF2-40B4-BE49-F238E27FC236}">
                <a16:creationId xmlns:a16="http://schemas.microsoft.com/office/drawing/2014/main" id="{1E6B4CB9-5186-D1C5-2EF2-B38773C38F60}"/>
              </a:ext>
            </a:extLst>
          </p:cNvPr>
          <p:cNvPicPr>
            <a:picLocks noChangeAspect="1"/>
          </p:cNvPicPr>
          <p:nvPr/>
        </p:nvPicPr>
        <p:blipFill>
          <a:blip r:embed="rId3"/>
          <a:srcRect l="23107" r="7060" b="3"/>
          <a:stretch/>
        </p:blipFill>
        <p:spPr>
          <a:xfrm>
            <a:off x="20" y="2768743"/>
            <a:ext cx="4278264" cy="4089258"/>
          </a:xfrm>
          <a:prstGeom prst="rect">
            <a:avLst/>
          </a:prstGeom>
        </p:spPr>
      </p:pic>
      <p:sp>
        <p:nvSpPr>
          <p:cNvPr id="21" name="Rectangle 20">
            <a:extLst>
              <a:ext uri="{FF2B5EF4-FFF2-40B4-BE49-F238E27FC236}">
                <a16:creationId xmlns:a16="http://schemas.microsoft.com/office/drawing/2014/main" id="{BA3D150B-ADB5-401D-8304-C7845A1095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768743"/>
            <a:ext cx="4310288"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8" name="Content Placeholder 7">
            <a:extLst>
              <a:ext uri="{FF2B5EF4-FFF2-40B4-BE49-F238E27FC236}">
                <a16:creationId xmlns:a16="http://schemas.microsoft.com/office/drawing/2014/main" id="{1D20BB5C-C930-762A-3545-CBC34DB407C6}"/>
              </a:ext>
            </a:extLst>
          </p:cNvPr>
          <p:cNvSpPr>
            <a:spLocks noGrp="1"/>
          </p:cNvSpPr>
          <p:nvPr>
            <p:ph idx="1"/>
          </p:nvPr>
        </p:nvSpPr>
        <p:spPr>
          <a:xfrm>
            <a:off x="4953000" y="444465"/>
            <a:ext cx="6849084" cy="5934564"/>
          </a:xfrm>
        </p:spPr>
        <p:txBody>
          <a:bodyPr anchor="ctr">
            <a:normAutofit lnSpcReduction="10000"/>
          </a:bodyPr>
          <a:lstStyle/>
          <a:p>
            <a:r>
              <a:rPr lang="en-US" sz="2400" dirty="0"/>
              <a:t>Method for getting content from web sites</a:t>
            </a:r>
          </a:p>
          <a:p>
            <a:r>
              <a:rPr lang="en-US" sz="2400" dirty="0"/>
              <a:t>Common crawl methods can collect large amounts of web content but tends to be messy and unfocused</a:t>
            </a:r>
          </a:p>
          <a:p>
            <a:r>
              <a:rPr lang="en-US" sz="2400" dirty="0"/>
              <a:t>Better approach is to be intentional with what is collected and collect semi-structured data not just completely unstructured data</a:t>
            </a:r>
          </a:p>
          <a:p>
            <a:r>
              <a:rPr lang="en-US" sz="2400" dirty="0"/>
              <a:t>Must be careful to respect Terms of Use and privacy</a:t>
            </a:r>
          </a:p>
          <a:p>
            <a:pPr lvl="1"/>
            <a:r>
              <a:rPr lang="en-US" dirty="0"/>
              <a:t>Good rule is to limit scraping to publicly available pages not requiring a sign-in or account</a:t>
            </a:r>
          </a:p>
          <a:p>
            <a:r>
              <a:rPr lang="en-US" sz="2400" dirty="0"/>
              <a:t>General process involves using html code to identify or generate </a:t>
            </a:r>
            <a:r>
              <a:rPr lang="en-US" sz="2400" dirty="0" err="1"/>
              <a:t>urls</a:t>
            </a:r>
            <a:r>
              <a:rPr lang="en-US" sz="2400" dirty="0"/>
              <a:t> then extracting needed data from html code underlying the website</a:t>
            </a:r>
          </a:p>
          <a:p>
            <a:pPr lvl="1"/>
            <a:r>
              <a:rPr lang="en-US" dirty="0"/>
              <a:t>RSS Feeds or sitemaps can be an alternative method for data extraction</a:t>
            </a:r>
          </a:p>
        </p:txBody>
      </p:sp>
      <p:sp>
        <p:nvSpPr>
          <p:cNvPr id="23" name="Rectangle 22">
            <a:extLst>
              <a:ext uri="{FF2B5EF4-FFF2-40B4-BE49-F238E27FC236}">
                <a16:creationId xmlns:a16="http://schemas.microsoft.com/office/drawing/2014/main" id="{ACD3AB31-A71C-4414-BA05-CF667CBA3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5909" y="3396995"/>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Tree>
    <p:extLst>
      <p:ext uri="{BB962C8B-B14F-4D97-AF65-F5344CB8AC3E}">
        <p14:creationId xmlns:p14="http://schemas.microsoft.com/office/powerpoint/2010/main" val="1022645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B3309-8CFA-A1BB-0771-27B502BCB755}"/>
              </a:ext>
            </a:extLst>
          </p:cNvPr>
          <p:cNvSpPr>
            <a:spLocks noGrp="1"/>
          </p:cNvSpPr>
          <p:nvPr>
            <p:ph type="title"/>
          </p:nvPr>
        </p:nvSpPr>
        <p:spPr>
          <a:xfrm>
            <a:off x="5868557" y="1138036"/>
            <a:ext cx="5444382" cy="1402470"/>
          </a:xfrm>
        </p:spPr>
        <p:txBody>
          <a:bodyPr anchor="t">
            <a:normAutofit/>
          </a:bodyPr>
          <a:lstStyle/>
          <a:p>
            <a:r>
              <a:rPr lang="en-US" sz="3200"/>
              <a:t>Web Scraping Plan</a:t>
            </a:r>
          </a:p>
        </p:txBody>
      </p:sp>
      <p:pic>
        <p:nvPicPr>
          <p:cNvPr id="5" name="Picture 4" descr="Computer script on a screen">
            <a:extLst>
              <a:ext uri="{FF2B5EF4-FFF2-40B4-BE49-F238E27FC236}">
                <a16:creationId xmlns:a16="http://schemas.microsoft.com/office/drawing/2014/main" id="{71EE78F5-151F-1A6B-F119-7DBE60498DFC}"/>
              </a:ext>
            </a:extLst>
          </p:cNvPr>
          <p:cNvPicPr>
            <a:picLocks noChangeAspect="1"/>
          </p:cNvPicPr>
          <p:nvPr/>
        </p:nvPicPr>
        <p:blipFill>
          <a:blip r:embed="rId3"/>
          <a:srcRect l="5045" r="44817" b="-1"/>
          <a:stretch/>
        </p:blipFill>
        <p:spPr>
          <a:xfrm>
            <a:off x="-1" y="10"/>
            <a:ext cx="5151179" cy="6857990"/>
          </a:xfrm>
          <a:prstGeom prst="rect">
            <a:avLst/>
          </a:prstGeom>
        </p:spPr>
      </p:pic>
      <p:cxnSp>
        <p:nvCxnSpPr>
          <p:cNvPr id="9" name="Straight Connector 8">
            <a:extLst>
              <a:ext uri="{FF2B5EF4-FFF2-40B4-BE49-F238E27FC236}">
                <a16:creationId xmlns:a16="http://schemas.microsoft.com/office/drawing/2014/main" id="{1503BFE4-729B-D9D0-C17B-501E6AF1127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971697"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219CBB6-31AC-0C0D-C995-89B06AD94291}"/>
              </a:ext>
            </a:extLst>
          </p:cNvPr>
          <p:cNvSpPr>
            <a:spLocks noGrp="1"/>
          </p:cNvSpPr>
          <p:nvPr>
            <p:ph idx="1"/>
          </p:nvPr>
        </p:nvSpPr>
        <p:spPr>
          <a:xfrm>
            <a:off x="5868557" y="1861458"/>
            <a:ext cx="5444382" cy="4280926"/>
          </a:xfrm>
        </p:spPr>
        <p:txBody>
          <a:bodyPr>
            <a:normAutofit fontScale="92500"/>
          </a:bodyPr>
          <a:lstStyle/>
          <a:p>
            <a:r>
              <a:rPr lang="en-US" dirty="0"/>
              <a:t>Before beginning web scraping, need a plan for what you want to get</a:t>
            </a:r>
          </a:p>
          <a:p>
            <a:pPr lvl="1"/>
            <a:r>
              <a:rPr lang="en-US" sz="2800" dirty="0"/>
              <a:t>Starting URL</a:t>
            </a:r>
          </a:p>
          <a:p>
            <a:pPr lvl="1"/>
            <a:r>
              <a:rPr lang="en-US" sz="2800" dirty="0"/>
              <a:t>Inclusion Criteria </a:t>
            </a:r>
          </a:p>
          <a:p>
            <a:pPr lvl="1"/>
            <a:r>
              <a:rPr lang="en-US" sz="2800" dirty="0"/>
              <a:t>Pattern of URLs to loop through </a:t>
            </a:r>
          </a:p>
          <a:p>
            <a:pPr lvl="1"/>
            <a:r>
              <a:rPr lang="en-US" sz="2800" dirty="0"/>
              <a:t>HTML pattern for extracting URLs</a:t>
            </a:r>
          </a:p>
          <a:p>
            <a:pPr lvl="1"/>
            <a:r>
              <a:rPr lang="en-US" sz="2800" dirty="0"/>
              <a:t>Data to collect from each page</a:t>
            </a:r>
          </a:p>
          <a:p>
            <a:pPr lvl="1"/>
            <a:r>
              <a:rPr lang="en-US" sz="2800" dirty="0"/>
              <a:t>HTML tags/patterns for data</a:t>
            </a:r>
          </a:p>
        </p:txBody>
      </p:sp>
    </p:spTree>
    <p:extLst>
      <p:ext uri="{BB962C8B-B14F-4D97-AF65-F5344CB8AC3E}">
        <p14:creationId xmlns:p14="http://schemas.microsoft.com/office/powerpoint/2010/main" val="308044159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40E93D9-F13F-4097-A159-E0A6CEBA8F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A186C8BA-A99D-A69E-06B0-80E2E064371D}"/>
              </a:ext>
            </a:extLst>
          </p:cNvPr>
          <p:cNvSpPr>
            <a:spLocks noGrp="1"/>
          </p:cNvSpPr>
          <p:nvPr>
            <p:ph type="title"/>
          </p:nvPr>
        </p:nvSpPr>
        <p:spPr>
          <a:xfrm>
            <a:off x="389916" y="444464"/>
            <a:ext cx="3420305" cy="1906317"/>
          </a:xfrm>
        </p:spPr>
        <p:txBody>
          <a:bodyPr>
            <a:normAutofit/>
          </a:bodyPr>
          <a:lstStyle/>
          <a:p>
            <a:pPr algn="ctr"/>
            <a:r>
              <a:rPr lang="en-US" sz="2800"/>
              <a:t>Repositories and Archives</a:t>
            </a:r>
          </a:p>
        </p:txBody>
      </p:sp>
      <p:pic>
        <p:nvPicPr>
          <p:cNvPr id="5" name="Picture 4" descr="Files">
            <a:extLst>
              <a:ext uri="{FF2B5EF4-FFF2-40B4-BE49-F238E27FC236}">
                <a16:creationId xmlns:a16="http://schemas.microsoft.com/office/drawing/2014/main" id="{87C1AE08-A1E2-62BC-DB06-642C139E0AC6}"/>
              </a:ext>
            </a:extLst>
          </p:cNvPr>
          <p:cNvPicPr>
            <a:picLocks noChangeAspect="1"/>
          </p:cNvPicPr>
          <p:nvPr/>
        </p:nvPicPr>
        <p:blipFill>
          <a:blip r:embed="rId3"/>
          <a:srcRect l="4652" r="25515" b="3"/>
          <a:stretch/>
        </p:blipFill>
        <p:spPr>
          <a:xfrm>
            <a:off x="20" y="2768743"/>
            <a:ext cx="4278264" cy="4089258"/>
          </a:xfrm>
          <a:prstGeom prst="rect">
            <a:avLst/>
          </a:prstGeom>
        </p:spPr>
      </p:pic>
      <p:sp>
        <p:nvSpPr>
          <p:cNvPr id="16" name="Rectangle 15">
            <a:extLst>
              <a:ext uri="{FF2B5EF4-FFF2-40B4-BE49-F238E27FC236}">
                <a16:creationId xmlns:a16="http://schemas.microsoft.com/office/drawing/2014/main" id="{BA3D150B-ADB5-401D-8304-C7845A1095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768743"/>
            <a:ext cx="4310288"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3" name="Content Placeholder 2">
            <a:extLst>
              <a:ext uri="{FF2B5EF4-FFF2-40B4-BE49-F238E27FC236}">
                <a16:creationId xmlns:a16="http://schemas.microsoft.com/office/drawing/2014/main" id="{B96B790F-5E71-5DB9-D96C-31F287A2F7D4}"/>
              </a:ext>
            </a:extLst>
          </p:cNvPr>
          <p:cNvSpPr>
            <a:spLocks noGrp="1"/>
          </p:cNvSpPr>
          <p:nvPr>
            <p:ph idx="1"/>
          </p:nvPr>
        </p:nvSpPr>
        <p:spPr>
          <a:xfrm>
            <a:off x="4668199" y="444465"/>
            <a:ext cx="7262543" cy="6043422"/>
          </a:xfrm>
        </p:spPr>
        <p:txBody>
          <a:bodyPr anchor="ctr">
            <a:normAutofit lnSpcReduction="10000"/>
          </a:bodyPr>
          <a:lstStyle/>
          <a:p>
            <a:r>
              <a:rPr lang="en-US" sz="2000" dirty="0"/>
              <a:t>Extensive data available in repositories like </a:t>
            </a:r>
            <a:r>
              <a:rPr lang="en-US" sz="2000" dirty="0" err="1"/>
              <a:t>Github</a:t>
            </a:r>
            <a:r>
              <a:rPr lang="en-US" sz="2000" dirty="0"/>
              <a:t>, </a:t>
            </a:r>
            <a:r>
              <a:rPr lang="en-US" sz="2000" dirty="0" err="1"/>
              <a:t>HuggingFace</a:t>
            </a:r>
            <a:r>
              <a:rPr lang="en-US" sz="2000" dirty="0"/>
              <a:t>, and Kaggle</a:t>
            </a:r>
          </a:p>
          <a:p>
            <a:pPr lvl="1"/>
            <a:r>
              <a:rPr lang="en-US" sz="2000" dirty="0"/>
              <a:t>However, much of these data is poorly documented and poor-quality data</a:t>
            </a:r>
          </a:p>
          <a:p>
            <a:pPr lvl="1"/>
            <a:r>
              <a:rPr lang="en-US" sz="2000" dirty="0"/>
              <a:t>Any data from these types of repositories needs to be used careful</a:t>
            </a:r>
          </a:p>
          <a:p>
            <a:pPr lvl="1"/>
            <a:r>
              <a:rPr lang="en-US" sz="2000" dirty="0"/>
              <a:t>Only use datasets with data cards/descriptions documenting the source of the data and how it was collected (ideally, data is tied to a peer-reviewed publication)</a:t>
            </a:r>
          </a:p>
          <a:p>
            <a:pPr lvl="1"/>
            <a:r>
              <a:rPr lang="en-US" sz="2000" dirty="0"/>
              <a:t>If possible, check at least a few data points against the original source for accuracy</a:t>
            </a:r>
          </a:p>
          <a:p>
            <a:r>
              <a:rPr lang="en-US" sz="2000" dirty="0"/>
              <a:t>Many organizations also maintain data archives that are either openly available or accessible with permission</a:t>
            </a:r>
          </a:p>
          <a:p>
            <a:pPr lvl="1"/>
            <a:r>
              <a:rPr lang="en-US" sz="2000" dirty="0"/>
              <a:t>These tend to be better documented and better quality depending on the organization</a:t>
            </a:r>
          </a:p>
          <a:p>
            <a:pPr lvl="1"/>
            <a:r>
              <a:rPr lang="en-US" sz="2000" dirty="0"/>
              <a:t>Often domain-specific datasets such as </a:t>
            </a:r>
            <a:r>
              <a:rPr lang="en-US" sz="2000" dirty="0">
                <a:hlinkClick r:id="rId4"/>
              </a:rPr>
              <a:t>health care</a:t>
            </a:r>
            <a:r>
              <a:rPr lang="en-US" sz="2000" dirty="0"/>
              <a:t>, </a:t>
            </a:r>
            <a:r>
              <a:rPr lang="en-US" sz="2000" dirty="0">
                <a:hlinkClick r:id="rId5"/>
              </a:rPr>
              <a:t>economics</a:t>
            </a:r>
            <a:r>
              <a:rPr lang="en-US" sz="2000" dirty="0"/>
              <a:t>, </a:t>
            </a:r>
            <a:r>
              <a:rPr lang="en-US" sz="2000" dirty="0">
                <a:hlinkClick r:id="rId6"/>
              </a:rPr>
              <a:t>public policy</a:t>
            </a:r>
            <a:endParaRPr lang="en-US" sz="2000" dirty="0"/>
          </a:p>
          <a:p>
            <a:pPr lvl="1"/>
            <a:r>
              <a:rPr lang="en-US" sz="2000" dirty="0"/>
              <a:t>Many have stricter terms of use which only allow non-commercial, academic use  </a:t>
            </a:r>
          </a:p>
          <a:p>
            <a:endParaRPr lang="en-US" sz="2000" dirty="0"/>
          </a:p>
        </p:txBody>
      </p:sp>
      <p:sp>
        <p:nvSpPr>
          <p:cNvPr id="18" name="Rectangle 17">
            <a:extLst>
              <a:ext uri="{FF2B5EF4-FFF2-40B4-BE49-F238E27FC236}">
                <a16:creationId xmlns:a16="http://schemas.microsoft.com/office/drawing/2014/main" id="{ACD3AB31-A71C-4414-BA05-CF667CBA34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855909" y="3396995"/>
            <a:ext cx="6858002" cy="64008"/>
          </a:xfrm>
          <a:prstGeom prst="rect">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Tree>
    <p:extLst>
      <p:ext uri="{BB962C8B-B14F-4D97-AF65-F5344CB8AC3E}">
        <p14:creationId xmlns:p14="http://schemas.microsoft.com/office/powerpoint/2010/main" val="35167065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55A2079-FA98-4876-80F0-72364A7D2E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0915A8-FA4D-ADE6-2EB6-50FABFC5C301}"/>
              </a:ext>
            </a:extLst>
          </p:cNvPr>
          <p:cNvSpPr>
            <a:spLocks noGrp="1"/>
          </p:cNvSpPr>
          <p:nvPr>
            <p:ph type="title"/>
          </p:nvPr>
        </p:nvSpPr>
        <p:spPr>
          <a:xfrm>
            <a:off x="838200" y="557188"/>
            <a:ext cx="10515600" cy="1133499"/>
          </a:xfrm>
        </p:spPr>
        <p:txBody>
          <a:bodyPr>
            <a:normAutofit/>
          </a:bodyPr>
          <a:lstStyle/>
          <a:p>
            <a:pPr algn="ctr"/>
            <a:r>
              <a:rPr lang="en-US" sz="5200"/>
              <a:t>Databases</a:t>
            </a:r>
          </a:p>
        </p:txBody>
      </p:sp>
      <p:graphicFrame>
        <p:nvGraphicFramePr>
          <p:cNvPr id="5" name="Content Placeholder 2">
            <a:extLst>
              <a:ext uri="{FF2B5EF4-FFF2-40B4-BE49-F238E27FC236}">
                <a16:creationId xmlns:a16="http://schemas.microsoft.com/office/drawing/2014/main" id="{01819AE1-3800-9883-83B9-C1F16B1B62EE}"/>
              </a:ext>
            </a:extLst>
          </p:cNvPr>
          <p:cNvGraphicFramePr>
            <a:graphicFrameLocks noGrp="1"/>
          </p:cNvGraphicFramePr>
          <p:nvPr>
            <p:ph idx="1"/>
            <p:extLst>
              <p:ext uri="{D42A27DB-BD31-4B8C-83A1-F6EECF244321}">
                <p14:modId xmlns:p14="http://schemas.microsoft.com/office/powerpoint/2010/main" val="4108733742"/>
              </p:ext>
            </p:extLst>
          </p:nvPr>
        </p:nvGraphicFramePr>
        <p:xfrm>
          <a:off x="838200" y="1828800"/>
          <a:ext cx="10515600" cy="435254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51122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tint val="95000"/>
            <a:satMod val="170000"/>
          </a:schemeClr>
        </a:solidFill>
        <a:effectLst/>
      </p:bgPr>
    </p:bg>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66B332A4-D438-4773-A77F-5ED49A448D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953768" y="0"/>
            <a:ext cx="8284464" cy="6858000"/>
          </a:xfrm>
          <a:custGeom>
            <a:avLst/>
            <a:gdLst>
              <a:gd name="connsiteX0" fmla="*/ 1818109 w 8284464"/>
              <a:gd name="connsiteY0" fmla="*/ 0 h 6858000"/>
              <a:gd name="connsiteX1" fmla="*/ 6466355 w 8284464"/>
              <a:gd name="connsiteY1" fmla="*/ 0 h 6858000"/>
              <a:gd name="connsiteX2" fmla="*/ 6620596 w 8284464"/>
              <a:gd name="connsiteY2" fmla="*/ 109683 h 6858000"/>
              <a:gd name="connsiteX3" fmla="*/ 8284464 w 8284464"/>
              <a:gd name="connsiteY3" fmla="*/ 3429000 h 6858000"/>
              <a:gd name="connsiteX4" fmla="*/ 6620596 w 8284464"/>
              <a:gd name="connsiteY4" fmla="*/ 6748318 h 6858000"/>
              <a:gd name="connsiteX5" fmla="*/ 6466355 w 8284464"/>
              <a:gd name="connsiteY5" fmla="*/ 6858000 h 6858000"/>
              <a:gd name="connsiteX6" fmla="*/ 1818109 w 8284464"/>
              <a:gd name="connsiteY6" fmla="*/ 6858000 h 6858000"/>
              <a:gd name="connsiteX7" fmla="*/ 1663869 w 8284464"/>
              <a:gd name="connsiteY7" fmla="*/ 6748318 h 6858000"/>
              <a:gd name="connsiteX8" fmla="*/ 0 w 8284464"/>
              <a:gd name="connsiteY8" fmla="*/ 3429000 h 6858000"/>
              <a:gd name="connsiteX9" fmla="*/ 1663869 w 8284464"/>
              <a:gd name="connsiteY9" fmla="*/ 10968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284464" h="6858000">
                <a:moveTo>
                  <a:pt x="1818109" y="0"/>
                </a:moveTo>
                <a:lnTo>
                  <a:pt x="6466355" y="0"/>
                </a:lnTo>
                <a:lnTo>
                  <a:pt x="6620596" y="109683"/>
                </a:lnTo>
                <a:cubicBezTo>
                  <a:pt x="7630666" y="865069"/>
                  <a:pt x="8284464" y="2070683"/>
                  <a:pt x="8284464" y="3429000"/>
                </a:cubicBezTo>
                <a:cubicBezTo>
                  <a:pt x="8284464" y="4787317"/>
                  <a:pt x="7630666" y="5992931"/>
                  <a:pt x="6620596" y="6748318"/>
                </a:cubicBezTo>
                <a:lnTo>
                  <a:pt x="6466355" y="6858000"/>
                </a:lnTo>
                <a:lnTo>
                  <a:pt x="1818109" y="6858000"/>
                </a:lnTo>
                <a:lnTo>
                  <a:pt x="1663869" y="6748318"/>
                </a:lnTo>
                <a:cubicBezTo>
                  <a:pt x="653798" y="5992931"/>
                  <a:pt x="0" y="4787317"/>
                  <a:pt x="0" y="3429000"/>
                </a:cubicBezTo>
                <a:cubicBezTo>
                  <a:pt x="0" y="2070683"/>
                  <a:pt x="653798" y="865069"/>
                  <a:pt x="1663869" y="109683"/>
                </a:cubicBezTo>
                <a:close/>
              </a:path>
            </a:pathLst>
          </a:custGeom>
          <a:solidFill>
            <a:srgbClr val="FFFFFF">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9" name="Freeform: Shape 8">
            <a:extLst>
              <a:ext uri="{FF2B5EF4-FFF2-40B4-BE49-F238E27FC236}">
                <a16:creationId xmlns:a16="http://schemas.microsoft.com/office/drawing/2014/main" id="{DF9AD32D-FF05-44F4-BD4D-9CEE89B71E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118360" y="0"/>
            <a:ext cx="7955280" cy="6858000"/>
          </a:xfrm>
          <a:custGeom>
            <a:avLst/>
            <a:gdLst>
              <a:gd name="connsiteX0" fmla="*/ 1962423 w 7955280"/>
              <a:gd name="connsiteY0" fmla="*/ 0 h 6858000"/>
              <a:gd name="connsiteX1" fmla="*/ 5992858 w 7955280"/>
              <a:gd name="connsiteY1" fmla="*/ 0 h 6858000"/>
              <a:gd name="connsiteX2" fmla="*/ 6040191 w 7955280"/>
              <a:gd name="connsiteY2" fmla="*/ 27216 h 6858000"/>
              <a:gd name="connsiteX3" fmla="*/ 7955280 w 7955280"/>
              <a:gd name="connsiteY3" fmla="*/ 3429000 h 6858000"/>
              <a:gd name="connsiteX4" fmla="*/ 6040191 w 7955280"/>
              <a:gd name="connsiteY4" fmla="*/ 6830784 h 6858000"/>
              <a:gd name="connsiteX5" fmla="*/ 5992858 w 7955280"/>
              <a:gd name="connsiteY5" fmla="*/ 6858000 h 6858000"/>
              <a:gd name="connsiteX6" fmla="*/ 1962423 w 7955280"/>
              <a:gd name="connsiteY6" fmla="*/ 6858000 h 6858000"/>
              <a:gd name="connsiteX7" fmla="*/ 1915089 w 7955280"/>
              <a:gd name="connsiteY7" fmla="*/ 6830784 h 6858000"/>
              <a:gd name="connsiteX8" fmla="*/ 0 w 7955280"/>
              <a:gd name="connsiteY8" fmla="*/ 3429000 h 6858000"/>
              <a:gd name="connsiteX9" fmla="*/ 1915089 w 7955280"/>
              <a:gd name="connsiteY9" fmla="*/ 27216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55280" h="6858000">
                <a:moveTo>
                  <a:pt x="1962423" y="0"/>
                </a:moveTo>
                <a:lnTo>
                  <a:pt x="5992858" y="0"/>
                </a:lnTo>
                <a:lnTo>
                  <a:pt x="6040191" y="27216"/>
                </a:lnTo>
                <a:cubicBezTo>
                  <a:pt x="7188332" y="724844"/>
                  <a:pt x="7955280" y="1987357"/>
                  <a:pt x="7955280" y="3429000"/>
                </a:cubicBezTo>
                <a:cubicBezTo>
                  <a:pt x="7955280" y="4870644"/>
                  <a:pt x="7188332" y="6133157"/>
                  <a:pt x="6040191" y="6830784"/>
                </a:cubicBezTo>
                <a:lnTo>
                  <a:pt x="5992858" y="6858000"/>
                </a:lnTo>
                <a:lnTo>
                  <a:pt x="1962423" y="6858000"/>
                </a:lnTo>
                <a:lnTo>
                  <a:pt x="1915089" y="6830784"/>
                </a:lnTo>
                <a:cubicBezTo>
                  <a:pt x="766948" y="6133157"/>
                  <a:pt x="0" y="4870644"/>
                  <a:pt x="0" y="3429000"/>
                </a:cubicBezTo>
                <a:cubicBezTo>
                  <a:pt x="0" y="1987357"/>
                  <a:pt x="766948" y="724844"/>
                  <a:pt x="1915089" y="27216"/>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61FABF3-6172-6C5C-8EF5-A23C801BEEE7}"/>
              </a:ext>
            </a:extLst>
          </p:cNvPr>
          <p:cNvSpPr>
            <a:spLocks noGrp="1"/>
          </p:cNvSpPr>
          <p:nvPr>
            <p:ph type="title"/>
          </p:nvPr>
        </p:nvSpPr>
        <p:spPr>
          <a:xfrm>
            <a:off x="2555631" y="1441938"/>
            <a:ext cx="7080738" cy="3974124"/>
          </a:xfrm>
        </p:spPr>
        <p:txBody>
          <a:bodyPr>
            <a:normAutofit/>
          </a:bodyPr>
          <a:lstStyle/>
          <a:p>
            <a:pPr algn="ctr"/>
            <a:r>
              <a:rPr lang="en-US" sz="5400" dirty="0">
                <a:solidFill>
                  <a:schemeClr val="bg1">
                    <a:lumMod val="95000"/>
                    <a:lumOff val="5000"/>
                  </a:schemeClr>
                </a:solidFill>
              </a:rPr>
              <a:t>Let’s Explore Data Availability on Topics of Interest</a:t>
            </a:r>
          </a:p>
        </p:txBody>
      </p:sp>
    </p:spTree>
    <p:extLst>
      <p:ext uri="{BB962C8B-B14F-4D97-AF65-F5344CB8AC3E}">
        <p14:creationId xmlns:p14="http://schemas.microsoft.com/office/powerpoint/2010/main" val="1964531937"/>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8E57F91-0F1C-2F17-34C2-366F7B1F0DF7}"/>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Problem Definition</a:t>
            </a:r>
          </a:p>
        </p:txBody>
      </p:sp>
      <p:sp>
        <p:nvSpPr>
          <p:cNvPr id="3" name="Content Placeholder 2">
            <a:extLst>
              <a:ext uri="{FF2B5EF4-FFF2-40B4-BE49-F238E27FC236}">
                <a16:creationId xmlns:a16="http://schemas.microsoft.com/office/drawing/2014/main" id="{649B4FA4-C317-31F2-B254-80BA055A6816}"/>
              </a:ext>
            </a:extLst>
          </p:cNvPr>
          <p:cNvSpPr>
            <a:spLocks noGrp="1"/>
          </p:cNvSpPr>
          <p:nvPr>
            <p:ph idx="1"/>
          </p:nvPr>
        </p:nvSpPr>
        <p:spPr>
          <a:xfrm>
            <a:off x="1957986" y="2198914"/>
            <a:ext cx="9178099" cy="4016829"/>
          </a:xfrm>
        </p:spPr>
        <p:txBody>
          <a:bodyPr anchor="ctr">
            <a:normAutofit/>
          </a:bodyPr>
          <a:lstStyle/>
          <a:p>
            <a:r>
              <a:rPr lang="en-US" sz="2400" dirty="0">
                <a:solidFill>
                  <a:schemeClr val="tx1">
                    <a:lumMod val="85000"/>
                    <a:lumOff val="15000"/>
                  </a:schemeClr>
                </a:solidFill>
              </a:rPr>
              <a:t>Regardless of what you are doing, you must start with a clear definition of what you want/need from the research</a:t>
            </a:r>
          </a:p>
          <a:p>
            <a:r>
              <a:rPr lang="en-US" sz="2400" dirty="0">
                <a:solidFill>
                  <a:schemeClr val="tx1">
                    <a:lumMod val="85000"/>
                    <a:lumOff val="15000"/>
                  </a:schemeClr>
                </a:solidFill>
              </a:rPr>
              <a:t>You can’t judge the appropriateness of the data or models without knowing what you need from the data and analysis</a:t>
            </a:r>
          </a:p>
          <a:p>
            <a:r>
              <a:rPr lang="en-US" sz="2400" dirty="0">
                <a:solidFill>
                  <a:schemeClr val="tx1">
                    <a:lumMod val="85000"/>
                    <a:lumOff val="15000"/>
                  </a:schemeClr>
                </a:solidFill>
              </a:rPr>
              <a:t>Problem definition can evolve and change however given data availability or other resource constraints</a:t>
            </a:r>
          </a:p>
          <a:p>
            <a:r>
              <a:rPr lang="en-US" sz="2400" dirty="0">
                <a:solidFill>
                  <a:schemeClr val="tx1">
                    <a:lumMod val="85000"/>
                    <a:lumOff val="15000"/>
                  </a:schemeClr>
                </a:solidFill>
              </a:rPr>
              <a:t>Often more than one approach/dataset for a problem</a:t>
            </a:r>
          </a:p>
          <a:p>
            <a:r>
              <a:rPr lang="en-US" sz="2400" dirty="0">
                <a:solidFill>
                  <a:schemeClr val="tx1">
                    <a:lumMod val="85000"/>
                    <a:lumOff val="15000"/>
                  </a:schemeClr>
                </a:solidFill>
              </a:rPr>
              <a:t>If an ideal dataset is not available, multiple datasets may need to be used or combined to solve the problem</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71473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9A36457-A5F4-4103-A443-02581C0918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C5FB7E8-B636-40FA-BE8D-48145C0F5C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
            <a:ext cx="12192000" cy="2295238"/>
          </a:xfrm>
          <a:custGeom>
            <a:avLst/>
            <a:gdLst>
              <a:gd name="connsiteX0" fmla="*/ 12160143 w 12192000"/>
              <a:gd name="connsiteY0" fmla="*/ 831692 h 2079137"/>
              <a:gd name="connsiteX1" fmla="*/ 12159112 w 12192000"/>
              <a:gd name="connsiteY1" fmla="*/ 833361 h 2079137"/>
              <a:gd name="connsiteX2" fmla="*/ 12158912 w 12192000"/>
              <a:gd name="connsiteY2" fmla="*/ 832430 h 2079137"/>
              <a:gd name="connsiteX3" fmla="*/ 0 w 12192000"/>
              <a:gd name="connsiteY3" fmla="*/ 0 h 2079137"/>
              <a:gd name="connsiteX4" fmla="*/ 12192000 w 12192000"/>
              <a:gd name="connsiteY4" fmla="*/ 0 h 2079137"/>
              <a:gd name="connsiteX5" fmla="*/ 12192000 w 12192000"/>
              <a:gd name="connsiteY5" fmla="*/ 558063 h 2079137"/>
              <a:gd name="connsiteX6" fmla="*/ 12189259 w 12192000"/>
              <a:gd name="connsiteY6" fmla="*/ 810508 h 2079137"/>
              <a:gd name="connsiteX7" fmla="*/ 12170847 w 12192000"/>
              <a:gd name="connsiteY7" fmla="*/ 825280 h 2079137"/>
              <a:gd name="connsiteX8" fmla="*/ 12160143 w 12192000"/>
              <a:gd name="connsiteY8" fmla="*/ 831692 h 2079137"/>
              <a:gd name="connsiteX9" fmla="*/ 12163806 w 12192000"/>
              <a:gd name="connsiteY9" fmla="*/ 825759 h 2079137"/>
              <a:gd name="connsiteX10" fmla="*/ 12056557 w 12192000"/>
              <a:gd name="connsiteY10" fmla="*/ 810176 h 2079137"/>
              <a:gd name="connsiteX11" fmla="*/ 11900316 w 12192000"/>
              <a:gd name="connsiteY11" fmla="*/ 789618 h 2079137"/>
              <a:gd name="connsiteX12" fmla="*/ 11791206 w 12192000"/>
              <a:gd name="connsiteY12" fmla="*/ 824176 h 2079137"/>
              <a:gd name="connsiteX13" fmla="*/ 11659257 w 12192000"/>
              <a:gd name="connsiteY13" fmla="*/ 800841 h 2079137"/>
              <a:gd name="connsiteX14" fmla="*/ 11569789 w 12192000"/>
              <a:gd name="connsiteY14" fmla="*/ 797135 h 2079137"/>
              <a:gd name="connsiteX15" fmla="*/ 11367885 w 12192000"/>
              <a:gd name="connsiteY15" fmla="*/ 791985 h 2079137"/>
              <a:gd name="connsiteX16" fmla="*/ 11174663 w 12192000"/>
              <a:gd name="connsiteY16" fmla="*/ 788721 h 2079137"/>
              <a:gd name="connsiteX17" fmla="*/ 11068220 w 12192000"/>
              <a:gd name="connsiteY17" fmla="*/ 786994 h 2079137"/>
              <a:gd name="connsiteX18" fmla="*/ 10893266 w 12192000"/>
              <a:gd name="connsiteY18" fmla="*/ 794013 h 2079137"/>
              <a:gd name="connsiteX19" fmla="*/ 10844025 w 12192000"/>
              <a:gd name="connsiteY19" fmla="*/ 789857 h 2079137"/>
              <a:gd name="connsiteX20" fmla="*/ 10814353 w 12192000"/>
              <a:gd name="connsiteY20" fmla="*/ 789010 h 2079137"/>
              <a:gd name="connsiteX21" fmla="*/ 10748393 w 12192000"/>
              <a:gd name="connsiteY21" fmla="*/ 806738 h 2079137"/>
              <a:gd name="connsiteX22" fmla="*/ 10468256 w 12192000"/>
              <a:gd name="connsiteY22" fmla="*/ 778733 h 2079137"/>
              <a:gd name="connsiteX23" fmla="*/ 10256131 w 12192000"/>
              <a:gd name="connsiteY23" fmla="*/ 788332 h 2079137"/>
              <a:gd name="connsiteX24" fmla="*/ 10177442 w 12192000"/>
              <a:gd name="connsiteY24" fmla="*/ 777371 h 2079137"/>
              <a:gd name="connsiteX25" fmla="*/ 10006086 w 12192000"/>
              <a:gd name="connsiteY25" fmla="*/ 792651 h 2079137"/>
              <a:gd name="connsiteX26" fmla="*/ 9952382 w 12192000"/>
              <a:gd name="connsiteY26" fmla="*/ 815411 h 2079137"/>
              <a:gd name="connsiteX27" fmla="*/ 9926457 w 12192000"/>
              <a:gd name="connsiteY27" fmla="*/ 827295 h 2079137"/>
              <a:gd name="connsiteX28" fmla="*/ 9843405 w 12192000"/>
              <a:gd name="connsiteY28" fmla="*/ 867046 h 2079137"/>
              <a:gd name="connsiteX29" fmla="*/ 9830866 w 12192000"/>
              <a:gd name="connsiteY29" fmla="*/ 875047 h 2079137"/>
              <a:gd name="connsiteX30" fmla="*/ 9801807 w 12192000"/>
              <a:gd name="connsiteY30" fmla="*/ 872272 h 2079137"/>
              <a:gd name="connsiteX31" fmla="*/ 9785653 w 12192000"/>
              <a:gd name="connsiteY31" fmla="*/ 861743 h 2079137"/>
              <a:gd name="connsiteX32" fmla="*/ 9781177 w 12192000"/>
              <a:gd name="connsiteY32" fmla="*/ 864820 h 2079137"/>
              <a:gd name="connsiteX33" fmla="*/ 9768640 w 12192000"/>
              <a:gd name="connsiteY33" fmla="*/ 869379 h 2079137"/>
              <a:gd name="connsiteX34" fmla="*/ 9712211 w 12192000"/>
              <a:gd name="connsiteY34" fmla="*/ 900283 h 2079137"/>
              <a:gd name="connsiteX35" fmla="*/ 9689465 w 12192000"/>
              <a:gd name="connsiteY35" fmla="*/ 899268 h 2079137"/>
              <a:gd name="connsiteX36" fmla="*/ 9600339 w 12192000"/>
              <a:gd name="connsiteY36" fmla="*/ 922112 h 2079137"/>
              <a:gd name="connsiteX37" fmla="*/ 9582850 w 12192000"/>
              <a:gd name="connsiteY37" fmla="*/ 925510 h 2079137"/>
              <a:gd name="connsiteX38" fmla="*/ 9549638 w 12192000"/>
              <a:gd name="connsiteY38" fmla="*/ 940845 h 2079137"/>
              <a:gd name="connsiteX39" fmla="*/ 9539471 w 12192000"/>
              <a:gd name="connsiteY39" fmla="*/ 941799 h 2079137"/>
              <a:gd name="connsiteX40" fmla="*/ 9505592 w 12192000"/>
              <a:gd name="connsiteY40" fmla="*/ 955533 h 2079137"/>
              <a:gd name="connsiteX41" fmla="*/ 9432569 w 12192000"/>
              <a:gd name="connsiteY41" fmla="*/ 985377 h 2079137"/>
              <a:gd name="connsiteX42" fmla="*/ 9414216 w 12192000"/>
              <a:gd name="connsiteY42" fmla="*/ 992655 h 2079137"/>
              <a:gd name="connsiteX43" fmla="*/ 9397106 w 12192000"/>
              <a:gd name="connsiteY43" fmla="*/ 992980 h 2079137"/>
              <a:gd name="connsiteX44" fmla="*/ 9305108 w 12192000"/>
              <a:gd name="connsiteY44" fmla="*/ 1007767 h 2079137"/>
              <a:gd name="connsiteX45" fmla="*/ 9282434 w 12192000"/>
              <a:gd name="connsiteY45" fmla="*/ 1007523 h 2079137"/>
              <a:gd name="connsiteX46" fmla="*/ 9271941 w 12192000"/>
              <a:gd name="connsiteY46" fmla="*/ 1002839 h 2079137"/>
              <a:gd name="connsiteX47" fmla="*/ 9238227 w 12192000"/>
              <a:gd name="connsiteY47" fmla="*/ 1017668 h 2079137"/>
              <a:gd name="connsiteX48" fmla="*/ 9184265 w 12192000"/>
              <a:gd name="connsiteY48" fmla="*/ 1031275 h 2079137"/>
              <a:gd name="connsiteX49" fmla="*/ 9159000 w 12192000"/>
              <a:gd name="connsiteY49" fmla="*/ 1039569 h 2079137"/>
              <a:gd name="connsiteX50" fmla="*/ 9137031 w 12192000"/>
              <a:gd name="connsiteY50" fmla="*/ 1038699 h 2079137"/>
              <a:gd name="connsiteX51" fmla="*/ 9015702 w 12192000"/>
              <a:gd name="connsiteY51" fmla="*/ 1051400 h 2079137"/>
              <a:gd name="connsiteX52" fmla="*/ 8971403 w 12192000"/>
              <a:gd name="connsiteY52" fmla="*/ 1040542 h 2079137"/>
              <a:gd name="connsiteX53" fmla="*/ 8961826 w 12192000"/>
              <a:gd name="connsiteY53" fmla="*/ 1045364 h 2079137"/>
              <a:gd name="connsiteX54" fmla="*/ 8888623 w 12192000"/>
              <a:gd name="connsiteY54" fmla="*/ 1053908 h 2079137"/>
              <a:gd name="connsiteX55" fmla="*/ 8841066 w 12192000"/>
              <a:gd name="connsiteY55" fmla="*/ 1060421 h 2079137"/>
              <a:gd name="connsiteX56" fmla="*/ 8752342 w 12192000"/>
              <a:gd name="connsiteY56" fmla="*/ 1080646 h 2079137"/>
              <a:gd name="connsiteX57" fmla="*/ 8699139 w 12192000"/>
              <a:gd name="connsiteY57" fmla="*/ 1087885 h 2079137"/>
              <a:gd name="connsiteX58" fmla="*/ 8667273 w 12192000"/>
              <a:gd name="connsiteY58" fmla="*/ 1092062 h 2079137"/>
              <a:gd name="connsiteX59" fmla="*/ 8586064 w 12192000"/>
              <a:gd name="connsiteY59" fmla="*/ 1114603 h 2079137"/>
              <a:gd name="connsiteX60" fmla="*/ 8460312 w 12192000"/>
              <a:gd name="connsiteY60" fmla="*/ 1179878 h 2079137"/>
              <a:gd name="connsiteX61" fmla="*/ 8419023 w 12192000"/>
              <a:gd name="connsiteY61" fmla="*/ 1191748 h 2079137"/>
              <a:gd name="connsiteX62" fmla="*/ 8410939 w 12192000"/>
              <a:gd name="connsiteY62" fmla="*/ 1189696 h 2079137"/>
              <a:gd name="connsiteX63" fmla="*/ 8362040 w 12192000"/>
              <a:gd name="connsiteY63" fmla="*/ 1220820 h 2079137"/>
              <a:gd name="connsiteX64" fmla="*/ 8273677 w 12192000"/>
              <a:gd name="connsiteY64" fmla="*/ 1236495 h 2079137"/>
              <a:gd name="connsiteX65" fmla="*/ 8204283 w 12192000"/>
              <a:gd name="connsiteY65" fmla="*/ 1243537 h 2079137"/>
              <a:gd name="connsiteX66" fmla="*/ 8166550 w 12192000"/>
              <a:gd name="connsiteY66" fmla="*/ 1249551 h 2079137"/>
              <a:gd name="connsiteX67" fmla="*/ 8137785 w 12192000"/>
              <a:gd name="connsiteY67" fmla="*/ 1251636 h 2079137"/>
              <a:gd name="connsiteX68" fmla="*/ 8071596 w 12192000"/>
              <a:gd name="connsiteY68" fmla="*/ 1269274 h 2079137"/>
              <a:gd name="connsiteX69" fmla="*/ 7964816 w 12192000"/>
              <a:gd name="connsiteY69" fmla="*/ 1303668 h 2079137"/>
              <a:gd name="connsiteX70" fmla="*/ 7941495 w 12192000"/>
              <a:gd name="connsiteY70" fmla="*/ 1309821 h 2079137"/>
              <a:gd name="connsiteX71" fmla="*/ 7919123 w 12192000"/>
              <a:gd name="connsiteY71" fmla="*/ 1310466 h 2079137"/>
              <a:gd name="connsiteX72" fmla="*/ 7911902 w 12192000"/>
              <a:gd name="connsiteY72" fmla="*/ 1306569 h 2079137"/>
              <a:gd name="connsiteX73" fmla="*/ 7898703 w 12192000"/>
              <a:gd name="connsiteY73" fmla="*/ 1309208 h 2079137"/>
              <a:gd name="connsiteX74" fmla="*/ 7894703 w 12192000"/>
              <a:gd name="connsiteY74" fmla="*/ 1308939 h 2079137"/>
              <a:gd name="connsiteX75" fmla="*/ 7872267 w 12192000"/>
              <a:gd name="connsiteY75" fmla="*/ 1308370 h 2079137"/>
              <a:gd name="connsiteX76" fmla="*/ 7836454 w 12192000"/>
              <a:gd name="connsiteY76" fmla="*/ 1331265 h 2079137"/>
              <a:gd name="connsiteX77" fmla="*/ 7782451 w 12192000"/>
              <a:gd name="connsiteY77" fmla="*/ 1339601 h 2079137"/>
              <a:gd name="connsiteX78" fmla="*/ 7542969 w 12192000"/>
              <a:gd name="connsiteY78" fmla="*/ 1372495 h 2079137"/>
              <a:gd name="connsiteX79" fmla="*/ 7476832 w 12192000"/>
              <a:gd name="connsiteY79" fmla="*/ 1431655 h 2079137"/>
              <a:gd name="connsiteX80" fmla="*/ 7370237 w 12192000"/>
              <a:gd name="connsiteY80" fmla="*/ 1474339 h 2079137"/>
              <a:gd name="connsiteX81" fmla="*/ 7222223 w 12192000"/>
              <a:gd name="connsiteY81" fmla="*/ 1510199 h 2079137"/>
              <a:gd name="connsiteX82" fmla="*/ 7215703 w 12192000"/>
              <a:gd name="connsiteY82" fmla="*/ 1520424 h 2079137"/>
              <a:gd name="connsiteX83" fmla="*/ 7204548 w 12192000"/>
              <a:gd name="connsiteY83" fmla="*/ 1528145 h 2079137"/>
              <a:gd name="connsiteX84" fmla="*/ 7202038 w 12192000"/>
              <a:gd name="connsiteY84" fmla="*/ 1527954 h 2079137"/>
              <a:gd name="connsiteX85" fmla="*/ 7173860 w 12192000"/>
              <a:gd name="connsiteY85" fmla="*/ 1541605 h 2079137"/>
              <a:gd name="connsiteX86" fmla="*/ 7155079 w 12192000"/>
              <a:gd name="connsiteY86" fmla="*/ 1552495 h 2079137"/>
              <a:gd name="connsiteX87" fmla="*/ 7149757 w 12192000"/>
              <a:gd name="connsiteY87" fmla="*/ 1552732 h 2079137"/>
              <a:gd name="connsiteX88" fmla="*/ 7104804 w 12192000"/>
              <a:gd name="connsiteY88" fmla="*/ 1565792 h 2079137"/>
              <a:gd name="connsiteX89" fmla="*/ 7082824 w 12192000"/>
              <a:gd name="connsiteY89" fmla="*/ 1567947 h 2079137"/>
              <a:gd name="connsiteX90" fmla="*/ 7021520 w 12192000"/>
              <a:gd name="connsiteY90" fmla="*/ 1562334 h 2079137"/>
              <a:gd name="connsiteX91" fmla="*/ 6988956 w 12192000"/>
              <a:gd name="connsiteY91" fmla="*/ 1576442 h 2079137"/>
              <a:gd name="connsiteX92" fmla="*/ 6981922 w 12192000"/>
              <a:gd name="connsiteY92" fmla="*/ 1578821 h 2079137"/>
              <a:gd name="connsiteX93" fmla="*/ 6981583 w 12192000"/>
              <a:gd name="connsiteY93" fmla="*/ 1578678 h 2079137"/>
              <a:gd name="connsiteX94" fmla="*/ 6973762 w 12192000"/>
              <a:gd name="connsiteY94" fmla="*/ 1580811 h 2079137"/>
              <a:gd name="connsiteX95" fmla="*/ 6969093 w 12192000"/>
              <a:gd name="connsiteY95" fmla="*/ 1583157 h 2079137"/>
              <a:gd name="connsiteX96" fmla="*/ 6890037 w 12192000"/>
              <a:gd name="connsiteY96" fmla="*/ 1575825 h 2079137"/>
              <a:gd name="connsiteX97" fmla="*/ 6785054 w 12192000"/>
              <a:gd name="connsiteY97" fmla="*/ 1582200 h 2079137"/>
              <a:gd name="connsiteX98" fmla="*/ 6681692 w 12192000"/>
              <a:gd name="connsiteY98" fmla="*/ 1591296 h 2079137"/>
              <a:gd name="connsiteX99" fmla="*/ 6644556 w 12192000"/>
              <a:gd name="connsiteY99" fmla="*/ 1595940 h 2079137"/>
              <a:gd name="connsiteX100" fmla="*/ 6577106 w 12192000"/>
              <a:gd name="connsiteY100" fmla="*/ 1598261 h 2079137"/>
              <a:gd name="connsiteX101" fmla="*/ 6544183 w 12192000"/>
              <a:gd name="connsiteY101" fmla="*/ 1596149 h 2079137"/>
              <a:gd name="connsiteX102" fmla="*/ 6540921 w 12192000"/>
              <a:gd name="connsiteY102" fmla="*/ 1593857 h 2079137"/>
              <a:gd name="connsiteX103" fmla="*/ 6535046 w 12192000"/>
              <a:gd name="connsiteY103" fmla="*/ 1593283 h 2079137"/>
              <a:gd name="connsiteX104" fmla="*/ 6519853 w 12192000"/>
              <a:gd name="connsiteY104" fmla="*/ 1595771 h 2079137"/>
              <a:gd name="connsiteX105" fmla="*/ 6514280 w 12192000"/>
              <a:gd name="connsiteY105" fmla="*/ 1597376 h 2079137"/>
              <a:gd name="connsiteX106" fmla="*/ 6505824 w 12192000"/>
              <a:gd name="connsiteY106" fmla="*/ 1598298 h 2079137"/>
              <a:gd name="connsiteX107" fmla="*/ 6505573 w 12192000"/>
              <a:gd name="connsiteY107" fmla="*/ 1598109 h 2079137"/>
              <a:gd name="connsiteX108" fmla="*/ 6497741 w 12192000"/>
              <a:gd name="connsiteY108" fmla="*/ 1599392 h 2079137"/>
              <a:gd name="connsiteX109" fmla="*/ 6459992 w 12192000"/>
              <a:gd name="connsiteY109" fmla="*/ 1608358 h 2079137"/>
              <a:gd name="connsiteX110" fmla="*/ 6404572 w 12192000"/>
              <a:gd name="connsiteY110" fmla="*/ 1593771 h 2079137"/>
              <a:gd name="connsiteX111" fmla="*/ 6382671 w 12192000"/>
              <a:gd name="connsiteY111" fmla="*/ 1592612 h 2079137"/>
              <a:gd name="connsiteX112" fmla="*/ 6369843 w 12192000"/>
              <a:gd name="connsiteY112" fmla="*/ 1590015 h 2079137"/>
              <a:gd name="connsiteX113" fmla="*/ 6269740 w 12192000"/>
              <a:gd name="connsiteY113" fmla="*/ 1614633 h 2079137"/>
              <a:gd name="connsiteX114" fmla="*/ 6255405 w 12192000"/>
              <a:gd name="connsiteY114" fmla="*/ 1620529 h 2079137"/>
              <a:gd name="connsiteX115" fmla="*/ 6244248 w 12192000"/>
              <a:gd name="connsiteY115" fmla="*/ 1629561 h 2079137"/>
              <a:gd name="connsiteX116" fmla="*/ 6086396 w 12192000"/>
              <a:gd name="connsiteY116" fmla="*/ 1642666 h 2079137"/>
              <a:gd name="connsiteX117" fmla="*/ 5867429 w 12192000"/>
              <a:gd name="connsiteY117" fmla="*/ 1695554 h 2079137"/>
              <a:gd name="connsiteX118" fmla="*/ 5772864 w 12192000"/>
              <a:gd name="connsiteY118" fmla="*/ 1689002 h 2079137"/>
              <a:gd name="connsiteX119" fmla="*/ 5629833 w 12192000"/>
              <a:gd name="connsiteY119" fmla="*/ 1713273 h 2079137"/>
              <a:gd name="connsiteX120" fmla="*/ 5504771 w 12192000"/>
              <a:gd name="connsiteY120" fmla="*/ 1725744 h 2079137"/>
              <a:gd name="connsiteX121" fmla="*/ 5490967 w 12192000"/>
              <a:gd name="connsiteY121" fmla="*/ 1726367 h 2079137"/>
              <a:gd name="connsiteX122" fmla="*/ 5486015 w 12192000"/>
              <a:gd name="connsiteY122" fmla="*/ 1721481 h 2079137"/>
              <a:gd name="connsiteX123" fmla="*/ 5439364 w 12192000"/>
              <a:gd name="connsiteY123" fmla="*/ 1721349 h 2079137"/>
              <a:gd name="connsiteX124" fmla="*/ 5350025 w 12192000"/>
              <a:gd name="connsiteY124" fmla="*/ 1729885 h 2079137"/>
              <a:gd name="connsiteX125" fmla="*/ 5336104 w 12192000"/>
              <a:gd name="connsiteY125" fmla="*/ 1734377 h 2079137"/>
              <a:gd name="connsiteX126" fmla="*/ 5245234 w 12192000"/>
              <a:gd name="connsiteY126" fmla="*/ 1738520 h 2079137"/>
              <a:gd name="connsiteX127" fmla="*/ 5182955 w 12192000"/>
              <a:gd name="connsiteY127" fmla="*/ 1744622 h 2079137"/>
              <a:gd name="connsiteX128" fmla="*/ 5169506 w 12192000"/>
              <a:gd name="connsiteY128" fmla="*/ 1748993 h 2079137"/>
              <a:gd name="connsiteX129" fmla="*/ 5154299 w 12192000"/>
              <a:gd name="connsiteY129" fmla="*/ 1744080 h 2079137"/>
              <a:gd name="connsiteX130" fmla="*/ 5149917 w 12192000"/>
              <a:gd name="connsiteY130" fmla="*/ 1739727 h 2079137"/>
              <a:gd name="connsiteX131" fmla="*/ 5100319 w 12192000"/>
              <a:gd name="connsiteY131" fmla="*/ 1745797 h 2079137"/>
              <a:gd name="connsiteX132" fmla="*/ 5094361 w 12192000"/>
              <a:gd name="connsiteY132" fmla="*/ 1745767 h 2079137"/>
              <a:gd name="connsiteX133" fmla="*/ 5053410 w 12192000"/>
              <a:gd name="connsiteY133" fmla="*/ 1742790 h 2079137"/>
              <a:gd name="connsiteX134" fmla="*/ 4992711 w 12192000"/>
              <a:gd name="connsiteY134" fmla="*/ 1734075 h 2079137"/>
              <a:gd name="connsiteX135" fmla="*/ 4930098 w 12192000"/>
              <a:gd name="connsiteY135" fmla="*/ 1717312 h 2079137"/>
              <a:gd name="connsiteX136" fmla="*/ 4893834 w 12192000"/>
              <a:gd name="connsiteY136" fmla="*/ 1710028 h 2079137"/>
              <a:gd name="connsiteX137" fmla="*/ 4868730 w 12192000"/>
              <a:gd name="connsiteY137" fmla="*/ 1702384 h 2079137"/>
              <a:gd name="connsiteX138" fmla="*/ 4797925 w 12192000"/>
              <a:gd name="connsiteY138" fmla="*/ 1695535 h 2079137"/>
              <a:gd name="connsiteX139" fmla="*/ 4677670 w 12192000"/>
              <a:gd name="connsiteY139" fmla="*/ 1689453 h 2079137"/>
              <a:gd name="connsiteX140" fmla="*/ 4634248 w 12192000"/>
              <a:gd name="connsiteY140" fmla="*/ 1680227 h 2079137"/>
              <a:gd name="connsiteX141" fmla="*/ 4632434 w 12192000"/>
              <a:gd name="connsiteY141" fmla="*/ 1674607 h 2079137"/>
              <a:gd name="connsiteX142" fmla="*/ 4619204 w 12192000"/>
              <a:gd name="connsiteY142" fmla="*/ 1672507 h 2079137"/>
              <a:gd name="connsiteX143" fmla="*/ 4616283 w 12192000"/>
              <a:gd name="connsiteY143" fmla="*/ 1670977 h 2079137"/>
              <a:gd name="connsiteX144" fmla="*/ 4598926 w 12192000"/>
              <a:gd name="connsiteY144" fmla="*/ 1663178 h 2079137"/>
              <a:gd name="connsiteX145" fmla="*/ 4547069 w 12192000"/>
              <a:gd name="connsiteY145" fmla="*/ 1670642 h 2079137"/>
              <a:gd name="connsiteX146" fmla="*/ 4523516 w 12192000"/>
              <a:gd name="connsiteY146" fmla="*/ 1669785 h 2079137"/>
              <a:gd name="connsiteX147" fmla="*/ 4500586 w 12192000"/>
              <a:gd name="connsiteY147" fmla="*/ 1675912 h 2079137"/>
              <a:gd name="connsiteX148" fmla="*/ 4488196 w 12192000"/>
              <a:gd name="connsiteY148" fmla="*/ 1683463 h 2079137"/>
              <a:gd name="connsiteX149" fmla="*/ 4445463 w 12192000"/>
              <a:gd name="connsiteY149" fmla="*/ 1695634 h 2079137"/>
              <a:gd name="connsiteX150" fmla="*/ 4446550 w 12192000"/>
              <a:gd name="connsiteY150" fmla="*/ 1680538 h 2079137"/>
              <a:gd name="connsiteX151" fmla="*/ 4365375 w 12192000"/>
              <a:gd name="connsiteY151" fmla="*/ 1697935 h 2079137"/>
              <a:gd name="connsiteX152" fmla="*/ 4305123 w 12192000"/>
              <a:gd name="connsiteY152" fmla="*/ 1714185 h 2079137"/>
              <a:gd name="connsiteX153" fmla="*/ 4292665 w 12192000"/>
              <a:gd name="connsiteY153" fmla="*/ 1720703 h 2079137"/>
              <a:gd name="connsiteX154" fmla="*/ 4276789 w 12192000"/>
              <a:gd name="connsiteY154" fmla="*/ 1718367 h 2079137"/>
              <a:gd name="connsiteX155" fmla="*/ 4271683 w 12192000"/>
              <a:gd name="connsiteY155" fmla="*/ 1714801 h 2079137"/>
              <a:gd name="connsiteX156" fmla="*/ 4223918 w 12192000"/>
              <a:gd name="connsiteY156" fmla="*/ 1728936 h 2079137"/>
              <a:gd name="connsiteX157" fmla="*/ 4218039 w 12192000"/>
              <a:gd name="connsiteY157" fmla="*/ 1729885 h 2079137"/>
              <a:gd name="connsiteX158" fmla="*/ 4177153 w 12192000"/>
              <a:gd name="connsiteY158" fmla="*/ 1733691 h 2079137"/>
              <a:gd name="connsiteX159" fmla="*/ 4051032 w 12192000"/>
              <a:gd name="connsiteY159" fmla="*/ 1728886 h 2079137"/>
              <a:gd name="connsiteX160" fmla="*/ 4013978 w 12192000"/>
              <a:gd name="connsiteY160" fmla="*/ 1727679 h 2079137"/>
              <a:gd name="connsiteX161" fmla="*/ 3987857 w 12192000"/>
              <a:gd name="connsiteY161" fmla="*/ 1724282 h 2079137"/>
              <a:gd name="connsiteX162" fmla="*/ 3916852 w 12192000"/>
              <a:gd name="connsiteY162" fmla="*/ 1729184 h 2079137"/>
              <a:gd name="connsiteX163" fmla="*/ 3797263 w 12192000"/>
              <a:gd name="connsiteY163" fmla="*/ 1742976 h 2079137"/>
              <a:gd name="connsiteX164" fmla="*/ 3752806 w 12192000"/>
              <a:gd name="connsiteY164" fmla="*/ 1741033 h 2079137"/>
              <a:gd name="connsiteX165" fmla="*/ 3749997 w 12192000"/>
              <a:gd name="connsiteY165" fmla="*/ 1735799 h 2079137"/>
              <a:gd name="connsiteX166" fmla="*/ 3736582 w 12192000"/>
              <a:gd name="connsiteY166" fmla="*/ 1735907 h 2079137"/>
              <a:gd name="connsiteX167" fmla="*/ 3733428 w 12192000"/>
              <a:gd name="connsiteY167" fmla="*/ 1734881 h 2079137"/>
              <a:gd name="connsiteX168" fmla="*/ 3714911 w 12192000"/>
              <a:gd name="connsiteY168" fmla="*/ 1730056 h 2079137"/>
              <a:gd name="connsiteX169" fmla="*/ 3665172 w 12192000"/>
              <a:gd name="connsiteY169" fmla="*/ 1745936 h 2079137"/>
              <a:gd name="connsiteX170" fmla="*/ 3552006 w 12192000"/>
              <a:gd name="connsiteY170" fmla="*/ 1755220 h 2079137"/>
              <a:gd name="connsiteX171" fmla="*/ 3390301 w 12192000"/>
              <a:gd name="connsiteY171" fmla="*/ 1762546 h 2079137"/>
              <a:gd name="connsiteX172" fmla="*/ 3264312 w 12192000"/>
              <a:gd name="connsiteY172" fmla="*/ 1774620 h 2079137"/>
              <a:gd name="connsiteX173" fmla="*/ 3106901 w 12192000"/>
              <a:gd name="connsiteY173" fmla="*/ 1804264 h 2079137"/>
              <a:gd name="connsiteX174" fmla="*/ 2993303 w 12192000"/>
              <a:gd name="connsiteY174" fmla="*/ 1806542 h 2079137"/>
              <a:gd name="connsiteX175" fmla="*/ 2979115 w 12192000"/>
              <a:gd name="connsiteY175" fmla="*/ 1815432 h 2079137"/>
              <a:gd name="connsiteX176" fmla="*/ 2963118 w 12192000"/>
              <a:gd name="connsiteY176" fmla="*/ 1820962 h 2079137"/>
              <a:gd name="connsiteX177" fmla="*/ 2961156 w 12192000"/>
              <a:gd name="connsiteY177" fmla="*/ 1820297 h 2079137"/>
              <a:gd name="connsiteX178" fmla="*/ 2925719 w 12192000"/>
              <a:gd name="connsiteY178" fmla="*/ 1828468 h 2079137"/>
              <a:gd name="connsiteX179" fmla="*/ 2857951 w 12192000"/>
              <a:gd name="connsiteY179" fmla="*/ 1842496 h 2079137"/>
              <a:gd name="connsiteX180" fmla="*/ 2857427 w 12192000"/>
              <a:gd name="connsiteY180" fmla="*/ 1841591 h 2079137"/>
              <a:gd name="connsiteX181" fmla="*/ 2846731 w 12192000"/>
              <a:gd name="connsiteY181" fmla="*/ 1839316 h 2079137"/>
              <a:gd name="connsiteX182" fmla="*/ 2826290 w 12192000"/>
              <a:gd name="connsiteY182" fmla="*/ 1837274 h 2079137"/>
              <a:gd name="connsiteX183" fmla="*/ 2779146 w 12192000"/>
              <a:gd name="connsiteY183" fmla="*/ 1820071 h 2079137"/>
              <a:gd name="connsiteX184" fmla="*/ 2739608 w 12192000"/>
              <a:gd name="connsiteY184" fmla="*/ 1827861 h 2079137"/>
              <a:gd name="connsiteX185" fmla="*/ 2731631 w 12192000"/>
              <a:gd name="connsiteY185" fmla="*/ 1828881 h 2079137"/>
              <a:gd name="connsiteX186" fmla="*/ 2731464 w 12192000"/>
              <a:gd name="connsiteY186" fmla="*/ 1828677 h 2079137"/>
              <a:gd name="connsiteX187" fmla="*/ 2723037 w 12192000"/>
              <a:gd name="connsiteY187" fmla="*/ 1829303 h 2079137"/>
              <a:gd name="connsiteX188" fmla="*/ 2701616 w 12192000"/>
              <a:gd name="connsiteY188" fmla="*/ 1832725 h 2079137"/>
              <a:gd name="connsiteX189" fmla="*/ 2696239 w 12192000"/>
              <a:gd name="connsiteY189" fmla="*/ 1831904 h 2079137"/>
              <a:gd name="connsiteX190" fmla="*/ 2663445 w 12192000"/>
              <a:gd name="connsiteY190" fmla="*/ 1825958 h 2079137"/>
              <a:gd name="connsiteX191" fmla="*/ 2560925 w 12192000"/>
              <a:gd name="connsiteY191" fmla="*/ 1829094 h 2079137"/>
              <a:gd name="connsiteX192" fmla="*/ 2458739 w 12192000"/>
              <a:gd name="connsiteY192" fmla="*/ 1834479 h 2079137"/>
              <a:gd name="connsiteX193" fmla="*/ 2356074 w 12192000"/>
              <a:gd name="connsiteY193" fmla="*/ 1836991 h 2079137"/>
              <a:gd name="connsiteX194" fmla="*/ 2304241 w 12192000"/>
              <a:gd name="connsiteY194" fmla="*/ 1822021 h 2079137"/>
              <a:gd name="connsiteX195" fmla="*/ 2298362 w 12192000"/>
              <a:gd name="connsiteY195" fmla="*/ 1822125 h 2079137"/>
              <a:gd name="connsiteX196" fmla="*/ 2283527 w 12192000"/>
              <a:gd name="connsiteY196" fmla="*/ 1826361 h 2079137"/>
              <a:gd name="connsiteX197" fmla="*/ 2278150 w 12192000"/>
              <a:gd name="connsiteY197" fmla="*/ 1828604 h 2079137"/>
              <a:gd name="connsiteX198" fmla="*/ 2269853 w 12192000"/>
              <a:gd name="connsiteY198" fmla="*/ 1830502 h 2079137"/>
              <a:gd name="connsiteX199" fmla="*/ 2269585 w 12192000"/>
              <a:gd name="connsiteY199" fmla="*/ 1830341 h 2079137"/>
              <a:gd name="connsiteX200" fmla="*/ 2225332 w 12192000"/>
              <a:gd name="connsiteY200" fmla="*/ 1845825 h 2079137"/>
              <a:gd name="connsiteX201" fmla="*/ 2169048 w 12192000"/>
              <a:gd name="connsiteY201" fmla="*/ 1837658 h 2079137"/>
              <a:gd name="connsiteX202" fmla="*/ 2147231 w 12192000"/>
              <a:gd name="connsiteY202" fmla="*/ 1839027 h 2079137"/>
              <a:gd name="connsiteX203" fmla="*/ 2135241 w 12192000"/>
              <a:gd name="connsiteY203" fmla="*/ 1838652 h 2079137"/>
              <a:gd name="connsiteX204" fmla="*/ 2099215 w 12192000"/>
              <a:gd name="connsiteY204" fmla="*/ 1850768 h 2079137"/>
              <a:gd name="connsiteX205" fmla="*/ 2094046 w 12192000"/>
              <a:gd name="connsiteY205" fmla="*/ 1850806 h 2079137"/>
              <a:gd name="connsiteX206" fmla="*/ 2071850 w 12192000"/>
              <a:gd name="connsiteY206" fmla="*/ 1861319 h 2079137"/>
              <a:gd name="connsiteX207" fmla="*/ 2039607 w 12192000"/>
              <a:gd name="connsiteY207" fmla="*/ 1874318 h 2079137"/>
              <a:gd name="connsiteX208" fmla="*/ 2037289 w 12192000"/>
              <a:gd name="connsiteY208" fmla="*/ 1874025 h 2079137"/>
              <a:gd name="connsiteX209" fmla="*/ 2023615 w 12192000"/>
              <a:gd name="connsiteY209" fmla="*/ 1881562 h 2079137"/>
              <a:gd name="connsiteX210" fmla="*/ 1957176 w 12192000"/>
              <a:gd name="connsiteY210" fmla="*/ 1898709 h 2079137"/>
              <a:gd name="connsiteX211" fmla="*/ 1858081 w 12192000"/>
              <a:gd name="connsiteY211" fmla="*/ 1923144 h 2079137"/>
              <a:gd name="connsiteX212" fmla="*/ 1738865 w 12192000"/>
              <a:gd name="connsiteY212" fmla="*/ 1944965 h 2079137"/>
              <a:gd name="connsiteX213" fmla="*/ 1616692 w 12192000"/>
              <a:gd name="connsiteY213" fmla="*/ 1989107 h 2079137"/>
              <a:gd name="connsiteX214" fmla="*/ 1411898 w 12192000"/>
              <a:gd name="connsiteY214" fmla="*/ 2046254 h 2079137"/>
              <a:gd name="connsiteX215" fmla="*/ 1375780 w 12192000"/>
              <a:gd name="connsiteY215" fmla="*/ 2047961 h 2079137"/>
              <a:gd name="connsiteX216" fmla="*/ 1375707 w 12192000"/>
              <a:gd name="connsiteY216" fmla="*/ 2047981 h 2079137"/>
              <a:gd name="connsiteX217" fmla="*/ 1285585 w 12192000"/>
              <a:gd name="connsiteY217" fmla="*/ 2047113 h 2079137"/>
              <a:gd name="connsiteX218" fmla="*/ 1263658 w 12192000"/>
              <a:gd name="connsiteY218" fmla="*/ 2041397 h 2079137"/>
              <a:gd name="connsiteX219" fmla="*/ 1170403 w 12192000"/>
              <a:gd name="connsiteY219" fmla="*/ 2033399 h 2079137"/>
              <a:gd name="connsiteX220" fmla="*/ 1153718 w 12192000"/>
              <a:gd name="connsiteY220" fmla="*/ 2029576 h 2079137"/>
              <a:gd name="connsiteX221" fmla="*/ 1133937 w 12192000"/>
              <a:gd name="connsiteY221" fmla="*/ 2032149 h 2079137"/>
              <a:gd name="connsiteX222" fmla="*/ 1054999 w 12192000"/>
              <a:gd name="connsiteY222" fmla="*/ 2043242 h 2079137"/>
              <a:gd name="connsiteX223" fmla="*/ 1018405 w 12192000"/>
              <a:gd name="connsiteY223" fmla="*/ 2048281 h 2079137"/>
              <a:gd name="connsiteX224" fmla="*/ 1016563 w 12192000"/>
              <a:gd name="connsiteY224" fmla="*/ 2051718 h 2079137"/>
              <a:gd name="connsiteX225" fmla="*/ 1008284 w 12192000"/>
              <a:gd name="connsiteY225" fmla="*/ 2046742 h 2079137"/>
              <a:gd name="connsiteX226" fmla="*/ 981974 w 12192000"/>
              <a:gd name="connsiteY226" fmla="*/ 2048363 h 2079137"/>
              <a:gd name="connsiteX227" fmla="*/ 971903 w 12192000"/>
              <a:gd name="connsiteY227" fmla="*/ 2053484 h 2079137"/>
              <a:gd name="connsiteX228" fmla="*/ 954015 w 12192000"/>
              <a:gd name="connsiteY228" fmla="*/ 2052529 h 2079137"/>
              <a:gd name="connsiteX229" fmla="*/ 839571 w 12192000"/>
              <a:gd name="connsiteY229" fmla="*/ 2046509 h 2079137"/>
              <a:gd name="connsiteX230" fmla="*/ 823321 w 12192000"/>
              <a:gd name="connsiteY230" fmla="*/ 2054296 h 2079137"/>
              <a:gd name="connsiteX231" fmla="*/ 800990 w 12192000"/>
              <a:gd name="connsiteY231" fmla="*/ 2051523 h 2079137"/>
              <a:gd name="connsiteX232" fmla="*/ 776439 w 12192000"/>
              <a:gd name="connsiteY232" fmla="*/ 2062634 h 2079137"/>
              <a:gd name="connsiteX233" fmla="*/ 763041 w 12192000"/>
              <a:gd name="connsiteY233" fmla="*/ 2063995 h 2079137"/>
              <a:gd name="connsiteX234" fmla="*/ 757863 w 12192000"/>
              <a:gd name="connsiteY234" fmla="*/ 2065877 h 2079137"/>
              <a:gd name="connsiteX235" fmla="*/ 745053 w 12192000"/>
              <a:gd name="connsiteY235" fmla="*/ 2051831 h 2079137"/>
              <a:gd name="connsiteX236" fmla="*/ 722609 w 12192000"/>
              <a:gd name="connsiteY236" fmla="*/ 2049504 h 2079137"/>
              <a:gd name="connsiteX237" fmla="*/ 717618 w 12192000"/>
              <a:gd name="connsiteY237" fmla="*/ 2042131 h 2079137"/>
              <a:gd name="connsiteX238" fmla="*/ 703285 w 12192000"/>
              <a:gd name="connsiteY238" fmla="*/ 2046808 h 2079137"/>
              <a:gd name="connsiteX239" fmla="*/ 680199 w 12192000"/>
              <a:gd name="connsiteY239" fmla="*/ 2051947 h 2079137"/>
              <a:gd name="connsiteX240" fmla="*/ 667351 w 12192000"/>
              <a:gd name="connsiteY240" fmla="*/ 2054469 h 2079137"/>
              <a:gd name="connsiteX241" fmla="*/ 660961 w 12192000"/>
              <a:gd name="connsiteY241" fmla="*/ 2049404 h 2079137"/>
              <a:gd name="connsiteX242" fmla="*/ 638282 w 12192000"/>
              <a:gd name="connsiteY242" fmla="*/ 2060093 h 2079137"/>
              <a:gd name="connsiteX243" fmla="*/ 583551 w 12192000"/>
              <a:gd name="connsiteY243" fmla="*/ 2070197 h 2079137"/>
              <a:gd name="connsiteX244" fmla="*/ 525274 w 12192000"/>
              <a:gd name="connsiteY244" fmla="*/ 2079137 h 2079137"/>
              <a:gd name="connsiteX245" fmla="*/ 405635 w 12192000"/>
              <a:gd name="connsiteY245" fmla="*/ 2059339 h 2079137"/>
              <a:gd name="connsiteX246" fmla="*/ 281555 w 12192000"/>
              <a:gd name="connsiteY246" fmla="*/ 2022847 h 2079137"/>
              <a:gd name="connsiteX247" fmla="*/ 98513 w 12192000"/>
              <a:gd name="connsiteY247" fmla="*/ 1969504 h 2079137"/>
              <a:gd name="connsiteX248" fmla="*/ 56191 w 12192000"/>
              <a:gd name="connsiteY248" fmla="*/ 1950709 h 2079137"/>
              <a:gd name="connsiteX249" fmla="*/ 0 w 12192000"/>
              <a:gd name="connsiteY249" fmla="*/ 1935789 h 20791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2192000" h="2079137">
                <a:moveTo>
                  <a:pt x="12160143" y="831692"/>
                </a:moveTo>
                <a:lnTo>
                  <a:pt x="12159112" y="833361"/>
                </a:lnTo>
                <a:cubicBezTo>
                  <a:pt x="12157915" y="833832"/>
                  <a:pt x="12157402" y="833649"/>
                  <a:pt x="12158912" y="832430"/>
                </a:cubicBezTo>
                <a:close/>
                <a:moveTo>
                  <a:pt x="0" y="0"/>
                </a:moveTo>
                <a:lnTo>
                  <a:pt x="12192000" y="0"/>
                </a:lnTo>
                <a:lnTo>
                  <a:pt x="12192000" y="558063"/>
                </a:lnTo>
                <a:lnTo>
                  <a:pt x="12189259" y="810508"/>
                </a:lnTo>
                <a:lnTo>
                  <a:pt x="12170847" y="825280"/>
                </a:lnTo>
                <a:lnTo>
                  <a:pt x="12160143" y="831692"/>
                </a:lnTo>
                <a:lnTo>
                  <a:pt x="12163806" y="825759"/>
                </a:lnTo>
                <a:cubicBezTo>
                  <a:pt x="12125449" y="821525"/>
                  <a:pt x="12082203" y="824698"/>
                  <a:pt x="12056557" y="810176"/>
                </a:cubicBezTo>
                <a:cubicBezTo>
                  <a:pt x="12050902" y="790976"/>
                  <a:pt x="11923731" y="799312"/>
                  <a:pt x="11900316" y="789618"/>
                </a:cubicBezTo>
                <a:cubicBezTo>
                  <a:pt x="11841702" y="803374"/>
                  <a:pt x="11823963" y="832645"/>
                  <a:pt x="11791206" y="824176"/>
                </a:cubicBezTo>
                <a:cubicBezTo>
                  <a:pt x="11768977" y="817380"/>
                  <a:pt x="11683857" y="828947"/>
                  <a:pt x="11659257" y="800841"/>
                </a:cubicBezTo>
                <a:cubicBezTo>
                  <a:pt x="11617173" y="818107"/>
                  <a:pt x="11602556" y="790694"/>
                  <a:pt x="11569789" y="797135"/>
                </a:cubicBezTo>
                <a:cubicBezTo>
                  <a:pt x="11498310" y="795094"/>
                  <a:pt x="11458472" y="819882"/>
                  <a:pt x="11367885" y="791985"/>
                </a:cubicBezTo>
                <a:cubicBezTo>
                  <a:pt x="11325508" y="798158"/>
                  <a:pt x="11266580" y="755023"/>
                  <a:pt x="11174663" y="788721"/>
                </a:cubicBezTo>
                <a:cubicBezTo>
                  <a:pt x="11122703" y="792192"/>
                  <a:pt x="11150009" y="775410"/>
                  <a:pt x="11068220" y="786994"/>
                </a:cubicBezTo>
                <a:cubicBezTo>
                  <a:pt x="11046931" y="759861"/>
                  <a:pt x="10919185" y="793102"/>
                  <a:pt x="10893266" y="794013"/>
                </a:cubicBezTo>
                <a:cubicBezTo>
                  <a:pt x="10874184" y="776189"/>
                  <a:pt x="10862860" y="788743"/>
                  <a:pt x="10844025" y="789857"/>
                </a:cubicBezTo>
                <a:cubicBezTo>
                  <a:pt x="10836453" y="779294"/>
                  <a:pt x="10820690" y="778184"/>
                  <a:pt x="10814353" y="789010"/>
                </a:cubicBezTo>
                <a:cubicBezTo>
                  <a:pt x="10819669" y="816016"/>
                  <a:pt x="10754019" y="789067"/>
                  <a:pt x="10748393" y="806738"/>
                </a:cubicBezTo>
                <a:cubicBezTo>
                  <a:pt x="10687156" y="807873"/>
                  <a:pt x="10550299" y="781800"/>
                  <a:pt x="10468256" y="778733"/>
                </a:cubicBezTo>
                <a:cubicBezTo>
                  <a:pt x="10436666" y="770025"/>
                  <a:pt x="10371995" y="797252"/>
                  <a:pt x="10256131" y="788332"/>
                </a:cubicBezTo>
                <a:cubicBezTo>
                  <a:pt x="10240995" y="781626"/>
                  <a:pt x="10182664" y="765742"/>
                  <a:pt x="10177442" y="777371"/>
                </a:cubicBezTo>
                <a:cubicBezTo>
                  <a:pt x="10141447" y="775683"/>
                  <a:pt x="10030323" y="810071"/>
                  <a:pt x="10006086" y="792651"/>
                </a:cubicBezTo>
                <a:cubicBezTo>
                  <a:pt x="10009448" y="818833"/>
                  <a:pt x="9960389" y="791426"/>
                  <a:pt x="9952382" y="815411"/>
                </a:cubicBezTo>
                <a:lnTo>
                  <a:pt x="9926457" y="827295"/>
                </a:lnTo>
                <a:lnTo>
                  <a:pt x="9843405" y="867046"/>
                </a:lnTo>
                <a:lnTo>
                  <a:pt x="9830866" y="875047"/>
                </a:lnTo>
                <a:lnTo>
                  <a:pt x="9801807" y="872272"/>
                </a:lnTo>
                <a:lnTo>
                  <a:pt x="9785653" y="861743"/>
                </a:lnTo>
                <a:lnTo>
                  <a:pt x="9781177" y="864820"/>
                </a:lnTo>
                <a:cubicBezTo>
                  <a:pt x="9776153" y="871003"/>
                  <a:pt x="9773556" y="874842"/>
                  <a:pt x="9768640" y="869379"/>
                </a:cubicBezTo>
                <a:lnTo>
                  <a:pt x="9712211" y="900283"/>
                </a:lnTo>
                <a:cubicBezTo>
                  <a:pt x="9706243" y="902750"/>
                  <a:pt x="9698952" y="902954"/>
                  <a:pt x="9689465" y="899268"/>
                </a:cubicBezTo>
                <a:cubicBezTo>
                  <a:pt x="9670819" y="902906"/>
                  <a:pt x="9618108" y="917739"/>
                  <a:pt x="9600339" y="922112"/>
                </a:cubicBezTo>
                <a:lnTo>
                  <a:pt x="9582850" y="925510"/>
                </a:lnTo>
                <a:cubicBezTo>
                  <a:pt x="9574400" y="928631"/>
                  <a:pt x="9556868" y="938130"/>
                  <a:pt x="9549638" y="940845"/>
                </a:cubicBezTo>
                <a:cubicBezTo>
                  <a:pt x="9543792" y="942327"/>
                  <a:pt x="9546812" y="939351"/>
                  <a:pt x="9539471" y="941799"/>
                </a:cubicBezTo>
                <a:cubicBezTo>
                  <a:pt x="9538994" y="947702"/>
                  <a:pt x="9536009" y="953248"/>
                  <a:pt x="9505592" y="955533"/>
                </a:cubicBezTo>
                <a:cubicBezTo>
                  <a:pt x="9486013" y="968563"/>
                  <a:pt x="9460860" y="978842"/>
                  <a:pt x="9432569" y="985377"/>
                </a:cubicBezTo>
                <a:cubicBezTo>
                  <a:pt x="9426990" y="980335"/>
                  <a:pt x="9418918" y="990185"/>
                  <a:pt x="9414216" y="992655"/>
                </a:cubicBezTo>
                <a:cubicBezTo>
                  <a:pt x="9412644" y="989014"/>
                  <a:pt x="9400057" y="989255"/>
                  <a:pt x="9397106" y="992980"/>
                </a:cubicBezTo>
                <a:cubicBezTo>
                  <a:pt x="9314093" y="1020862"/>
                  <a:pt x="9349678" y="978420"/>
                  <a:pt x="9305108" y="1007767"/>
                </a:cubicBezTo>
                <a:cubicBezTo>
                  <a:pt x="9296670" y="1010324"/>
                  <a:pt x="9289251" y="1009612"/>
                  <a:pt x="9282434" y="1007523"/>
                </a:cubicBezTo>
                <a:lnTo>
                  <a:pt x="9271941" y="1002839"/>
                </a:lnTo>
                <a:lnTo>
                  <a:pt x="9238227" y="1017668"/>
                </a:lnTo>
                <a:cubicBezTo>
                  <a:pt x="9221294" y="1023415"/>
                  <a:pt x="9203166" y="1027997"/>
                  <a:pt x="9184265" y="1031275"/>
                </a:cubicBezTo>
                <a:cubicBezTo>
                  <a:pt x="9178371" y="1024135"/>
                  <a:pt x="9165618" y="1036637"/>
                  <a:pt x="9159000" y="1039569"/>
                </a:cubicBezTo>
                <a:cubicBezTo>
                  <a:pt x="9157881" y="1034602"/>
                  <a:pt x="9141725" y="1033964"/>
                  <a:pt x="9137031" y="1038699"/>
                </a:cubicBezTo>
                <a:cubicBezTo>
                  <a:pt x="9023973" y="1069523"/>
                  <a:pt x="9079946" y="1015706"/>
                  <a:pt x="9015702" y="1051400"/>
                </a:cubicBezTo>
                <a:lnTo>
                  <a:pt x="8971403" y="1040542"/>
                </a:lnTo>
                <a:lnTo>
                  <a:pt x="8961826" y="1045364"/>
                </a:lnTo>
                <a:cubicBezTo>
                  <a:pt x="8922837" y="1050010"/>
                  <a:pt x="8909116" y="1040754"/>
                  <a:pt x="8888623" y="1053908"/>
                </a:cubicBezTo>
                <a:cubicBezTo>
                  <a:pt x="8850424" y="1035587"/>
                  <a:pt x="8865892" y="1054194"/>
                  <a:pt x="8841066" y="1060421"/>
                </a:cubicBezTo>
                <a:cubicBezTo>
                  <a:pt x="8818353" y="1064878"/>
                  <a:pt x="8775995" y="1076068"/>
                  <a:pt x="8752342" y="1080646"/>
                </a:cubicBezTo>
                <a:cubicBezTo>
                  <a:pt x="8736966" y="1099406"/>
                  <a:pt x="8723186" y="1079948"/>
                  <a:pt x="8699139" y="1087885"/>
                </a:cubicBezTo>
                <a:cubicBezTo>
                  <a:pt x="8688630" y="1095506"/>
                  <a:pt x="8680324" y="1097539"/>
                  <a:pt x="8667273" y="1092062"/>
                </a:cubicBezTo>
                <a:cubicBezTo>
                  <a:pt x="8619205" y="1128818"/>
                  <a:pt x="8634590" y="1097116"/>
                  <a:pt x="8586064" y="1114603"/>
                </a:cubicBezTo>
                <a:cubicBezTo>
                  <a:pt x="8544721" y="1131913"/>
                  <a:pt x="8496602" y="1145520"/>
                  <a:pt x="8460312" y="1179878"/>
                </a:cubicBezTo>
                <a:cubicBezTo>
                  <a:pt x="8454266" y="1189140"/>
                  <a:pt x="8435781" y="1194455"/>
                  <a:pt x="8419023" y="1191748"/>
                </a:cubicBezTo>
                <a:cubicBezTo>
                  <a:pt x="8416138" y="1191283"/>
                  <a:pt x="8413416" y="1190591"/>
                  <a:pt x="8410939" y="1189696"/>
                </a:cubicBezTo>
                <a:cubicBezTo>
                  <a:pt x="8390077" y="1213458"/>
                  <a:pt x="8370324" y="1205397"/>
                  <a:pt x="8362040" y="1220820"/>
                </a:cubicBezTo>
                <a:cubicBezTo>
                  <a:pt x="8320616" y="1231942"/>
                  <a:pt x="8281663" y="1222882"/>
                  <a:pt x="8273677" y="1236495"/>
                </a:cubicBezTo>
                <a:cubicBezTo>
                  <a:pt x="8251358" y="1238573"/>
                  <a:pt x="8216738" y="1228341"/>
                  <a:pt x="8204283" y="1243537"/>
                </a:cubicBezTo>
                <a:cubicBezTo>
                  <a:pt x="8198634" y="1233135"/>
                  <a:pt x="8181550" y="1254947"/>
                  <a:pt x="8166550" y="1249551"/>
                </a:cubicBezTo>
                <a:cubicBezTo>
                  <a:pt x="8155570" y="1244572"/>
                  <a:pt x="8147825" y="1250027"/>
                  <a:pt x="8137785" y="1251636"/>
                </a:cubicBezTo>
                <a:cubicBezTo>
                  <a:pt x="8123427" y="1248361"/>
                  <a:pt x="8081662" y="1261833"/>
                  <a:pt x="8071596" y="1269274"/>
                </a:cubicBezTo>
                <a:cubicBezTo>
                  <a:pt x="8048949" y="1293759"/>
                  <a:pt x="7983924" y="1284712"/>
                  <a:pt x="7964816" y="1303668"/>
                </a:cubicBezTo>
                <a:cubicBezTo>
                  <a:pt x="7957137" y="1306992"/>
                  <a:pt x="7949335" y="1308861"/>
                  <a:pt x="7941495" y="1309821"/>
                </a:cubicBezTo>
                <a:lnTo>
                  <a:pt x="7919123" y="1310466"/>
                </a:lnTo>
                <a:lnTo>
                  <a:pt x="7911902" y="1306569"/>
                </a:lnTo>
                <a:lnTo>
                  <a:pt x="7898703" y="1309208"/>
                </a:lnTo>
                <a:lnTo>
                  <a:pt x="7894703" y="1308939"/>
                </a:lnTo>
                <a:lnTo>
                  <a:pt x="7872267" y="1308370"/>
                </a:lnTo>
                <a:cubicBezTo>
                  <a:pt x="7886550" y="1330359"/>
                  <a:pt x="7812648" y="1314851"/>
                  <a:pt x="7836454" y="1331265"/>
                </a:cubicBezTo>
                <a:cubicBezTo>
                  <a:pt x="7798907" y="1336933"/>
                  <a:pt x="7831419" y="1351068"/>
                  <a:pt x="7782451" y="1339601"/>
                </a:cubicBezTo>
                <a:cubicBezTo>
                  <a:pt x="7727636" y="1365002"/>
                  <a:pt x="7583002" y="1338768"/>
                  <a:pt x="7542969" y="1372495"/>
                </a:cubicBezTo>
                <a:cubicBezTo>
                  <a:pt x="7546396" y="1360942"/>
                  <a:pt x="7492851" y="1424323"/>
                  <a:pt x="7476832" y="1431655"/>
                </a:cubicBezTo>
                <a:cubicBezTo>
                  <a:pt x="7439619" y="1443703"/>
                  <a:pt x="7425596" y="1454661"/>
                  <a:pt x="7370237" y="1474339"/>
                </a:cubicBezTo>
                <a:cubicBezTo>
                  <a:pt x="7316246" y="1485928"/>
                  <a:pt x="7281903" y="1512712"/>
                  <a:pt x="7222223" y="1510199"/>
                </a:cubicBezTo>
                <a:cubicBezTo>
                  <a:pt x="7221190" y="1514030"/>
                  <a:pt x="7218885" y="1517398"/>
                  <a:pt x="7215703" y="1520424"/>
                </a:cubicBezTo>
                <a:lnTo>
                  <a:pt x="7204548" y="1528145"/>
                </a:lnTo>
                <a:lnTo>
                  <a:pt x="7202038" y="1527954"/>
                </a:lnTo>
                <a:lnTo>
                  <a:pt x="7173860" y="1541605"/>
                </a:lnTo>
                <a:lnTo>
                  <a:pt x="7155079" y="1552495"/>
                </a:lnTo>
                <a:lnTo>
                  <a:pt x="7149757" y="1552732"/>
                </a:lnTo>
                <a:cubicBezTo>
                  <a:pt x="7141378" y="1554948"/>
                  <a:pt x="7115959" y="1563256"/>
                  <a:pt x="7104804" y="1565792"/>
                </a:cubicBezTo>
                <a:cubicBezTo>
                  <a:pt x="7099811" y="1550850"/>
                  <a:pt x="7096935" y="1561973"/>
                  <a:pt x="7082824" y="1567947"/>
                </a:cubicBezTo>
                <a:cubicBezTo>
                  <a:pt x="7071919" y="1546070"/>
                  <a:pt x="7039417" y="1570606"/>
                  <a:pt x="7021520" y="1562334"/>
                </a:cubicBezTo>
                <a:cubicBezTo>
                  <a:pt x="7011400" y="1567217"/>
                  <a:pt x="7000495" y="1571981"/>
                  <a:pt x="6988956" y="1576442"/>
                </a:cubicBezTo>
                <a:lnTo>
                  <a:pt x="6981922" y="1578821"/>
                </a:lnTo>
                <a:lnTo>
                  <a:pt x="6981583" y="1578678"/>
                </a:lnTo>
                <a:cubicBezTo>
                  <a:pt x="6979627" y="1578791"/>
                  <a:pt x="6977153" y="1579421"/>
                  <a:pt x="6973762" y="1580811"/>
                </a:cubicBezTo>
                <a:lnTo>
                  <a:pt x="6969093" y="1583157"/>
                </a:lnTo>
                <a:lnTo>
                  <a:pt x="6890037" y="1575825"/>
                </a:lnTo>
                <a:cubicBezTo>
                  <a:pt x="6849459" y="1579997"/>
                  <a:pt x="6820022" y="1566922"/>
                  <a:pt x="6785054" y="1582200"/>
                </a:cubicBezTo>
                <a:cubicBezTo>
                  <a:pt x="6747047" y="1586037"/>
                  <a:pt x="6712794" y="1582954"/>
                  <a:pt x="6681692" y="1591296"/>
                </a:cubicBezTo>
                <a:cubicBezTo>
                  <a:pt x="6667557" y="1587501"/>
                  <a:pt x="6654822" y="1586753"/>
                  <a:pt x="6644556" y="1595940"/>
                </a:cubicBezTo>
                <a:cubicBezTo>
                  <a:pt x="6608615" y="1597269"/>
                  <a:pt x="6597697" y="1587005"/>
                  <a:pt x="6577106" y="1598261"/>
                </a:cubicBezTo>
                <a:lnTo>
                  <a:pt x="6544183" y="1596149"/>
                </a:lnTo>
                <a:lnTo>
                  <a:pt x="6540921" y="1593857"/>
                </a:lnTo>
                <a:lnTo>
                  <a:pt x="6535046" y="1593283"/>
                </a:lnTo>
                <a:lnTo>
                  <a:pt x="6519853" y="1595771"/>
                </a:lnTo>
                <a:lnTo>
                  <a:pt x="6514280" y="1597376"/>
                </a:lnTo>
                <a:cubicBezTo>
                  <a:pt x="6510385" y="1598232"/>
                  <a:pt x="6507735" y="1598481"/>
                  <a:pt x="6505824" y="1598298"/>
                </a:cubicBezTo>
                <a:lnTo>
                  <a:pt x="6505573" y="1598109"/>
                </a:lnTo>
                <a:lnTo>
                  <a:pt x="6497741" y="1599392"/>
                </a:lnTo>
                <a:cubicBezTo>
                  <a:pt x="6484628" y="1602044"/>
                  <a:pt x="6471968" y="1605085"/>
                  <a:pt x="6459992" y="1608358"/>
                </a:cubicBezTo>
                <a:cubicBezTo>
                  <a:pt x="6447037" y="1597612"/>
                  <a:pt x="6404274" y="1616787"/>
                  <a:pt x="6404572" y="1593771"/>
                </a:cubicBezTo>
                <a:cubicBezTo>
                  <a:pt x="6388277" y="1597519"/>
                  <a:pt x="6380141" y="1607970"/>
                  <a:pt x="6382671" y="1592612"/>
                </a:cubicBezTo>
                <a:lnTo>
                  <a:pt x="6369843" y="1590015"/>
                </a:lnTo>
                <a:lnTo>
                  <a:pt x="6269740" y="1614633"/>
                </a:lnTo>
                <a:lnTo>
                  <a:pt x="6255405" y="1620529"/>
                </a:lnTo>
                <a:cubicBezTo>
                  <a:pt x="6250911" y="1623016"/>
                  <a:pt x="6247090" y="1625968"/>
                  <a:pt x="6244248" y="1629561"/>
                </a:cubicBezTo>
                <a:cubicBezTo>
                  <a:pt x="6188859" y="1618246"/>
                  <a:pt x="6143250" y="1639346"/>
                  <a:pt x="6086396" y="1642666"/>
                </a:cubicBezTo>
                <a:cubicBezTo>
                  <a:pt x="6024311" y="1653696"/>
                  <a:pt x="5889522" y="1686499"/>
                  <a:pt x="5867429" y="1695554"/>
                </a:cubicBezTo>
                <a:cubicBezTo>
                  <a:pt x="5848669" y="1700350"/>
                  <a:pt x="5763994" y="1699795"/>
                  <a:pt x="5772864" y="1689002"/>
                </a:cubicBezTo>
                <a:cubicBezTo>
                  <a:pt x="5718480" y="1716048"/>
                  <a:pt x="5694188" y="1696562"/>
                  <a:pt x="5629833" y="1713273"/>
                </a:cubicBezTo>
                <a:lnTo>
                  <a:pt x="5504771" y="1725744"/>
                </a:lnTo>
                <a:lnTo>
                  <a:pt x="5490967" y="1726367"/>
                </a:lnTo>
                <a:lnTo>
                  <a:pt x="5486015" y="1721481"/>
                </a:lnTo>
                <a:lnTo>
                  <a:pt x="5439364" y="1721349"/>
                </a:lnTo>
                <a:cubicBezTo>
                  <a:pt x="5418850" y="1733129"/>
                  <a:pt x="5381503" y="1725668"/>
                  <a:pt x="5350025" y="1729885"/>
                </a:cubicBezTo>
                <a:lnTo>
                  <a:pt x="5336104" y="1734377"/>
                </a:lnTo>
                <a:lnTo>
                  <a:pt x="5245234" y="1738520"/>
                </a:lnTo>
                <a:lnTo>
                  <a:pt x="5182955" y="1744622"/>
                </a:lnTo>
                <a:lnTo>
                  <a:pt x="5169506" y="1748993"/>
                </a:lnTo>
                <a:lnTo>
                  <a:pt x="5154299" y="1744080"/>
                </a:lnTo>
                <a:cubicBezTo>
                  <a:pt x="5152463" y="1742751"/>
                  <a:pt x="5150989" y="1741283"/>
                  <a:pt x="5149917" y="1739727"/>
                </a:cubicBezTo>
                <a:lnTo>
                  <a:pt x="5100319" y="1745797"/>
                </a:lnTo>
                <a:lnTo>
                  <a:pt x="5094361" y="1745767"/>
                </a:lnTo>
                <a:lnTo>
                  <a:pt x="5053410" y="1742790"/>
                </a:lnTo>
                <a:lnTo>
                  <a:pt x="4992711" y="1734075"/>
                </a:lnTo>
                <a:cubicBezTo>
                  <a:pt x="4972764" y="1728527"/>
                  <a:pt x="4955480" y="1708667"/>
                  <a:pt x="4930098" y="1717312"/>
                </a:cubicBezTo>
                <a:cubicBezTo>
                  <a:pt x="4936142" y="1706767"/>
                  <a:pt x="4900350" y="1719438"/>
                  <a:pt x="4893834" y="1710028"/>
                </a:cubicBezTo>
                <a:cubicBezTo>
                  <a:pt x="4890113" y="1702277"/>
                  <a:pt x="4878389" y="1704314"/>
                  <a:pt x="4868730" y="1702384"/>
                </a:cubicBezTo>
                <a:cubicBezTo>
                  <a:pt x="4860577" y="1694955"/>
                  <a:pt x="4813519" y="1692594"/>
                  <a:pt x="4797925" y="1695535"/>
                </a:cubicBezTo>
                <a:cubicBezTo>
                  <a:pt x="4754973" y="1708626"/>
                  <a:pt x="4712186" y="1679830"/>
                  <a:pt x="4677670" y="1689453"/>
                </a:cubicBezTo>
                <a:cubicBezTo>
                  <a:pt x="4650390" y="1686902"/>
                  <a:pt x="4641786" y="1682702"/>
                  <a:pt x="4634248" y="1680227"/>
                </a:cubicBezTo>
                <a:lnTo>
                  <a:pt x="4632434" y="1674607"/>
                </a:lnTo>
                <a:lnTo>
                  <a:pt x="4619204" y="1672507"/>
                </a:lnTo>
                <a:lnTo>
                  <a:pt x="4616283" y="1670977"/>
                </a:lnTo>
                <a:cubicBezTo>
                  <a:pt x="4610716" y="1668036"/>
                  <a:pt x="4605090" y="1665277"/>
                  <a:pt x="4598926" y="1663178"/>
                </a:cubicBezTo>
                <a:cubicBezTo>
                  <a:pt x="4588025" y="1686237"/>
                  <a:pt x="4544698" y="1649138"/>
                  <a:pt x="4547069" y="1670642"/>
                </a:cubicBezTo>
                <a:lnTo>
                  <a:pt x="4523516" y="1669785"/>
                </a:lnTo>
                <a:lnTo>
                  <a:pt x="4500586" y="1675912"/>
                </a:lnTo>
                <a:lnTo>
                  <a:pt x="4488196" y="1683463"/>
                </a:lnTo>
                <a:lnTo>
                  <a:pt x="4445463" y="1695634"/>
                </a:lnTo>
                <a:lnTo>
                  <a:pt x="4446550" y="1680538"/>
                </a:lnTo>
                <a:lnTo>
                  <a:pt x="4365375" y="1697935"/>
                </a:lnTo>
                <a:lnTo>
                  <a:pt x="4305123" y="1714185"/>
                </a:lnTo>
                <a:lnTo>
                  <a:pt x="4292665" y="1720703"/>
                </a:lnTo>
                <a:lnTo>
                  <a:pt x="4276789" y="1718367"/>
                </a:lnTo>
                <a:cubicBezTo>
                  <a:pt x="4274740" y="1717359"/>
                  <a:pt x="4273021" y="1716157"/>
                  <a:pt x="4271683" y="1714801"/>
                </a:cubicBezTo>
                <a:lnTo>
                  <a:pt x="4223918" y="1728936"/>
                </a:lnTo>
                <a:lnTo>
                  <a:pt x="4218039" y="1729885"/>
                </a:lnTo>
                <a:lnTo>
                  <a:pt x="4177153" y="1733691"/>
                </a:lnTo>
                <a:lnTo>
                  <a:pt x="4051032" y="1728886"/>
                </a:lnTo>
                <a:cubicBezTo>
                  <a:pt x="4055072" y="1717510"/>
                  <a:pt x="4022108" y="1735873"/>
                  <a:pt x="4013978" y="1727679"/>
                </a:cubicBezTo>
                <a:cubicBezTo>
                  <a:pt x="4008905" y="1720660"/>
                  <a:pt x="3997723" y="1724594"/>
                  <a:pt x="3987857" y="1724282"/>
                </a:cubicBezTo>
                <a:cubicBezTo>
                  <a:pt x="3978476" y="1718309"/>
                  <a:pt x="3931683" y="1723723"/>
                  <a:pt x="3916852" y="1729184"/>
                </a:cubicBezTo>
                <a:cubicBezTo>
                  <a:pt x="3876910" y="1749138"/>
                  <a:pt x="3829523" y="1727824"/>
                  <a:pt x="3797263" y="1742976"/>
                </a:cubicBezTo>
                <a:cubicBezTo>
                  <a:pt x="3769922" y="1744951"/>
                  <a:pt x="3760682" y="1742230"/>
                  <a:pt x="3752806" y="1741033"/>
                </a:cubicBezTo>
                <a:lnTo>
                  <a:pt x="3749997" y="1735799"/>
                </a:lnTo>
                <a:lnTo>
                  <a:pt x="3736582" y="1735907"/>
                </a:lnTo>
                <a:lnTo>
                  <a:pt x="3733428" y="1734881"/>
                </a:lnTo>
                <a:cubicBezTo>
                  <a:pt x="3727408" y="1732899"/>
                  <a:pt x="3721365" y="1731108"/>
                  <a:pt x="3714911" y="1730056"/>
                </a:cubicBezTo>
                <a:cubicBezTo>
                  <a:pt x="3708355" y="1754554"/>
                  <a:pt x="3658933" y="1725152"/>
                  <a:pt x="3665172" y="1745936"/>
                </a:cubicBezTo>
                <a:cubicBezTo>
                  <a:pt x="3628569" y="1744420"/>
                  <a:pt x="3583742" y="1775884"/>
                  <a:pt x="3552006" y="1755220"/>
                </a:cubicBezTo>
                <a:cubicBezTo>
                  <a:pt x="3497522" y="1758390"/>
                  <a:pt x="3448310" y="1757433"/>
                  <a:pt x="3390301" y="1762546"/>
                </a:cubicBezTo>
                <a:cubicBezTo>
                  <a:pt x="3345266" y="1774524"/>
                  <a:pt x="3297039" y="1758531"/>
                  <a:pt x="3264312" y="1774620"/>
                </a:cubicBezTo>
                <a:cubicBezTo>
                  <a:pt x="3212634" y="1771139"/>
                  <a:pt x="3147905" y="1780248"/>
                  <a:pt x="3106901" y="1804264"/>
                </a:cubicBezTo>
                <a:cubicBezTo>
                  <a:pt x="3051355" y="1805490"/>
                  <a:pt x="3041708" y="1820368"/>
                  <a:pt x="2993303" y="1806542"/>
                </a:cubicBezTo>
                <a:cubicBezTo>
                  <a:pt x="2989182" y="1810139"/>
                  <a:pt x="2984377" y="1813039"/>
                  <a:pt x="2979115" y="1815432"/>
                </a:cubicBezTo>
                <a:lnTo>
                  <a:pt x="2963118" y="1820962"/>
                </a:lnTo>
                <a:lnTo>
                  <a:pt x="2961156" y="1820297"/>
                </a:lnTo>
                <a:lnTo>
                  <a:pt x="2925719" y="1828468"/>
                </a:lnTo>
                <a:lnTo>
                  <a:pt x="2857951" y="1842496"/>
                </a:lnTo>
                <a:lnTo>
                  <a:pt x="2857427" y="1841591"/>
                </a:lnTo>
                <a:cubicBezTo>
                  <a:pt x="2855386" y="1839734"/>
                  <a:pt x="2852250" y="1838690"/>
                  <a:pt x="2846731" y="1839316"/>
                </a:cubicBezTo>
                <a:cubicBezTo>
                  <a:pt x="2855175" y="1823564"/>
                  <a:pt x="2843311" y="1834035"/>
                  <a:pt x="2826290" y="1837274"/>
                </a:cubicBezTo>
                <a:cubicBezTo>
                  <a:pt x="2835609" y="1813530"/>
                  <a:pt x="2787284" y="1831665"/>
                  <a:pt x="2779146" y="1820071"/>
                </a:cubicBezTo>
                <a:cubicBezTo>
                  <a:pt x="2766432" y="1822985"/>
                  <a:pt x="2753158" y="1825635"/>
                  <a:pt x="2739608" y="1827861"/>
                </a:cubicBezTo>
                <a:lnTo>
                  <a:pt x="2731631" y="1828881"/>
                </a:lnTo>
                <a:cubicBezTo>
                  <a:pt x="2731575" y="1828813"/>
                  <a:pt x="2731521" y="1828744"/>
                  <a:pt x="2731464" y="1828677"/>
                </a:cubicBezTo>
                <a:cubicBezTo>
                  <a:pt x="2729715" y="1828415"/>
                  <a:pt x="2727085" y="1828569"/>
                  <a:pt x="2723037" y="1829303"/>
                </a:cubicBezTo>
                <a:lnTo>
                  <a:pt x="2701616" y="1832725"/>
                </a:lnTo>
                <a:lnTo>
                  <a:pt x="2696239" y="1831904"/>
                </a:lnTo>
                <a:lnTo>
                  <a:pt x="2663445" y="1825958"/>
                </a:lnTo>
                <a:cubicBezTo>
                  <a:pt x="2641260" y="1825904"/>
                  <a:pt x="2595040" y="1827674"/>
                  <a:pt x="2560925" y="1829094"/>
                </a:cubicBezTo>
                <a:cubicBezTo>
                  <a:pt x="2527977" y="1836499"/>
                  <a:pt x="2496507" y="1831991"/>
                  <a:pt x="2458739" y="1834479"/>
                </a:cubicBezTo>
                <a:cubicBezTo>
                  <a:pt x="2419379" y="1848893"/>
                  <a:pt x="2396428" y="1834257"/>
                  <a:pt x="2356074" y="1836991"/>
                </a:cubicBezTo>
                <a:cubicBezTo>
                  <a:pt x="2323435" y="1857644"/>
                  <a:pt x="2325610" y="1826053"/>
                  <a:pt x="2304241" y="1822021"/>
                </a:cubicBezTo>
                <a:lnTo>
                  <a:pt x="2298362" y="1822125"/>
                </a:lnTo>
                <a:lnTo>
                  <a:pt x="2283527" y="1826361"/>
                </a:lnTo>
                <a:lnTo>
                  <a:pt x="2278150" y="1828604"/>
                </a:lnTo>
                <a:cubicBezTo>
                  <a:pt x="2274371" y="1829907"/>
                  <a:pt x="2271762" y="1830461"/>
                  <a:pt x="2269853" y="1830502"/>
                </a:cubicBezTo>
                <a:lnTo>
                  <a:pt x="2269585" y="1830341"/>
                </a:lnTo>
                <a:lnTo>
                  <a:pt x="2225332" y="1845825"/>
                </a:lnTo>
                <a:cubicBezTo>
                  <a:pt x="2211505" y="1836594"/>
                  <a:pt x="2170867" y="1860661"/>
                  <a:pt x="2169048" y="1837658"/>
                </a:cubicBezTo>
                <a:cubicBezTo>
                  <a:pt x="2153238" y="1843278"/>
                  <a:pt x="2146132" y="1854645"/>
                  <a:pt x="2147231" y="1839027"/>
                </a:cubicBezTo>
                <a:cubicBezTo>
                  <a:pt x="2141901" y="1840465"/>
                  <a:pt x="2138205" y="1840014"/>
                  <a:pt x="2135241" y="1838652"/>
                </a:cubicBezTo>
                <a:lnTo>
                  <a:pt x="2099215" y="1850768"/>
                </a:lnTo>
                <a:lnTo>
                  <a:pt x="2094046" y="1850806"/>
                </a:lnTo>
                <a:lnTo>
                  <a:pt x="2071850" y="1861319"/>
                </a:lnTo>
                <a:lnTo>
                  <a:pt x="2039607" y="1874318"/>
                </a:lnTo>
                <a:lnTo>
                  <a:pt x="2037289" y="1874025"/>
                </a:lnTo>
                <a:lnTo>
                  <a:pt x="2023615" y="1881562"/>
                </a:lnTo>
                <a:cubicBezTo>
                  <a:pt x="2019390" y="1884562"/>
                  <a:pt x="1959668" y="1894795"/>
                  <a:pt x="1957176" y="1898709"/>
                </a:cubicBezTo>
                <a:cubicBezTo>
                  <a:pt x="1901224" y="1893805"/>
                  <a:pt x="1914145" y="1913274"/>
                  <a:pt x="1858081" y="1923144"/>
                </a:cubicBezTo>
                <a:cubicBezTo>
                  <a:pt x="1819487" y="1923227"/>
                  <a:pt x="1798952" y="1929741"/>
                  <a:pt x="1738865" y="1944965"/>
                </a:cubicBezTo>
                <a:cubicBezTo>
                  <a:pt x="1698633" y="1955957"/>
                  <a:pt x="1670491" y="1978862"/>
                  <a:pt x="1616692" y="1989107"/>
                </a:cubicBezTo>
                <a:cubicBezTo>
                  <a:pt x="1565257" y="2022368"/>
                  <a:pt x="1474172" y="2022156"/>
                  <a:pt x="1411898" y="2046254"/>
                </a:cubicBezTo>
                <a:cubicBezTo>
                  <a:pt x="1380237" y="2035952"/>
                  <a:pt x="1386648" y="2042292"/>
                  <a:pt x="1375780" y="2047961"/>
                </a:cubicBezTo>
                <a:cubicBezTo>
                  <a:pt x="1375756" y="2047968"/>
                  <a:pt x="1375731" y="2047974"/>
                  <a:pt x="1375707" y="2047981"/>
                </a:cubicBezTo>
                <a:lnTo>
                  <a:pt x="1285585" y="2047113"/>
                </a:lnTo>
                <a:cubicBezTo>
                  <a:pt x="1279541" y="2043453"/>
                  <a:pt x="1272537" y="2040974"/>
                  <a:pt x="1263658" y="2041397"/>
                </a:cubicBezTo>
                <a:cubicBezTo>
                  <a:pt x="1212454" y="2058890"/>
                  <a:pt x="1258499" y="2026611"/>
                  <a:pt x="1170403" y="2033399"/>
                </a:cubicBezTo>
                <a:cubicBezTo>
                  <a:pt x="1166530" y="2036274"/>
                  <a:pt x="1154254" y="2033463"/>
                  <a:pt x="1153718" y="2029576"/>
                </a:cubicBezTo>
                <a:cubicBezTo>
                  <a:pt x="1148486" y="2030819"/>
                  <a:pt x="1137980" y="2038354"/>
                  <a:pt x="1133937" y="2032149"/>
                </a:cubicBezTo>
                <a:cubicBezTo>
                  <a:pt x="1104720" y="2031606"/>
                  <a:pt x="1077532" y="2035424"/>
                  <a:pt x="1054999" y="2043242"/>
                </a:cubicBezTo>
                <a:cubicBezTo>
                  <a:pt x="1024875" y="2038090"/>
                  <a:pt x="1020473" y="2042711"/>
                  <a:pt x="1018405" y="2048281"/>
                </a:cubicBezTo>
                <a:lnTo>
                  <a:pt x="1016563" y="2051718"/>
                </a:lnTo>
                <a:lnTo>
                  <a:pt x="1008284" y="2046742"/>
                </a:lnTo>
                <a:cubicBezTo>
                  <a:pt x="999244" y="2043620"/>
                  <a:pt x="990505" y="2044937"/>
                  <a:pt x="981974" y="2048363"/>
                </a:cubicBezTo>
                <a:lnTo>
                  <a:pt x="971903" y="2053484"/>
                </a:lnTo>
                <a:lnTo>
                  <a:pt x="954015" y="2052529"/>
                </a:lnTo>
                <a:cubicBezTo>
                  <a:pt x="931960" y="2051365"/>
                  <a:pt x="861352" y="2046214"/>
                  <a:pt x="839571" y="2046509"/>
                </a:cubicBezTo>
                <a:lnTo>
                  <a:pt x="823321" y="2054296"/>
                </a:lnTo>
                <a:lnTo>
                  <a:pt x="800990" y="2051523"/>
                </a:lnTo>
                <a:cubicBezTo>
                  <a:pt x="790723" y="2052171"/>
                  <a:pt x="782268" y="2055403"/>
                  <a:pt x="776439" y="2062634"/>
                </a:cubicBezTo>
                <a:cubicBezTo>
                  <a:pt x="773155" y="2056184"/>
                  <a:pt x="769593" y="2059253"/>
                  <a:pt x="763041" y="2063995"/>
                </a:cubicBezTo>
                <a:lnTo>
                  <a:pt x="757863" y="2065877"/>
                </a:lnTo>
                <a:lnTo>
                  <a:pt x="745053" y="2051831"/>
                </a:lnTo>
                <a:lnTo>
                  <a:pt x="722609" y="2049504"/>
                </a:lnTo>
                <a:lnTo>
                  <a:pt x="717618" y="2042131"/>
                </a:lnTo>
                <a:lnTo>
                  <a:pt x="703285" y="2046808"/>
                </a:lnTo>
                <a:cubicBezTo>
                  <a:pt x="698219" y="2048137"/>
                  <a:pt x="690058" y="2049926"/>
                  <a:pt x="680199" y="2051947"/>
                </a:cubicBezTo>
                <a:lnTo>
                  <a:pt x="667351" y="2054469"/>
                </a:lnTo>
                <a:lnTo>
                  <a:pt x="660961" y="2049404"/>
                </a:lnTo>
                <a:lnTo>
                  <a:pt x="638282" y="2060093"/>
                </a:lnTo>
                <a:lnTo>
                  <a:pt x="583551" y="2070197"/>
                </a:lnTo>
                <a:cubicBezTo>
                  <a:pt x="569268" y="2091365"/>
                  <a:pt x="529124" y="2053106"/>
                  <a:pt x="525274" y="2079137"/>
                </a:cubicBezTo>
                <a:cubicBezTo>
                  <a:pt x="506495" y="2056498"/>
                  <a:pt x="440091" y="2069666"/>
                  <a:pt x="405635" y="2059339"/>
                </a:cubicBezTo>
                <a:cubicBezTo>
                  <a:pt x="397410" y="2069278"/>
                  <a:pt x="294416" y="2032966"/>
                  <a:pt x="281555" y="2022847"/>
                </a:cubicBezTo>
                <a:cubicBezTo>
                  <a:pt x="171589" y="1986245"/>
                  <a:pt x="126791" y="1985528"/>
                  <a:pt x="98513" y="1969504"/>
                </a:cubicBezTo>
                <a:cubicBezTo>
                  <a:pt x="85544" y="1965247"/>
                  <a:pt x="73324" y="1958000"/>
                  <a:pt x="56191" y="1950709"/>
                </a:cubicBezTo>
                <a:lnTo>
                  <a:pt x="0" y="1935789"/>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3E0B44F-382F-C8C2-7CD0-FEFAB1FA9AC3}"/>
              </a:ext>
            </a:extLst>
          </p:cNvPr>
          <p:cNvSpPr>
            <a:spLocks noGrp="1"/>
          </p:cNvSpPr>
          <p:nvPr>
            <p:ph type="title"/>
          </p:nvPr>
        </p:nvSpPr>
        <p:spPr>
          <a:xfrm>
            <a:off x="1137036" y="548640"/>
            <a:ext cx="9543405" cy="1188720"/>
          </a:xfrm>
        </p:spPr>
        <p:txBody>
          <a:bodyPr>
            <a:normAutofit/>
          </a:bodyPr>
          <a:lstStyle/>
          <a:p>
            <a:r>
              <a:rPr lang="en-US">
                <a:solidFill>
                  <a:schemeClr val="tx1">
                    <a:lumMod val="85000"/>
                    <a:lumOff val="15000"/>
                  </a:schemeClr>
                </a:solidFill>
              </a:rPr>
              <a:t>Practical Example: AI Solutions</a:t>
            </a:r>
          </a:p>
        </p:txBody>
      </p:sp>
      <p:sp>
        <p:nvSpPr>
          <p:cNvPr id="3" name="Content Placeholder 2">
            <a:extLst>
              <a:ext uri="{FF2B5EF4-FFF2-40B4-BE49-F238E27FC236}">
                <a16:creationId xmlns:a16="http://schemas.microsoft.com/office/drawing/2014/main" id="{681407C8-5CFC-F8A6-B63B-012EA1D6DDF8}"/>
              </a:ext>
            </a:extLst>
          </p:cNvPr>
          <p:cNvSpPr>
            <a:spLocks noGrp="1"/>
          </p:cNvSpPr>
          <p:nvPr>
            <p:ph idx="1"/>
          </p:nvPr>
        </p:nvSpPr>
        <p:spPr>
          <a:xfrm>
            <a:off x="1957986" y="2090057"/>
            <a:ext cx="9689727" cy="4219303"/>
          </a:xfrm>
        </p:spPr>
        <p:txBody>
          <a:bodyPr anchor="ctr">
            <a:normAutofit/>
          </a:bodyPr>
          <a:lstStyle/>
          <a:p>
            <a:r>
              <a:rPr lang="en-US" sz="2000" dirty="0">
                <a:solidFill>
                  <a:schemeClr val="tx1">
                    <a:lumMod val="85000"/>
                    <a:lumOff val="15000"/>
                  </a:schemeClr>
                </a:solidFill>
              </a:rPr>
              <a:t>Many want to ‘AI’ solutions to problems but do not define what the problem or desired solution is</a:t>
            </a:r>
          </a:p>
          <a:p>
            <a:r>
              <a:rPr lang="en-US" sz="2000" dirty="0">
                <a:solidFill>
                  <a:schemeClr val="tx1">
                    <a:lumMod val="85000"/>
                    <a:lumOff val="15000"/>
                  </a:schemeClr>
                </a:solidFill>
              </a:rPr>
              <a:t>AI is a broad term that can encompass many approaches, and the needed complexity of the model depends on the output needed</a:t>
            </a:r>
          </a:p>
          <a:p>
            <a:r>
              <a:rPr lang="en-US" sz="2000" dirty="0">
                <a:solidFill>
                  <a:schemeClr val="tx1">
                    <a:lumMod val="85000"/>
                    <a:lumOff val="15000"/>
                  </a:schemeClr>
                </a:solidFill>
              </a:rPr>
              <a:t>To determine appropriate data needed, should define:</a:t>
            </a:r>
          </a:p>
          <a:p>
            <a:pPr lvl="1"/>
            <a:r>
              <a:rPr lang="en-US" sz="2000" dirty="0">
                <a:solidFill>
                  <a:schemeClr val="tx1">
                    <a:lumMod val="85000"/>
                    <a:lumOff val="15000"/>
                  </a:schemeClr>
                </a:solidFill>
              </a:rPr>
              <a:t>Outputs needed (insights, predictions, novel generations)</a:t>
            </a:r>
          </a:p>
          <a:p>
            <a:pPr lvl="1"/>
            <a:r>
              <a:rPr lang="en-US" sz="2000" dirty="0">
                <a:solidFill>
                  <a:schemeClr val="tx1">
                    <a:lumMod val="85000"/>
                    <a:lumOff val="15000"/>
                  </a:schemeClr>
                </a:solidFill>
              </a:rPr>
              <a:t>Potential inputs (structured data, text, images, etc.)</a:t>
            </a:r>
          </a:p>
          <a:p>
            <a:pPr lvl="1"/>
            <a:r>
              <a:rPr lang="en-US" sz="2000" dirty="0">
                <a:solidFill>
                  <a:schemeClr val="tx1">
                    <a:lumMod val="85000"/>
                    <a:lumOff val="15000"/>
                  </a:schemeClr>
                </a:solidFill>
              </a:rPr>
              <a:t>Existing solutions</a:t>
            </a:r>
          </a:p>
          <a:p>
            <a:pPr lvl="1"/>
            <a:r>
              <a:rPr lang="en-US" sz="2000" dirty="0">
                <a:solidFill>
                  <a:schemeClr val="tx1">
                    <a:lumMod val="85000"/>
                    <a:lumOff val="15000"/>
                  </a:schemeClr>
                </a:solidFill>
              </a:rPr>
              <a:t>Scope of the solution (narrow, general)</a:t>
            </a:r>
          </a:p>
          <a:p>
            <a:r>
              <a:rPr lang="en-US" sz="2000" dirty="0">
                <a:solidFill>
                  <a:schemeClr val="tx1">
                    <a:lumMod val="85000"/>
                    <a:lumOff val="15000"/>
                  </a:schemeClr>
                </a:solidFill>
              </a:rPr>
              <a:t>Clear, thorough evaluation of needs and limitations is essential for responsible, ethical research</a:t>
            </a:r>
          </a:p>
        </p:txBody>
      </p:sp>
      <p:sp>
        <p:nvSpPr>
          <p:cNvPr id="12" name="Freeform: Shape 11">
            <a:extLst>
              <a:ext uri="{FF2B5EF4-FFF2-40B4-BE49-F238E27FC236}">
                <a16:creationId xmlns:a16="http://schemas.microsoft.com/office/drawing/2014/main" id="{142DCE2C-2863-46FA-9BE7-24365A24D9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24586" y="5970896"/>
            <a:ext cx="9967416" cy="887104"/>
          </a:xfrm>
          <a:custGeom>
            <a:avLst/>
            <a:gdLst>
              <a:gd name="connsiteX0" fmla="*/ 4686423 w 9517857"/>
              <a:gd name="connsiteY0" fmla="*/ 247919 h 918356"/>
              <a:gd name="connsiteX1" fmla="*/ 4689051 w 9517857"/>
              <a:gd name="connsiteY1" fmla="*/ 250968 h 918356"/>
              <a:gd name="connsiteX2" fmla="*/ 4687244 w 9517857"/>
              <a:gd name="connsiteY2" fmla="*/ 251298 h 918356"/>
              <a:gd name="connsiteX3" fmla="*/ 4685225 w 9517857"/>
              <a:gd name="connsiteY3" fmla="*/ 246530 h 918356"/>
              <a:gd name="connsiteX4" fmla="*/ 4686133 w 9517857"/>
              <a:gd name="connsiteY4" fmla="*/ 246727 h 918356"/>
              <a:gd name="connsiteX5" fmla="*/ 4686423 w 9517857"/>
              <a:gd name="connsiteY5" fmla="*/ 247919 h 918356"/>
              <a:gd name="connsiteX6" fmla="*/ 9517856 w 9517857"/>
              <a:gd name="connsiteY6" fmla="*/ 0 h 918356"/>
              <a:gd name="connsiteX7" fmla="*/ 9517857 w 9517857"/>
              <a:gd name="connsiteY7" fmla="*/ 12 h 918356"/>
              <a:gd name="connsiteX8" fmla="*/ 9517857 w 9517857"/>
              <a:gd name="connsiteY8" fmla="*/ 918356 h 918356"/>
              <a:gd name="connsiteX9" fmla="*/ 14604 w 9517857"/>
              <a:gd name="connsiteY9" fmla="*/ 918356 h 918356"/>
              <a:gd name="connsiteX10" fmla="*/ 12841 w 9517857"/>
              <a:gd name="connsiteY10" fmla="*/ 917763 h 918356"/>
              <a:gd name="connsiteX11" fmla="*/ 93 w 9517857"/>
              <a:gd name="connsiteY11" fmla="*/ 912471 h 918356"/>
              <a:gd name="connsiteX12" fmla="*/ 58674 w 9517857"/>
              <a:gd name="connsiteY12" fmla="*/ 890322 h 918356"/>
              <a:gd name="connsiteX13" fmla="*/ 275005 w 9517857"/>
              <a:gd name="connsiteY13" fmla="*/ 807229 h 918356"/>
              <a:gd name="connsiteX14" fmla="*/ 587824 w 9517857"/>
              <a:gd name="connsiteY14" fmla="*/ 798195 h 918356"/>
              <a:gd name="connsiteX15" fmla="*/ 651826 w 9517857"/>
              <a:gd name="connsiteY15" fmla="*/ 738338 h 918356"/>
              <a:gd name="connsiteX16" fmla="*/ 727985 w 9517857"/>
              <a:gd name="connsiteY16" fmla="*/ 719826 h 918356"/>
              <a:gd name="connsiteX17" fmla="*/ 778982 w 9517857"/>
              <a:gd name="connsiteY17" fmla="*/ 710142 h 918356"/>
              <a:gd name="connsiteX18" fmla="*/ 849944 w 9517857"/>
              <a:gd name="connsiteY18" fmla="*/ 717987 h 918356"/>
              <a:gd name="connsiteX19" fmla="*/ 921659 w 9517857"/>
              <a:gd name="connsiteY19" fmla="*/ 712695 h 918356"/>
              <a:gd name="connsiteX20" fmla="*/ 930946 w 9517857"/>
              <a:gd name="connsiteY20" fmla="*/ 734046 h 918356"/>
              <a:gd name="connsiteX21" fmla="*/ 986250 w 9517857"/>
              <a:gd name="connsiteY21" fmla="*/ 713530 h 918356"/>
              <a:gd name="connsiteX22" fmla="*/ 1013752 w 9517857"/>
              <a:gd name="connsiteY22" fmla="*/ 713361 h 918356"/>
              <a:gd name="connsiteX23" fmla="*/ 1023734 w 9517857"/>
              <a:gd name="connsiteY23" fmla="*/ 718571 h 918356"/>
              <a:gd name="connsiteX24" fmla="*/ 1063207 w 9517857"/>
              <a:gd name="connsiteY24" fmla="*/ 715651 h 918356"/>
              <a:gd name="connsiteX25" fmla="*/ 1081980 w 9517857"/>
              <a:gd name="connsiteY25" fmla="*/ 738455 h 918356"/>
              <a:gd name="connsiteX26" fmla="*/ 1218120 w 9517857"/>
              <a:gd name="connsiteY26" fmla="*/ 713280 h 918356"/>
              <a:gd name="connsiteX27" fmla="*/ 1397459 w 9517857"/>
              <a:gd name="connsiteY27" fmla="*/ 691190 h 918356"/>
              <a:gd name="connsiteX28" fmla="*/ 1580688 w 9517857"/>
              <a:gd name="connsiteY28" fmla="*/ 693697 h 918356"/>
              <a:gd name="connsiteX29" fmla="*/ 1772334 w 9517857"/>
              <a:gd name="connsiteY29" fmla="*/ 710640 h 918356"/>
              <a:gd name="connsiteX30" fmla="*/ 2002561 w 9517857"/>
              <a:gd name="connsiteY30" fmla="*/ 659917 h 918356"/>
              <a:gd name="connsiteX31" fmla="*/ 2135144 w 9517857"/>
              <a:gd name="connsiteY31" fmla="*/ 636501 h 918356"/>
              <a:gd name="connsiteX32" fmla="*/ 2440292 w 9517857"/>
              <a:gd name="connsiteY32" fmla="*/ 593862 h 918356"/>
              <a:gd name="connsiteX33" fmla="*/ 2547829 w 9517857"/>
              <a:gd name="connsiteY33" fmla="*/ 566150 h 918356"/>
              <a:gd name="connsiteX34" fmla="*/ 2658055 w 9517857"/>
              <a:gd name="connsiteY34" fmla="*/ 578727 h 918356"/>
              <a:gd name="connsiteX35" fmla="*/ 2693698 w 9517857"/>
              <a:gd name="connsiteY35" fmla="*/ 560029 h 918356"/>
              <a:gd name="connsiteX36" fmla="*/ 2699673 w 9517857"/>
              <a:gd name="connsiteY36" fmla="*/ 556400 h 918356"/>
              <a:gd name="connsiteX37" fmla="*/ 2727306 w 9517857"/>
              <a:gd name="connsiteY37" fmla="*/ 550698 h 918356"/>
              <a:gd name="connsiteX38" fmla="*/ 2730451 w 9517857"/>
              <a:gd name="connsiteY38" fmla="*/ 538058 h 918356"/>
              <a:gd name="connsiteX39" fmla="*/ 2768713 w 9517857"/>
              <a:gd name="connsiteY39" fmla="*/ 521575 h 918356"/>
              <a:gd name="connsiteX40" fmla="*/ 2820868 w 9517857"/>
              <a:gd name="connsiteY40" fmla="*/ 514160 h 918356"/>
              <a:gd name="connsiteX41" fmla="*/ 3073635 w 9517857"/>
              <a:gd name="connsiteY41" fmla="*/ 491294 h 918356"/>
              <a:gd name="connsiteX42" fmla="*/ 3222071 w 9517857"/>
              <a:gd name="connsiteY42" fmla="*/ 470559 h 918356"/>
              <a:gd name="connsiteX43" fmla="*/ 3274069 w 9517857"/>
              <a:gd name="connsiteY43" fmla="*/ 451605 h 918356"/>
              <a:gd name="connsiteX44" fmla="*/ 3349632 w 9517857"/>
              <a:gd name="connsiteY44" fmla="*/ 432583 h 918356"/>
              <a:gd name="connsiteX45" fmla="*/ 3479593 w 9517857"/>
              <a:gd name="connsiteY45" fmla="*/ 390437 h 918356"/>
              <a:gd name="connsiteX46" fmla="*/ 3660110 w 9517857"/>
              <a:gd name="connsiteY46" fmla="*/ 348726 h 918356"/>
              <a:gd name="connsiteX47" fmla="*/ 3750023 w 9517857"/>
              <a:gd name="connsiteY47" fmla="*/ 370678 h 918356"/>
              <a:gd name="connsiteX48" fmla="*/ 3844133 w 9517857"/>
              <a:gd name="connsiteY48" fmla="*/ 360648 h 918356"/>
              <a:gd name="connsiteX49" fmla="*/ 3913545 w 9517857"/>
              <a:gd name="connsiteY49" fmla="*/ 344235 h 918356"/>
              <a:gd name="connsiteX50" fmla="*/ 4266740 w 9517857"/>
              <a:gd name="connsiteY50" fmla="*/ 361454 h 918356"/>
              <a:gd name="connsiteX51" fmla="*/ 4430770 w 9517857"/>
              <a:gd name="connsiteY51" fmla="*/ 342643 h 918356"/>
              <a:gd name="connsiteX52" fmla="*/ 4512664 w 9517857"/>
              <a:gd name="connsiteY52" fmla="*/ 319948 h 918356"/>
              <a:gd name="connsiteX53" fmla="*/ 4616423 w 9517857"/>
              <a:gd name="connsiteY53" fmla="*/ 290914 h 918356"/>
              <a:gd name="connsiteX54" fmla="*/ 4691675 w 9517857"/>
              <a:gd name="connsiteY54" fmla="*/ 254011 h 918356"/>
              <a:gd name="connsiteX55" fmla="*/ 4689051 w 9517857"/>
              <a:gd name="connsiteY55" fmla="*/ 250968 h 918356"/>
              <a:gd name="connsiteX56" fmla="*/ 4719994 w 9517857"/>
              <a:gd name="connsiteY56" fmla="*/ 245307 h 918356"/>
              <a:gd name="connsiteX57" fmla="*/ 4752894 w 9517857"/>
              <a:gd name="connsiteY57" fmla="*/ 239875 h 918356"/>
              <a:gd name="connsiteX58" fmla="*/ 4769329 w 9517857"/>
              <a:gd name="connsiteY58" fmla="*/ 233585 h 918356"/>
              <a:gd name="connsiteX59" fmla="*/ 4775634 w 9517857"/>
              <a:gd name="connsiteY59" fmla="*/ 234063 h 918356"/>
              <a:gd name="connsiteX60" fmla="*/ 4790452 w 9517857"/>
              <a:gd name="connsiteY60" fmla="*/ 233572 h 918356"/>
              <a:gd name="connsiteX61" fmla="*/ 4789062 w 9517857"/>
              <a:gd name="connsiteY61" fmla="*/ 241924 h 918356"/>
              <a:gd name="connsiteX62" fmla="*/ 4827826 w 9517857"/>
              <a:gd name="connsiteY62" fmla="*/ 246977 h 918356"/>
              <a:gd name="connsiteX63" fmla="*/ 4892569 w 9517857"/>
              <a:gd name="connsiteY63" fmla="*/ 249933 h 918356"/>
              <a:gd name="connsiteX64" fmla="*/ 4896611 w 9517857"/>
              <a:gd name="connsiteY64" fmla="*/ 240448 h 918356"/>
              <a:gd name="connsiteX65" fmla="*/ 4917286 w 9517857"/>
              <a:gd name="connsiteY65" fmla="*/ 243659 h 918356"/>
              <a:gd name="connsiteX66" fmla="*/ 4981173 w 9517857"/>
              <a:gd name="connsiteY66" fmla="*/ 247103 h 918356"/>
              <a:gd name="connsiteX67" fmla="*/ 5060397 w 9517857"/>
              <a:gd name="connsiteY67" fmla="*/ 263688 h 918356"/>
              <a:gd name="connsiteX68" fmla="*/ 5252996 w 9517857"/>
              <a:gd name="connsiteY68" fmla="*/ 270655 h 918356"/>
              <a:gd name="connsiteX69" fmla="*/ 5358056 w 9517857"/>
              <a:gd name="connsiteY69" fmla="*/ 247248 h 918356"/>
              <a:gd name="connsiteX70" fmla="*/ 5426496 w 9517857"/>
              <a:gd name="connsiteY70" fmla="*/ 235142 h 918356"/>
              <a:gd name="connsiteX71" fmla="*/ 5497161 w 9517857"/>
              <a:gd name="connsiteY71" fmla="*/ 228808 h 918356"/>
              <a:gd name="connsiteX72" fmla="*/ 5826043 w 9517857"/>
              <a:gd name="connsiteY72" fmla="*/ 148073 h 918356"/>
              <a:gd name="connsiteX73" fmla="*/ 6013415 w 9517857"/>
              <a:gd name="connsiteY73" fmla="*/ 137316 h 918356"/>
              <a:gd name="connsiteX74" fmla="*/ 6080994 w 9517857"/>
              <a:gd name="connsiteY74" fmla="*/ 142938 h 918356"/>
              <a:gd name="connsiteX75" fmla="*/ 6194152 w 9517857"/>
              <a:gd name="connsiteY75" fmla="*/ 151772 h 918356"/>
              <a:gd name="connsiteX76" fmla="*/ 6281379 w 9517857"/>
              <a:gd name="connsiteY76" fmla="*/ 181626 h 918356"/>
              <a:gd name="connsiteX77" fmla="*/ 6374947 w 9517857"/>
              <a:gd name="connsiteY77" fmla="*/ 179799 h 918356"/>
              <a:gd name="connsiteX78" fmla="*/ 6448518 w 9517857"/>
              <a:gd name="connsiteY78" fmla="*/ 164378 h 918356"/>
              <a:gd name="connsiteX79" fmla="*/ 6544700 w 9517857"/>
              <a:gd name="connsiteY79" fmla="*/ 167161 h 918356"/>
              <a:gd name="connsiteX80" fmla="*/ 6648353 w 9517857"/>
              <a:gd name="connsiteY80" fmla="*/ 172250 h 918356"/>
              <a:gd name="connsiteX81" fmla="*/ 6736227 w 9517857"/>
              <a:gd name="connsiteY81" fmla="*/ 173216 h 918356"/>
              <a:gd name="connsiteX82" fmla="*/ 6977218 w 9517857"/>
              <a:gd name="connsiteY82" fmla="*/ 184289 h 918356"/>
              <a:gd name="connsiteX83" fmla="*/ 7065221 w 9517857"/>
              <a:gd name="connsiteY83" fmla="*/ 227531 h 918356"/>
              <a:gd name="connsiteX84" fmla="*/ 7366876 w 9517857"/>
              <a:gd name="connsiteY84" fmla="*/ 248468 h 918356"/>
              <a:gd name="connsiteX85" fmla="*/ 7565449 w 9517857"/>
              <a:gd name="connsiteY85" fmla="*/ 258950 h 918356"/>
              <a:gd name="connsiteX86" fmla="*/ 7599285 w 9517857"/>
              <a:gd name="connsiteY86" fmla="*/ 266021 h 918356"/>
              <a:gd name="connsiteX87" fmla="*/ 7644411 w 9517857"/>
              <a:gd name="connsiteY87" fmla="*/ 258986 h 918356"/>
              <a:gd name="connsiteX88" fmla="*/ 7825110 w 9517857"/>
              <a:gd name="connsiteY88" fmla="*/ 229109 h 918356"/>
              <a:gd name="connsiteX89" fmla="*/ 7965804 w 9517857"/>
              <a:gd name="connsiteY89" fmla="*/ 190545 h 918356"/>
              <a:gd name="connsiteX90" fmla="*/ 8147401 w 9517857"/>
              <a:gd name="connsiteY90" fmla="*/ 205617 h 918356"/>
              <a:gd name="connsiteX91" fmla="*/ 8256033 w 9517857"/>
              <a:gd name="connsiteY91" fmla="*/ 193713 h 918356"/>
              <a:gd name="connsiteX92" fmla="*/ 8410677 w 9517857"/>
              <a:gd name="connsiteY92" fmla="*/ 172167 h 918356"/>
              <a:gd name="connsiteX93" fmla="*/ 8617841 w 9517857"/>
              <a:gd name="connsiteY93" fmla="*/ 155167 h 918356"/>
              <a:gd name="connsiteX94" fmla="*/ 8715976 w 9517857"/>
              <a:gd name="connsiteY94" fmla="*/ 178374 h 918356"/>
              <a:gd name="connsiteX95" fmla="*/ 8778827 w 9517857"/>
              <a:gd name="connsiteY95" fmla="*/ 172936 h 918356"/>
              <a:gd name="connsiteX96" fmla="*/ 8840778 w 9517857"/>
              <a:gd name="connsiteY96" fmla="*/ 143149 h 918356"/>
              <a:gd name="connsiteX97" fmla="*/ 9010380 w 9517857"/>
              <a:gd name="connsiteY97" fmla="*/ 91891 h 918356"/>
              <a:gd name="connsiteX98" fmla="*/ 9110856 w 9517857"/>
              <a:gd name="connsiteY98" fmla="*/ 70997 h 918356"/>
              <a:gd name="connsiteX99" fmla="*/ 9268817 w 9517857"/>
              <a:gd name="connsiteY99" fmla="*/ 53082 h 918356"/>
              <a:gd name="connsiteX100" fmla="*/ 9316667 w 9517857"/>
              <a:gd name="connsiteY100" fmla="*/ 45047 h 918356"/>
              <a:gd name="connsiteX101" fmla="*/ 9428209 w 9517857"/>
              <a:gd name="connsiteY101" fmla="*/ 29923 h 9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Lst>
            <a:rect l="l" t="t" r="r" b="b"/>
            <a:pathLst>
              <a:path w="9517857" h="918356">
                <a:moveTo>
                  <a:pt x="4686423" y="247919"/>
                </a:moveTo>
                <a:lnTo>
                  <a:pt x="4689051" y="250968"/>
                </a:lnTo>
                <a:lnTo>
                  <a:pt x="4687244" y="251298"/>
                </a:lnTo>
                <a:close/>
                <a:moveTo>
                  <a:pt x="4685225" y="246530"/>
                </a:moveTo>
                <a:cubicBezTo>
                  <a:pt x="4688837" y="243198"/>
                  <a:pt x="4687468" y="244598"/>
                  <a:pt x="4686133" y="246727"/>
                </a:cubicBezTo>
                <a:lnTo>
                  <a:pt x="4686423" y="247919"/>
                </a:lnTo>
                <a:close/>
                <a:moveTo>
                  <a:pt x="9517856" y="0"/>
                </a:moveTo>
                <a:lnTo>
                  <a:pt x="9517857" y="12"/>
                </a:lnTo>
                <a:lnTo>
                  <a:pt x="9517857" y="918356"/>
                </a:lnTo>
                <a:lnTo>
                  <a:pt x="14604" y="918356"/>
                </a:lnTo>
                <a:lnTo>
                  <a:pt x="12841" y="917763"/>
                </a:lnTo>
                <a:cubicBezTo>
                  <a:pt x="4532" y="914864"/>
                  <a:pt x="-773" y="912807"/>
                  <a:pt x="93" y="912471"/>
                </a:cubicBezTo>
                <a:cubicBezTo>
                  <a:pt x="172" y="912298"/>
                  <a:pt x="58594" y="890495"/>
                  <a:pt x="58674" y="890322"/>
                </a:cubicBezTo>
                <a:cubicBezTo>
                  <a:pt x="127436" y="929614"/>
                  <a:pt x="206243" y="828226"/>
                  <a:pt x="275005" y="807229"/>
                </a:cubicBezTo>
                <a:cubicBezTo>
                  <a:pt x="303983" y="806087"/>
                  <a:pt x="504960" y="777375"/>
                  <a:pt x="587824" y="798195"/>
                </a:cubicBezTo>
                <a:cubicBezTo>
                  <a:pt x="598733" y="769348"/>
                  <a:pt x="682904" y="785924"/>
                  <a:pt x="651826" y="738338"/>
                </a:cubicBezTo>
                <a:cubicBezTo>
                  <a:pt x="688440" y="737862"/>
                  <a:pt x="753255" y="750396"/>
                  <a:pt x="727985" y="719826"/>
                </a:cubicBezTo>
                <a:cubicBezTo>
                  <a:pt x="739648" y="718749"/>
                  <a:pt x="775717" y="715087"/>
                  <a:pt x="778982" y="710142"/>
                </a:cubicBezTo>
                <a:cubicBezTo>
                  <a:pt x="779189" y="709407"/>
                  <a:pt x="849736" y="718721"/>
                  <a:pt x="849944" y="717987"/>
                </a:cubicBezTo>
                <a:lnTo>
                  <a:pt x="921659" y="712695"/>
                </a:lnTo>
                <a:lnTo>
                  <a:pt x="930946" y="734046"/>
                </a:lnTo>
                <a:lnTo>
                  <a:pt x="986250" y="713530"/>
                </a:lnTo>
                <a:lnTo>
                  <a:pt x="1013752" y="713361"/>
                </a:lnTo>
                <a:lnTo>
                  <a:pt x="1023734" y="718571"/>
                </a:lnTo>
                <a:cubicBezTo>
                  <a:pt x="1033291" y="721276"/>
                  <a:pt x="1045398" y="721394"/>
                  <a:pt x="1063207" y="715651"/>
                </a:cubicBezTo>
                <a:lnTo>
                  <a:pt x="1081980" y="738455"/>
                </a:lnTo>
                <a:lnTo>
                  <a:pt x="1218120" y="713280"/>
                </a:lnTo>
                <a:cubicBezTo>
                  <a:pt x="1230137" y="716162"/>
                  <a:pt x="1387179" y="685179"/>
                  <a:pt x="1397459" y="691190"/>
                </a:cubicBezTo>
                <a:cubicBezTo>
                  <a:pt x="1490025" y="704984"/>
                  <a:pt x="1465878" y="715604"/>
                  <a:pt x="1580688" y="693697"/>
                </a:cubicBezTo>
                <a:cubicBezTo>
                  <a:pt x="1607067" y="704379"/>
                  <a:pt x="1719477" y="658239"/>
                  <a:pt x="1772334" y="710640"/>
                </a:cubicBezTo>
                <a:cubicBezTo>
                  <a:pt x="1745536" y="644824"/>
                  <a:pt x="1976078" y="716436"/>
                  <a:pt x="2002561" y="659917"/>
                </a:cubicBezTo>
                <a:cubicBezTo>
                  <a:pt x="2045346" y="660357"/>
                  <a:pt x="2166676" y="654391"/>
                  <a:pt x="2135144" y="636501"/>
                </a:cubicBezTo>
                <a:cubicBezTo>
                  <a:pt x="2276591" y="665055"/>
                  <a:pt x="2293173" y="591792"/>
                  <a:pt x="2440292" y="593862"/>
                </a:cubicBezTo>
                <a:cubicBezTo>
                  <a:pt x="2495160" y="534824"/>
                  <a:pt x="2473343" y="585644"/>
                  <a:pt x="2547829" y="566150"/>
                </a:cubicBezTo>
                <a:cubicBezTo>
                  <a:pt x="2545438" y="614169"/>
                  <a:pt x="2632278" y="528280"/>
                  <a:pt x="2658055" y="578727"/>
                </a:cubicBezTo>
                <a:cubicBezTo>
                  <a:pt x="2670795" y="573581"/>
                  <a:pt x="2682322" y="567005"/>
                  <a:pt x="2693698" y="560029"/>
                </a:cubicBezTo>
                <a:lnTo>
                  <a:pt x="2699673" y="556400"/>
                </a:lnTo>
                <a:lnTo>
                  <a:pt x="2727306" y="550698"/>
                </a:lnTo>
                <a:lnTo>
                  <a:pt x="2730451" y="538058"/>
                </a:lnTo>
                <a:lnTo>
                  <a:pt x="2768713" y="521575"/>
                </a:lnTo>
                <a:cubicBezTo>
                  <a:pt x="2783756" y="517104"/>
                  <a:pt x="2800788" y="514291"/>
                  <a:pt x="2820868" y="514160"/>
                </a:cubicBezTo>
                <a:cubicBezTo>
                  <a:pt x="2894791" y="532885"/>
                  <a:pt x="2981506" y="465507"/>
                  <a:pt x="3073635" y="491294"/>
                </a:cubicBezTo>
                <a:cubicBezTo>
                  <a:pt x="3106872" y="496624"/>
                  <a:pt x="3205785" y="487718"/>
                  <a:pt x="3222071" y="470559"/>
                </a:cubicBezTo>
                <a:cubicBezTo>
                  <a:pt x="3242193" y="465514"/>
                  <a:pt x="3267163" y="469136"/>
                  <a:pt x="3274069" y="451605"/>
                </a:cubicBezTo>
                <a:cubicBezTo>
                  <a:pt x="3286659" y="430165"/>
                  <a:pt x="3363648" y="455571"/>
                  <a:pt x="3349632" y="432583"/>
                </a:cubicBezTo>
                <a:cubicBezTo>
                  <a:pt x="3404182" y="449847"/>
                  <a:pt x="3438210" y="404323"/>
                  <a:pt x="3479593" y="390437"/>
                </a:cubicBezTo>
                <a:cubicBezTo>
                  <a:pt x="3523240" y="408403"/>
                  <a:pt x="3567027" y="361554"/>
                  <a:pt x="3660110" y="348726"/>
                </a:cubicBezTo>
                <a:cubicBezTo>
                  <a:pt x="3708299" y="369683"/>
                  <a:pt x="3662447" y="344775"/>
                  <a:pt x="3750023" y="370678"/>
                </a:cubicBezTo>
                <a:cubicBezTo>
                  <a:pt x="3752092" y="367132"/>
                  <a:pt x="3816880" y="365055"/>
                  <a:pt x="3844133" y="360648"/>
                </a:cubicBezTo>
                <a:cubicBezTo>
                  <a:pt x="3871386" y="356240"/>
                  <a:pt x="3882848" y="332490"/>
                  <a:pt x="3913545" y="344235"/>
                </a:cubicBezTo>
                <a:cubicBezTo>
                  <a:pt x="4050255" y="376864"/>
                  <a:pt x="4159924" y="363190"/>
                  <a:pt x="4266740" y="361454"/>
                </a:cubicBezTo>
                <a:cubicBezTo>
                  <a:pt x="4385770" y="354374"/>
                  <a:pt x="4314535" y="340143"/>
                  <a:pt x="4430770" y="342643"/>
                </a:cubicBezTo>
                <a:cubicBezTo>
                  <a:pt x="4439969" y="322594"/>
                  <a:pt x="4478290" y="314645"/>
                  <a:pt x="4512664" y="319948"/>
                </a:cubicBezTo>
                <a:cubicBezTo>
                  <a:pt x="4570011" y="315138"/>
                  <a:pt x="4549085" y="269599"/>
                  <a:pt x="4616423" y="290914"/>
                </a:cubicBezTo>
                <a:cubicBezTo>
                  <a:pt x="4599641" y="270277"/>
                  <a:pt x="4692085" y="269216"/>
                  <a:pt x="4691675" y="254011"/>
                </a:cubicBezTo>
                <a:lnTo>
                  <a:pt x="4689051" y="250968"/>
                </a:lnTo>
                <a:lnTo>
                  <a:pt x="4719994" y="245307"/>
                </a:lnTo>
                <a:cubicBezTo>
                  <a:pt x="4732635" y="242775"/>
                  <a:pt x="4745300" y="240335"/>
                  <a:pt x="4752894" y="239875"/>
                </a:cubicBezTo>
                <a:lnTo>
                  <a:pt x="4769329" y="233585"/>
                </a:lnTo>
                <a:lnTo>
                  <a:pt x="4775634" y="234063"/>
                </a:lnTo>
                <a:lnTo>
                  <a:pt x="4790452" y="233572"/>
                </a:lnTo>
                <a:cubicBezTo>
                  <a:pt x="4789989" y="236356"/>
                  <a:pt x="4789525" y="239141"/>
                  <a:pt x="4789062" y="241924"/>
                </a:cubicBezTo>
                <a:cubicBezTo>
                  <a:pt x="4786342" y="249932"/>
                  <a:pt x="4804560" y="248631"/>
                  <a:pt x="4827826" y="246977"/>
                </a:cubicBezTo>
                <a:cubicBezTo>
                  <a:pt x="4875782" y="239569"/>
                  <a:pt x="4874112" y="283413"/>
                  <a:pt x="4892569" y="249933"/>
                </a:cubicBezTo>
                <a:lnTo>
                  <a:pt x="4896611" y="240448"/>
                </a:lnTo>
                <a:lnTo>
                  <a:pt x="4917286" y="243659"/>
                </a:lnTo>
                <a:cubicBezTo>
                  <a:pt x="4923060" y="243799"/>
                  <a:pt x="4981729" y="240979"/>
                  <a:pt x="4981173" y="247103"/>
                </a:cubicBezTo>
                <a:cubicBezTo>
                  <a:pt x="5024880" y="220690"/>
                  <a:pt x="5014146" y="257963"/>
                  <a:pt x="5060397" y="263688"/>
                </a:cubicBezTo>
                <a:cubicBezTo>
                  <a:pt x="5093356" y="238589"/>
                  <a:pt x="5157892" y="275351"/>
                  <a:pt x="5252996" y="270655"/>
                </a:cubicBezTo>
                <a:cubicBezTo>
                  <a:pt x="5288840" y="241872"/>
                  <a:pt x="5287005" y="287921"/>
                  <a:pt x="5358056" y="247248"/>
                </a:cubicBezTo>
                <a:cubicBezTo>
                  <a:pt x="5361752" y="250257"/>
                  <a:pt x="5403312" y="238215"/>
                  <a:pt x="5426496" y="235142"/>
                </a:cubicBezTo>
                <a:cubicBezTo>
                  <a:pt x="5449679" y="232069"/>
                  <a:pt x="5473549" y="245611"/>
                  <a:pt x="5497161" y="228808"/>
                </a:cubicBezTo>
                <a:cubicBezTo>
                  <a:pt x="5611861" y="172767"/>
                  <a:pt x="5723211" y="165860"/>
                  <a:pt x="5826043" y="148073"/>
                </a:cubicBezTo>
                <a:cubicBezTo>
                  <a:pt x="5943127" y="133166"/>
                  <a:pt x="5872659" y="193078"/>
                  <a:pt x="6013415" y="137316"/>
                </a:cubicBezTo>
                <a:cubicBezTo>
                  <a:pt x="6031924" y="154783"/>
                  <a:pt x="6050745" y="154258"/>
                  <a:pt x="6080994" y="142938"/>
                </a:cubicBezTo>
                <a:cubicBezTo>
                  <a:pt x="6138083" y="137090"/>
                  <a:pt x="6140195" y="184383"/>
                  <a:pt x="6194152" y="151772"/>
                </a:cubicBezTo>
                <a:cubicBezTo>
                  <a:pt x="6187280" y="177783"/>
                  <a:pt x="6304222" y="153410"/>
                  <a:pt x="6281379" y="181626"/>
                </a:cubicBezTo>
                <a:cubicBezTo>
                  <a:pt x="6321899" y="201819"/>
                  <a:pt x="6335111" y="162590"/>
                  <a:pt x="6374947" y="179799"/>
                </a:cubicBezTo>
                <a:cubicBezTo>
                  <a:pt x="6417404" y="181336"/>
                  <a:pt x="6402484" y="169694"/>
                  <a:pt x="6448518" y="164378"/>
                </a:cubicBezTo>
                <a:cubicBezTo>
                  <a:pt x="6504958" y="162488"/>
                  <a:pt x="6493438" y="111203"/>
                  <a:pt x="6544700" y="167161"/>
                </a:cubicBezTo>
                <a:cubicBezTo>
                  <a:pt x="6601507" y="148697"/>
                  <a:pt x="6566269" y="164386"/>
                  <a:pt x="6648353" y="172250"/>
                </a:cubicBezTo>
                <a:cubicBezTo>
                  <a:pt x="6680008" y="155223"/>
                  <a:pt x="6707960" y="160673"/>
                  <a:pt x="6736227" y="173216"/>
                </a:cubicBezTo>
                <a:cubicBezTo>
                  <a:pt x="6813963" y="164284"/>
                  <a:pt x="6888143" y="181296"/>
                  <a:pt x="6977218" y="184289"/>
                </a:cubicBezTo>
                <a:cubicBezTo>
                  <a:pt x="7040424" y="188318"/>
                  <a:pt x="7000278" y="216835"/>
                  <a:pt x="7065221" y="227531"/>
                </a:cubicBezTo>
                <a:cubicBezTo>
                  <a:pt x="7130163" y="238228"/>
                  <a:pt x="7291878" y="238208"/>
                  <a:pt x="7366876" y="248468"/>
                </a:cubicBezTo>
                <a:cubicBezTo>
                  <a:pt x="7491356" y="206752"/>
                  <a:pt x="7367734" y="280166"/>
                  <a:pt x="7565449" y="258950"/>
                </a:cubicBezTo>
                <a:cubicBezTo>
                  <a:pt x="7575959" y="252432"/>
                  <a:pt x="7600854" y="257628"/>
                  <a:pt x="7599285" y="266021"/>
                </a:cubicBezTo>
                <a:cubicBezTo>
                  <a:pt x="7611616" y="262940"/>
                  <a:pt x="7639946" y="245819"/>
                  <a:pt x="7644411" y="258986"/>
                </a:cubicBezTo>
                <a:cubicBezTo>
                  <a:pt x="7708015" y="258012"/>
                  <a:pt x="7770249" y="247724"/>
                  <a:pt x="7825110" y="229109"/>
                </a:cubicBezTo>
                <a:cubicBezTo>
                  <a:pt x="7949762" y="247028"/>
                  <a:pt x="7921956" y="197757"/>
                  <a:pt x="7965804" y="190545"/>
                </a:cubicBezTo>
                <a:cubicBezTo>
                  <a:pt x="8039439" y="213878"/>
                  <a:pt x="8063651" y="191475"/>
                  <a:pt x="8147401" y="205617"/>
                </a:cubicBezTo>
                <a:cubicBezTo>
                  <a:pt x="8166453" y="196610"/>
                  <a:pt x="8225048" y="207099"/>
                  <a:pt x="8256033" y="193713"/>
                </a:cubicBezTo>
                <a:cubicBezTo>
                  <a:pt x="8311388" y="242017"/>
                  <a:pt x="8350376" y="178592"/>
                  <a:pt x="8410677" y="172167"/>
                </a:cubicBezTo>
                <a:cubicBezTo>
                  <a:pt x="8470978" y="165743"/>
                  <a:pt x="8572470" y="206385"/>
                  <a:pt x="8617841" y="155167"/>
                </a:cubicBezTo>
                <a:cubicBezTo>
                  <a:pt x="8646050" y="160448"/>
                  <a:pt x="8664949" y="183631"/>
                  <a:pt x="8715976" y="178374"/>
                </a:cubicBezTo>
                <a:cubicBezTo>
                  <a:pt x="8737194" y="188216"/>
                  <a:pt x="8738009" y="189511"/>
                  <a:pt x="8778827" y="172936"/>
                </a:cubicBezTo>
                <a:cubicBezTo>
                  <a:pt x="8725277" y="146372"/>
                  <a:pt x="8850819" y="175612"/>
                  <a:pt x="8840778" y="143149"/>
                </a:cubicBezTo>
                <a:cubicBezTo>
                  <a:pt x="8903519" y="121096"/>
                  <a:pt x="9021861" y="150359"/>
                  <a:pt x="9010380" y="91891"/>
                </a:cubicBezTo>
                <a:cubicBezTo>
                  <a:pt x="9027103" y="56852"/>
                  <a:pt x="9112524" y="108357"/>
                  <a:pt x="9110856" y="70997"/>
                </a:cubicBezTo>
                <a:cubicBezTo>
                  <a:pt x="9148189" y="94250"/>
                  <a:pt x="9209809" y="53285"/>
                  <a:pt x="9268817" y="53082"/>
                </a:cubicBezTo>
                <a:cubicBezTo>
                  <a:pt x="9279135" y="35997"/>
                  <a:pt x="9292736" y="36520"/>
                  <a:pt x="9316667" y="45047"/>
                </a:cubicBezTo>
                <a:cubicBezTo>
                  <a:pt x="9352186" y="45862"/>
                  <a:pt x="9390008" y="39799"/>
                  <a:pt x="9428209" y="29923"/>
                </a:cubicBez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82044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4697CDA-BDB7-4883-B48B-1D4EDB2F0E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1C22A8-114D-92CD-6088-B4BDA19B64BB}"/>
              </a:ext>
            </a:extLst>
          </p:cNvPr>
          <p:cNvSpPr>
            <a:spLocks noGrp="1"/>
          </p:cNvSpPr>
          <p:nvPr>
            <p:ph type="title"/>
          </p:nvPr>
        </p:nvSpPr>
        <p:spPr>
          <a:xfrm>
            <a:off x="1629751" y="934327"/>
            <a:ext cx="8924392" cy="1058275"/>
          </a:xfrm>
        </p:spPr>
        <p:txBody>
          <a:bodyPr>
            <a:normAutofit/>
          </a:bodyPr>
          <a:lstStyle/>
          <a:p>
            <a:pPr algn="ctr"/>
            <a:r>
              <a:rPr lang="en-US" sz="4100"/>
              <a:t>Practical Application: Sentiment Analysis</a:t>
            </a:r>
          </a:p>
        </p:txBody>
      </p:sp>
      <p:sp>
        <p:nvSpPr>
          <p:cNvPr id="10" name="Freeform: Shape 9">
            <a:extLst>
              <a:ext uri="{FF2B5EF4-FFF2-40B4-BE49-F238E27FC236}">
                <a16:creationId xmlns:a16="http://schemas.microsoft.com/office/drawing/2014/main" id="{6295B176-FA0E-4B6A-A190-5E2E82BEA5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93813" y="2337807"/>
            <a:ext cx="9604374" cy="3585866"/>
          </a:xfrm>
          <a:custGeom>
            <a:avLst/>
            <a:gdLst>
              <a:gd name="connsiteX0" fmla="*/ 0 w 9604374"/>
              <a:gd name="connsiteY0" fmla="*/ 0 h 3585866"/>
              <a:gd name="connsiteX1" fmla="*/ 9604374 w 9604374"/>
              <a:gd name="connsiteY1" fmla="*/ 0 h 3585866"/>
              <a:gd name="connsiteX2" fmla="*/ 9604374 w 9604374"/>
              <a:gd name="connsiteY2" fmla="*/ 3095088 h 3585866"/>
              <a:gd name="connsiteX3" fmla="*/ 9591455 w 9604374"/>
              <a:gd name="connsiteY3" fmla="*/ 3097044 h 3585866"/>
              <a:gd name="connsiteX4" fmla="*/ 9285147 w 9604374"/>
              <a:gd name="connsiteY4" fmla="*/ 3164182 h 3585866"/>
              <a:gd name="connsiteX5" fmla="*/ 9114078 w 9604374"/>
              <a:gd name="connsiteY5" fmla="*/ 3164299 h 3585866"/>
              <a:gd name="connsiteX6" fmla="*/ 8999665 w 9604374"/>
              <a:gd name="connsiteY6" fmla="*/ 3157864 h 3585866"/>
              <a:gd name="connsiteX7" fmla="*/ 8925240 w 9604374"/>
              <a:gd name="connsiteY7" fmla="*/ 3152135 h 3585866"/>
              <a:gd name="connsiteX8" fmla="*/ 8868257 w 9604374"/>
              <a:gd name="connsiteY8" fmla="*/ 3146819 h 3585866"/>
              <a:gd name="connsiteX9" fmla="*/ 8792363 w 9604374"/>
              <a:gd name="connsiteY9" fmla="*/ 3146856 h 3585866"/>
              <a:gd name="connsiteX10" fmla="*/ 8668399 w 9604374"/>
              <a:gd name="connsiteY10" fmla="*/ 3196893 h 3585866"/>
              <a:gd name="connsiteX11" fmla="*/ 8474043 w 9604374"/>
              <a:gd name="connsiteY11" fmla="*/ 3240734 h 3585866"/>
              <a:gd name="connsiteX12" fmla="*/ 8317555 w 9604374"/>
              <a:gd name="connsiteY12" fmla="*/ 3247156 h 3585866"/>
              <a:gd name="connsiteX13" fmla="*/ 8280111 w 9604374"/>
              <a:gd name="connsiteY13" fmla="*/ 3255812 h 3585866"/>
              <a:gd name="connsiteX14" fmla="*/ 8096088 w 9604374"/>
              <a:gd name="connsiteY14" fmla="*/ 3253903 h 3585866"/>
              <a:gd name="connsiteX15" fmla="*/ 7825642 w 9604374"/>
              <a:gd name="connsiteY15" fmla="*/ 3271628 h 3585866"/>
              <a:gd name="connsiteX16" fmla="*/ 7531820 w 9604374"/>
              <a:gd name="connsiteY16" fmla="*/ 3252671 h 3585866"/>
              <a:gd name="connsiteX17" fmla="*/ 7193751 w 9604374"/>
              <a:gd name="connsiteY17" fmla="*/ 3245192 h 3585866"/>
              <a:gd name="connsiteX18" fmla="*/ 6976768 w 9604374"/>
              <a:gd name="connsiteY18" fmla="*/ 3238559 h 3585866"/>
              <a:gd name="connsiteX19" fmla="*/ 6756462 w 9604374"/>
              <a:gd name="connsiteY19" fmla="*/ 3273268 h 3585866"/>
              <a:gd name="connsiteX20" fmla="*/ 6512214 w 9604374"/>
              <a:gd name="connsiteY20" fmla="*/ 3298845 h 3585866"/>
              <a:gd name="connsiteX21" fmla="*/ 6289569 w 9604374"/>
              <a:gd name="connsiteY21" fmla="*/ 3301118 h 3585866"/>
              <a:gd name="connsiteX22" fmla="*/ 6157816 w 9604374"/>
              <a:gd name="connsiteY22" fmla="*/ 3308643 h 3585866"/>
              <a:gd name="connsiteX23" fmla="*/ 6110062 w 9604374"/>
              <a:gd name="connsiteY23" fmla="*/ 3321185 h 3585866"/>
              <a:gd name="connsiteX24" fmla="*/ 6041832 w 9604374"/>
              <a:gd name="connsiteY24" fmla="*/ 3332190 h 3585866"/>
              <a:gd name="connsiteX25" fmla="*/ 5923195 w 9604374"/>
              <a:gd name="connsiteY25" fmla="*/ 3359104 h 3585866"/>
              <a:gd name="connsiteX26" fmla="*/ 5770972 w 9604374"/>
              <a:gd name="connsiteY26" fmla="*/ 3369893 h 3585866"/>
              <a:gd name="connsiteX27" fmla="*/ 5632583 w 9604374"/>
              <a:gd name="connsiteY27" fmla="*/ 3357730 h 3585866"/>
              <a:gd name="connsiteX28" fmla="*/ 5539996 w 9604374"/>
              <a:gd name="connsiteY28" fmla="*/ 3352890 h 3585866"/>
              <a:gd name="connsiteX29" fmla="*/ 5315460 w 9604374"/>
              <a:gd name="connsiteY29" fmla="*/ 3350411 h 3585866"/>
              <a:gd name="connsiteX30" fmla="*/ 5072455 w 9604374"/>
              <a:gd name="connsiteY30" fmla="*/ 3338147 h 3585866"/>
              <a:gd name="connsiteX31" fmla="*/ 5016364 w 9604374"/>
              <a:gd name="connsiteY31" fmla="*/ 3348937 h 3585866"/>
              <a:gd name="connsiteX32" fmla="*/ 4922276 w 9604374"/>
              <a:gd name="connsiteY32" fmla="*/ 3366515 h 3585866"/>
              <a:gd name="connsiteX33" fmla="*/ 4856444 w 9604374"/>
              <a:gd name="connsiteY33" fmla="*/ 3399463 h 3585866"/>
              <a:gd name="connsiteX34" fmla="*/ 4775993 w 9604374"/>
              <a:gd name="connsiteY34" fmla="*/ 3406312 h 3585866"/>
              <a:gd name="connsiteX35" fmla="*/ 4667320 w 9604374"/>
              <a:gd name="connsiteY35" fmla="*/ 3397926 h 3585866"/>
              <a:gd name="connsiteX36" fmla="*/ 4540268 w 9604374"/>
              <a:gd name="connsiteY36" fmla="*/ 3424464 h 3585866"/>
              <a:gd name="connsiteX37" fmla="*/ 4465491 w 9604374"/>
              <a:gd name="connsiteY37" fmla="*/ 3433154 h 3585866"/>
              <a:gd name="connsiteX38" fmla="*/ 4262864 w 9604374"/>
              <a:gd name="connsiteY38" fmla="*/ 3464075 h 3585866"/>
              <a:gd name="connsiteX39" fmla="*/ 4175005 w 9604374"/>
              <a:gd name="connsiteY39" fmla="*/ 3493545 h 3585866"/>
              <a:gd name="connsiteX40" fmla="*/ 4030100 w 9604374"/>
              <a:gd name="connsiteY40" fmla="*/ 3514212 h 3585866"/>
              <a:gd name="connsiteX41" fmla="*/ 3926631 w 9604374"/>
              <a:gd name="connsiteY41" fmla="*/ 3525304 h 3585866"/>
              <a:gd name="connsiteX42" fmla="*/ 3897306 w 9604374"/>
              <a:gd name="connsiteY42" fmla="*/ 3547095 h 3585866"/>
              <a:gd name="connsiteX43" fmla="*/ 3896886 w 9604374"/>
              <a:gd name="connsiteY43" fmla="*/ 3547500 h 3585866"/>
              <a:gd name="connsiteX44" fmla="*/ 3834004 w 9604374"/>
              <a:gd name="connsiteY44" fmla="*/ 3550510 h 3585866"/>
              <a:gd name="connsiteX45" fmla="*/ 3696227 w 9604374"/>
              <a:gd name="connsiteY45" fmla="*/ 3574175 h 3585866"/>
              <a:gd name="connsiteX46" fmla="*/ 3652821 w 9604374"/>
              <a:gd name="connsiteY46" fmla="*/ 3580368 h 3585866"/>
              <a:gd name="connsiteX47" fmla="*/ 3629691 w 9604374"/>
              <a:gd name="connsiteY47" fmla="*/ 3585866 h 3585866"/>
              <a:gd name="connsiteX48" fmla="*/ 3595018 w 9604374"/>
              <a:gd name="connsiteY48" fmla="*/ 3571623 h 3585866"/>
              <a:gd name="connsiteX49" fmla="*/ 3551656 w 9604374"/>
              <a:gd name="connsiteY49" fmla="*/ 3577800 h 3585866"/>
              <a:gd name="connsiteX50" fmla="*/ 3541558 w 9604374"/>
              <a:gd name="connsiteY50" fmla="*/ 3579797 h 3585866"/>
              <a:gd name="connsiteX51" fmla="*/ 3465708 w 9604374"/>
              <a:gd name="connsiteY51" fmla="*/ 3565931 h 3585866"/>
              <a:gd name="connsiteX52" fmla="*/ 3458313 w 9604374"/>
              <a:gd name="connsiteY52" fmla="*/ 3560366 h 3585866"/>
              <a:gd name="connsiteX53" fmla="*/ 3420278 w 9604374"/>
              <a:gd name="connsiteY53" fmla="*/ 3557947 h 3585866"/>
              <a:gd name="connsiteX54" fmla="*/ 3415952 w 9604374"/>
              <a:gd name="connsiteY54" fmla="*/ 3559424 h 3585866"/>
              <a:gd name="connsiteX55" fmla="*/ 3384432 w 9604374"/>
              <a:gd name="connsiteY55" fmla="*/ 3550905 h 3585866"/>
              <a:gd name="connsiteX56" fmla="*/ 3258039 w 9604374"/>
              <a:gd name="connsiteY56" fmla="*/ 3535884 h 3585866"/>
              <a:gd name="connsiteX57" fmla="*/ 3015008 w 9604374"/>
              <a:gd name="connsiteY57" fmla="*/ 3528000 h 3585866"/>
              <a:gd name="connsiteX58" fmla="*/ 2761910 w 9604374"/>
              <a:gd name="connsiteY58" fmla="*/ 3505496 h 3585866"/>
              <a:gd name="connsiteX59" fmla="*/ 2521923 w 9604374"/>
              <a:gd name="connsiteY59" fmla="*/ 3514208 h 3585866"/>
              <a:gd name="connsiteX60" fmla="*/ 2085894 w 9604374"/>
              <a:gd name="connsiteY60" fmla="*/ 3490122 h 3585866"/>
              <a:gd name="connsiteX61" fmla="*/ 1936305 w 9604374"/>
              <a:gd name="connsiteY61" fmla="*/ 3487966 h 3585866"/>
              <a:gd name="connsiteX62" fmla="*/ 1836080 w 9604374"/>
              <a:gd name="connsiteY62" fmla="*/ 3487150 h 3585866"/>
              <a:gd name="connsiteX63" fmla="*/ 1829133 w 9604374"/>
              <a:gd name="connsiteY63" fmla="*/ 3489437 h 3585866"/>
              <a:gd name="connsiteX64" fmla="*/ 1801140 w 9604374"/>
              <a:gd name="connsiteY64" fmla="*/ 3490787 h 3585866"/>
              <a:gd name="connsiteX65" fmla="*/ 1793476 w 9604374"/>
              <a:gd name="connsiteY65" fmla="*/ 3500921 h 3585866"/>
              <a:gd name="connsiteX66" fmla="*/ 1699923 w 9604374"/>
              <a:gd name="connsiteY66" fmla="*/ 3509706 h 3585866"/>
              <a:gd name="connsiteX67" fmla="*/ 1474760 w 9604374"/>
              <a:gd name="connsiteY67" fmla="*/ 3513685 h 3585866"/>
              <a:gd name="connsiteX68" fmla="*/ 1308130 w 9604374"/>
              <a:gd name="connsiteY68" fmla="*/ 3496703 h 3585866"/>
              <a:gd name="connsiteX69" fmla="*/ 1252381 w 9604374"/>
              <a:gd name="connsiteY69" fmla="*/ 3506093 h 3585866"/>
              <a:gd name="connsiteX70" fmla="*/ 1174550 w 9604374"/>
              <a:gd name="connsiteY70" fmla="*/ 3512642 h 3585866"/>
              <a:gd name="connsiteX71" fmla="*/ 924455 w 9604374"/>
              <a:gd name="connsiteY71" fmla="*/ 3507283 h 3585866"/>
              <a:gd name="connsiteX72" fmla="*/ 718373 w 9604374"/>
              <a:gd name="connsiteY72" fmla="*/ 3511753 h 3585866"/>
              <a:gd name="connsiteX73" fmla="*/ 600444 w 9604374"/>
              <a:gd name="connsiteY73" fmla="*/ 3520899 h 3585866"/>
              <a:gd name="connsiteX74" fmla="*/ 351173 w 9604374"/>
              <a:gd name="connsiteY74" fmla="*/ 3495843 h 3585866"/>
              <a:gd name="connsiteX75" fmla="*/ 108372 w 9604374"/>
              <a:gd name="connsiteY75" fmla="*/ 3484386 h 3585866"/>
              <a:gd name="connsiteX76" fmla="*/ 6467 w 9604374"/>
              <a:gd name="connsiteY76" fmla="*/ 3476532 h 3585866"/>
              <a:gd name="connsiteX77" fmla="*/ 0 w 9604374"/>
              <a:gd name="connsiteY77" fmla="*/ 3475412 h 3585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9604374" h="3585866">
                <a:moveTo>
                  <a:pt x="0" y="0"/>
                </a:moveTo>
                <a:lnTo>
                  <a:pt x="9604374" y="0"/>
                </a:lnTo>
                <a:lnTo>
                  <a:pt x="9604374" y="3095088"/>
                </a:lnTo>
                <a:lnTo>
                  <a:pt x="9591455" y="3097044"/>
                </a:lnTo>
                <a:cubicBezTo>
                  <a:pt x="9496183" y="3133516"/>
                  <a:pt x="9411472" y="3121301"/>
                  <a:pt x="9285147" y="3164182"/>
                </a:cubicBezTo>
                <a:cubicBezTo>
                  <a:pt x="9222914" y="3162781"/>
                  <a:pt x="9174371" y="3173454"/>
                  <a:pt x="9114078" y="3164299"/>
                </a:cubicBezTo>
                <a:cubicBezTo>
                  <a:pt x="9087411" y="3155904"/>
                  <a:pt x="9030947" y="3180906"/>
                  <a:pt x="8999665" y="3157864"/>
                </a:cubicBezTo>
                <a:cubicBezTo>
                  <a:pt x="8997339" y="3174606"/>
                  <a:pt x="8938300" y="3159909"/>
                  <a:pt x="8925240" y="3152135"/>
                </a:cubicBezTo>
                <a:cubicBezTo>
                  <a:pt x="8910091" y="3159441"/>
                  <a:pt x="8884639" y="3146109"/>
                  <a:pt x="8868257" y="3146819"/>
                </a:cubicBezTo>
                <a:cubicBezTo>
                  <a:pt x="8835852" y="3110204"/>
                  <a:pt x="8832251" y="3167659"/>
                  <a:pt x="8792363" y="3146856"/>
                </a:cubicBezTo>
                <a:cubicBezTo>
                  <a:pt x="8774838" y="3159285"/>
                  <a:pt x="8715420" y="3185652"/>
                  <a:pt x="8668399" y="3196893"/>
                </a:cubicBezTo>
                <a:cubicBezTo>
                  <a:pt x="8575902" y="3221445"/>
                  <a:pt x="8569506" y="3250654"/>
                  <a:pt x="8474043" y="3240734"/>
                </a:cubicBezTo>
                <a:cubicBezTo>
                  <a:pt x="8460613" y="3264436"/>
                  <a:pt x="8297088" y="3204738"/>
                  <a:pt x="8317555" y="3247156"/>
                </a:cubicBezTo>
                <a:cubicBezTo>
                  <a:pt x="8285696" y="3245083"/>
                  <a:pt x="8262352" y="3228203"/>
                  <a:pt x="8280111" y="3255812"/>
                </a:cubicBezTo>
                <a:lnTo>
                  <a:pt x="8096088" y="3253903"/>
                </a:lnTo>
                <a:cubicBezTo>
                  <a:pt x="7994084" y="3261603"/>
                  <a:pt x="7930388" y="3281921"/>
                  <a:pt x="7825642" y="3271628"/>
                </a:cubicBezTo>
                <a:cubicBezTo>
                  <a:pt x="7723046" y="3270395"/>
                  <a:pt x="7671282" y="3252297"/>
                  <a:pt x="7531820" y="3252671"/>
                </a:cubicBezTo>
                <a:cubicBezTo>
                  <a:pt x="7433606" y="3250277"/>
                  <a:pt x="7293100" y="3236234"/>
                  <a:pt x="7193751" y="3245192"/>
                </a:cubicBezTo>
                <a:cubicBezTo>
                  <a:pt x="7074822" y="3223769"/>
                  <a:pt x="7104250" y="3250265"/>
                  <a:pt x="6976768" y="3238559"/>
                </a:cubicBezTo>
                <a:cubicBezTo>
                  <a:pt x="6921032" y="3284865"/>
                  <a:pt x="6823818" y="3261794"/>
                  <a:pt x="6756462" y="3273268"/>
                </a:cubicBezTo>
                <a:cubicBezTo>
                  <a:pt x="6679037" y="3283316"/>
                  <a:pt x="6590030" y="3294204"/>
                  <a:pt x="6512214" y="3298845"/>
                </a:cubicBezTo>
                <a:cubicBezTo>
                  <a:pt x="6450581" y="3277980"/>
                  <a:pt x="6366042" y="3329199"/>
                  <a:pt x="6289569" y="3301118"/>
                </a:cubicBezTo>
                <a:cubicBezTo>
                  <a:pt x="6261432" y="3294355"/>
                  <a:pt x="6174310" y="3295209"/>
                  <a:pt x="6157816" y="3308643"/>
                </a:cubicBezTo>
                <a:cubicBezTo>
                  <a:pt x="6139648" y="3311557"/>
                  <a:pt x="6118459" y="3306799"/>
                  <a:pt x="6110062" y="3321185"/>
                </a:cubicBezTo>
                <a:cubicBezTo>
                  <a:pt x="6096189" y="3338498"/>
                  <a:pt x="6032810" y="3311765"/>
                  <a:pt x="6041832" y="3332190"/>
                </a:cubicBezTo>
                <a:cubicBezTo>
                  <a:pt x="5996830" y="3313871"/>
                  <a:pt x="5961033" y="3350141"/>
                  <a:pt x="5923195" y="3359104"/>
                </a:cubicBezTo>
                <a:cubicBezTo>
                  <a:pt x="5887750" y="3340930"/>
                  <a:pt x="5853570" y="3365323"/>
                  <a:pt x="5770972" y="3369893"/>
                </a:cubicBezTo>
                <a:cubicBezTo>
                  <a:pt x="5731993" y="3348876"/>
                  <a:pt x="5705091" y="3385599"/>
                  <a:pt x="5632583" y="3357730"/>
                </a:cubicBezTo>
                <a:cubicBezTo>
                  <a:pt x="5594087" y="3357562"/>
                  <a:pt x="5606154" y="3357443"/>
                  <a:pt x="5539996" y="3352890"/>
                </a:cubicBezTo>
                <a:cubicBezTo>
                  <a:pt x="5439049" y="3348000"/>
                  <a:pt x="5408459" y="3356166"/>
                  <a:pt x="5315460" y="3350411"/>
                </a:cubicBezTo>
                <a:cubicBezTo>
                  <a:pt x="5211119" y="3348356"/>
                  <a:pt x="5208881" y="3372469"/>
                  <a:pt x="5072455" y="3338147"/>
                </a:cubicBezTo>
                <a:cubicBezTo>
                  <a:pt x="5061717" y="3354508"/>
                  <a:pt x="5045493" y="3355753"/>
                  <a:pt x="5016364" y="3348937"/>
                </a:cubicBezTo>
                <a:cubicBezTo>
                  <a:pt x="4965900" y="3349130"/>
                  <a:pt x="4977835" y="3389131"/>
                  <a:pt x="4922276" y="3366515"/>
                </a:cubicBezTo>
                <a:cubicBezTo>
                  <a:pt x="4935702" y="3387794"/>
                  <a:pt x="4828733" y="3377760"/>
                  <a:pt x="4856444" y="3399463"/>
                </a:cubicBezTo>
                <a:cubicBezTo>
                  <a:pt x="4827698" y="3420094"/>
                  <a:pt x="4805019" y="3388256"/>
                  <a:pt x="4775993" y="3406312"/>
                </a:cubicBezTo>
                <a:cubicBezTo>
                  <a:pt x="4744470" y="3406056"/>
                  <a:pt x="4706605" y="3394901"/>
                  <a:pt x="4667320" y="3397926"/>
                </a:cubicBezTo>
                <a:cubicBezTo>
                  <a:pt x="4613435" y="3387476"/>
                  <a:pt x="4608100" y="3410487"/>
                  <a:pt x="4540268" y="3424464"/>
                </a:cubicBezTo>
                <a:cubicBezTo>
                  <a:pt x="4508279" y="3412969"/>
                  <a:pt x="4485989" y="3420063"/>
                  <a:pt x="4465491" y="3433154"/>
                </a:cubicBezTo>
                <a:cubicBezTo>
                  <a:pt x="4396498" y="3432601"/>
                  <a:pt x="4338078" y="3453569"/>
                  <a:pt x="4262864" y="3464075"/>
                </a:cubicBezTo>
                <a:cubicBezTo>
                  <a:pt x="4180249" y="3483394"/>
                  <a:pt x="4225769" y="3479019"/>
                  <a:pt x="4175005" y="3493545"/>
                </a:cubicBezTo>
                <a:lnTo>
                  <a:pt x="4030100" y="3514212"/>
                </a:lnTo>
                <a:lnTo>
                  <a:pt x="3926631" y="3525304"/>
                </a:lnTo>
                <a:lnTo>
                  <a:pt x="3897306" y="3547095"/>
                </a:lnTo>
                <a:lnTo>
                  <a:pt x="3896886" y="3547500"/>
                </a:lnTo>
                <a:lnTo>
                  <a:pt x="3834004" y="3550510"/>
                </a:lnTo>
                <a:cubicBezTo>
                  <a:pt x="3800562" y="3554957"/>
                  <a:pt x="3734185" y="3568533"/>
                  <a:pt x="3696227" y="3574175"/>
                </a:cubicBezTo>
                <a:cubicBezTo>
                  <a:pt x="3661780" y="3570074"/>
                  <a:pt x="3640587" y="3551815"/>
                  <a:pt x="3652821" y="3580368"/>
                </a:cubicBezTo>
                <a:cubicBezTo>
                  <a:pt x="3641506" y="3579831"/>
                  <a:pt x="3634593" y="3582151"/>
                  <a:pt x="3629691" y="3585866"/>
                </a:cubicBezTo>
                <a:lnTo>
                  <a:pt x="3595018" y="3571623"/>
                </a:lnTo>
                <a:lnTo>
                  <a:pt x="3551656" y="3577800"/>
                </a:lnTo>
                <a:lnTo>
                  <a:pt x="3541558" y="3579797"/>
                </a:lnTo>
                <a:lnTo>
                  <a:pt x="3465708" y="3565931"/>
                </a:lnTo>
                <a:lnTo>
                  <a:pt x="3458313" y="3560366"/>
                </a:lnTo>
                <a:cubicBezTo>
                  <a:pt x="3450380" y="3556940"/>
                  <a:pt x="3439090" y="3555355"/>
                  <a:pt x="3420278" y="3557947"/>
                </a:cubicBezTo>
                <a:lnTo>
                  <a:pt x="3415952" y="3559424"/>
                </a:lnTo>
                <a:lnTo>
                  <a:pt x="3384432" y="3550905"/>
                </a:lnTo>
                <a:cubicBezTo>
                  <a:pt x="3374259" y="3547029"/>
                  <a:pt x="3265415" y="3542149"/>
                  <a:pt x="3258039" y="3535884"/>
                </a:cubicBezTo>
                <a:cubicBezTo>
                  <a:pt x="3138852" y="3551394"/>
                  <a:pt x="3130647" y="3523871"/>
                  <a:pt x="3015008" y="3528000"/>
                </a:cubicBezTo>
                <a:cubicBezTo>
                  <a:pt x="2914857" y="3486061"/>
                  <a:pt x="2851687" y="3511605"/>
                  <a:pt x="2761910" y="3505496"/>
                </a:cubicBezTo>
                <a:cubicBezTo>
                  <a:pt x="2676401" y="3501198"/>
                  <a:pt x="2636809" y="3514769"/>
                  <a:pt x="2521923" y="3514208"/>
                </a:cubicBezTo>
                <a:cubicBezTo>
                  <a:pt x="2400197" y="3505062"/>
                  <a:pt x="2222818" y="3509922"/>
                  <a:pt x="2085894" y="3490122"/>
                </a:cubicBezTo>
                <a:cubicBezTo>
                  <a:pt x="1978312" y="3483748"/>
                  <a:pt x="1977940" y="3488460"/>
                  <a:pt x="1936305" y="3487966"/>
                </a:cubicBezTo>
                <a:cubicBezTo>
                  <a:pt x="1922459" y="3490683"/>
                  <a:pt x="1849334" y="3482739"/>
                  <a:pt x="1836080" y="3487150"/>
                </a:cubicBezTo>
                <a:lnTo>
                  <a:pt x="1829133" y="3489437"/>
                </a:lnTo>
                <a:lnTo>
                  <a:pt x="1801140" y="3490787"/>
                </a:lnTo>
                <a:lnTo>
                  <a:pt x="1793476" y="3500921"/>
                </a:lnTo>
                <a:lnTo>
                  <a:pt x="1699923" y="3509706"/>
                </a:lnTo>
                <a:cubicBezTo>
                  <a:pt x="1637728" y="3485036"/>
                  <a:pt x="1584624" y="3514467"/>
                  <a:pt x="1474760" y="3513685"/>
                </a:cubicBezTo>
                <a:cubicBezTo>
                  <a:pt x="1445646" y="3505164"/>
                  <a:pt x="1329781" y="3484421"/>
                  <a:pt x="1308130" y="3496703"/>
                </a:cubicBezTo>
                <a:cubicBezTo>
                  <a:pt x="1287409" y="3498430"/>
                  <a:pt x="1265391" y="3492347"/>
                  <a:pt x="1252381" y="3506093"/>
                </a:cubicBezTo>
                <a:cubicBezTo>
                  <a:pt x="1232588" y="3522393"/>
                  <a:pt x="1170020" y="3491785"/>
                  <a:pt x="1174550" y="3512642"/>
                </a:cubicBezTo>
                <a:cubicBezTo>
                  <a:pt x="1119896" y="3512841"/>
                  <a:pt x="1000484" y="3507431"/>
                  <a:pt x="924455" y="3507283"/>
                </a:cubicBezTo>
                <a:cubicBezTo>
                  <a:pt x="887180" y="3483915"/>
                  <a:pt x="777361" y="3516071"/>
                  <a:pt x="718373" y="3511753"/>
                </a:cubicBezTo>
                <a:cubicBezTo>
                  <a:pt x="666588" y="3513355"/>
                  <a:pt x="661645" y="3525551"/>
                  <a:pt x="600444" y="3520899"/>
                </a:cubicBezTo>
                <a:cubicBezTo>
                  <a:pt x="491334" y="3516943"/>
                  <a:pt x="451794" y="3507522"/>
                  <a:pt x="351173" y="3495843"/>
                </a:cubicBezTo>
                <a:cubicBezTo>
                  <a:pt x="237121" y="3487112"/>
                  <a:pt x="235857" y="3499212"/>
                  <a:pt x="108372" y="3484386"/>
                </a:cubicBezTo>
                <a:cubicBezTo>
                  <a:pt x="86318" y="3481054"/>
                  <a:pt x="40657" y="3480329"/>
                  <a:pt x="6467" y="3476532"/>
                </a:cubicBezTo>
                <a:lnTo>
                  <a:pt x="0" y="3475412"/>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Rectangle 6">
            <a:extLst>
              <a:ext uri="{FF2B5EF4-FFF2-40B4-BE49-F238E27FC236}">
                <a16:creationId xmlns:a16="http://schemas.microsoft.com/office/drawing/2014/main" id="{48F779DE-4744-42D6-9C74-33EC94460C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21727" y="2190741"/>
            <a:ext cx="1348547" cy="407804"/>
          </a:xfrm>
          <a:custGeom>
            <a:avLst/>
            <a:gdLst>
              <a:gd name="connsiteX0" fmla="*/ 0 w 2142503"/>
              <a:gd name="connsiteY0" fmla="*/ 0 h 571500"/>
              <a:gd name="connsiteX1" fmla="*/ 2142503 w 2142503"/>
              <a:gd name="connsiteY1" fmla="*/ 0 h 571500"/>
              <a:gd name="connsiteX2" fmla="*/ 2142503 w 2142503"/>
              <a:gd name="connsiteY2" fmla="*/ 571500 h 571500"/>
              <a:gd name="connsiteX3" fmla="*/ 0 w 2142503"/>
              <a:gd name="connsiteY3" fmla="*/ 571500 h 571500"/>
              <a:gd name="connsiteX4" fmla="*/ 0 w 2142503"/>
              <a:gd name="connsiteY4" fmla="*/ 0 h 571500"/>
              <a:gd name="connsiteX0" fmla="*/ 0 w 2142503"/>
              <a:gd name="connsiteY0" fmla="*/ 0 h 582145"/>
              <a:gd name="connsiteX1" fmla="*/ 2142503 w 2142503"/>
              <a:gd name="connsiteY1" fmla="*/ 0 h 582145"/>
              <a:gd name="connsiteX2" fmla="*/ 2142503 w 2142503"/>
              <a:gd name="connsiteY2" fmla="*/ 571500 h 582145"/>
              <a:gd name="connsiteX3" fmla="*/ 2050917 w 2142503"/>
              <a:gd name="connsiteY3" fmla="*/ 582088 h 582145"/>
              <a:gd name="connsiteX4" fmla="*/ 0 w 2142503"/>
              <a:gd name="connsiteY4" fmla="*/ 571500 h 582145"/>
              <a:gd name="connsiteX5" fmla="*/ 0 w 2142503"/>
              <a:gd name="connsiteY5" fmla="*/ 0 h 582145"/>
              <a:gd name="connsiteX0" fmla="*/ 0 w 2159832"/>
              <a:gd name="connsiteY0" fmla="*/ 0 h 582145"/>
              <a:gd name="connsiteX1" fmla="*/ 2142503 w 2159832"/>
              <a:gd name="connsiteY1" fmla="*/ 0 h 582145"/>
              <a:gd name="connsiteX2" fmla="*/ 2159829 w 2159832"/>
              <a:gd name="connsiteY2" fmla="*/ 96526 h 582145"/>
              <a:gd name="connsiteX3" fmla="*/ 2142503 w 2159832"/>
              <a:gd name="connsiteY3" fmla="*/ 571500 h 582145"/>
              <a:gd name="connsiteX4" fmla="*/ 2050917 w 2159832"/>
              <a:gd name="connsiteY4" fmla="*/ 582088 h 582145"/>
              <a:gd name="connsiteX5" fmla="*/ 0 w 2159832"/>
              <a:gd name="connsiteY5" fmla="*/ 571500 h 582145"/>
              <a:gd name="connsiteX6" fmla="*/ 0 w 2159832"/>
              <a:gd name="connsiteY6" fmla="*/ 0 h 582145"/>
              <a:gd name="connsiteX0" fmla="*/ 0 w 2159832"/>
              <a:gd name="connsiteY0" fmla="*/ 12386 h 594531"/>
              <a:gd name="connsiteX1" fmla="*/ 67826 w 2159832"/>
              <a:gd name="connsiteY1" fmla="*/ 0 h 594531"/>
              <a:gd name="connsiteX2" fmla="*/ 2142503 w 2159832"/>
              <a:gd name="connsiteY2" fmla="*/ 12386 h 594531"/>
              <a:gd name="connsiteX3" fmla="*/ 2159829 w 2159832"/>
              <a:gd name="connsiteY3" fmla="*/ 108912 h 594531"/>
              <a:gd name="connsiteX4" fmla="*/ 2142503 w 2159832"/>
              <a:gd name="connsiteY4" fmla="*/ 583886 h 594531"/>
              <a:gd name="connsiteX5" fmla="*/ 2050917 w 2159832"/>
              <a:gd name="connsiteY5" fmla="*/ 594474 h 594531"/>
              <a:gd name="connsiteX6" fmla="*/ 0 w 2159832"/>
              <a:gd name="connsiteY6" fmla="*/ 583886 h 594531"/>
              <a:gd name="connsiteX7" fmla="*/ 0 w 2159832"/>
              <a:gd name="connsiteY7" fmla="*/ 12386 h 594531"/>
              <a:gd name="connsiteX0" fmla="*/ 0 w 2168908"/>
              <a:gd name="connsiteY0" fmla="*/ 26000 h 594531"/>
              <a:gd name="connsiteX1" fmla="*/ 76902 w 2168908"/>
              <a:gd name="connsiteY1" fmla="*/ 0 h 594531"/>
              <a:gd name="connsiteX2" fmla="*/ 2151579 w 2168908"/>
              <a:gd name="connsiteY2" fmla="*/ 12386 h 594531"/>
              <a:gd name="connsiteX3" fmla="*/ 2168905 w 2168908"/>
              <a:gd name="connsiteY3" fmla="*/ 108912 h 594531"/>
              <a:gd name="connsiteX4" fmla="*/ 2151579 w 2168908"/>
              <a:gd name="connsiteY4" fmla="*/ 583886 h 594531"/>
              <a:gd name="connsiteX5" fmla="*/ 2059993 w 2168908"/>
              <a:gd name="connsiteY5" fmla="*/ 594474 h 594531"/>
              <a:gd name="connsiteX6" fmla="*/ 9076 w 2168908"/>
              <a:gd name="connsiteY6" fmla="*/ 583886 h 594531"/>
              <a:gd name="connsiteX7" fmla="*/ 0 w 2168908"/>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5393 w 2174301"/>
              <a:gd name="connsiteY0" fmla="*/ 26000 h 594531"/>
              <a:gd name="connsiteX1" fmla="*/ 82295 w 2174301"/>
              <a:gd name="connsiteY1" fmla="*/ 0 h 594531"/>
              <a:gd name="connsiteX2" fmla="*/ 2156972 w 2174301"/>
              <a:gd name="connsiteY2" fmla="*/ 12386 h 594531"/>
              <a:gd name="connsiteX3" fmla="*/ 2174298 w 2174301"/>
              <a:gd name="connsiteY3" fmla="*/ 108912 h 594531"/>
              <a:gd name="connsiteX4" fmla="*/ 2156972 w 2174301"/>
              <a:gd name="connsiteY4" fmla="*/ 583886 h 594531"/>
              <a:gd name="connsiteX5" fmla="*/ 2065386 w 2174301"/>
              <a:gd name="connsiteY5" fmla="*/ 594474 h 594531"/>
              <a:gd name="connsiteX6" fmla="*/ 14469 w 2174301"/>
              <a:gd name="connsiteY6" fmla="*/ 583886 h 594531"/>
              <a:gd name="connsiteX7" fmla="*/ 5393 w 2174301"/>
              <a:gd name="connsiteY7" fmla="*/ 26000 h 594531"/>
              <a:gd name="connsiteX0" fmla="*/ 147197 w 2316105"/>
              <a:gd name="connsiteY0" fmla="*/ 26000 h 594531"/>
              <a:gd name="connsiteX1" fmla="*/ 224099 w 2316105"/>
              <a:gd name="connsiteY1" fmla="*/ 0 h 594531"/>
              <a:gd name="connsiteX2" fmla="*/ 2298776 w 2316105"/>
              <a:gd name="connsiteY2" fmla="*/ 12386 h 594531"/>
              <a:gd name="connsiteX3" fmla="*/ 2316102 w 2316105"/>
              <a:gd name="connsiteY3" fmla="*/ 108912 h 594531"/>
              <a:gd name="connsiteX4" fmla="*/ 2298776 w 2316105"/>
              <a:gd name="connsiteY4" fmla="*/ 583886 h 594531"/>
              <a:gd name="connsiteX5" fmla="*/ 2207190 w 2316105"/>
              <a:gd name="connsiteY5" fmla="*/ 594474 h 594531"/>
              <a:gd name="connsiteX6" fmla="*/ 156273 w 2316105"/>
              <a:gd name="connsiteY6" fmla="*/ 583886 h 594531"/>
              <a:gd name="connsiteX7" fmla="*/ 142416 w 2316105"/>
              <a:gd name="connsiteY7" fmla="*/ 235975 h 594531"/>
              <a:gd name="connsiteX8" fmla="*/ 147197 w 2316105"/>
              <a:gd name="connsiteY8" fmla="*/ 26000 h 594531"/>
              <a:gd name="connsiteX0" fmla="*/ 154684 w 2323592"/>
              <a:gd name="connsiteY0" fmla="*/ 26000 h 594531"/>
              <a:gd name="connsiteX1" fmla="*/ 231586 w 2323592"/>
              <a:gd name="connsiteY1" fmla="*/ 0 h 594531"/>
              <a:gd name="connsiteX2" fmla="*/ 2306263 w 2323592"/>
              <a:gd name="connsiteY2" fmla="*/ 12386 h 594531"/>
              <a:gd name="connsiteX3" fmla="*/ 2323589 w 2323592"/>
              <a:gd name="connsiteY3" fmla="*/ 108912 h 594531"/>
              <a:gd name="connsiteX4" fmla="*/ 2306263 w 2323592"/>
              <a:gd name="connsiteY4" fmla="*/ 583886 h 594531"/>
              <a:gd name="connsiteX5" fmla="*/ 2214677 w 2323592"/>
              <a:gd name="connsiteY5" fmla="*/ 594474 h 594531"/>
              <a:gd name="connsiteX6" fmla="*/ 163760 w 2323592"/>
              <a:gd name="connsiteY6" fmla="*/ 583886 h 594531"/>
              <a:gd name="connsiteX7" fmla="*/ 158979 w 2323592"/>
              <a:gd name="connsiteY7" fmla="*/ 403879 h 594531"/>
              <a:gd name="connsiteX8" fmla="*/ 149903 w 2323592"/>
              <a:gd name="connsiteY8" fmla="*/ 235975 h 594531"/>
              <a:gd name="connsiteX9" fmla="*/ 154684 w 2323592"/>
              <a:gd name="connsiteY9" fmla="*/ 26000 h 594531"/>
              <a:gd name="connsiteX0" fmla="*/ 13665 w 2182573"/>
              <a:gd name="connsiteY0" fmla="*/ 26000 h 594531"/>
              <a:gd name="connsiteX1" fmla="*/ 90567 w 2182573"/>
              <a:gd name="connsiteY1" fmla="*/ 0 h 594531"/>
              <a:gd name="connsiteX2" fmla="*/ 2165244 w 2182573"/>
              <a:gd name="connsiteY2" fmla="*/ 12386 h 594531"/>
              <a:gd name="connsiteX3" fmla="*/ 2182570 w 2182573"/>
              <a:gd name="connsiteY3" fmla="*/ 108912 h 594531"/>
              <a:gd name="connsiteX4" fmla="*/ 2165244 w 2182573"/>
              <a:gd name="connsiteY4" fmla="*/ 583886 h 594531"/>
              <a:gd name="connsiteX5" fmla="*/ 2073658 w 2182573"/>
              <a:gd name="connsiteY5" fmla="*/ 594474 h 594531"/>
              <a:gd name="connsiteX6" fmla="*/ 22741 w 2182573"/>
              <a:gd name="connsiteY6" fmla="*/ 583886 h 594531"/>
              <a:gd name="connsiteX7" fmla="*/ 17960 w 2182573"/>
              <a:gd name="connsiteY7" fmla="*/ 403879 h 594531"/>
              <a:gd name="connsiteX8" fmla="*/ 8884 w 2182573"/>
              <a:gd name="connsiteY8" fmla="*/ 235975 h 594531"/>
              <a:gd name="connsiteX9" fmla="*/ 13665 w 2182573"/>
              <a:gd name="connsiteY9" fmla="*/ 26000 h 594531"/>
              <a:gd name="connsiteX0" fmla="*/ 13665 w 2202120"/>
              <a:gd name="connsiteY0" fmla="*/ 26000 h 594531"/>
              <a:gd name="connsiteX1" fmla="*/ 90567 w 2202120"/>
              <a:gd name="connsiteY1" fmla="*/ 0 h 594531"/>
              <a:gd name="connsiteX2" fmla="*/ 2165244 w 2202120"/>
              <a:gd name="connsiteY2" fmla="*/ 12386 h 594531"/>
              <a:gd name="connsiteX3" fmla="*/ 2182570 w 2202120"/>
              <a:gd name="connsiteY3" fmla="*/ 108912 h 594531"/>
              <a:gd name="connsiteX4" fmla="*/ 2192471 w 2202120"/>
              <a:gd name="connsiteY4" fmla="*/ 583886 h 594531"/>
              <a:gd name="connsiteX5" fmla="*/ 2073658 w 2202120"/>
              <a:gd name="connsiteY5" fmla="*/ 594474 h 594531"/>
              <a:gd name="connsiteX6" fmla="*/ 22741 w 2202120"/>
              <a:gd name="connsiteY6" fmla="*/ 583886 h 594531"/>
              <a:gd name="connsiteX7" fmla="*/ 17960 w 2202120"/>
              <a:gd name="connsiteY7" fmla="*/ 403879 h 594531"/>
              <a:gd name="connsiteX8" fmla="*/ 8884 w 2202120"/>
              <a:gd name="connsiteY8" fmla="*/ 235975 h 594531"/>
              <a:gd name="connsiteX9" fmla="*/ 13665 w 2202120"/>
              <a:gd name="connsiteY9" fmla="*/ 26000 h 594531"/>
              <a:gd name="connsiteX0" fmla="*/ 13665 w 2202036"/>
              <a:gd name="connsiteY0" fmla="*/ 26000 h 594531"/>
              <a:gd name="connsiteX1" fmla="*/ 90567 w 2202036"/>
              <a:gd name="connsiteY1" fmla="*/ 0 h 594531"/>
              <a:gd name="connsiteX2" fmla="*/ 2165244 w 2202036"/>
              <a:gd name="connsiteY2" fmla="*/ 12386 h 594531"/>
              <a:gd name="connsiteX3" fmla="*/ 2182570 w 2202036"/>
              <a:gd name="connsiteY3" fmla="*/ 108912 h 594531"/>
              <a:gd name="connsiteX4" fmla="*/ 2191645 w 2202036"/>
              <a:gd name="connsiteY4" fmla="*/ 422031 h 594531"/>
              <a:gd name="connsiteX5" fmla="*/ 2192471 w 2202036"/>
              <a:gd name="connsiteY5" fmla="*/ 583886 h 594531"/>
              <a:gd name="connsiteX6" fmla="*/ 2073658 w 2202036"/>
              <a:gd name="connsiteY6" fmla="*/ 594474 h 594531"/>
              <a:gd name="connsiteX7" fmla="*/ 22741 w 2202036"/>
              <a:gd name="connsiteY7" fmla="*/ 583886 h 594531"/>
              <a:gd name="connsiteX8" fmla="*/ 17960 w 2202036"/>
              <a:gd name="connsiteY8" fmla="*/ 403879 h 594531"/>
              <a:gd name="connsiteX9" fmla="*/ 8884 w 2202036"/>
              <a:gd name="connsiteY9" fmla="*/ 235975 h 594531"/>
              <a:gd name="connsiteX10" fmla="*/ 13665 w 2202036"/>
              <a:gd name="connsiteY10" fmla="*/ 26000 h 594531"/>
              <a:gd name="connsiteX0" fmla="*/ 142254 w 2330625"/>
              <a:gd name="connsiteY0" fmla="*/ 26000 h 594531"/>
              <a:gd name="connsiteX1" fmla="*/ 219156 w 2330625"/>
              <a:gd name="connsiteY1" fmla="*/ 0 h 594531"/>
              <a:gd name="connsiteX2" fmla="*/ 2293833 w 2330625"/>
              <a:gd name="connsiteY2" fmla="*/ 12386 h 594531"/>
              <a:gd name="connsiteX3" fmla="*/ 2311159 w 2330625"/>
              <a:gd name="connsiteY3" fmla="*/ 108912 h 594531"/>
              <a:gd name="connsiteX4" fmla="*/ 2320234 w 2330625"/>
              <a:gd name="connsiteY4" fmla="*/ 422031 h 594531"/>
              <a:gd name="connsiteX5" fmla="*/ 2321060 w 2330625"/>
              <a:gd name="connsiteY5" fmla="*/ 583886 h 594531"/>
              <a:gd name="connsiteX6" fmla="*/ 2202247 w 2330625"/>
              <a:gd name="connsiteY6" fmla="*/ 594474 h 594531"/>
              <a:gd name="connsiteX7" fmla="*/ 151330 w 2330625"/>
              <a:gd name="connsiteY7" fmla="*/ 583886 h 594531"/>
              <a:gd name="connsiteX8" fmla="*/ 155624 w 2330625"/>
              <a:gd name="connsiteY8" fmla="*/ 512790 h 594531"/>
              <a:gd name="connsiteX9" fmla="*/ 146549 w 2330625"/>
              <a:gd name="connsiteY9" fmla="*/ 403879 h 594531"/>
              <a:gd name="connsiteX10" fmla="*/ 137473 w 2330625"/>
              <a:gd name="connsiteY10" fmla="*/ 235975 h 594531"/>
              <a:gd name="connsiteX11" fmla="*/ 142254 w 2330625"/>
              <a:gd name="connsiteY11" fmla="*/ 26000 h 594531"/>
              <a:gd name="connsiteX0" fmla="*/ 13413 w 2201784"/>
              <a:gd name="connsiteY0" fmla="*/ 26000 h 594531"/>
              <a:gd name="connsiteX1" fmla="*/ 90315 w 2201784"/>
              <a:gd name="connsiteY1" fmla="*/ 0 h 594531"/>
              <a:gd name="connsiteX2" fmla="*/ 2164992 w 2201784"/>
              <a:gd name="connsiteY2" fmla="*/ 12386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 name="connsiteX0" fmla="*/ 13413 w 2201784"/>
              <a:gd name="connsiteY0" fmla="*/ 26000 h 594531"/>
              <a:gd name="connsiteX1" fmla="*/ 90315 w 2201784"/>
              <a:gd name="connsiteY1" fmla="*/ 0 h 594531"/>
              <a:gd name="connsiteX2" fmla="*/ 2170127 w 2201784"/>
              <a:gd name="connsiteY2" fmla="*/ 33245 h 594531"/>
              <a:gd name="connsiteX3" fmla="*/ 2182318 w 2201784"/>
              <a:gd name="connsiteY3" fmla="*/ 108912 h 594531"/>
              <a:gd name="connsiteX4" fmla="*/ 2191393 w 2201784"/>
              <a:gd name="connsiteY4" fmla="*/ 422031 h 594531"/>
              <a:gd name="connsiteX5" fmla="*/ 2192219 w 2201784"/>
              <a:gd name="connsiteY5" fmla="*/ 583886 h 594531"/>
              <a:gd name="connsiteX6" fmla="*/ 2073406 w 2201784"/>
              <a:gd name="connsiteY6" fmla="*/ 594474 h 594531"/>
              <a:gd name="connsiteX7" fmla="*/ 22489 w 2201784"/>
              <a:gd name="connsiteY7" fmla="*/ 583886 h 594531"/>
              <a:gd name="connsiteX8" fmla="*/ 26783 w 2201784"/>
              <a:gd name="connsiteY8" fmla="*/ 512790 h 594531"/>
              <a:gd name="connsiteX9" fmla="*/ 17708 w 2201784"/>
              <a:gd name="connsiteY9" fmla="*/ 403879 h 594531"/>
              <a:gd name="connsiteX10" fmla="*/ 8632 w 2201784"/>
              <a:gd name="connsiteY10" fmla="*/ 235975 h 594531"/>
              <a:gd name="connsiteX11" fmla="*/ 13413 w 2201784"/>
              <a:gd name="connsiteY11" fmla="*/ 26000 h 594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201784" h="594531">
                <a:moveTo>
                  <a:pt x="13413" y="26000"/>
                </a:moveTo>
                <a:cubicBezTo>
                  <a:pt x="37534" y="24897"/>
                  <a:pt x="66194" y="1103"/>
                  <a:pt x="90315" y="0"/>
                </a:cubicBezTo>
                <a:cubicBezTo>
                  <a:pt x="781874" y="4129"/>
                  <a:pt x="1607589" y="24681"/>
                  <a:pt x="2170127" y="33245"/>
                </a:cubicBezTo>
                <a:cubicBezTo>
                  <a:pt x="2169852" y="63908"/>
                  <a:pt x="2182593" y="78249"/>
                  <a:pt x="2182318" y="108912"/>
                </a:cubicBezTo>
                <a:cubicBezTo>
                  <a:pt x="2188231" y="177186"/>
                  <a:pt x="2189743" y="342869"/>
                  <a:pt x="2191393" y="422031"/>
                </a:cubicBezTo>
                <a:cubicBezTo>
                  <a:pt x="2193043" y="501193"/>
                  <a:pt x="2213396" y="555146"/>
                  <a:pt x="2192219" y="583886"/>
                </a:cubicBezTo>
                <a:cubicBezTo>
                  <a:pt x="2172279" y="582877"/>
                  <a:pt x="2093346" y="595483"/>
                  <a:pt x="2073406" y="594474"/>
                </a:cubicBezTo>
                <a:lnTo>
                  <a:pt x="22489" y="583886"/>
                </a:lnTo>
                <a:cubicBezTo>
                  <a:pt x="5849" y="592962"/>
                  <a:pt x="27580" y="542791"/>
                  <a:pt x="26783" y="512790"/>
                </a:cubicBezTo>
                <a:cubicBezTo>
                  <a:pt x="25986" y="482789"/>
                  <a:pt x="18464" y="450015"/>
                  <a:pt x="17708" y="403879"/>
                </a:cubicBezTo>
                <a:cubicBezTo>
                  <a:pt x="16952" y="357743"/>
                  <a:pt x="-14855" y="308787"/>
                  <a:pt x="8632" y="235975"/>
                </a:cubicBezTo>
                <a:cubicBezTo>
                  <a:pt x="7119" y="142994"/>
                  <a:pt x="-201" y="65329"/>
                  <a:pt x="13413" y="26000"/>
                </a:cubicBezTo>
                <a:close/>
              </a:path>
            </a:pathLst>
          </a:custGeom>
          <a:solidFill>
            <a:srgbClr val="D9D4D0">
              <a:alpha val="35000"/>
            </a:srgbClr>
          </a:solidFill>
          <a:ln>
            <a:noFill/>
          </a:ln>
          <a:effectLst>
            <a:softEdge rad="63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894EF62-02E4-8ED9-6603-2385578C0BB4}"/>
              </a:ext>
            </a:extLst>
          </p:cNvPr>
          <p:cNvSpPr>
            <a:spLocks noGrp="1"/>
          </p:cNvSpPr>
          <p:nvPr>
            <p:ph idx="1"/>
          </p:nvPr>
        </p:nvSpPr>
        <p:spPr>
          <a:xfrm>
            <a:off x="1293813" y="2598545"/>
            <a:ext cx="9493930" cy="3181769"/>
          </a:xfrm>
        </p:spPr>
        <p:txBody>
          <a:bodyPr>
            <a:normAutofit/>
          </a:bodyPr>
          <a:lstStyle/>
          <a:p>
            <a:r>
              <a:rPr lang="en-US" sz="1800" dirty="0"/>
              <a:t>A widely used NLP technique for measuring ‘opinion’ in text</a:t>
            </a:r>
          </a:p>
          <a:p>
            <a:r>
              <a:rPr lang="en-US" sz="1800" dirty="0"/>
              <a:t>Recently, some push for AI-based sentiment analysis</a:t>
            </a:r>
          </a:p>
          <a:p>
            <a:r>
              <a:rPr lang="en-US" sz="1800" dirty="0"/>
              <a:t>But depending on the application and approach, this could be overkill and a poor solution</a:t>
            </a:r>
          </a:p>
          <a:p>
            <a:r>
              <a:rPr lang="en-US" sz="1800" dirty="0"/>
              <a:t>Need to clearly define problem and understand existing approaches:</a:t>
            </a:r>
          </a:p>
          <a:p>
            <a:pPr lvl="1"/>
            <a:r>
              <a:rPr lang="en-US" sz="1800" dirty="0"/>
              <a:t>What output is needed? (binary classification, continuous prediction, distinct ‘feelings’)</a:t>
            </a:r>
          </a:p>
          <a:p>
            <a:pPr lvl="1"/>
            <a:r>
              <a:rPr lang="en-US" sz="1800" dirty="0"/>
              <a:t>What domain(s) matter? (‘general purpose’, finance, health, </a:t>
            </a:r>
            <a:r>
              <a:rPr lang="en-US" sz="1800" dirty="0" err="1"/>
              <a:t>etc</a:t>
            </a:r>
            <a:r>
              <a:rPr lang="en-US" sz="1800" dirty="0"/>
              <a:t>)</a:t>
            </a:r>
          </a:p>
          <a:p>
            <a:pPr lvl="1"/>
            <a:r>
              <a:rPr lang="en-US" sz="1800" dirty="0"/>
              <a:t>For the domain, how easy is sentiment to identify?</a:t>
            </a:r>
          </a:p>
          <a:p>
            <a:pPr lvl="1"/>
            <a:r>
              <a:rPr lang="en-US" sz="1800" dirty="0"/>
              <a:t>Do any existing approaches or pre-trained model fit the domain and output?</a:t>
            </a:r>
          </a:p>
          <a:p>
            <a:pPr lvl="1"/>
            <a:r>
              <a:rPr lang="en-US" sz="1800" dirty="0"/>
              <a:t>What data is needed?</a:t>
            </a:r>
          </a:p>
        </p:txBody>
      </p:sp>
    </p:spTree>
    <p:extLst>
      <p:ext uri="{BB962C8B-B14F-4D97-AF65-F5344CB8AC3E}">
        <p14:creationId xmlns:p14="http://schemas.microsoft.com/office/powerpoint/2010/main" val="38546237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
  <TotalTime>4321</TotalTime>
  <Words>7883</Words>
  <Application>Microsoft Office PowerPoint</Application>
  <PresentationFormat>Widescreen</PresentationFormat>
  <Paragraphs>114</Paragraphs>
  <Slides>14</Slides>
  <Notes>11</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Data Mining</vt:lpstr>
      <vt:lpstr>Data Availability</vt:lpstr>
      <vt:lpstr>Features of Available Data</vt:lpstr>
      <vt:lpstr>Common Strategies for Getting Data</vt:lpstr>
      <vt:lpstr>APIs</vt:lpstr>
      <vt:lpstr>Data Structures in APIs</vt:lpstr>
      <vt:lpstr>Web Scraping</vt:lpstr>
      <vt:lpstr>Web Scraping Plan</vt:lpstr>
      <vt:lpstr>Repositories and Archives</vt:lpstr>
      <vt:lpstr>Databases</vt:lpstr>
      <vt:lpstr>Let’s Explore Data Availability on Topics of Interest</vt:lpstr>
      <vt:lpstr>Problem Definition</vt:lpstr>
      <vt:lpstr>Practical Example: AI Solutions</vt:lpstr>
      <vt:lpstr>Practical Application: Sentiment Analysis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Kayden Jordan</dc:creator>
  <cp:lastModifiedBy>Kayden Jordan</cp:lastModifiedBy>
  <cp:revision>1</cp:revision>
  <dcterms:created xsi:type="dcterms:W3CDTF">2025-04-25T02:06:23Z</dcterms:created>
  <dcterms:modified xsi:type="dcterms:W3CDTF">2025-11-15T04:25:11Z</dcterms:modified>
</cp:coreProperties>
</file>