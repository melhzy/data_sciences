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8"/>
  </p:notesMasterIdLst>
  <p:sldIdLst>
    <p:sldId id="256" r:id="rId2"/>
    <p:sldId id="269" r:id="rId3"/>
    <p:sldId id="270" r:id="rId4"/>
    <p:sldId id="271" r:id="rId5"/>
    <p:sldId id="257" r:id="rId6"/>
    <p:sldId id="258" r:id="rId7"/>
    <p:sldId id="259" r:id="rId8"/>
    <p:sldId id="260" r:id="rId9"/>
    <p:sldId id="261" r:id="rId10"/>
    <p:sldId id="262" r:id="rId11"/>
    <p:sldId id="263" r:id="rId12"/>
    <p:sldId id="264" r:id="rId13"/>
    <p:sldId id="272" r:id="rId14"/>
    <p:sldId id="265" r:id="rId15"/>
    <p:sldId id="273"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EB6AD4-60ED-419F-8C08-2B7D9A75579C}" v="32" dt="2025-11-13T02:04:39.5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2650" autoAdjust="0"/>
  </p:normalViewPr>
  <p:slideViewPr>
    <p:cSldViewPr snapToGrid="0">
      <p:cViewPr varScale="1">
        <p:scale>
          <a:sx n="46" d="100"/>
          <a:sy n="46" d="100"/>
        </p:scale>
        <p:origin x="14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den Jordan" userId="e8c6793a-f4f0-4dab-a372-bcc2bed74348" providerId="ADAL" clId="{2D097765-E3AD-4BF7-A734-A5DEE3B1B8ED}"/>
    <pc:docChg chg="undo custSel modSld">
      <pc:chgData name="Kayden Jordan" userId="e8c6793a-f4f0-4dab-a372-bcc2bed74348" providerId="ADAL" clId="{2D097765-E3AD-4BF7-A734-A5DEE3B1B8ED}" dt="2025-11-13T02:12:19.648" v="1567" actId="20577"/>
      <pc:docMkLst>
        <pc:docMk/>
      </pc:docMkLst>
      <pc:sldChg chg="modNotesTx">
        <pc:chgData name="Kayden Jordan" userId="e8c6793a-f4f0-4dab-a372-bcc2bed74348" providerId="ADAL" clId="{2D097765-E3AD-4BF7-A734-A5DEE3B1B8ED}" dt="2025-11-13T01:54:30.847" v="1015" actId="20577"/>
        <pc:sldMkLst>
          <pc:docMk/>
          <pc:sldMk cId="0" sldId="257"/>
        </pc:sldMkLst>
      </pc:sldChg>
      <pc:sldChg chg="modNotesTx">
        <pc:chgData name="Kayden Jordan" userId="e8c6793a-f4f0-4dab-a372-bcc2bed74348" providerId="ADAL" clId="{2D097765-E3AD-4BF7-A734-A5DEE3B1B8ED}" dt="2025-11-13T01:56:49.198" v="1082" actId="20577"/>
        <pc:sldMkLst>
          <pc:docMk/>
          <pc:sldMk cId="0" sldId="258"/>
        </pc:sldMkLst>
      </pc:sldChg>
      <pc:sldChg chg="modNotesTx">
        <pc:chgData name="Kayden Jordan" userId="e8c6793a-f4f0-4dab-a372-bcc2bed74348" providerId="ADAL" clId="{2D097765-E3AD-4BF7-A734-A5DEE3B1B8ED}" dt="2025-11-13T01:59:06.067" v="1165" actId="20577"/>
        <pc:sldMkLst>
          <pc:docMk/>
          <pc:sldMk cId="0" sldId="259"/>
        </pc:sldMkLst>
      </pc:sldChg>
      <pc:sldChg chg="modSp mod modNotesTx">
        <pc:chgData name="Kayden Jordan" userId="e8c6793a-f4f0-4dab-a372-bcc2bed74348" providerId="ADAL" clId="{2D097765-E3AD-4BF7-A734-A5DEE3B1B8ED}" dt="2025-11-13T01:36:08.576" v="385" actId="20577"/>
        <pc:sldMkLst>
          <pc:docMk/>
          <pc:sldMk cId="0" sldId="260"/>
        </pc:sldMkLst>
        <pc:spChg chg="mod">
          <ac:chgData name="Kayden Jordan" userId="e8c6793a-f4f0-4dab-a372-bcc2bed74348" providerId="ADAL" clId="{2D097765-E3AD-4BF7-A734-A5DEE3B1B8ED}" dt="2025-11-13T01:33:27.749" v="41" actId="20577"/>
          <ac:spMkLst>
            <pc:docMk/>
            <pc:sldMk cId="0" sldId="260"/>
            <ac:spMk id="2" creationId="{00000000-0000-0000-0000-000000000000}"/>
          </ac:spMkLst>
        </pc:spChg>
        <pc:spChg chg="mod">
          <ac:chgData name="Kayden Jordan" userId="e8c6793a-f4f0-4dab-a372-bcc2bed74348" providerId="ADAL" clId="{2D097765-E3AD-4BF7-A734-A5DEE3B1B8ED}" dt="2025-11-13T01:36:08.576" v="385" actId="20577"/>
          <ac:spMkLst>
            <pc:docMk/>
            <pc:sldMk cId="0" sldId="260"/>
            <ac:spMk id="3" creationId="{00000000-0000-0000-0000-000000000000}"/>
          </ac:spMkLst>
        </pc:spChg>
      </pc:sldChg>
      <pc:sldChg chg="modNotesTx">
        <pc:chgData name="Kayden Jordan" userId="e8c6793a-f4f0-4dab-a372-bcc2bed74348" providerId="ADAL" clId="{2D097765-E3AD-4BF7-A734-A5DEE3B1B8ED}" dt="2025-11-13T02:00:06.160" v="1241" actId="20577"/>
        <pc:sldMkLst>
          <pc:docMk/>
          <pc:sldMk cId="0" sldId="261"/>
        </pc:sldMkLst>
      </pc:sldChg>
      <pc:sldChg chg="modNotesTx">
        <pc:chgData name="Kayden Jordan" userId="e8c6793a-f4f0-4dab-a372-bcc2bed74348" providerId="ADAL" clId="{2D097765-E3AD-4BF7-A734-A5DEE3B1B8ED}" dt="2025-11-13T02:01:41.304" v="1269" actId="20577"/>
        <pc:sldMkLst>
          <pc:docMk/>
          <pc:sldMk cId="0" sldId="262"/>
        </pc:sldMkLst>
      </pc:sldChg>
      <pc:sldChg chg="modNotesTx">
        <pc:chgData name="Kayden Jordan" userId="e8c6793a-f4f0-4dab-a372-bcc2bed74348" providerId="ADAL" clId="{2D097765-E3AD-4BF7-A734-A5DEE3B1B8ED}" dt="2025-11-13T02:02:26.281" v="1304" actId="20577"/>
        <pc:sldMkLst>
          <pc:docMk/>
          <pc:sldMk cId="0" sldId="263"/>
        </pc:sldMkLst>
      </pc:sldChg>
      <pc:sldChg chg="modNotesTx">
        <pc:chgData name="Kayden Jordan" userId="e8c6793a-f4f0-4dab-a372-bcc2bed74348" providerId="ADAL" clId="{2D097765-E3AD-4BF7-A734-A5DEE3B1B8ED}" dt="2025-11-13T02:04:34.714" v="1353" actId="20577"/>
        <pc:sldMkLst>
          <pc:docMk/>
          <pc:sldMk cId="0" sldId="264"/>
        </pc:sldMkLst>
      </pc:sldChg>
      <pc:sldChg chg="modNotesTx">
        <pc:chgData name="Kayden Jordan" userId="e8c6793a-f4f0-4dab-a372-bcc2bed74348" providerId="ADAL" clId="{2D097765-E3AD-4BF7-A734-A5DEE3B1B8ED}" dt="2025-11-13T02:07:26.636" v="1433" actId="20577"/>
        <pc:sldMkLst>
          <pc:docMk/>
          <pc:sldMk cId="0" sldId="265"/>
        </pc:sldMkLst>
      </pc:sldChg>
      <pc:sldChg chg="modSp mod modNotesTx">
        <pc:chgData name="Kayden Jordan" userId="e8c6793a-f4f0-4dab-a372-bcc2bed74348" providerId="ADAL" clId="{2D097765-E3AD-4BF7-A734-A5DEE3B1B8ED}" dt="2025-11-13T02:12:19.648" v="1567" actId="20577"/>
        <pc:sldMkLst>
          <pc:docMk/>
          <pc:sldMk cId="0" sldId="266"/>
        </pc:sldMkLst>
        <pc:spChg chg="mod">
          <ac:chgData name="Kayden Jordan" userId="e8c6793a-f4f0-4dab-a372-bcc2bed74348" providerId="ADAL" clId="{2D097765-E3AD-4BF7-A734-A5DEE3B1B8ED}" dt="2025-11-13T01:32:36.561" v="6" actId="207"/>
          <ac:spMkLst>
            <pc:docMk/>
            <pc:sldMk cId="0" sldId="266"/>
            <ac:spMk id="3" creationId="{00000000-0000-0000-0000-000000000000}"/>
          </ac:spMkLst>
        </pc:spChg>
      </pc:sldChg>
      <pc:sldChg chg="modNotesTx">
        <pc:chgData name="Kayden Jordan" userId="e8c6793a-f4f0-4dab-a372-bcc2bed74348" providerId="ADAL" clId="{2D097765-E3AD-4BF7-A734-A5DEE3B1B8ED}" dt="2025-11-13T01:43:47.394" v="593" actId="20577"/>
        <pc:sldMkLst>
          <pc:docMk/>
          <pc:sldMk cId="674335514" sldId="269"/>
        </pc:sldMkLst>
      </pc:sldChg>
      <pc:sldChg chg="modNotesTx">
        <pc:chgData name="Kayden Jordan" userId="e8c6793a-f4f0-4dab-a372-bcc2bed74348" providerId="ADAL" clId="{2D097765-E3AD-4BF7-A734-A5DEE3B1B8ED}" dt="2025-11-13T01:49:45.321" v="809" actId="20577"/>
        <pc:sldMkLst>
          <pc:docMk/>
          <pc:sldMk cId="2478361861" sldId="270"/>
        </pc:sldMkLst>
      </pc:sldChg>
      <pc:sldChg chg="modNotesTx">
        <pc:chgData name="Kayden Jordan" userId="e8c6793a-f4f0-4dab-a372-bcc2bed74348" providerId="ADAL" clId="{2D097765-E3AD-4BF7-A734-A5DEE3B1B8ED}" dt="2025-11-13T01:52:45.688" v="951" actId="20577"/>
        <pc:sldMkLst>
          <pc:docMk/>
          <pc:sldMk cId="3423037554" sldId="271"/>
        </pc:sldMkLst>
      </pc:sldChg>
      <pc:sldChg chg="modNotesTx">
        <pc:chgData name="Kayden Jordan" userId="e8c6793a-f4f0-4dab-a372-bcc2bed74348" providerId="ADAL" clId="{2D097765-E3AD-4BF7-A734-A5DEE3B1B8ED}" dt="2025-11-13T02:05:24.195" v="1371" actId="20577"/>
        <pc:sldMkLst>
          <pc:docMk/>
          <pc:sldMk cId="1801138882" sldId="27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134E51-90C2-4CC8-92A3-66B1DBA6DBD7}"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9B4615A1-02DE-43A8-9542-09BB9E15A561}">
      <dgm:prSet/>
      <dgm:spPr/>
      <dgm:t>
        <a:bodyPr/>
        <a:lstStyle/>
        <a:p>
          <a:r>
            <a:rPr lang="en-US"/>
            <a:t>Literature Map</a:t>
          </a:r>
        </a:p>
      </dgm:t>
    </dgm:pt>
    <dgm:pt modelId="{7C7C48DC-C7C8-4345-AB61-5A05E8FE62B1}" type="parTrans" cxnId="{B3A8076C-91DE-4CCA-AA10-5FB281266783}">
      <dgm:prSet/>
      <dgm:spPr/>
      <dgm:t>
        <a:bodyPr/>
        <a:lstStyle/>
        <a:p>
          <a:endParaRPr lang="en-US"/>
        </a:p>
      </dgm:t>
    </dgm:pt>
    <dgm:pt modelId="{3A84257C-CA9C-4DDA-8F94-DD78F7001600}" type="sibTrans" cxnId="{B3A8076C-91DE-4CCA-AA10-5FB281266783}">
      <dgm:prSet/>
      <dgm:spPr/>
      <dgm:t>
        <a:bodyPr/>
        <a:lstStyle/>
        <a:p>
          <a:endParaRPr lang="en-US"/>
        </a:p>
      </dgm:t>
    </dgm:pt>
    <dgm:pt modelId="{4B3CA3FC-B861-4998-98E5-558846272D74}">
      <dgm:prSet/>
      <dgm:spPr/>
      <dgm:t>
        <a:bodyPr/>
        <a:lstStyle/>
        <a:p>
          <a:r>
            <a:rPr lang="en-US"/>
            <a:t>Subheadings</a:t>
          </a:r>
        </a:p>
      </dgm:t>
    </dgm:pt>
    <dgm:pt modelId="{DD5A7E13-0AEC-43F2-AA0C-E287E16A18F9}" type="parTrans" cxnId="{1860973B-8018-4325-B91E-D5A8B4EEF61A}">
      <dgm:prSet/>
      <dgm:spPr/>
      <dgm:t>
        <a:bodyPr/>
        <a:lstStyle/>
        <a:p>
          <a:endParaRPr lang="en-US"/>
        </a:p>
      </dgm:t>
    </dgm:pt>
    <dgm:pt modelId="{D3735B04-0FB4-4F4F-9FC8-E0A9EB830D66}" type="sibTrans" cxnId="{1860973B-8018-4325-B91E-D5A8B4EEF61A}">
      <dgm:prSet/>
      <dgm:spPr/>
      <dgm:t>
        <a:bodyPr/>
        <a:lstStyle/>
        <a:p>
          <a:endParaRPr lang="en-US"/>
        </a:p>
      </dgm:t>
    </dgm:pt>
    <dgm:pt modelId="{73AA5F84-BF37-45F7-9DC8-F1BC7BD2794F}">
      <dgm:prSet/>
      <dgm:spPr/>
      <dgm:t>
        <a:bodyPr/>
        <a:lstStyle/>
        <a:p>
          <a:r>
            <a:rPr lang="en-US"/>
            <a:t>First Sentences</a:t>
          </a:r>
        </a:p>
      </dgm:t>
    </dgm:pt>
    <dgm:pt modelId="{4EBE66AB-A872-46BE-97D6-052E2780ABFB}" type="parTrans" cxnId="{D697CDE4-5563-475D-9F9E-F92A4D046594}">
      <dgm:prSet/>
      <dgm:spPr/>
      <dgm:t>
        <a:bodyPr/>
        <a:lstStyle/>
        <a:p>
          <a:endParaRPr lang="en-US"/>
        </a:p>
      </dgm:t>
    </dgm:pt>
    <dgm:pt modelId="{ED0E08E9-4172-4E19-9F90-181934A57F77}" type="sibTrans" cxnId="{D697CDE4-5563-475D-9F9E-F92A4D046594}">
      <dgm:prSet/>
      <dgm:spPr/>
      <dgm:t>
        <a:bodyPr/>
        <a:lstStyle/>
        <a:p>
          <a:endParaRPr lang="en-US"/>
        </a:p>
      </dgm:t>
    </dgm:pt>
    <dgm:pt modelId="{65FFAA2A-79E8-4073-B6A8-E86787070BE2}" type="pres">
      <dgm:prSet presAssocID="{0A134E51-90C2-4CC8-92A3-66B1DBA6DBD7}" presName="linear" presStyleCnt="0">
        <dgm:presLayoutVars>
          <dgm:dir/>
          <dgm:animLvl val="lvl"/>
          <dgm:resizeHandles val="exact"/>
        </dgm:presLayoutVars>
      </dgm:prSet>
      <dgm:spPr/>
    </dgm:pt>
    <dgm:pt modelId="{E877DE98-A9BF-493C-A09A-F58910BC4B98}" type="pres">
      <dgm:prSet presAssocID="{9B4615A1-02DE-43A8-9542-09BB9E15A561}" presName="parentLin" presStyleCnt="0"/>
      <dgm:spPr/>
    </dgm:pt>
    <dgm:pt modelId="{6645F21E-B953-4402-B00D-DEC4C796A6A0}" type="pres">
      <dgm:prSet presAssocID="{9B4615A1-02DE-43A8-9542-09BB9E15A561}" presName="parentLeftMargin" presStyleLbl="node1" presStyleIdx="0" presStyleCnt="3"/>
      <dgm:spPr/>
    </dgm:pt>
    <dgm:pt modelId="{742C5AEB-8A0C-4D7B-BEFD-35ED9199C4B4}" type="pres">
      <dgm:prSet presAssocID="{9B4615A1-02DE-43A8-9542-09BB9E15A561}" presName="parentText" presStyleLbl="node1" presStyleIdx="0" presStyleCnt="3">
        <dgm:presLayoutVars>
          <dgm:chMax val="0"/>
          <dgm:bulletEnabled val="1"/>
        </dgm:presLayoutVars>
      </dgm:prSet>
      <dgm:spPr/>
    </dgm:pt>
    <dgm:pt modelId="{D3E5B7CC-CFFE-4D73-8212-3AEFE20D0CA4}" type="pres">
      <dgm:prSet presAssocID="{9B4615A1-02DE-43A8-9542-09BB9E15A561}" presName="negativeSpace" presStyleCnt="0"/>
      <dgm:spPr/>
    </dgm:pt>
    <dgm:pt modelId="{7BEDE041-D82B-474D-9440-A5ED170ADEF1}" type="pres">
      <dgm:prSet presAssocID="{9B4615A1-02DE-43A8-9542-09BB9E15A561}" presName="childText" presStyleLbl="conFgAcc1" presStyleIdx="0" presStyleCnt="3">
        <dgm:presLayoutVars>
          <dgm:bulletEnabled val="1"/>
        </dgm:presLayoutVars>
      </dgm:prSet>
      <dgm:spPr/>
    </dgm:pt>
    <dgm:pt modelId="{85D7D67E-F57D-43FD-9704-04D043E3235F}" type="pres">
      <dgm:prSet presAssocID="{3A84257C-CA9C-4DDA-8F94-DD78F7001600}" presName="spaceBetweenRectangles" presStyleCnt="0"/>
      <dgm:spPr/>
    </dgm:pt>
    <dgm:pt modelId="{E1B55D07-A068-4235-BBC3-B9D2CDEFDCE7}" type="pres">
      <dgm:prSet presAssocID="{4B3CA3FC-B861-4998-98E5-558846272D74}" presName="parentLin" presStyleCnt="0"/>
      <dgm:spPr/>
    </dgm:pt>
    <dgm:pt modelId="{EB757AC0-74A2-4AF3-9969-4653BD242C8B}" type="pres">
      <dgm:prSet presAssocID="{4B3CA3FC-B861-4998-98E5-558846272D74}" presName="parentLeftMargin" presStyleLbl="node1" presStyleIdx="0" presStyleCnt="3"/>
      <dgm:spPr/>
    </dgm:pt>
    <dgm:pt modelId="{78480C2D-BD49-4CF6-A2A8-E695CE3298E8}" type="pres">
      <dgm:prSet presAssocID="{4B3CA3FC-B861-4998-98E5-558846272D74}" presName="parentText" presStyleLbl="node1" presStyleIdx="1" presStyleCnt="3">
        <dgm:presLayoutVars>
          <dgm:chMax val="0"/>
          <dgm:bulletEnabled val="1"/>
        </dgm:presLayoutVars>
      </dgm:prSet>
      <dgm:spPr/>
    </dgm:pt>
    <dgm:pt modelId="{69AAB213-4FEA-4D0A-A05C-09129F183ED5}" type="pres">
      <dgm:prSet presAssocID="{4B3CA3FC-B861-4998-98E5-558846272D74}" presName="negativeSpace" presStyleCnt="0"/>
      <dgm:spPr/>
    </dgm:pt>
    <dgm:pt modelId="{60FEB78C-9208-46AC-A850-310DA9FB5AE3}" type="pres">
      <dgm:prSet presAssocID="{4B3CA3FC-B861-4998-98E5-558846272D74}" presName="childText" presStyleLbl="conFgAcc1" presStyleIdx="1" presStyleCnt="3">
        <dgm:presLayoutVars>
          <dgm:bulletEnabled val="1"/>
        </dgm:presLayoutVars>
      </dgm:prSet>
      <dgm:spPr/>
    </dgm:pt>
    <dgm:pt modelId="{43902F12-559B-4343-9670-368A6E52DA91}" type="pres">
      <dgm:prSet presAssocID="{D3735B04-0FB4-4F4F-9FC8-E0A9EB830D66}" presName="spaceBetweenRectangles" presStyleCnt="0"/>
      <dgm:spPr/>
    </dgm:pt>
    <dgm:pt modelId="{103C5DD5-4F9C-4883-BF9D-78438BE179B6}" type="pres">
      <dgm:prSet presAssocID="{73AA5F84-BF37-45F7-9DC8-F1BC7BD2794F}" presName="parentLin" presStyleCnt="0"/>
      <dgm:spPr/>
    </dgm:pt>
    <dgm:pt modelId="{66F5B146-D4C0-442E-92AB-7CB077698955}" type="pres">
      <dgm:prSet presAssocID="{73AA5F84-BF37-45F7-9DC8-F1BC7BD2794F}" presName="parentLeftMargin" presStyleLbl="node1" presStyleIdx="1" presStyleCnt="3"/>
      <dgm:spPr/>
    </dgm:pt>
    <dgm:pt modelId="{63CDBEE8-0DE1-4817-9CE3-0A80D12014B8}" type="pres">
      <dgm:prSet presAssocID="{73AA5F84-BF37-45F7-9DC8-F1BC7BD2794F}" presName="parentText" presStyleLbl="node1" presStyleIdx="2" presStyleCnt="3">
        <dgm:presLayoutVars>
          <dgm:chMax val="0"/>
          <dgm:bulletEnabled val="1"/>
        </dgm:presLayoutVars>
      </dgm:prSet>
      <dgm:spPr/>
    </dgm:pt>
    <dgm:pt modelId="{FDFB1D72-8594-4454-8DEF-712D0BAF76BA}" type="pres">
      <dgm:prSet presAssocID="{73AA5F84-BF37-45F7-9DC8-F1BC7BD2794F}" presName="negativeSpace" presStyleCnt="0"/>
      <dgm:spPr/>
    </dgm:pt>
    <dgm:pt modelId="{C402466A-0D2D-4ABE-9B0D-2BD5DB2F93EA}" type="pres">
      <dgm:prSet presAssocID="{73AA5F84-BF37-45F7-9DC8-F1BC7BD2794F}" presName="childText" presStyleLbl="conFgAcc1" presStyleIdx="2" presStyleCnt="3">
        <dgm:presLayoutVars>
          <dgm:bulletEnabled val="1"/>
        </dgm:presLayoutVars>
      </dgm:prSet>
      <dgm:spPr/>
    </dgm:pt>
  </dgm:ptLst>
  <dgm:cxnLst>
    <dgm:cxn modelId="{7D40201B-6BBE-43DB-955B-9A0249190E0B}" type="presOf" srcId="{73AA5F84-BF37-45F7-9DC8-F1BC7BD2794F}" destId="{66F5B146-D4C0-442E-92AB-7CB077698955}" srcOrd="0" destOrd="0" presId="urn:microsoft.com/office/officeart/2005/8/layout/list1"/>
    <dgm:cxn modelId="{2270292F-C0F5-4257-AC90-EC5E519A29B2}" type="presOf" srcId="{9B4615A1-02DE-43A8-9542-09BB9E15A561}" destId="{742C5AEB-8A0C-4D7B-BEFD-35ED9199C4B4}" srcOrd="1" destOrd="0" presId="urn:microsoft.com/office/officeart/2005/8/layout/list1"/>
    <dgm:cxn modelId="{1860973B-8018-4325-B91E-D5A8B4EEF61A}" srcId="{0A134E51-90C2-4CC8-92A3-66B1DBA6DBD7}" destId="{4B3CA3FC-B861-4998-98E5-558846272D74}" srcOrd="1" destOrd="0" parTransId="{DD5A7E13-0AEC-43F2-AA0C-E287E16A18F9}" sibTransId="{D3735B04-0FB4-4F4F-9FC8-E0A9EB830D66}"/>
    <dgm:cxn modelId="{B3A8076C-91DE-4CCA-AA10-5FB281266783}" srcId="{0A134E51-90C2-4CC8-92A3-66B1DBA6DBD7}" destId="{9B4615A1-02DE-43A8-9542-09BB9E15A561}" srcOrd="0" destOrd="0" parTransId="{7C7C48DC-C7C8-4345-AB61-5A05E8FE62B1}" sibTransId="{3A84257C-CA9C-4DDA-8F94-DD78F7001600}"/>
    <dgm:cxn modelId="{E8688570-4631-4A38-B257-A01FD949D8BD}" type="presOf" srcId="{9B4615A1-02DE-43A8-9542-09BB9E15A561}" destId="{6645F21E-B953-4402-B00D-DEC4C796A6A0}" srcOrd="0" destOrd="0" presId="urn:microsoft.com/office/officeart/2005/8/layout/list1"/>
    <dgm:cxn modelId="{DD545475-80BC-4C21-85DA-8CC95B153BE6}" type="presOf" srcId="{4B3CA3FC-B861-4998-98E5-558846272D74}" destId="{78480C2D-BD49-4CF6-A2A8-E695CE3298E8}" srcOrd="1" destOrd="0" presId="urn:microsoft.com/office/officeart/2005/8/layout/list1"/>
    <dgm:cxn modelId="{281DB275-F336-4F7A-A5DE-EA8ACD7A4B54}" type="presOf" srcId="{73AA5F84-BF37-45F7-9DC8-F1BC7BD2794F}" destId="{63CDBEE8-0DE1-4817-9CE3-0A80D12014B8}" srcOrd="1" destOrd="0" presId="urn:microsoft.com/office/officeart/2005/8/layout/list1"/>
    <dgm:cxn modelId="{5EBF2FE0-9A21-4879-9308-5D25461398CC}" type="presOf" srcId="{0A134E51-90C2-4CC8-92A3-66B1DBA6DBD7}" destId="{65FFAA2A-79E8-4073-B6A8-E86787070BE2}" srcOrd="0" destOrd="0" presId="urn:microsoft.com/office/officeart/2005/8/layout/list1"/>
    <dgm:cxn modelId="{D697CDE4-5563-475D-9F9E-F92A4D046594}" srcId="{0A134E51-90C2-4CC8-92A3-66B1DBA6DBD7}" destId="{73AA5F84-BF37-45F7-9DC8-F1BC7BD2794F}" srcOrd="2" destOrd="0" parTransId="{4EBE66AB-A872-46BE-97D6-052E2780ABFB}" sibTransId="{ED0E08E9-4172-4E19-9F90-181934A57F77}"/>
    <dgm:cxn modelId="{C9E536FA-94A8-4490-A7D4-F59B53BCBDD9}" type="presOf" srcId="{4B3CA3FC-B861-4998-98E5-558846272D74}" destId="{EB757AC0-74A2-4AF3-9969-4653BD242C8B}" srcOrd="0" destOrd="0" presId="urn:microsoft.com/office/officeart/2005/8/layout/list1"/>
    <dgm:cxn modelId="{4A0964B0-2AD5-4DCE-9B86-0AE961B17A1F}" type="presParOf" srcId="{65FFAA2A-79E8-4073-B6A8-E86787070BE2}" destId="{E877DE98-A9BF-493C-A09A-F58910BC4B98}" srcOrd="0" destOrd="0" presId="urn:microsoft.com/office/officeart/2005/8/layout/list1"/>
    <dgm:cxn modelId="{FDAF9E6C-762D-42B3-961C-A89120B8751F}" type="presParOf" srcId="{E877DE98-A9BF-493C-A09A-F58910BC4B98}" destId="{6645F21E-B953-4402-B00D-DEC4C796A6A0}" srcOrd="0" destOrd="0" presId="urn:microsoft.com/office/officeart/2005/8/layout/list1"/>
    <dgm:cxn modelId="{6054D849-7925-495B-858F-E942ED182C83}" type="presParOf" srcId="{E877DE98-A9BF-493C-A09A-F58910BC4B98}" destId="{742C5AEB-8A0C-4D7B-BEFD-35ED9199C4B4}" srcOrd="1" destOrd="0" presId="urn:microsoft.com/office/officeart/2005/8/layout/list1"/>
    <dgm:cxn modelId="{C3A972E4-E5AE-421F-8D7A-5E351FAD0497}" type="presParOf" srcId="{65FFAA2A-79E8-4073-B6A8-E86787070BE2}" destId="{D3E5B7CC-CFFE-4D73-8212-3AEFE20D0CA4}" srcOrd="1" destOrd="0" presId="urn:microsoft.com/office/officeart/2005/8/layout/list1"/>
    <dgm:cxn modelId="{DFDD8CB8-1446-4EAC-BBBB-3E57E332CE59}" type="presParOf" srcId="{65FFAA2A-79E8-4073-B6A8-E86787070BE2}" destId="{7BEDE041-D82B-474D-9440-A5ED170ADEF1}" srcOrd="2" destOrd="0" presId="urn:microsoft.com/office/officeart/2005/8/layout/list1"/>
    <dgm:cxn modelId="{2E2C4C35-88C9-4808-B0D6-88FCEB09CE57}" type="presParOf" srcId="{65FFAA2A-79E8-4073-B6A8-E86787070BE2}" destId="{85D7D67E-F57D-43FD-9704-04D043E3235F}" srcOrd="3" destOrd="0" presId="urn:microsoft.com/office/officeart/2005/8/layout/list1"/>
    <dgm:cxn modelId="{EC02DD34-722B-44B3-BC45-C70788A21C6E}" type="presParOf" srcId="{65FFAA2A-79E8-4073-B6A8-E86787070BE2}" destId="{E1B55D07-A068-4235-BBC3-B9D2CDEFDCE7}" srcOrd="4" destOrd="0" presId="urn:microsoft.com/office/officeart/2005/8/layout/list1"/>
    <dgm:cxn modelId="{DED1467D-BBF2-4702-9F4E-AB20ED471DBD}" type="presParOf" srcId="{E1B55D07-A068-4235-BBC3-B9D2CDEFDCE7}" destId="{EB757AC0-74A2-4AF3-9969-4653BD242C8B}" srcOrd="0" destOrd="0" presId="urn:microsoft.com/office/officeart/2005/8/layout/list1"/>
    <dgm:cxn modelId="{0D25D87B-F8F6-4347-BAD1-BC2E73AB1086}" type="presParOf" srcId="{E1B55D07-A068-4235-BBC3-B9D2CDEFDCE7}" destId="{78480C2D-BD49-4CF6-A2A8-E695CE3298E8}" srcOrd="1" destOrd="0" presId="urn:microsoft.com/office/officeart/2005/8/layout/list1"/>
    <dgm:cxn modelId="{CA8205B3-8350-447A-9C5B-F91C48363FFA}" type="presParOf" srcId="{65FFAA2A-79E8-4073-B6A8-E86787070BE2}" destId="{69AAB213-4FEA-4D0A-A05C-09129F183ED5}" srcOrd="5" destOrd="0" presId="urn:microsoft.com/office/officeart/2005/8/layout/list1"/>
    <dgm:cxn modelId="{071F60D6-A948-42A7-BBBD-82877A52DDE3}" type="presParOf" srcId="{65FFAA2A-79E8-4073-B6A8-E86787070BE2}" destId="{60FEB78C-9208-46AC-A850-310DA9FB5AE3}" srcOrd="6" destOrd="0" presId="urn:microsoft.com/office/officeart/2005/8/layout/list1"/>
    <dgm:cxn modelId="{A1C13A86-3941-4A73-96D0-26874C18E1B2}" type="presParOf" srcId="{65FFAA2A-79E8-4073-B6A8-E86787070BE2}" destId="{43902F12-559B-4343-9670-368A6E52DA91}" srcOrd="7" destOrd="0" presId="urn:microsoft.com/office/officeart/2005/8/layout/list1"/>
    <dgm:cxn modelId="{B91A1CA0-A328-4092-9504-C75C01364F98}" type="presParOf" srcId="{65FFAA2A-79E8-4073-B6A8-E86787070BE2}" destId="{103C5DD5-4F9C-4883-BF9D-78438BE179B6}" srcOrd="8" destOrd="0" presId="urn:microsoft.com/office/officeart/2005/8/layout/list1"/>
    <dgm:cxn modelId="{FF3385B3-094F-4262-A22E-05FD53ABB7E3}" type="presParOf" srcId="{103C5DD5-4F9C-4883-BF9D-78438BE179B6}" destId="{66F5B146-D4C0-442E-92AB-7CB077698955}" srcOrd="0" destOrd="0" presId="urn:microsoft.com/office/officeart/2005/8/layout/list1"/>
    <dgm:cxn modelId="{3CCDD36A-E6A5-4DE9-9E27-72A015A1557F}" type="presParOf" srcId="{103C5DD5-4F9C-4883-BF9D-78438BE179B6}" destId="{63CDBEE8-0DE1-4817-9CE3-0A80D12014B8}" srcOrd="1" destOrd="0" presId="urn:microsoft.com/office/officeart/2005/8/layout/list1"/>
    <dgm:cxn modelId="{01CAE309-734F-4457-8F0B-164E8BA2ED91}" type="presParOf" srcId="{65FFAA2A-79E8-4073-B6A8-E86787070BE2}" destId="{FDFB1D72-8594-4454-8DEF-712D0BAF76BA}" srcOrd="9" destOrd="0" presId="urn:microsoft.com/office/officeart/2005/8/layout/list1"/>
    <dgm:cxn modelId="{396113A2-8C4C-4815-BA60-1D1253A7288B}" type="presParOf" srcId="{65FFAA2A-79E8-4073-B6A8-E86787070BE2}" destId="{C402466A-0D2D-4ABE-9B0D-2BD5DB2F93E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E5B6CB-B976-42CE-B326-8E6AB44C3A1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5676455-3E57-43F6-8102-D5E006125A4C}">
      <dgm:prSet/>
      <dgm:spPr/>
      <dgm:t>
        <a:bodyPr/>
        <a:lstStyle/>
        <a:p>
          <a:r>
            <a:rPr lang="en-US"/>
            <a:t>Basically a literature map but formatted as a bulleted list</a:t>
          </a:r>
        </a:p>
      </dgm:t>
    </dgm:pt>
    <dgm:pt modelId="{A2244008-B28F-458B-8487-E9C28DE55CD1}" type="parTrans" cxnId="{E30F30C9-840B-494A-88D2-DE6DE46D07F5}">
      <dgm:prSet/>
      <dgm:spPr/>
      <dgm:t>
        <a:bodyPr/>
        <a:lstStyle/>
        <a:p>
          <a:endParaRPr lang="en-US"/>
        </a:p>
      </dgm:t>
    </dgm:pt>
    <dgm:pt modelId="{B395A5CB-F7C9-49C7-9BEB-D17BCCBCDAFC}" type="sibTrans" cxnId="{E30F30C9-840B-494A-88D2-DE6DE46D07F5}">
      <dgm:prSet/>
      <dgm:spPr/>
      <dgm:t>
        <a:bodyPr/>
        <a:lstStyle/>
        <a:p>
          <a:endParaRPr lang="en-US"/>
        </a:p>
      </dgm:t>
    </dgm:pt>
    <dgm:pt modelId="{2816D149-4D5B-45F6-B108-FCDCCCCFD141}">
      <dgm:prSet/>
      <dgm:spPr/>
      <dgm:t>
        <a:bodyPr/>
        <a:lstStyle/>
        <a:p>
          <a:r>
            <a:rPr lang="en-US"/>
            <a:t>Should cover all the necessary concepts and theories relevant to your project goal</a:t>
          </a:r>
        </a:p>
      </dgm:t>
    </dgm:pt>
    <dgm:pt modelId="{91F6310F-FBCE-47CF-B11D-5662AABD8788}" type="parTrans" cxnId="{1F8DC668-EBAB-4E94-BDC3-A3521636436B}">
      <dgm:prSet/>
      <dgm:spPr/>
      <dgm:t>
        <a:bodyPr/>
        <a:lstStyle/>
        <a:p>
          <a:endParaRPr lang="en-US"/>
        </a:p>
      </dgm:t>
    </dgm:pt>
    <dgm:pt modelId="{32BAF8D5-83FF-4F10-9C01-94DB97F8498D}" type="sibTrans" cxnId="{1F8DC668-EBAB-4E94-BDC3-A3521636436B}">
      <dgm:prSet/>
      <dgm:spPr/>
      <dgm:t>
        <a:bodyPr/>
        <a:lstStyle/>
        <a:p>
          <a:endParaRPr lang="en-US"/>
        </a:p>
      </dgm:t>
    </dgm:pt>
    <dgm:pt modelId="{8E2BFAF0-46C8-40B8-B643-97C115CEDFD4}">
      <dgm:prSet/>
      <dgm:spPr/>
      <dgm:t>
        <a:bodyPr/>
        <a:lstStyle/>
        <a:p>
          <a:r>
            <a:rPr lang="en-US"/>
            <a:t>Start from broadest concepts and oldest, most traditional methods/approaches before narrowing the focus and moving to what is unknown/evolving</a:t>
          </a:r>
        </a:p>
      </dgm:t>
    </dgm:pt>
    <dgm:pt modelId="{22D50549-D2D9-4352-8A77-3B086A505697}" type="parTrans" cxnId="{723B6931-64F5-4AF5-915D-011F74324CAA}">
      <dgm:prSet/>
      <dgm:spPr/>
      <dgm:t>
        <a:bodyPr/>
        <a:lstStyle/>
        <a:p>
          <a:endParaRPr lang="en-US"/>
        </a:p>
      </dgm:t>
    </dgm:pt>
    <dgm:pt modelId="{72E43060-3958-4A39-9C8A-E66AC57E25D4}" type="sibTrans" cxnId="{723B6931-64F5-4AF5-915D-011F74324CAA}">
      <dgm:prSet/>
      <dgm:spPr/>
      <dgm:t>
        <a:bodyPr/>
        <a:lstStyle/>
        <a:p>
          <a:endParaRPr lang="en-US"/>
        </a:p>
      </dgm:t>
    </dgm:pt>
    <dgm:pt modelId="{F4064FE5-F7DD-4785-A867-AEE6D5E7CD96}">
      <dgm:prSet/>
      <dgm:spPr/>
      <dgm:t>
        <a:bodyPr/>
        <a:lstStyle/>
        <a:p>
          <a:r>
            <a:rPr lang="en-US"/>
            <a:t>Generally, should have no more than 2 subheadings per page of text and at least 4 citations under each subheading</a:t>
          </a:r>
        </a:p>
      </dgm:t>
    </dgm:pt>
    <dgm:pt modelId="{B8A17776-3272-43CB-B591-840386148D3D}" type="parTrans" cxnId="{C7CE443C-DAC4-4B57-8E33-558775157077}">
      <dgm:prSet/>
      <dgm:spPr/>
      <dgm:t>
        <a:bodyPr/>
        <a:lstStyle/>
        <a:p>
          <a:endParaRPr lang="en-US"/>
        </a:p>
      </dgm:t>
    </dgm:pt>
    <dgm:pt modelId="{D4D88476-EA00-4E94-A98A-4C241EE926C8}" type="sibTrans" cxnId="{C7CE443C-DAC4-4B57-8E33-558775157077}">
      <dgm:prSet/>
      <dgm:spPr/>
      <dgm:t>
        <a:bodyPr/>
        <a:lstStyle/>
        <a:p>
          <a:endParaRPr lang="en-US"/>
        </a:p>
      </dgm:t>
    </dgm:pt>
    <dgm:pt modelId="{672ABE70-7BC9-4E8D-8F86-8E372CFAE7DC}" type="pres">
      <dgm:prSet presAssocID="{04E5B6CB-B976-42CE-B326-8E6AB44C3A1B}" presName="linear" presStyleCnt="0">
        <dgm:presLayoutVars>
          <dgm:animLvl val="lvl"/>
          <dgm:resizeHandles val="exact"/>
        </dgm:presLayoutVars>
      </dgm:prSet>
      <dgm:spPr/>
    </dgm:pt>
    <dgm:pt modelId="{247AE2DC-C955-4DAA-892B-1303D908A107}" type="pres">
      <dgm:prSet presAssocID="{95676455-3E57-43F6-8102-D5E006125A4C}" presName="parentText" presStyleLbl="node1" presStyleIdx="0" presStyleCnt="4">
        <dgm:presLayoutVars>
          <dgm:chMax val="0"/>
          <dgm:bulletEnabled val="1"/>
        </dgm:presLayoutVars>
      </dgm:prSet>
      <dgm:spPr/>
    </dgm:pt>
    <dgm:pt modelId="{F8DD12C5-E381-4053-8FC1-9FD977ADA17E}" type="pres">
      <dgm:prSet presAssocID="{B395A5CB-F7C9-49C7-9BEB-D17BCCBCDAFC}" presName="spacer" presStyleCnt="0"/>
      <dgm:spPr/>
    </dgm:pt>
    <dgm:pt modelId="{A32DC5B1-8E5F-413B-A2E5-DEC7FA56D82A}" type="pres">
      <dgm:prSet presAssocID="{2816D149-4D5B-45F6-B108-FCDCCCCFD141}" presName="parentText" presStyleLbl="node1" presStyleIdx="1" presStyleCnt="4">
        <dgm:presLayoutVars>
          <dgm:chMax val="0"/>
          <dgm:bulletEnabled val="1"/>
        </dgm:presLayoutVars>
      </dgm:prSet>
      <dgm:spPr/>
    </dgm:pt>
    <dgm:pt modelId="{604E6CFD-6511-468E-9E02-C87351FFA761}" type="pres">
      <dgm:prSet presAssocID="{32BAF8D5-83FF-4F10-9C01-94DB97F8498D}" presName="spacer" presStyleCnt="0"/>
      <dgm:spPr/>
    </dgm:pt>
    <dgm:pt modelId="{3025FF8B-DC24-454F-B6F2-F68E0DA8F21B}" type="pres">
      <dgm:prSet presAssocID="{8E2BFAF0-46C8-40B8-B643-97C115CEDFD4}" presName="parentText" presStyleLbl="node1" presStyleIdx="2" presStyleCnt="4">
        <dgm:presLayoutVars>
          <dgm:chMax val="0"/>
          <dgm:bulletEnabled val="1"/>
        </dgm:presLayoutVars>
      </dgm:prSet>
      <dgm:spPr/>
    </dgm:pt>
    <dgm:pt modelId="{965302A8-7D64-4E41-976C-E3BDAA76DA53}" type="pres">
      <dgm:prSet presAssocID="{72E43060-3958-4A39-9C8A-E66AC57E25D4}" presName="spacer" presStyleCnt="0"/>
      <dgm:spPr/>
    </dgm:pt>
    <dgm:pt modelId="{3BF04ACA-1BB6-460B-8F3D-0082310865B3}" type="pres">
      <dgm:prSet presAssocID="{F4064FE5-F7DD-4785-A867-AEE6D5E7CD96}" presName="parentText" presStyleLbl="node1" presStyleIdx="3" presStyleCnt="4">
        <dgm:presLayoutVars>
          <dgm:chMax val="0"/>
          <dgm:bulletEnabled val="1"/>
        </dgm:presLayoutVars>
      </dgm:prSet>
      <dgm:spPr/>
    </dgm:pt>
  </dgm:ptLst>
  <dgm:cxnLst>
    <dgm:cxn modelId="{723B6931-64F5-4AF5-915D-011F74324CAA}" srcId="{04E5B6CB-B976-42CE-B326-8E6AB44C3A1B}" destId="{8E2BFAF0-46C8-40B8-B643-97C115CEDFD4}" srcOrd="2" destOrd="0" parTransId="{22D50549-D2D9-4352-8A77-3B086A505697}" sibTransId="{72E43060-3958-4A39-9C8A-E66AC57E25D4}"/>
    <dgm:cxn modelId="{C7CE443C-DAC4-4B57-8E33-558775157077}" srcId="{04E5B6CB-B976-42CE-B326-8E6AB44C3A1B}" destId="{F4064FE5-F7DD-4785-A867-AEE6D5E7CD96}" srcOrd="3" destOrd="0" parTransId="{B8A17776-3272-43CB-B591-840386148D3D}" sibTransId="{D4D88476-EA00-4E94-A98A-4C241EE926C8}"/>
    <dgm:cxn modelId="{1F8DC668-EBAB-4E94-BDC3-A3521636436B}" srcId="{04E5B6CB-B976-42CE-B326-8E6AB44C3A1B}" destId="{2816D149-4D5B-45F6-B108-FCDCCCCFD141}" srcOrd="1" destOrd="0" parTransId="{91F6310F-FBCE-47CF-B11D-5662AABD8788}" sibTransId="{32BAF8D5-83FF-4F10-9C01-94DB97F8498D}"/>
    <dgm:cxn modelId="{9CB23070-2F91-4708-BC1E-EB99F2FDCF6D}" type="presOf" srcId="{8E2BFAF0-46C8-40B8-B643-97C115CEDFD4}" destId="{3025FF8B-DC24-454F-B6F2-F68E0DA8F21B}" srcOrd="0" destOrd="0" presId="urn:microsoft.com/office/officeart/2005/8/layout/vList2"/>
    <dgm:cxn modelId="{375BEF82-CCEE-4D9C-BA9A-E45FAC7D9B2B}" type="presOf" srcId="{95676455-3E57-43F6-8102-D5E006125A4C}" destId="{247AE2DC-C955-4DAA-892B-1303D908A107}" srcOrd="0" destOrd="0" presId="urn:microsoft.com/office/officeart/2005/8/layout/vList2"/>
    <dgm:cxn modelId="{60B539A4-8B56-49A9-9467-2AF2BB16D26D}" type="presOf" srcId="{2816D149-4D5B-45F6-B108-FCDCCCCFD141}" destId="{A32DC5B1-8E5F-413B-A2E5-DEC7FA56D82A}" srcOrd="0" destOrd="0" presId="urn:microsoft.com/office/officeart/2005/8/layout/vList2"/>
    <dgm:cxn modelId="{E30F30C9-840B-494A-88D2-DE6DE46D07F5}" srcId="{04E5B6CB-B976-42CE-B326-8E6AB44C3A1B}" destId="{95676455-3E57-43F6-8102-D5E006125A4C}" srcOrd="0" destOrd="0" parTransId="{A2244008-B28F-458B-8487-E9C28DE55CD1}" sibTransId="{B395A5CB-F7C9-49C7-9BEB-D17BCCBCDAFC}"/>
    <dgm:cxn modelId="{30F5E2CF-778F-405B-BA78-40E2899F1313}" type="presOf" srcId="{F4064FE5-F7DD-4785-A867-AEE6D5E7CD96}" destId="{3BF04ACA-1BB6-460B-8F3D-0082310865B3}" srcOrd="0" destOrd="0" presId="urn:microsoft.com/office/officeart/2005/8/layout/vList2"/>
    <dgm:cxn modelId="{099F8AFC-49DC-4D07-9B79-3D035E993768}" type="presOf" srcId="{04E5B6CB-B976-42CE-B326-8E6AB44C3A1B}" destId="{672ABE70-7BC9-4E8D-8F86-8E372CFAE7DC}" srcOrd="0" destOrd="0" presId="urn:microsoft.com/office/officeart/2005/8/layout/vList2"/>
    <dgm:cxn modelId="{3A9BE096-0DBD-401C-B5DE-F6E5DD5A36D9}" type="presParOf" srcId="{672ABE70-7BC9-4E8D-8F86-8E372CFAE7DC}" destId="{247AE2DC-C955-4DAA-892B-1303D908A107}" srcOrd="0" destOrd="0" presId="urn:microsoft.com/office/officeart/2005/8/layout/vList2"/>
    <dgm:cxn modelId="{F6995D20-7652-43E0-8E6E-91B4AA6F5805}" type="presParOf" srcId="{672ABE70-7BC9-4E8D-8F86-8E372CFAE7DC}" destId="{F8DD12C5-E381-4053-8FC1-9FD977ADA17E}" srcOrd="1" destOrd="0" presId="urn:microsoft.com/office/officeart/2005/8/layout/vList2"/>
    <dgm:cxn modelId="{BCCC027E-D9A2-4918-B17A-5E0E340647CC}" type="presParOf" srcId="{672ABE70-7BC9-4E8D-8F86-8E372CFAE7DC}" destId="{A32DC5B1-8E5F-413B-A2E5-DEC7FA56D82A}" srcOrd="2" destOrd="0" presId="urn:microsoft.com/office/officeart/2005/8/layout/vList2"/>
    <dgm:cxn modelId="{F600CDF9-374F-4CE2-A095-DD9E7F259632}" type="presParOf" srcId="{672ABE70-7BC9-4E8D-8F86-8E372CFAE7DC}" destId="{604E6CFD-6511-468E-9E02-C87351FFA761}" srcOrd="3" destOrd="0" presId="urn:microsoft.com/office/officeart/2005/8/layout/vList2"/>
    <dgm:cxn modelId="{162D4A80-F0E2-4189-8082-0F496831CA6A}" type="presParOf" srcId="{672ABE70-7BC9-4E8D-8F86-8E372CFAE7DC}" destId="{3025FF8B-DC24-454F-B6F2-F68E0DA8F21B}" srcOrd="4" destOrd="0" presId="urn:microsoft.com/office/officeart/2005/8/layout/vList2"/>
    <dgm:cxn modelId="{0F84D87D-BA76-4BCD-BD13-172A42F5F62E}" type="presParOf" srcId="{672ABE70-7BC9-4E8D-8F86-8E372CFAE7DC}" destId="{965302A8-7D64-4E41-976C-E3BDAA76DA53}" srcOrd="5" destOrd="0" presId="urn:microsoft.com/office/officeart/2005/8/layout/vList2"/>
    <dgm:cxn modelId="{3BA24A17-36E4-433D-ACA4-1C247DE14FDD}" type="presParOf" srcId="{672ABE70-7BC9-4E8D-8F86-8E372CFAE7DC}" destId="{3BF04ACA-1BB6-460B-8F3D-0082310865B3}"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DE041-D82B-474D-9440-A5ED170ADEF1}">
      <dsp:nvSpPr>
        <dsp:cNvPr id="0" name=""/>
        <dsp:cNvSpPr/>
      </dsp:nvSpPr>
      <dsp:spPr>
        <a:xfrm>
          <a:off x="0" y="563476"/>
          <a:ext cx="6190459" cy="907200"/>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2C5AEB-8A0C-4D7B-BEFD-35ED9199C4B4}">
      <dsp:nvSpPr>
        <dsp:cNvPr id="0" name=""/>
        <dsp:cNvSpPr/>
      </dsp:nvSpPr>
      <dsp:spPr>
        <a:xfrm>
          <a:off x="309522" y="32116"/>
          <a:ext cx="4333321" cy="106272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789" tIns="0" rIns="163789" bIns="0" numCol="1" spcCol="1270" anchor="ctr" anchorCtr="0">
          <a:noAutofit/>
        </a:bodyPr>
        <a:lstStyle/>
        <a:p>
          <a:pPr marL="0" lvl="0" indent="0" algn="l" defTabSz="1600200">
            <a:lnSpc>
              <a:spcPct val="90000"/>
            </a:lnSpc>
            <a:spcBef>
              <a:spcPct val="0"/>
            </a:spcBef>
            <a:spcAft>
              <a:spcPct val="35000"/>
            </a:spcAft>
            <a:buNone/>
          </a:pPr>
          <a:r>
            <a:rPr lang="en-US" sz="3600" kern="1200"/>
            <a:t>Literature Map</a:t>
          </a:r>
        </a:p>
      </dsp:txBody>
      <dsp:txXfrm>
        <a:off x="361400" y="83994"/>
        <a:ext cx="4229565" cy="958964"/>
      </dsp:txXfrm>
    </dsp:sp>
    <dsp:sp modelId="{60FEB78C-9208-46AC-A850-310DA9FB5AE3}">
      <dsp:nvSpPr>
        <dsp:cNvPr id="0" name=""/>
        <dsp:cNvSpPr/>
      </dsp:nvSpPr>
      <dsp:spPr>
        <a:xfrm>
          <a:off x="0" y="2196436"/>
          <a:ext cx="6190459" cy="907200"/>
        </a:xfrm>
        <a:prstGeom prst="rect">
          <a:avLst/>
        </a:prstGeom>
        <a:solidFill>
          <a:schemeClr val="lt1">
            <a:alpha val="90000"/>
            <a:hueOff val="0"/>
            <a:satOff val="0"/>
            <a:lumOff val="0"/>
            <a:alphaOff val="0"/>
          </a:schemeClr>
        </a:solidFill>
        <a:ln w="15875" cap="rnd" cmpd="sng" algn="ctr">
          <a:solidFill>
            <a:schemeClr val="accent2">
              <a:hueOff val="-4377215"/>
              <a:satOff val="-3950"/>
              <a:lumOff val="-881"/>
              <a:alphaOff val="0"/>
            </a:schemeClr>
          </a:solidFill>
          <a:prstDash val="solid"/>
        </a:ln>
        <a:effectLst/>
      </dsp:spPr>
      <dsp:style>
        <a:lnRef idx="2">
          <a:scrgbClr r="0" g="0" b="0"/>
        </a:lnRef>
        <a:fillRef idx="1">
          <a:scrgbClr r="0" g="0" b="0"/>
        </a:fillRef>
        <a:effectRef idx="0">
          <a:scrgbClr r="0" g="0" b="0"/>
        </a:effectRef>
        <a:fontRef idx="minor"/>
      </dsp:style>
    </dsp:sp>
    <dsp:sp modelId="{78480C2D-BD49-4CF6-A2A8-E695CE3298E8}">
      <dsp:nvSpPr>
        <dsp:cNvPr id="0" name=""/>
        <dsp:cNvSpPr/>
      </dsp:nvSpPr>
      <dsp:spPr>
        <a:xfrm>
          <a:off x="309522" y="1665076"/>
          <a:ext cx="4333321" cy="1062720"/>
        </a:xfrm>
        <a:prstGeom prst="roundRect">
          <a:avLst/>
        </a:prstGeom>
        <a:solidFill>
          <a:schemeClr val="accent2">
            <a:hueOff val="-4377215"/>
            <a:satOff val="-3950"/>
            <a:lumOff val="-881"/>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789" tIns="0" rIns="163789" bIns="0" numCol="1" spcCol="1270" anchor="ctr" anchorCtr="0">
          <a:noAutofit/>
        </a:bodyPr>
        <a:lstStyle/>
        <a:p>
          <a:pPr marL="0" lvl="0" indent="0" algn="l" defTabSz="1600200">
            <a:lnSpc>
              <a:spcPct val="90000"/>
            </a:lnSpc>
            <a:spcBef>
              <a:spcPct val="0"/>
            </a:spcBef>
            <a:spcAft>
              <a:spcPct val="35000"/>
            </a:spcAft>
            <a:buNone/>
          </a:pPr>
          <a:r>
            <a:rPr lang="en-US" sz="3600" kern="1200"/>
            <a:t>Subheadings</a:t>
          </a:r>
        </a:p>
      </dsp:txBody>
      <dsp:txXfrm>
        <a:off x="361400" y="1716954"/>
        <a:ext cx="4229565" cy="958964"/>
      </dsp:txXfrm>
    </dsp:sp>
    <dsp:sp modelId="{C402466A-0D2D-4ABE-9B0D-2BD5DB2F93EA}">
      <dsp:nvSpPr>
        <dsp:cNvPr id="0" name=""/>
        <dsp:cNvSpPr/>
      </dsp:nvSpPr>
      <dsp:spPr>
        <a:xfrm>
          <a:off x="0" y="3829396"/>
          <a:ext cx="6190459" cy="907200"/>
        </a:xfrm>
        <a:prstGeom prst="rect">
          <a:avLst/>
        </a:prstGeom>
        <a:solidFill>
          <a:schemeClr val="lt1">
            <a:alpha val="90000"/>
            <a:hueOff val="0"/>
            <a:satOff val="0"/>
            <a:lumOff val="0"/>
            <a:alphaOff val="0"/>
          </a:schemeClr>
        </a:solidFill>
        <a:ln w="15875" cap="rnd" cmpd="sng" algn="ctr">
          <a:solidFill>
            <a:schemeClr val="accent2">
              <a:hueOff val="-8754431"/>
              <a:satOff val="-7900"/>
              <a:lumOff val="-1762"/>
              <a:alphaOff val="0"/>
            </a:schemeClr>
          </a:solidFill>
          <a:prstDash val="solid"/>
        </a:ln>
        <a:effectLst/>
      </dsp:spPr>
      <dsp:style>
        <a:lnRef idx="2">
          <a:scrgbClr r="0" g="0" b="0"/>
        </a:lnRef>
        <a:fillRef idx="1">
          <a:scrgbClr r="0" g="0" b="0"/>
        </a:fillRef>
        <a:effectRef idx="0">
          <a:scrgbClr r="0" g="0" b="0"/>
        </a:effectRef>
        <a:fontRef idx="minor"/>
      </dsp:style>
    </dsp:sp>
    <dsp:sp modelId="{63CDBEE8-0DE1-4817-9CE3-0A80D12014B8}">
      <dsp:nvSpPr>
        <dsp:cNvPr id="0" name=""/>
        <dsp:cNvSpPr/>
      </dsp:nvSpPr>
      <dsp:spPr>
        <a:xfrm>
          <a:off x="309522" y="3298036"/>
          <a:ext cx="4333321" cy="1062720"/>
        </a:xfrm>
        <a:prstGeom prst="roundRect">
          <a:avLst/>
        </a:prstGeom>
        <a:solidFill>
          <a:schemeClr val="accent2">
            <a:hueOff val="-8754431"/>
            <a:satOff val="-7900"/>
            <a:lumOff val="-176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789" tIns="0" rIns="163789" bIns="0" numCol="1" spcCol="1270" anchor="ctr" anchorCtr="0">
          <a:noAutofit/>
        </a:bodyPr>
        <a:lstStyle/>
        <a:p>
          <a:pPr marL="0" lvl="0" indent="0" algn="l" defTabSz="1600200">
            <a:lnSpc>
              <a:spcPct val="90000"/>
            </a:lnSpc>
            <a:spcBef>
              <a:spcPct val="0"/>
            </a:spcBef>
            <a:spcAft>
              <a:spcPct val="35000"/>
            </a:spcAft>
            <a:buNone/>
          </a:pPr>
          <a:r>
            <a:rPr lang="en-US" sz="3600" kern="1200"/>
            <a:t>First Sentences</a:t>
          </a:r>
        </a:p>
      </dsp:txBody>
      <dsp:txXfrm>
        <a:off x="361400" y="3349914"/>
        <a:ext cx="4229565" cy="958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7AE2DC-C955-4DAA-892B-1303D908A107}">
      <dsp:nvSpPr>
        <dsp:cNvPr id="0" name=""/>
        <dsp:cNvSpPr/>
      </dsp:nvSpPr>
      <dsp:spPr>
        <a:xfrm>
          <a:off x="0" y="292733"/>
          <a:ext cx="6190459" cy="1006931"/>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Basically a literature map but formatted as a bulleted list</a:t>
          </a:r>
        </a:p>
      </dsp:txBody>
      <dsp:txXfrm>
        <a:off x="49154" y="341887"/>
        <a:ext cx="6092151" cy="908623"/>
      </dsp:txXfrm>
    </dsp:sp>
    <dsp:sp modelId="{A32DC5B1-8E5F-413B-A2E5-DEC7FA56D82A}">
      <dsp:nvSpPr>
        <dsp:cNvPr id="0" name=""/>
        <dsp:cNvSpPr/>
      </dsp:nvSpPr>
      <dsp:spPr>
        <a:xfrm>
          <a:off x="0" y="1351505"/>
          <a:ext cx="6190459" cy="1006931"/>
        </a:xfrm>
        <a:prstGeom prst="roundRect">
          <a:avLst/>
        </a:prstGeom>
        <a:solidFill>
          <a:schemeClr val="accent2">
            <a:hueOff val="-2918144"/>
            <a:satOff val="-2633"/>
            <a:lumOff val="-58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Should cover all the necessary concepts and theories relevant to your project goal</a:t>
          </a:r>
        </a:p>
      </dsp:txBody>
      <dsp:txXfrm>
        <a:off x="49154" y="1400659"/>
        <a:ext cx="6092151" cy="908623"/>
      </dsp:txXfrm>
    </dsp:sp>
    <dsp:sp modelId="{3025FF8B-DC24-454F-B6F2-F68E0DA8F21B}">
      <dsp:nvSpPr>
        <dsp:cNvPr id="0" name=""/>
        <dsp:cNvSpPr/>
      </dsp:nvSpPr>
      <dsp:spPr>
        <a:xfrm>
          <a:off x="0" y="2410276"/>
          <a:ext cx="6190459" cy="1006931"/>
        </a:xfrm>
        <a:prstGeom prst="roundRect">
          <a:avLst/>
        </a:prstGeom>
        <a:solidFill>
          <a:schemeClr val="accent2">
            <a:hueOff val="-5836287"/>
            <a:satOff val="-5267"/>
            <a:lumOff val="-117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Start from broadest concepts and oldest, most traditional methods/approaches before narrowing the focus and moving to what is unknown/evolving</a:t>
          </a:r>
        </a:p>
      </dsp:txBody>
      <dsp:txXfrm>
        <a:off x="49154" y="2459430"/>
        <a:ext cx="6092151" cy="908623"/>
      </dsp:txXfrm>
    </dsp:sp>
    <dsp:sp modelId="{3BF04ACA-1BB6-460B-8F3D-0082310865B3}">
      <dsp:nvSpPr>
        <dsp:cNvPr id="0" name=""/>
        <dsp:cNvSpPr/>
      </dsp:nvSpPr>
      <dsp:spPr>
        <a:xfrm>
          <a:off x="0" y="3469047"/>
          <a:ext cx="6190459" cy="1006931"/>
        </a:xfrm>
        <a:prstGeom prst="roundRect">
          <a:avLst/>
        </a:prstGeom>
        <a:solidFill>
          <a:schemeClr val="accent2">
            <a:hueOff val="-8754431"/>
            <a:satOff val="-7900"/>
            <a:lumOff val="-176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Generally, should have no more than 2 subheadings per page of text and at least 4 citations under each subheading</a:t>
          </a:r>
        </a:p>
      </dsp:txBody>
      <dsp:txXfrm>
        <a:off x="49154" y="3518201"/>
        <a:ext cx="6092151" cy="90862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58C723-81A9-4F78-99ED-3B73FC8E0929}"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C0AF6-CF0C-4ED5-8327-D98343AD6E36}" type="slidenum">
              <a:rPr lang="en-US" smtClean="0"/>
              <a:t>‹#›</a:t>
            </a:fld>
            <a:endParaRPr lang="en-US"/>
          </a:p>
        </p:txBody>
      </p:sp>
    </p:spTree>
    <p:extLst>
      <p:ext uri="{BB962C8B-B14F-4D97-AF65-F5344CB8AC3E}">
        <p14:creationId xmlns:p14="http://schemas.microsoft.com/office/powerpoint/2010/main" val="3275765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terms of, you know, how do you start building out a literature search and thinking about what you need to look for in order to support the question you're trying to answer or the problem you're trying to solve?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a:t>
            </a:fld>
            <a:endParaRPr lang="en-US"/>
          </a:p>
        </p:txBody>
      </p:sp>
    </p:spTree>
    <p:extLst>
      <p:ext uri="{BB962C8B-B14F-4D97-AF65-F5344CB8AC3E}">
        <p14:creationId xmlns:p14="http://schemas.microsoft.com/office/powerpoint/2010/main" val="3446453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the framework in which you're approaching your question or your problem, because all good research is contextualized within the history of what's already been done because nothing really is new. There's someone who's done something that's relevant that you can build on so you're not kind of starting from scratch and potentially just wasting time redoing what's already been done.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point of this part of the project is to get a better sense of what's already known about your question, your problem that you can start building on to kind of further that knowledge at least a little step now exactly how that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different type of problems there’s different frameworks in terms of the best approaches.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Certain topics, mainly in fields like social science and marketing and finance, have a lot of theoretical frameworks that make very specific predictions and hypotheses between variables. So in those domains, sometimes you can you can start from that theoretical framework.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Like in economics, an example would be like game theory about how people behave in a negotiation.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kind of the more applied practical things like in computer science and  anything that's more on the information side, you might not necessarily have a theoretical framework, but regardless of what you have, what you're doing, you will have at least a methodological framework and an analytic framework. And these kind of work together.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 theoretical framework you may or may not have, because certain fields and certain problem areas just don't necessarily have them as they are more data-driven. </a:t>
            </a:r>
          </a:p>
          <a:p>
            <a:r>
              <a:rPr lang="en-US" sz="1200" kern="1200" dirty="0">
                <a:solidFill>
                  <a:schemeClr val="tx1"/>
                </a:solidFill>
                <a:effectLst/>
                <a:latin typeface="+mn-lt"/>
                <a:ea typeface="+mn-ea"/>
                <a:cs typeface="+mn-cs"/>
              </a:rPr>
              <a:t>The methodological approach is basically how are you going about data collection. How? What's the process that 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use for getting the data in terms of the, the methods or the design?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analytic framework, What are you doing with the data?, What's kind of the output?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at minimum, you'll have those two.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you might not have them until your methods section.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it's a major goal of the work is the analytic process, so you know if you're trying to build better models, better forecasting methods, you might actually spend part of your literature review talking about those methods and kind of the pros and cons of different models or different algorithms.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if you're trying to answer a domain specific question, save all that stuff for the methods for domain specific questions you really want to focus on just the past research of you know, what do we know? What do we not know? How are you adding to the existing kind of either knowledge framework or?</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2</a:t>
            </a:fld>
            <a:endParaRPr lang="en-US"/>
          </a:p>
        </p:txBody>
      </p:sp>
    </p:spTree>
    <p:extLst>
      <p:ext uri="{BB962C8B-B14F-4D97-AF65-F5344CB8AC3E}">
        <p14:creationId xmlns:p14="http://schemas.microsoft.com/office/powerpoint/2010/main" val="1625163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other thing you may or may not have, this is more for those of you in that proposing machine learning or AI problems for a lot of those, there's going to be some model or some solution that already exists.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these you want to compare your approach, maybe you're trying it with different data or trying it with different a different model or you know, fine tuning a model. Whatever it is you want to be able to, you need to be able to compare your solution to existing solutions.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as you define your problem and kind of figure out exactly what your methodological approach is, you want to figure out you know, what's the baseline, what's the best performance for this task for the specific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for certain kind of big generic task, there are going to be benchmark data sets especially in the realm of AI, image classification, text classification, question answering, facial recognition, anything like that, where it's kind of a generic problem that applies to a lot of different domains that you know involves complex algorithms.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existing established datasets that basically anyone working on that problem. They use those data sets to see how good their new algorithm, their new model is and that's the standard.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if you're working on a more kind of domain specific problem where it's kind of only relevant to certain people then you might not necessarily have a benchmark data set to work from, but there will be recorded metrics, the best performance given this data, this set of predictors and outcomes.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in that case, you want to discuss in your literature search, you know what are the common metrics used and what's the best performance and the kind of average performance that gives you a sense of what you need to do better.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not to say that if you pick a problem where current best performing models 80% accurate and in the end, you can only get a model that's 60% accurate that doesn't mean you failed. That just means you learn something that didn't work and that is still valuable despite what other people might say.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don't think of this as you have to do better than that benchmark, that's just there so that you can properly interpret and contextualize your findings, even if you do worse.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your contribution is this is something people shouldn't try anymore, because that's actually a very common problem. Historically in psychology is people would only publish significant findings and all the non significant things just kind of got pushed aside and that led to a lot of wasted time and resources of people repeatedly trying the same things which I thought no one else had done yet, but they had.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just didn't weren't able to publish it, so it's still useful to show when things don't 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you do want to be able to interpret that in the context of what does.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a few of you had ideas that are more on the exploratory or descriptive side, so just trying to see what the state of something is or kind of what trends are and that's fine those won’t necessarily have concrete benchmarks, but you should be able to, at least qualitatively.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Discuss what is known about those trends. What's the current kind of thinking around your topic?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think someone proposed something around.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what are the trends in AI and what are people talking?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About in that area? Well, that's obviously kind of newer </a:t>
            </a:r>
            <a:r>
              <a:rPr lang="en-US" sz="1200" kern="1200" dirty="0" err="1">
                <a:solidFill>
                  <a:schemeClr val="tx1"/>
                </a:solidFill>
                <a:effectLst/>
                <a:latin typeface="+mn-lt"/>
                <a:ea typeface="+mn-ea"/>
                <a:cs typeface="+mn-cs"/>
              </a:rPr>
              <a:t>ish</a:t>
            </a:r>
            <a:r>
              <a:rPr lang="en-US" sz="1200" kern="1200" dirty="0">
                <a:solidFill>
                  <a:schemeClr val="tx1"/>
                </a:solidFill>
                <a:effectLst/>
                <a:latin typeface="+mn-lt"/>
                <a:ea typeface="+mn-ea"/>
                <a:cs typeface="+mn-cs"/>
              </a:rPr>
              <a:t>, at least in its current iteration.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there might not be as much, you know, work out there looking at these types of trends, but there's going to be something that'll, you know, allow you to maybe talk about.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bigger issue like instead of maybe trends in AI, there might be some work that shows trends and say computer science, which come a broader domain.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you might find stuff that's a bit more specific.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trends in large language models.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 can't find anything that's really kind of using exactly the same terminology and the exactly the same concepts you are, think about how you might make it a little broader or a little bit more narrow to kind of expand what's out there.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3</a:t>
            </a:fld>
            <a:endParaRPr lang="en-US"/>
          </a:p>
        </p:txBody>
      </p:sp>
    </p:spTree>
    <p:extLst>
      <p:ext uri="{BB962C8B-B14F-4D97-AF65-F5344CB8AC3E}">
        <p14:creationId xmlns:p14="http://schemas.microsoft.com/office/powerpoint/2010/main" val="2346038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in terms of how do you figure out, you know, what are the frameworks, what are the benchmarks you're working with?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where the literature search comes in.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to do that, there's kind of the way I showed you on Google Scholar.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try a few different search terms, a few different keywords that are relevant to your topic and kind of see what's out there. Remember to.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At least once you get a little farther in process to try to limit.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the last five to 10 years of work, you don't want to go too far back because it's probably a little updated.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 also ask one of the large language models like ChatGPT. It sometimes gives good recommendations.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 always. Sometimes it's garbage and it still hallucinates and makes obvious errors.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that might be another place to start if you're having trouble with the keywords and then look at the reference sections decided by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That'll help you start expanding us.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Make sure that your mainly getting peer reviewed or scholarly sources.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should be work that's in the traditional research article format with an introduction some related 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Methods results discussion if you might find some kind of more review or overview papers which aren't necessarily going to have original data, but maybe just kind of summarize the state of a field, that's fine. You can have one or two of those, but you mainly do want to be referencing and citing empirical kind of scholarly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 can include like white papers like some of the technical reports that a lot of the tech companies put out but no blog posts, no news articles, no kind of informal web pages, those can sometimes be good in like the introduction to kind of just give some examples of a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can be useful in kind of building your technical skills, but they should not go into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you're looking to get at this point around 10 to 20 sources.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Once you have 10 to 20, that's usually enough to at least start, and then you might have to go find some more to fill in blanks as you realize.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4</a:t>
            </a:fld>
            <a:endParaRPr lang="en-US"/>
          </a:p>
        </p:txBody>
      </p:sp>
    </p:spTree>
    <p:extLst>
      <p:ext uri="{BB962C8B-B14F-4D97-AF65-F5344CB8AC3E}">
        <p14:creationId xmlns:p14="http://schemas.microsoft.com/office/powerpoint/2010/main" val="4287434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talk about the purpose of a literature review as this is sometimes unclear. From what you're reading, so you'll notice as you're reading especially good readable research articles that the literature review has a narrative to it. It's not just summarizing past work. It's really synthesizing, integrating the past work into what the researchers are proposing with their 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meant to relate your work to you have the ongoing discussion of that topic within the field, to give that context as well as to provide a framework and benchmarks for supporting and strengthening your approach to the research question and the question itself.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it's a way to kind of have a foundation for later comparison. So once you are able to get the data, analyze the data, draw to some conclusions, those conclusions need to relate back to what's already been done. You need to show, you know, specifically what are you adding on to what wasn't known before.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did you find something that conflicts with kind of what's known in the field?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all of this is meant to both set up the problem and provide kind of a logical argument for your approach to the question and a foundation for later contextualization of your results. Once you get that far.</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5</a:t>
            </a:fld>
            <a:endParaRPr lang="en-US"/>
          </a:p>
        </p:txBody>
      </p:sp>
    </p:spTree>
    <p:extLst>
      <p:ext uri="{BB962C8B-B14F-4D97-AF65-F5344CB8AC3E}">
        <p14:creationId xmlns:p14="http://schemas.microsoft.com/office/powerpoint/2010/main" val="3885998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literature search should be basically kind of a logical argument that connects your general problem statement in the introduction to your specific research questions and how you're going to answer them.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should show how you know this topic has been studied this, this and this way but this is a variable that hasn't really had much attention or you know these models are all built on this data set, which maybe is old or you know, maybe unrepresentative and so this is how, why it's important to look at this using, you know, maybe a new data set.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While most of your literature review will be citing and talking about past work, you should also within the literature review show how your research integrates with that. For everything that you cite, why are you citing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does it relate to your proposed method? Your proposed design that way that you can see throughout?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not just kind of a </a:t>
            </a:r>
            <a:r>
              <a:rPr lang="en-US" sz="1200" kern="1200" dirty="0" err="1">
                <a:solidFill>
                  <a:schemeClr val="tx1"/>
                </a:solidFill>
                <a:effectLst/>
                <a:latin typeface="+mn-lt"/>
                <a:ea typeface="+mn-ea"/>
                <a:cs typeface="+mn-cs"/>
              </a:rPr>
              <a:t>a</a:t>
            </a:r>
            <a:r>
              <a:rPr lang="en-US" sz="1200" kern="1200" dirty="0">
                <a:solidFill>
                  <a:schemeClr val="tx1"/>
                </a:solidFill>
                <a:effectLst/>
                <a:latin typeface="+mn-lt"/>
                <a:ea typeface="+mn-ea"/>
                <a:cs typeface="+mn-cs"/>
              </a:rPr>
              <a:t> recitation of summaries. But it is showing you know the compare and contrast on most of past work with current 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also important that this is organized and has a logical flow that flows from the general goal to the specific research questions. Generally, the way you do that is by starting broad.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the history?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the main concepts?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the theoretical framework?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Everything kind of fits into, so you start with those kind of </a:t>
            </a:r>
            <a:r>
              <a:rPr lang="en-US" sz="1200" kern="1200" dirty="0" err="1">
                <a:solidFill>
                  <a:schemeClr val="tx1"/>
                </a:solidFill>
                <a:effectLst/>
                <a:latin typeface="+mn-lt"/>
                <a:ea typeface="+mn-ea"/>
                <a:cs typeface="+mn-cs"/>
              </a:rPr>
              <a:t>broad.big</a:t>
            </a:r>
            <a:r>
              <a:rPr lang="en-US" sz="1200" kern="1200" dirty="0">
                <a:solidFill>
                  <a:schemeClr val="tx1"/>
                </a:solidFill>
                <a:effectLst/>
                <a:latin typeface="+mn-lt"/>
                <a:ea typeface="+mn-ea"/>
                <a:cs typeface="+mn-cs"/>
              </a:rPr>
              <a:t> ideas and you gradually move narrower and narrower to more and more specific work until you get to your specific questions and design.</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6</a:t>
            </a:fld>
            <a:endParaRPr lang="en-US"/>
          </a:p>
        </p:txBody>
      </p:sp>
    </p:spTree>
    <p:extLst>
      <p:ext uri="{BB962C8B-B14F-4D97-AF65-F5344CB8AC3E}">
        <p14:creationId xmlns:p14="http://schemas.microsoft.com/office/powerpoint/2010/main" val="3864088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what it is not.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not a series of summaries.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don't want a paragraph 10 paragraphs that are each just a summary of something in your reference section. That's not a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very boring to read and doesn't really accomplish any of the goals of what a literature should be.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know, for certain sources you have, it might be summarized in a sentence and it might not even be a full sentence.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you might have three sources that all say the same thing and they are all three of those represented by a single sentence. You'll notice this in some of the kind of more comprehensive papers you might read.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it's not uncommon to have multiple citations at the end of a sentence because you're trying to show what is the things that everyone seems to agree on that, across studies, this is something that researchers know and then maybe these are things which this guy says one thing this article says another 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that's maybe an open question and where your work fits in.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don't want to go in detail.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it's not an annotated bibliography where you're just giving the full summary of every source.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should be concise.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Should not include details on that don't support what you're doing. </a:t>
            </a:r>
          </a:p>
          <a:p>
            <a:r>
              <a:rPr lang="en-US" sz="1200" kern="1200" dirty="0">
                <a:solidFill>
                  <a:schemeClr val="tx1"/>
                </a:solidFill>
                <a:effectLst/>
                <a:latin typeface="+mn-lt"/>
                <a:ea typeface="+mn-ea"/>
                <a:cs typeface="+mn-cs"/>
              </a:rPr>
              <a:t>It's not a data dump of whatever you read. You throw in there. Every source needs to be relevant to what the problem is and what your approach to that problem.</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7</a:t>
            </a:fld>
            <a:endParaRPr lang="en-US"/>
          </a:p>
        </p:txBody>
      </p:sp>
    </p:spTree>
    <p:extLst>
      <p:ext uri="{BB962C8B-B14F-4D97-AF65-F5344CB8AC3E}">
        <p14:creationId xmlns:p14="http://schemas.microsoft.com/office/powerpoint/2010/main" val="1383969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Zotero</a:t>
            </a:r>
          </a:p>
        </p:txBody>
      </p:sp>
      <p:sp>
        <p:nvSpPr>
          <p:cNvPr id="4" name="Slide Number Placeholder 3"/>
          <p:cNvSpPr>
            <a:spLocks noGrp="1"/>
          </p:cNvSpPr>
          <p:nvPr>
            <p:ph type="sldNum" sz="quarter" idx="5"/>
          </p:nvPr>
        </p:nvSpPr>
        <p:spPr/>
        <p:txBody>
          <a:bodyPr/>
          <a:lstStyle/>
          <a:p>
            <a:fld id="{969C0AF6-CF0C-4ED5-8327-D98343AD6E36}" type="slidenum">
              <a:rPr lang="en-US" smtClean="0"/>
              <a:t>8</a:t>
            </a:fld>
            <a:endParaRPr lang="en-US"/>
          </a:p>
        </p:txBody>
      </p:sp>
    </p:spTree>
    <p:extLst>
      <p:ext uri="{BB962C8B-B14F-4D97-AF65-F5344CB8AC3E}">
        <p14:creationId xmlns:p14="http://schemas.microsoft.com/office/powerpoint/2010/main" val="1804124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once you have source and you're ready to start writing, the first step is to outline.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wouldn't just jump into writing of the full literature review immediately. </a:t>
            </a:r>
          </a:p>
          <a:p>
            <a:r>
              <a:rPr lang="en-US" sz="1200" kern="1200" dirty="0">
                <a:solidFill>
                  <a:schemeClr val="tx1"/>
                </a:solidFill>
                <a:effectLst/>
                <a:latin typeface="+mn-lt"/>
                <a:ea typeface="+mn-ea"/>
                <a:cs typeface="+mn-cs"/>
              </a:rPr>
              <a:t>You want to make sure you have your intro done so you kind of understand where you're starting and you want to have your research questions.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would actually once you get to the step, start a new document that has your introduction and then has your research questions at the end.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you're filling in the middle.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do you get from that broad introduction to those specific research questions?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there's several different ways that you might outline.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None of these are necessarily better than the 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really just kind of depends on how you best think about ideas and concepts.</a:t>
            </a: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9</a:t>
            </a:fld>
            <a:endParaRPr lang="en-US"/>
          </a:p>
        </p:txBody>
      </p:sp>
    </p:spTree>
    <p:extLst>
      <p:ext uri="{BB962C8B-B14F-4D97-AF65-F5344CB8AC3E}">
        <p14:creationId xmlns:p14="http://schemas.microsoft.com/office/powerpoint/2010/main" val="2559047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those who are kind of visual people, visual learners, you might consider doing literature maps, which is basically just a diagram of how you can kind of link the important concepts and constructs.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Maybe fit things within an overarching framework.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might see in some of the articles that you're reading, they might have figures that kind of outline what a concept look like. What factors, what concepts go within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it'll be dependent on what it is you're doing, and there's plenty of examples and templates of this online.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10</a:t>
            </a:fld>
            <a:endParaRPr lang="en-US"/>
          </a:p>
        </p:txBody>
      </p:sp>
    </p:spTree>
    <p:extLst>
      <p:ext uri="{BB962C8B-B14F-4D97-AF65-F5344CB8AC3E}">
        <p14:creationId xmlns:p14="http://schemas.microsoft.com/office/powerpoint/2010/main" val="353387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just one you know you start from your big topic and you </a:t>
            </a:r>
            <a:r>
              <a:rPr lang="en-US" sz="1200" kern="1200" dirty="0" err="1">
                <a:solidFill>
                  <a:schemeClr val="tx1"/>
                </a:solidFill>
                <a:effectLst/>
                <a:latin typeface="+mn-lt"/>
                <a:ea typeface="+mn-ea"/>
                <a:cs typeface="+mn-cs"/>
              </a:rPr>
              <a:t>kinda</a:t>
            </a:r>
            <a:r>
              <a:rPr lang="en-US" sz="1200" kern="1200" dirty="0">
                <a:solidFill>
                  <a:schemeClr val="tx1"/>
                </a:solidFill>
                <a:effectLst/>
                <a:latin typeface="+mn-lt"/>
                <a:ea typeface="+mn-ea"/>
                <a:cs typeface="+mn-cs"/>
              </a:rPr>
              <a:t> break it down into the smaller and smaller pieces so you know if your research is on managing it in New Zealand, you know that has several kind of subcomponents to it and within those.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Subcomponents. There's even more like for commerce, there's e-commerce and project management and something else I can't see there. And for each of these, you would have the sources that you would be.</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 use tags in Zotero to tag all your articles that are about commerce and so they would go on one of the subtopics there, all the ones about resource management, go there etcetera, etcetera.</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11</a:t>
            </a:fld>
            <a:endParaRPr lang="en-US"/>
          </a:p>
        </p:txBody>
      </p:sp>
    </p:spTree>
    <p:extLst>
      <p:ext uri="{BB962C8B-B14F-4D97-AF65-F5344CB8AC3E}">
        <p14:creationId xmlns:p14="http://schemas.microsoft.com/office/powerpoint/2010/main" val="934843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one that I think most people though, find the most useful is just be doing this by subheadings because it's basically the same thing as a literature map, it's just formatted kind of as a list and kind of is much easier to weave into the overall paper.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your paper is going to have subheadings so the key here is just making sure that you're covering the necessary concepts and theories relevant to your goal and to your questions.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you're doing them in an order that makes sense.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again, you want to go from the broadest concepts or like the oldest, the kind of foundations of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topic to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Narrow to you know what's unknown.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evolving?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controversies?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should start out big ideas end up very specific.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would say that for each page of your literature review, no more than two subheadings per page. It might even only be one.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no more than two subheadings per page and for each subheading it should have at least 4 citations. If you have a subheading and only a single citation in that section, you haven't fleshed that out enough.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need to show more than a single citation, a single source to support.</a:t>
            </a: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12</a:t>
            </a:fld>
            <a:endParaRPr lang="en-US"/>
          </a:p>
        </p:txBody>
      </p:sp>
    </p:spTree>
    <p:extLst>
      <p:ext uri="{BB962C8B-B14F-4D97-AF65-F5344CB8AC3E}">
        <p14:creationId xmlns:p14="http://schemas.microsoft.com/office/powerpoint/2010/main" val="3800785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this just an example of what this looks like.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another way that you might consider organizing sources as you find them, because you can kind of build this outline.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Before you've gotten really far into the literature search, you might read, you know one or two overview articles that give you a sense of what are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concepts, how are, how are things generally broken down.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Use that to get at least a first draft of this going, and then as you find new articles, just add their citations in this this framework. So you kind of have a sense of what subheadings are you getting good coverage for? What might you need to keep adding to, etc.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the one like I said, most people find this kind the most accessible, the most useful.</a:t>
            </a:r>
            <a:br>
              <a:rPr lang="en-US" sz="120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13</a:t>
            </a:fld>
            <a:endParaRPr lang="en-US"/>
          </a:p>
        </p:txBody>
      </p:sp>
    </p:spTree>
    <p:extLst>
      <p:ext uri="{BB962C8B-B14F-4D97-AF65-F5344CB8AC3E}">
        <p14:creationId xmlns:p14="http://schemas.microsoft.com/office/powerpoint/2010/main" val="3998266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one other though. This is my preference.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that is to write the first sentence of every paragraph that's going in your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useful because it allows you to really see the literature review as a logical argument that connects all the existing work on your topic. You know, moving from the general goal statement to your specific approach to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this means that rather than just outline the concepts you need to discuss so you know rather than just having subheadings for all the variables or all the relationships, it really makes you think about what are the assumptions you're making about the data about the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can you support those assumptions, those ideas?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what is needed in order for your research question your hypothesis to make sense. What are the premises that they hinge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ideas do you need to support in order for your research question to be logically supported?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this it this is a much harder kind of thing to approach sometimes if you're not super familiar with writing literature reviews or not super familiar with your topic area.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might be a bit of a too much of a challenge, but if you have a decent sense of the domain you're working in and what the important concepts are, this can lead to a much more coherent and logical flow to your literature view that is concise.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this is an example of what this might look like, taken from a paper of mine.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14</a:t>
            </a:fld>
            <a:endParaRPr lang="en-US"/>
          </a:p>
        </p:txBody>
      </p:sp>
    </p:spTree>
    <p:extLst>
      <p:ext uri="{BB962C8B-B14F-4D97-AF65-F5344CB8AC3E}">
        <p14:creationId xmlns:p14="http://schemas.microsoft.com/office/powerpoint/2010/main" val="863338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in this this particular research project I did when I was doing my PhD and it was.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founding idea was it was just after the 2016 election and stuff had gotten weird, and so all the political talking heads on each side were trying to figure out what </a:t>
            </a:r>
            <a:r>
              <a:rPr lang="en-US" sz="1200" kern="1200" dirty="0" err="1">
                <a:solidFill>
                  <a:schemeClr val="tx1"/>
                </a:solidFill>
                <a:effectLst/>
                <a:latin typeface="+mn-lt"/>
                <a:ea typeface="+mn-ea"/>
                <a:cs typeface="+mn-cs"/>
              </a:rPr>
              <a:t>what</a:t>
            </a:r>
            <a:r>
              <a:rPr lang="en-US" sz="1200" kern="1200" dirty="0">
                <a:solidFill>
                  <a:schemeClr val="tx1"/>
                </a:solidFill>
                <a:effectLst/>
                <a:latin typeface="+mn-lt"/>
                <a:ea typeface="+mn-ea"/>
                <a:cs typeface="+mn-cs"/>
              </a:rPr>
              <a:t> happened.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all of them were saying, you know, this is completely unprecedented.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He's very different than any other president.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we decided to test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he actually different in some key ways?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 was a starting kind of premise. And then from there, trying to narrow down to, OK.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why do they think he's different?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that led to the next two things, one being that he was simple and direct and another being the his self-confidence.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know, giving examples of those two things, citing sources about,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relationship between simple words and political popularity and confidence and popularity building from there on. Moving beyond this specific example to how do people study political leadership traits?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do you quantify some of these things like simplicity and confidence?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language all the way down to the specific measures we used for.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two.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Ideas 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they were supported by past research getting into the purpose of this particular </a:t>
            </a:r>
            <a:r>
              <a:rPr lang="en-US" sz="1200" kern="1200" dirty="0" err="1">
                <a:solidFill>
                  <a:schemeClr val="tx1"/>
                </a:solidFill>
                <a:effectLst/>
                <a:latin typeface="+mn-lt"/>
                <a:ea typeface="+mn-ea"/>
                <a:cs typeface="+mn-cs"/>
              </a:rPr>
              <a:t>onwatch</a:t>
            </a:r>
            <a:r>
              <a:rPr lang="en-US" sz="1200" kern="1200" dirty="0">
                <a:solidFill>
                  <a:schemeClr val="tx1"/>
                </a:solidFill>
                <a:effectLst/>
                <a:latin typeface="+mn-lt"/>
                <a:ea typeface="+mn-ea"/>
                <a:cs typeface="+mn-cs"/>
              </a:rPr>
              <a:t> was OK.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he's so different, then he should stand out on a trend line. If we look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Politician language across decades of time.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just a example of how you might.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Kind of outline the first sentences. This is another like if you want to quickly get a sense.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Of a research paper, and it has especially the ones with really long literature reviews or related work sections.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read the first sentence of every paragraph in the lay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should give you a decent sense of what their main argument is and what their what assumptions and premises they're building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questions on outlining what reviews.</a:t>
            </a: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15</a:t>
            </a:fld>
            <a:endParaRPr lang="en-US"/>
          </a:p>
        </p:txBody>
      </p:sp>
    </p:spTree>
    <p:extLst>
      <p:ext uri="{BB962C8B-B14F-4D97-AF65-F5344CB8AC3E}">
        <p14:creationId xmlns:p14="http://schemas.microsoft.com/office/powerpoint/2010/main" val="3863277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just some kind of final advice.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thing is read critically.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While the whole point of peer review in research is meant to weed out bad research and make sure that what gets published is good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practice, that's just not how it works, so sometimes you get really bad stuff that gets published and sometimes you have good stuff that you can't get published.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because it's published don't just automatically assume it's right. Be skeptical, really kind of evaluate does what they're saying makes sense.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Did they really get the right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it representative?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some maybe holes and flaws in their arguments?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also don't get bogged down in the details if it's really technical.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Unless you're building, you know, doing new math, you don't necessarily need to understand every little nitty gritty technical detail, as long as you get the general logic of what they were doing and what the method is, that's sufficient. That's what's important.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keep short summaries, write notes about your sources.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After you read a research article, I do recommend you know, try to write a single sentence summarizing what's important about this.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what is the main conclusion.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also make notes on things you might pull in to your literature review like maybe they mention a theoretical framework you want to go back and add or maybe they mention a </a:t>
            </a:r>
            <a:r>
              <a:rPr lang="en-US" sz="1200" kern="1200" dirty="0" err="1">
                <a:solidFill>
                  <a:schemeClr val="tx1"/>
                </a:solidFill>
                <a:effectLst/>
                <a:latin typeface="+mn-lt"/>
                <a:ea typeface="+mn-ea"/>
                <a:cs typeface="+mn-cs"/>
              </a:rPr>
              <a:t>specificquantification</a:t>
            </a:r>
            <a:r>
              <a:rPr lang="en-US" sz="1200" kern="1200" dirty="0">
                <a:solidFill>
                  <a:schemeClr val="tx1"/>
                </a:solidFill>
                <a:effectLst/>
                <a:latin typeface="+mn-lt"/>
                <a:ea typeface="+mn-ea"/>
                <a:cs typeface="+mn-cs"/>
              </a:rPr>
              <a:t> of a variable that you want to use in your method.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Are a specific data source that you want to use are you know if it's a predictive models, make notes of the benchmarks.  What level of accuracy are we talking about? Are there other metrics that matter? Like for some problems, specificity or sensitivity might mean more might be more import than just the straight accuracy.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the little notes like that, that'll help you kind of build the comparison for later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keep your goal in mind. Make sure that what you're reading actually is relevant to what your project you're trying to develop.</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because you read it doesn't mean you have to include it in your final reference list.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you read stuff that is like, that's interesting, but at the end it's not relevant.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don't be afraid to discard things that don't maybe make sense.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Like I said before, you know if you can find multiple citations and all support your main points, that's great. Especially in those first few paragraphs of your lit review. You know, establishing a what does everyone agree on what does?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relationships the concepts, the conclusions that all researchers seem to mainly get on board with?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you can start getting into the controversies.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Focus on big picture, not small.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Details matter more for the methods and the analysis later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yeah, don't get you don't have to extensively explain the technical components.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Based on all the ideas I read in your assignments, I don't think any of you need to have any sort of mathematical formulas in your papers.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cite who came up with the model you're using, who came up with the algorithm you're using?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don't need to rehash their paper.. If people care about the math, care about the technical details, they can go read the original paper that you know built that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just focus on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Why is the model you're talking about relevant to your 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Why does it make the most sense to approach the problem using this analytical approach or this methodological approach?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make it relevant </a:t>
            </a:r>
            <a:r>
              <a:rPr lang="en-US" sz="1200" kern="1200">
                <a:solidFill>
                  <a:schemeClr val="tx1"/>
                </a:solidFill>
                <a:effectLst/>
                <a:latin typeface="+mn-lt"/>
                <a:ea typeface="+mn-ea"/>
                <a:cs typeface="+mn-cs"/>
              </a:rPr>
              <a:t>to your </a:t>
            </a:r>
            <a:r>
              <a:rPr lang="en-US" sz="1200" kern="1200" dirty="0">
                <a:solidFill>
                  <a:schemeClr val="tx1"/>
                </a:solidFill>
                <a:effectLst/>
                <a:latin typeface="+mn-lt"/>
                <a:ea typeface="+mn-ea"/>
                <a:cs typeface="+mn-cs"/>
              </a:rPr>
              <a:t>research, not just kind of going on and on about the method itself.</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69C0AF6-CF0C-4ED5-8327-D98343AD6E36}" type="slidenum">
              <a:rPr lang="en-US" smtClean="0"/>
              <a:t>16</a:t>
            </a:fld>
            <a:endParaRPr lang="en-US"/>
          </a:p>
        </p:txBody>
      </p:sp>
    </p:spTree>
    <p:extLst>
      <p:ext uri="{BB962C8B-B14F-4D97-AF65-F5344CB8AC3E}">
        <p14:creationId xmlns:p14="http://schemas.microsoft.com/office/powerpoint/2010/main" val="2193644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396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79433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656518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61842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A8AE8F-8CA9-4781-8AD5-930643EC1E07}"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4166856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A8AE8F-8CA9-4781-8AD5-930643EC1E07}"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722952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A8AE8F-8CA9-4781-8AD5-930643EC1E07}"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107854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4247556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22813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A0A8AE8F-8CA9-4781-8AD5-930643EC1E07}"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380046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612427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454279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4046326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244031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38473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0669232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134122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A0A8AE8F-8CA9-4781-8AD5-930643EC1E07}" type="datetimeFigureOut">
              <a:rPr lang="en-US" smtClean="0"/>
              <a:t>11/12/2025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A7089E74-86C1-4F27-BFC9-124115DEE681}" type="slidenum">
              <a:rPr lang="en-US" smtClean="0"/>
              <a:t>‹#›</a:t>
            </a:fld>
            <a:endParaRPr lang="en-US"/>
          </a:p>
        </p:txBody>
      </p:sp>
    </p:spTree>
    <p:extLst>
      <p:ext uri="{BB962C8B-B14F-4D97-AF65-F5344CB8AC3E}">
        <p14:creationId xmlns:p14="http://schemas.microsoft.com/office/powerpoint/2010/main" val="2214437803"/>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zotero.or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s://library.harrisburgu.edu/c.php?g=1467530&amp;p=10918281" TargetMode="Externa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google.com/search?q=literature+map+examples&amp;tbm=isch&amp;chips=q:literature+map+examples,online_chips:template:_F0Z8OHgX24%3D&amp;hl=en&amp;sa=X&amp;ved=2ahUKEwj5oJqu8_bwAhXNh-AKHZYzDMcQ4lYoBnoECAEQJQ&amp;biw=1519&amp;bih=754"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2D7C63-562A-41C7-892E-0C73F5D59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16738" y="685799"/>
            <a:ext cx="6159273" cy="2971801"/>
          </a:xfrm>
        </p:spPr>
        <p:txBody>
          <a:bodyPr>
            <a:normAutofit/>
          </a:bodyPr>
          <a:lstStyle/>
          <a:p>
            <a:pPr marL="0" lvl="0" indent="0">
              <a:buNone/>
            </a:pPr>
            <a:r>
              <a:rPr lang="en-US" dirty="0"/>
              <a:t>Finding Frameworks and Benchmarks</a:t>
            </a:r>
          </a:p>
        </p:txBody>
      </p:sp>
      <p:sp>
        <p:nvSpPr>
          <p:cNvPr id="5" name="Subtitle 4">
            <a:extLst>
              <a:ext uri="{FF2B5EF4-FFF2-40B4-BE49-F238E27FC236}">
                <a16:creationId xmlns:a16="http://schemas.microsoft.com/office/drawing/2014/main" id="{D5D153E0-CCDC-3821-BB3F-0DC54DE134A7}"/>
              </a:ext>
            </a:extLst>
          </p:cNvPr>
          <p:cNvSpPr>
            <a:spLocks noGrp="1"/>
          </p:cNvSpPr>
          <p:nvPr>
            <p:ph type="subTitle" idx="1"/>
          </p:nvPr>
        </p:nvSpPr>
        <p:spPr>
          <a:xfrm>
            <a:off x="5115456" y="3843867"/>
            <a:ext cx="6167930" cy="1947333"/>
          </a:xfrm>
        </p:spPr>
        <p:txBody>
          <a:bodyPr>
            <a:normAutofit/>
          </a:bodyPr>
          <a:lstStyle/>
          <a:p>
            <a:r>
              <a:rPr lang="en-US"/>
              <a:t>GRAD 695</a:t>
            </a:r>
          </a:p>
        </p:txBody>
      </p:sp>
      <p:pic>
        <p:nvPicPr>
          <p:cNvPr id="7" name="Picture 6" descr="Person pointing on a map">
            <a:extLst>
              <a:ext uri="{FF2B5EF4-FFF2-40B4-BE49-F238E27FC236}">
                <a16:creationId xmlns:a16="http://schemas.microsoft.com/office/drawing/2014/main" id="{989AB5B9-A96F-C29F-0BF9-345B8D9D7CAA}"/>
              </a:ext>
            </a:extLst>
          </p:cNvPr>
          <p:cNvPicPr>
            <a:picLocks noChangeAspect="1"/>
          </p:cNvPicPr>
          <p:nvPr/>
        </p:nvPicPr>
        <p:blipFill>
          <a:blip r:embed="rId3"/>
          <a:srcRect l="21615" r="33225" b="-1"/>
          <a:stretch>
            <a:fillRect/>
          </a:stretch>
        </p:blipFill>
        <p:spPr>
          <a:xfrm>
            <a:off x="20" y="10"/>
            <a:ext cx="4639713" cy="6857990"/>
          </a:xfrm>
          <a:prstGeom prst="rect">
            <a:avLst/>
          </a:prstGeom>
          <a:effectLst>
            <a:innerShdw blurRad="57150" dist="38100" dir="14460000">
              <a:prstClr val="black">
                <a:alpha val="70000"/>
              </a:prstClr>
            </a:innerShdw>
          </a:effectLst>
        </p:spPr>
      </p:pic>
      <p:grpSp>
        <p:nvGrpSpPr>
          <p:cNvPr id="14" name="Group 13">
            <a:extLst>
              <a:ext uri="{FF2B5EF4-FFF2-40B4-BE49-F238E27FC236}">
                <a16:creationId xmlns:a16="http://schemas.microsoft.com/office/drawing/2014/main" id="{6DF25E23-BE15-4E36-A700-59F0CE8C54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5" name="Straight Connector 14">
              <a:extLst>
                <a:ext uri="{FF2B5EF4-FFF2-40B4-BE49-F238E27FC236}">
                  <a16:creationId xmlns:a16="http://schemas.microsoft.com/office/drawing/2014/main" id="{2CE9353A-F333-4305-BED0-D126D75F5D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5D1D327-6D34-4AB1-BBCB-FFD18B927B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3D4CCB5-F27F-4868-B1D4-55D8654F07D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5F00F96-8833-4C32-AD31-05286BC800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22EE3D4-FE2C-4B01-BC8C-3CE2C6CC11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C62228-12B6-C3CF-ABA7-1A8EB00C4302}"/>
              </a:ext>
            </a:extLst>
          </p:cNvPr>
          <p:cNvSpPr>
            <a:spLocks noGrp="1"/>
          </p:cNvSpPr>
          <p:nvPr>
            <p:ph type="title"/>
          </p:nvPr>
        </p:nvSpPr>
        <p:spPr>
          <a:xfrm>
            <a:off x="684212" y="685799"/>
            <a:ext cx="3747111" cy="4892040"/>
          </a:xfrm>
        </p:spPr>
        <p:txBody>
          <a:bodyPr>
            <a:normAutofit/>
          </a:bodyPr>
          <a:lstStyle/>
          <a:p>
            <a:pPr algn="r"/>
            <a:r>
              <a:rPr lang="en-US" dirty="0"/>
              <a:t>Frameworks</a:t>
            </a:r>
            <a:endParaRPr lang="en-US"/>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F942F4F-AB95-8896-F4E0-B96B4F34E594}"/>
              </a:ext>
            </a:extLst>
          </p:cNvPr>
          <p:cNvSpPr>
            <a:spLocks noGrp="1"/>
          </p:cNvSpPr>
          <p:nvPr>
            <p:ph idx="1"/>
          </p:nvPr>
        </p:nvSpPr>
        <p:spPr>
          <a:xfrm>
            <a:off x="4979961" y="304800"/>
            <a:ext cx="6983433" cy="6183085"/>
          </a:xfrm>
        </p:spPr>
        <p:txBody>
          <a:bodyPr>
            <a:normAutofit fontScale="92500"/>
          </a:bodyPr>
          <a:lstStyle/>
          <a:p>
            <a:pPr>
              <a:buFont typeface="Arial" panose="020B0604020202020204" pitchFamily="34" charset="0"/>
              <a:buChar char="•"/>
            </a:pPr>
            <a:r>
              <a:rPr lang="en-US" sz="2800" dirty="0">
                <a:solidFill>
                  <a:schemeClr val="tx1"/>
                </a:solidFill>
              </a:rPr>
              <a:t>Good research is contextualized within the history of what has been done</a:t>
            </a:r>
          </a:p>
          <a:p>
            <a:pPr>
              <a:buFont typeface="Arial" panose="020B0604020202020204" pitchFamily="34" charset="0"/>
              <a:buChar char="•"/>
            </a:pPr>
            <a:r>
              <a:rPr lang="en-US" sz="2800" dirty="0">
                <a:solidFill>
                  <a:schemeClr val="tx1"/>
                </a:solidFill>
              </a:rPr>
              <a:t>For different types of problems, frameworks exist for the best (or at least common) approaches</a:t>
            </a:r>
          </a:p>
          <a:p>
            <a:pPr>
              <a:buFont typeface="Arial" panose="020B0604020202020204" pitchFamily="34" charset="0"/>
              <a:buChar char="•"/>
            </a:pPr>
            <a:r>
              <a:rPr lang="en-US" sz="2800" dirty="0">
                <a:solidFill>
                  <a:schemeClr val="tx1"/>
                </a:solidFill>
              </a:rPr>
              <a:t>Types of Frameworks:</a:t>
            </a:r>
          </a:p>
          <a:p>
            <a:pPr lvl="1">
              <a:buFont typeface="Arial" panose="020B0604020202020204" pitchFamily="34" charset="0"/>
              <a:buChar char="•"/>
            </a:pPr>
            <a:r>
              <a:rPr lang="en-US" sz="2400" dirty="0">
                <a:solidFill>
                  <a:schemeClr val="tx1"/>
                </a:solidFill>
              </a:rPr>
              <a:t>Analytic such as Predictive Modeling or Forecasting</a:t>
            </a:r>
          </a:p>
          <a:p>
            <a:pPr lvl="1">
              <a:buFont typeface="Arial" panose="020B0604020202020204" pitchFamily="34" charset="0"/>
              <a:buChar char="•"/>
            </a:pPr>
            <a:r>
              <a:rPr lang="en-US" sz="2400" dirty="0">
                <a:solidFill>
                  <a:schemeClr val="tx1"/>
                </a:solidFill>
              </a:rPr>
              <a:t>Theoretical such as Game Theory or Information Theory</a:t>
            </a:r>
          </a:p>
          <a:p>
            <a:pPr lvl="1">
              <a:buFont typeface="Arial" panose="020B0604020202020204" pitchFamily="34" charset="0"/>
              <a:buChar char="•"/>
            </a:pPr>
            <a:r>
              <a:rPr lang="en-US" sz="2400" dirty="0">
                <a:solidFill>
                  <a:schemeClr val="tx1"/>
                </a:solidFill>
              </a:rPr>
              <a:t>Methodological such as Experimental or Data Mining</a:t>
            </a:r>
          </a:p>
          <a:p>
            <a:pPr>
              <a:buFont typeface="Arial" panose="020B0604020202020204" pitchFamily="34" charset="0"/>
              <a:buChar char="•"/>
            </a:pPr>
            <a:r>
              <a:rPr lang="en-US" sz="2800" dirty="0">
                <a:solidFill>
                  <a:schemeClr val="tx1"/>
                </a:solidFill>
              </a:rPr>
              <a:t>May incorporate more than one framework</a:t>
            </a:r>
            <a:endParaRPr lang="en-US" dirty="0">
              <a:solidFill>
                <a:schemeClr val="tx1"/>
              </a:solidFill>
            </a:endParaRPr>
          </a:p>
        </p:txBody>
      </p:sp>
    </p:spTree>
    <p:extLst>
      <p:ext uri="{BB962C8B-B14F-4D97-AF65-F5344CB8AC3E}">
        <p14:creationId xmlns:p14="http://schemas.microsoft.com/office/powerpoint/2010/main" val="67433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8B60C0-51F5-6483-15E9-9D70B50D1063}"/>
              </a:ext>
            </a:extLst>
          </p:cNvPr>
          <p:cNvSpPr>
            <a:spLocks noGrp="1"/>
          </p:cNvSpPr>
          <p:nvPr>
            <p:ph type="title"/>
          </p:nvPr>
        </p:nvSpPr>
        <p:spPr>
          <a:xfrm>
            <a:off x="684212" y="685799"/>
            <a:ext cx="3747111" cy="4892040"/>
          </a:xfrm>
        </p:spPr>
        <p:txBody>
          <a:bodyPr>
            <a:normAutofit/>
          </a:bodyPr>
          <a:lstStyle/>
          <a:p>
            <a:pPr algn="r"/>
            <a:r>
              <a:rPr lang="en-US" dirty="0"/>
              <a:t>Benchmarks</a:t>
            </a:r>
            <a:endParaRPr lang="en-US"/>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5DF1C4E-DAAC-DB63-47E8-582ECCE3EFB8}"/>
              </a:ext>
            </a:extLst>
          </p:cNvPr>
          <p:cNvSpPr>
            <a:spLocks noGrp="1"/>
          </p:cNvSpPr>
          <p:nvPr>
            <p:ph idx="1"/>
          </p:nvPr>
        </p:nvSpPr>
        <p:spPr>
          <a:xfrm>
            <a:off x="4979961" y="315686"/>
            <a:ext cx="7016091" cy="6183085"/>
          </a:xfrm>
        </p:spPr>
        <p:txBody>
          <a:bodyPr>
            <a:normAutofit/>
          </a:bodyPr>
          <a:lstStyle/>
          <a:p>
            <a:pPr>
              <a:lnSpc>
                <a:spcPct val="90000"/>
              </a:lnSpc>
              <a:buFont typeface="Arial" panose="020B0604020202020204" pitchFamily="34" charset="0"/>
              <a:buChar char="•"/>
            </a:pPr>
            <a:r>
              <a:rPr lang="en-US" dirty="0">
                <a:solidFill>
                  <a:schemeClr val="tx1"/>
                </a:solidFill>
              </a:rPr>
              <a:t>For the majority of analytic problems, some model or solution already exists</a:t>
            </a:r>
          </a:p>
          <a:p>
            <a:pPr>
              <a:lnSpc>
                <a:spcPct val="90000"/>
              </a:lnSpc>
              <a:buFont typeface="Arial" panose="020B0604020202020204" pitchFamily="34" charset="0"/>
              <a:buChar char="•"/>
            </a:pPr>
            <a:r>
              <a:rPr lang="en-US" dirty="0">
                <a:solidFill>
                  <a:schemeClr val="tx1"/>
                </a:solidFill>
              </a:rPr>
              <a:t>New models or solutions must be compared to them</a:t>
            </a:r>
          </a:p>
          <a:p>
            <a:pPr>
              <a:lnSpc>
                <a:spcPct val="90000"/>
              </a:lnSpc>
              <a:buFont typeface="Arial" panose="020B0604020202020204" pitchFamily="34" charset="0"/>
              <a:buChar char="•"/>
            </a:pPr>
            <a:r>
              <a:rPr lang="en-US" dirty="0">
                <a:solidFill>
                  <a:schemeClr val="tx1"/>
                </a:solidFill>
              </a:rPr>
              <a:t>As you define your problem and methodological approach, establish what the baseline/best performance is for that task or problem</a:t>
            </a:r>
          </a:p>
          <a:p>
            <a:pPr>
              <a:lnSpc>
                <a:spcPct val="90000"/>
              </a:lnSpc>
              <a:buFont typeface="Arial" panose="020B0604020202020204" pitchFamily="34" charset="0"/>
              <a:buChar char="•"/>
            </a:pPr>
            <a:r>
              <a:rPr lang="en-US" dirty="0">
                <a:solidFill>
                  <a:schemeClr val="tx1"/>
                </a:solidFill>
              </a:rPr>
              <a:t>Types of Benchmarks:</a:t>
            </a:r>
          </a:p>
          <a:p>
            <a:pPr lvl="1">
              <a:lnSpc>
                <a:spcPct val="90000"/>
              </a:lnSpc>
              <a:buFont typeface="Arial" panose="020B0604020202020204" pitchFamily="34" charset="0"/>
              <a:buChar char="•"/>
            </a:pPr>
            <a:r>
              <a:rPr lang="en-US" sz="2000" dirty="0">
                <a:solidFill>
                  <a:schemeClr val="tx1"/>
                </a:solidFill>
              </a:rPr>
              <a:t>Benchmark Datasets: established datasets meant to test new models or solutions to common tasks (e.g. ImageNet is a common benchmark for basic image classification)</a:t>
            </a:r>
          </a:p>
          <a:p>
            <a:pPr lvl="1">
              <a:lnSpc>
                <a:spcPct val="90000"/>
              </a:lnSpc>
              <a:buFont typeface="Arial" panose="020B0604020202020204" pitchFamily="34" charset="0"/>
              <a:buChar char="•"/>
            </a:pPr>
            <a:r>
              <a:rPr lang="en-US" sz="2000" dirty="0">
                <a:solidFill>
                  <a:schemeClr val="tx1"/>
                </a:solidFill>
              </a:rPr>
              <a:t>Benchmark Metrics: recorded metrics for current best performance for a given task under given conditions</a:t>
            </a:r>
          </a:p>
          <a:p>
            <a:pPr>
              <a:lnSpc>
                <a:spcPct val="90000"/>
              </a:lnSpc>
              <a:buFont typeface="Arial" panose="020B0604020202020204" pitchFamily="34" charset="0"/>
              <a:buChar char="•"/>
            </a:pPr>
            <a:r>
              <a:rPr lang="en-US" dirty="0">
                <a:solidFill>
                  <a:schemeClr val="tx1"/>
                </a:solidFill>
              </a:rPr>
              <a:t>Exploratory or Descriptive research generally don’t have concrete benchmarks, but should be compared to what is currently known about the topic or area</a:t>
            </a:r>
          </a:p>
        </p:txBody>
      </p:sp>
    </p:spTree>
    <p:extLst>
      <p:ext uri="{BB962C8B-B14F-4D97-AF65-F5344CB8AC3E}">
        <p14:creationId xmlns:p14="http://schemas.microsoft.com/office/powerpoint/2010/main" val="2478361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DF21D5-92B5-4D0E-8ACB-CD3732E40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0" name="Snip Diagonal Corner Rectangle 21">
            <a:extLst>
              <a:ext uri="{FF2B5EF4-FFF2-40B4-BE49-F238E27FC236}">
                <a16:creationId xmlns:a16="http://schemas.microsoft.com/office/drawing/2014/main" id="{B729B08C-A8E8-4A5F-BE85-F0B9269F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129873"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AF0DAB2-66C2-4FB9-A4F3-E117F1D180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3" name="Straight Connector 12">
              <a:extLst>
                <a:ext uri="{FF2B5EF4-FFF2-40B4-BE49-F238E27FC236}">
                  <a16:creationId xmlns:a16="http://schemas.microsoft.com/office/drawing/2014/main" id="{7C7822CD-C541-4174-B43B-4A5E288187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98BC445-D166-4C73-9048-E9EAA31301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0D18988-C2FA-49D2-BDF7-5C3060944B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2EBDE56-D9C2-4852-B55B-3DB8E679557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B5952F4-0479-49EC-8294-C078F23532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A8BAFF4E-CBBF-9B2A-2482-5A291793A822}"/>
              </a:ext>
            </a:extLst>
          </p:cNvPr>
          <p:cNvSpPr>
            <a:spLocks noGrp="1"/>
          </p:cNvSpPr>
          <p:nvPr>
            <p:ph type="title"/>
          </p:nvPr>
        </p:nvSpPr>
        <p:spPr>
          <a:xfrm>
            <a:off x="7572083" y="941424"/>
            <a:ext cx="4060474" cy="3248611"/>
          </a:xfrm>
        </p:spPr>
        <p:txBody>
          <a:bodyPr anchor="b">
            <a:normAutofit/>
          </a:bodyPr>
          <a:lstStyle/>
          <a:p>
            <a:r>
              <a:rPr lang="en-US">
                <a:solidFill>
                  <a:srgbClr val="FFFFFF"/>
                </a:solidFill>
              </a:rPr>
              <a:t>Establishing Frameworks and Benchmarks</a:t>
            </a:r>
          </a:p>
        </p:txBody>
      </p:sp>
      <p:sp>
        <p:nvSpPr>
          <p:cNvPr id="3" name="Content Placeholder 2">
            <a:extLst>
              <a:ext uri="{FF2B5EF4-FFF2-40B4-BE49-F238E27FC236}">
                <a16:creationId xmlns:a16="http://schemas.microsoft.com/office/drawing/2014/main" id="{6E5C8F6E-86EB-453B-654A-5215DA7136A3}"/>
              </a:ext>
            </a:extLst>
          </p:cNvPr>
          <p:cNvSpPr>
            <a:spLocks noGrp="1"/>
          </p:cNvSpPr>
          <p:nvPr>
            <p:ph idx="1"/>
          </p:nvPr>
        </p:nvSpPr>
        <p:spPr>
          <a:xfrm>
            <a:off x="218661" y="248478"/>
            <a:ext cx="7176051" cy="6182139"/>
          </a:xfrm>
        </p:spPr>
        <p:txBody>
          <a:bodyPr anchor="ctr">
            <a:normAutofit/>
          </a:bodyPr>
          <a:lstStyle/>
          <a:p>
            <a:pPr>
              <a:buFont typeface="Arial" panose="020B0604020202020204" pitchFamily="34" charset="0"/>
              <a:buChar char="•"/>
            </a:pPr>
            <a:r>
              <a:rPr lang="en-US" sz="2400" dirty="0">
                <a:solidFill>
                  <a:schemeClr val="tx1"/>
                </a:solidFill>
              </a:rPr>
              <a:t>To determine the appropriate frameworks and benchmarks, conduct a literature search</a:t>
            </a:r>
          </a:p>
          <a:p>
            <a:pPr>
              <a:buFont typeface="Arial" panose="020B0604020202020204" pitchFamily="34" charset="0"/>
              <a:buChar char="•"/>
            </a:pPr>
            <a:r>
              <a:rPr lang="en-US" sz="2400" dirty="0">
                <a:solidFill>
                  <a:schemeClr val="tx1"/>
                </a:solidFill>
              </a:rPr>
              <a:t>Ways to find literature:</a:t>
            </a:r>
          </a:p>
          <a:p>
            <a:pPr lvl="1">
              <a:buFont typeface="Arial" panose="020B0604020202020204" pitchFamily="34" charset="0"/>
              <a:buChar char="•"/>
            </a:pPr>
            <a:r>
              <a:rPr lang="en-US" sz="2000" dirty="0">
                <a:solidFill>
                  <a:schemeClr val="tx1"/>
                </a:solidFill>
              </a:rPr>
              <a:t>Google Scholar</a:t>
            </a:r>
          </a:p>
          <a:p>
            <a:pPr lvl="1">
              <a:buFont typeface="Arial" panose="020B0604020202020204" pitchFamily="34" charset="0"/>
              <a:buChar char="•"/>
            </a:pPr>
            <a:r>
              <a:rPr lang="en-US" sz="2000" dirty="0">
                <a:solidFill>
                  <a:schemeClr val="tx1"/>
                </a:solidFill>
              </a:rPr>
              <a:t>Ask ChatGPT (but verify the sources)</a:t>
            </a:r>
          </a:p>
          <a:p>
            <a:pPr lvl="1">
              <a:buFont typeface="Arial" panose="020B0604020202020204" pitchFamily="34" charset="0"/>
              <a:buChar char="•"/>
            </a:pPr>
            <a:r>
              <a:rPr lang="en-US" sz="2000" dirty="0">
                <a:solidFill>
                  <a:schemeClr val="tx1"/>
                </a:solidFill>
              </a:rPr>
              <a:t>Reference sections </a:t>
            </a:r>
          </a:p>
          <a:p>
            <a:pPr>
              <a:buFont typeface="Arial" panose="020B0604020202020204" pitchFamily="34" charset="0"/>
              <a:buChar char="•"/>
            </a:pPr>
            <a:r>
              <a:rPr lang="en-US" sz="2400" dirty="0">
                <a:solidFill>
                  <a:schemeClr val="tx1"/>
                </a:solidFill>
              </a:rPr>
              <a:t>Sources should be peer-reviewed/scholarly sources</a:t>
            </a:r>
          </a:p>
          <a:p>
            <a:pPr lvl="1">
              <a:buFont typeface="Arial" panose="020B0604020202020204" pitchFamily="34" charset="0"/>
              <a:buChar char="•"/>
            </a:pPr>
            <a:r>
              <a:rPr lang="en-US" sz="2000" dirty="0">
                <a:solidFill>
                  <a:schemeClr val="tx1"/>
                </a:solidFill>
              </a:rPr>
              <a:t>White papers are fine, but blog posts, news articles, or other informal sources are not</a:t>
            </a:r>
          </a:p>
          <a:p>
            <a:pPr>
              <a:buFont typeface="Arial" panose="020B0604020202020204" pitchFamily="34" charset="0"/>
              <a:buChar char="•"/>
            </a:pPr>
            <a:r>
              <a:rPr lang="en-US" sz="2400" dirty="0">
                <a:solidFill>
                  <a:schemeClr val="tx1"/>
                </a:solidFill>
              </a:rPr>
              <a:t>Once you have 10-20 sources, you can begin writing the literature review (or related works) section of your proposal</a:t>
            </a:r>
          </a:p>
          <a:p>
            <a:pPr lvl="2">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3423037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4212" y="685799"/>
            <a:ext cx="3747111" cy="4892040"/>
          </a:xfrm>
        </p:spPr>
        <p:txBody>
          <a:bodyPr>
            <a:normAutofit/>
          </a:bodyPr>
          <a:lstStyle/>
          <a:p>
            <a:pPr marL="0" lvl="0" indent="0" algn="r">
              <a:buNone/>
            </a:pPr>
            <a:r>
              <a:t>Purpose of a Literature Review</a:t>
            </a:r>
            <a:endParaRPr lang="en-US"/>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9962" y="685799"/>
            <a:ext cx="6288260" cy="5377544"/>
          </a:xfrm>
        </p:spPr>
        <p:txBody>
          <a:bodyPr>
            <a:normAutofit/>
          </a:bodyPr>
          <a:lstStyle/>
          <a:p>
            <a:r>
              <a:rPr lang="en-US" sz="2800" dirty="0">
                <a:solidFill>
                  <a:schemeClr val="tx1"/>
                </a:solidFill>
              </a:rPr>
              <a:t>Relate your work to ongoing discussion in the field</a:t>
            </a:r>
          </a:p>
          <a:p>
            <a:r>
              <a:rPr lang="en-US" sz="2800" dirty="0">
                <a:solidFill>
                  <a:schemeClr val="tx1"/>
                </a:solidFill>
              </a:rPr>
              <a:t>Framework for establishing the importance of the RQ</a:t>
            </a:r>
          </a:p>
          <a:p>
            <a:r>
              <a:rPr lang="en-US" sz="2800" dirty="0">
                <a:solidFill>
                  <a:schemeClr val="tx1"/>
                </a:solidFill>
              </a:rPr>
              <a:t>Benchmark for Comparing Results and Conclusions</a:t>
            </a:r>
          </a:p>
          <a:p>
            <a:pPr lvl="1"/>
            <a:r>
              <a:rPr lang="en-US" sz="2400" dirty="0">
                <a:solidFill>
                  <a:schemeClr val="tx1"/>
                </a:solidFill>
              </a:rPr>
              <a:t>How much better is your model?</a:t>
            </a:r>
          </a:p>
          <a:p>
            <a:pPr lvl="1"/>
            <a:r>
              <a:rPr lang="en-US" sz="2400" dirty="0">
                <a:solidFill>
                  <a:schemeClr val="tx1"/>
                </a:solidFill>
              </a:rPr>
              <a:t>How much more variance can you explain in X?</a:t>
            </a:r>
          </a:p>
          <a:p>
            <a:pPr lvl="1"/>
            <a:r>
              <a:rPr lang="en-US" sz="2400" dirty="0">
                <a:solidFill>
                  <a:schemeClr val="tx1"/>
                </a:solidFill>
              </a:rPr>
              <a:t>What have you added to what is known?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4212" y="685799"/>
            <a:ext cx="3747111" cy="4892040"/>
          </a:xfrm>
        </p:spPr>
        <p:txBody>
          <a:bodyPr>
            <a:normAutofit/>
          </a:bodyPr>
          <a:lstStyle/>
          <a:p>
            <a:pPr marL="0" lvl="0" indent="0" algn="r">
              <a:buNone/>
            </a:pPr>
            <a:r>
              <a:t>What a Literature Review is</a:t>
            </a:r>
            <a:endParaRPr lang="en-US"/>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9962" y="468086"/>
            <a:ext cx="6288260" cy="6074227"/>
          </a:xfrm>
        </p:spPr>
        <p:txBody>
          <a:bodyPr>
            <a:normAutofit lnSpcReduction="10000"/>
          </a:bodyPr>
          <a:lstStyle/>
          <a:p>
            <a:r>
              <a:rPr lang="en-US" sz="2800" dirty="0">
                <a:solidFill>
                  <a:schemeClr val="tx1"/>
                </a:solidFill>
              </a:rPr>
              <a:t>A logical argument based on a comprehensive understanding of state of research on your topic</a:t>
            </a:r>
          </a:p>
          <a:p>
            <a:r>
              <a:rPr lang="en-US" sz="2800" dirty="0">
                <a:solidFill>
                  <a:schemeClr val="tx1"/>
                </a:solidFill>
              </a:rPr>
              <a:t>All claims are supported by credible sources</a:t>
            </a:r>
          </a:p>
          <a:p>
            <a:r>
              <a:rPr lang="en-US" sz="2800" dirty="0">
                <a:solidFill>
                  <a:schemeClr val="tx1"/>
                </a:solidFill>
              </a:rPr>
              <a:t>Shows how your proposed project relates to past work</a:t>
            </a:r>
          </a:p>
          <a:p>
            <a:pPr lvl="1"/>
            <a:r>
              <a:rPr lang="en-US" sz="2400" dirty="0">
                <a:solidFill>
                  <a:schemeClr val="tx1"/>
                </a:solidFill>
              </a:rPr>
              <a:t>Very important to explicitly discuss how your proposed work extends on past studies or addresses limitations in past work</a:t>
            </a:r>
          </a:p>
          <a:p>
            <a:r>
              <a:rPr lang="en-US" sz="2800" dirty="0">
                <a:solidFill>
                  <a:schemeClr val="tx1"/>
                </a:solidFill>
              </a:rPr>
              <a:t>Must be organized and have a logical flow from your goal to your hypotheses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4212" y="685799"/>
            <a:ext cx="3747111" cy="4892040"/>
          </a:xfrm>
        </p:spPr>
        <p:txBody>
          <a:bodyPr>
            <a:normAutofit/>
          </a:bodyPr>
          <a:lstStyle/>
          <a:p>
            <a:pPr marL="0" lvl="0" indent="0" algn="r">
              <a:buNone/>
            </a:pPr>
            <a:r>
              <a:t>What a Literature Review is NOT</a:t>
            </a:r>
            <a:endParaRPr lang="en-US"/>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9962" y="685799"/>
            <a:ext cx="6288260" cy="4892040"/>
          </a:xfrm>
        </p:spPr>
        <p:txBody>
          <a:bodyPr>
            <a:normAutofit/>
          </a:bodyPr>
          <a:lstStyle/>
          <a:p>
            <a:r>
              <a:rPr lang="en-US" sz="2800" dirty="0">
                <a:solidFill>
                  <a:schemeClr val="tx1"/>
                </a:solidFill>
              </a:rPr>
              <a:t>A series of summaries for your sources</a:t>
            </a:r>
          </a:p>
          <a:p>
            <a:r>
              <a:rPr lang="en-US" sz="2800" dirty="0">
                <a:solidFill>
                  <a:schemeClr val="tx1"/>
                </a:solidFill>
              </a:rPr>
              <a:t>A annotated bibliography</a:t>
            </a:r>
          </a:p>
          <a:p>
            <a:r>
              <a:rPr lang="en-US" sz="2800" dirty="0">
                <a:solidFill>
                  <a:schemeClr val="tx1"/>
                </a:solidFill>
              </a:rPr>
              <a:t>A data dump of everything you can find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9448D9-8F1D-4CFE-93BA-E0272F0DB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4212" y="4487332"/>
            <a:ext cx="7543800" cy="1507067"/>
          </a:xfrm>
        </p:spPr>
        <p:txBody>
          <a:bodyPr>
            <a:normAutofit/>
          </a:bodyPr>
          <a:lstStyle/>
          <a:p>
            <a:pPr marL="0" lvl="0" indent="0">
              <a:buNone/>
            </a:pPr>
            <a:r>
              <a:rPr lang="en-US" dirty="0"/>
              <a:t>Citation Management</a:t>
            </a:r>
            <a:endParaRPr dirty="0"/>
          </a:p>
        </p:txBody>
      </p:sp>
      <p:sp>
        <p:nvSpPr>
          <p:cNvPr id="3" name="Content Placeholder 2"/>
          <p:cNvSpPr>
            <a:spLocks noGrp="1"/>
          </p:cNvSpPr>
          <p:nvPr>
            <p:ph idx="1"/>
          </p:nvPr>
        </p:nvSpPr>
        <p:spPr>
          <a:xfrm>
            <a:off x="684211" y="685800"/>
            <a:ext cx="7493137" cy="3615267"/>
          </a:xfrm>
        </p:spPr>
        <p:txBody>
          <a:bodyPr>
            <a:normAutofit/>
          </a:bodyPr>
          <a:lstStyle/>
          <a:p>
            <a:pPr lvl="1"/>
            <a:r>
              <a:rPr lang="en-US" sz="2000" dirty="0">
                <a:solidFill>
                  <a:schemeClr val="tx1"/>
                </a:solidFill>
              </a:rPr>
              <a:t>Zotero, </a:t>
            </a:r>
            <a:r>
              <a:rPr lang="en-US" sz="2000" dirty="0">
                <a:solidFill>
                  <a:schemeClr val="tx1"/>
                </a:solidFill>
                <a:hlinkClick r:id="rId3"/>
              </a:rPr>
              <a:t>https://www.zotero.org/</a:t>
            </a:r>
            <a:r>
              <a:rPr lang="en-US" sz="2000" dirty="0">
                <a:solidFill>
                  <a:schemeClr val="tx1"/>
                </a:solidFill>
              </a:rPr>
              <a:t>, is a free, open-source citation management tool </a:t>
            </a:r>
          </a:p>
          <a:p>
            <a:pPr lvl="1"/>
            <a:r>
              <a:rPr lang="en-US" sz="2000" dirty="0">
                <a:solidFill>
                  <a:schemeClr val="tx1"/>
                </a:solidFill>
              </a:rPr>
              <a:t>Highly recommend using to manage and generate citations and to keep notes and records</a:t>
            </a:r>
          </a:p>
          <a:p>
            <a:pPr lvl="1"/>
            <a:r>
              <a:rPr lang="en-US" sz="2000" dirty="0">
                <a:solidFill>
                  <a:schemeClr val="tx1"/>
                </a:solidFill>
              </a:rPr>
              <a:t>HU’s Library has put together </a:t>
            </a:r>
            <a:r>
              <a:rPr lang="en-US" sz="2000" dirty="0">
                <a:solidFill>
                  <a:schemeClr val="tx1"/>
                </a:solidFill>
                <a:hlinkClick r:id="rId4"/>
              </a:rPr>
              <a:t>resources and guides</a:t>
            </a:r>
            <a:r>
              <a:rPr lang="en-US" sz="2000" dirty="0">
                <a:solidFill>
                  <a:schemeClr val="tx1"/>
                </a:solidFill>
              </a:rPr>
              <a:t> to help you use it</a:t>
            </a:r>
            <a:endParaRPr sz="2000" dirty="0">
              <a:solidFill>
                <a:schemeClr val="tx1"/>
              </a:solidFill>
            </a:endParaRPr>
          </a:p>
        </p:txBody>
      </p:sp>
      <p:pic>
        <p:nvPicPr>
          <p:cNvPr id="5" name="Picture 4" descr="Different colored organizers">
            <a:extLst>
              <a:ext uri="{FF2B5EF4-FFF2-40B4-BE49-F238E27FC236}">
                <a16:creationId xmlns:a16="http://schemas.microsoft.com/office/drawing/2014/main" id="{3F36A2B3-8C2A-D91D-F01D-8E9A9B3ECC14}"/>
              </a:ext>
            </a:extLst>
          </p:cNvPr>
          <p:cNvPicPr>
            <a:picLocks noChangeAspect="1"/>
          </p:cNvPicPr>
          <p:nvPr/>
        </p:nvPicPr>
        <p:blipFill>
          <a:blip r:embed="rId5"/>
          <a:srcRect l="35182" r="35076" b="1"/>
          <a:stretch>
            <a:fillRect/>
          </a:stretch>
        </p:blipFill>
        <p:spPr>
          <a:xfrm>
            <a:off x="8820603" y="10"/>
            <a:ext cx="3371397" cy="6857990"/>
          </a:xfrm>
          <a:prstGeom prst="rect">
            <a:avLst/>
          </a:prstGeom>
          <a:effectLst>
            <a:innerShdw blurRad="57150" dist="38100" dir="14460000">
              <a:prstClr val="black">
                <a:alpha val="70000"/>
              </a:prstClr>
            </a:innerShdw>
          </a:effectLst>
        </p:spPr>
      </p:pic>
      <p:grpSp>
        <p:nvGrpSpPr>
          <p:cNvPr id="11" name="Group 10">
            <a:extLst>
              <a:ext uri="{FF2B5EF4-FFF2-40B4-BE49-F238E27FC236}">
                <a16:creationId xmlns:a16="http://schemas.microsoft.com/office/drawing/2014/main" id="{94749DEA-AC6C-4834-A330-03A1796B89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2" name="Straight Connector 11">
              <a:extLst>
                <a:ext uri="{FF2B5EF4-FFF2-40B4-BE49-F238E27FC236}">
                  <a16:creationId xmlns:a16="http://schemas.microsoft.com/office/drawing/2014/main" id="{20CBC5D1-BAF0-454E-9D7C-68370AA9545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ABB9F45-32F7-4915-A94F-F1E34B32DED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4EA6F09-00FD-4C50-A2DF-D0B1CC4C9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B8B975B-2618-4734-A401-FAB7451901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EF4B123-0577-4F10-986B-6BD86396AB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129873"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8588661" y="941424"/>
            <a:ext cx="3043896" cy="3248611"/>
          </a:xfrm>
        </p:spPr>
        <p:txBody>
          <a:bodyPr>
            <a:normAutofit/>
          </a:bodyPr>
          <a:lstStyle/>
          <a:p>
            <a:pPr marL="0" lvl="0" indent="0">
              <a:lnSpc>
                <a:spcPct val="90000"/>
              </a:lnSpc>
              <a:buNone/>
            </a:pPr>
            <a:r>
              <a:rPr lang="en-US" sz="3100">
                <a:solidFill>
                  <a:srgbClr val="FFFFFF"/>
                </a:solidFill>
              </a:rPr>
              <a:t>Methods for Organizing and Outlining a Literature Review</a:t>
            </a:r>
          </a:p>
        </p:txBody>
      </p:sp>
      <p:graphicFrame>
        <p:nvGraphicFramePr>
          <p:cNvPr id="5" name="Content Placeholder 2">
            <a:extLst>
              <a:ext uri="{FF2B5EF4-FFF2-40B4-BE49-F238E27FC236}">
                <a16:creationId xmlns:a16="http://schemas.microsoft.com/office/drawing/2014/main" id="{9E07754D-0BF1-7EC6-93EE-1860F49C9F8E}"/>
              </a:ext>
            </a:extLst>
          </p:cNvPr>
          <p:cNvGraphicFramePr>
            <a:graphicFrameLocks noGrp="1"/>
          </p:cNvGraphicFramePr>
          <p:nvPr>
            <p:ph idx="1"/>
            <p:extLst>
              <p:ext uri="{D42A27DB-BD31-4B8C-83A1-F6EECF244321}">
                <p14:modId xmlns:p14="http://schemas.microsoft.com/office/powerpoint/2010/main" val="3647791187"/>
              </p:ext>
            </p:extLst>
          </p:nvPr>
        </p:nvGraphicFramePr>
        <p:xfrm>
          <a:off x="940645" y="941424"/>
          <a:ext cx="6190459"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4212" y="685799"/>
            <a:ext cx="3747111" cy="4892040"/>
          </a:xfrm>
        </p:spPr>
        <p:txBody>
          <a:bodyPr>
            <a:normAutofit/>
          </a:bodyPr>
          <a:lstStyle/>
          <a:p>
            <a:pPr marL="0" lvl="0" indent="0" algn="r">
              <a:buNone/>
            </a:pPr>
            <a:r>
              <a:t>Method 1: Literature Maps</a:t>
            </a:r>
            <a:endParaRPr lang="en-US"/>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9962" y="685799"/>
            <a:ext cx="6288260" cy="4892040"/>
          </a:xfrm>
        </p:spPr>
        <p:txBody>
          <a:bodyPr>
            <a:normAutofit/>
          </a:bodyPr>
          <a:lstStyle/>
          <a:p>
            <a:r>
              <a:rPr lang="en-US" sz="2800" dirty="0">
                <a:solidFill>
                  <a:schemeClr val="tx1"/>
                </a:solidFill>
              </a:rPr>
              <a:t>Literature maps: a diagram linking important concepts/constructs and sorting sources by these concepts</a:t>
            </a:r>
          </a:p>
          <a:p>
            <a:r>
              <a:rPr lang="en-US" sz="2800" dirty="0">
                <a:solidFill>
                  <a:schemeClr val="tx1"/>
                </a:solidFill>
              </a:rPr>
              <a:t>Plenty of examples and templates online, </a:t>
            </a:r>
            <a:r>
              <a:rPr lang="en-US" sz="2800" dirty="0">
                <a:solidFill>
                  <a:schemeClr val="tx1"/>
                </a:solidFill>
                <a:hlinkClick r:id="rId3"/>
              </a:rPr>
              <a:t>Examples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103B461-323C-4912-BFFD-C375826620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8" name="Straight Connector 7">
              <a:extLst>
                <a:ext uri="{FF2B5EF4-FFF2-40B4-BE49-F238E27FC236}">
                  <a16:creationId xmlns:a16="http://schemas.microsoft.com/office/drawing/2014/main" id="{FBC21318-F4F4-4524-95D1-6B7FE0A788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9FFA8E5-974F-409E-89C6-E185BD9093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384E2B1-7008-45EE-9F2E-FEF3A08978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4563410-7FE9-4955-89C6-0FB9326CD3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AD14C0E-D5DF-4BDC-BD92-642CFF180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4" name="Rectangle 13">
            <a:extLst>
              <a:ext uri="{FF2B5EF4-FFF2-40B4-BE49-F238E27FC236}">
                <a16:creationId xmlns:a16="http://schemas.microsoft.com/office/drawing/2014/main" id="{9A212F8F-D812-4A16-BE82-F3500DE32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nip Diagonal Corner Rectangle 24">
            <a:extLst>
              <a:ext uri="{FF2B5EF4-FFF2-40B4-BE49-F238E27FC236}">
                <a16:creationId xmlns:a16="http://schemas.microsoft.com/office/drawing/2014/main" id="{D2CF1D1B-04ED-443D-A9FE-68BF8859B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229" y="620722"/>
            <a:ext cx="10935543"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litmap.png"/>
          <p:cNvPicPr>
            <a:picLocks noGrp="1" noChangeAspect="1"/>
          </p:cNvPicPr>
          <p:nvPr/>
        </p:nvPicPr>
        <p:blipFill>
          <a:blip r:embed="rId3"/>
          <a:stretch>
            <a:fillRect/>
          </a:stretch>
        </p:blipFill>
        <p:spPr bwMode="auto">
          <a:xfrm>
            <a:off x="3365395" y="786117"/>
            <a:ext cx="5461209" cy="4956048"/>
          </a:xfrm>
          <a:custGeom>
            <a:avLst/>
            <a:gdLst/>
            <a:ahLst/>
            <a:cxnLst/>
            <a:rect l="l" t="t" r="r" b="b"/>
            <a:pathLst>
              <a:path w="10607040" h="4956048">
                <a:moveTo>
                  <a:pt x="497480" y="0"/>
                </a:moveTo>
                <a:lnTo>
                  <a:pt x="10607040" y="0"/>
                </a:lnTo>
                <a:lnTo>
                  <a:pt x="10607040" y="4485407"/>
                </a:lnTo>
                <a:lnTo>
                  <a:pt x="10131692" y="4956048"/>
                </a:lnTo>
                <a:lnTo>
                  <a:pt x="0" y="4956048"/>
                </a:lnTo>
                <a:lnTo>
                  <a:pt x="0" y="492554"/>
                </a:lnTo>
                <a:close/>
              </a:path>
            </a:pathLst>
          </a:cu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129873"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8588661" y="941424"/>
            <a:ext cx="3043896" cy="3248611"/>
          </a:xfrm>
        </p:spPr>
        <p:txBody>
          <a:bodyPr>
            <a:normAutofit/>
          </a:bodyPr>
          <a:lstStyle/>
          <a:p>
            <a:pPr marL="0" lvl="0" indent="0">
              <a:buNone/>
            </a:pPr>
            <a:r>
              <a:rPr lang="en-US" sz="3300">
                <a:solidFill>
                  <a:srgbClr val="FFFFFF"/>
                </a:solidFill>
              </a:rPr>
              <a:t>Method 2: Subheadings</a:t>
            </a:r>
          </a:p>
        </p:txBody>
      </p:sp>
      <p:graphicFrame>
        <p:nvGraphicFramePr>
          <p:cNvPr id="5" name="Content Placeholder 2">
            <a:extLst>
              <a:ext uri="{FF2B5EF4-FFF2-40B4-BE49-F238E27FC236}">
                <a16:creationId xmlns:a16="http://schemas.microsoft.com/office/drawing/2014/main" id="{77E141AB-4B19-36E8-B230-B1B23D9353EB}"/>
              </a:ext>
            </a:extLst>
          </p:cNvPr>
          <p:cNvGraphicFramePr>
            <a:graphicFrameLocks noGrp="1"/>
          </p:cNvGraphicFramePr>
          <p:nvPr>
            <p:ph idx="1"/>
            <p:extLst>
              <p:ext uri="{D42A27DB-BD31-4B8C-83A1-F6EECF244321}">
                <p14:modId xmlns:p14="http://schemas.microsoft.com/office/powerpoint/2010/main" val="2167544298"/>
              </p:ext>
            </p:extLst>
          </p:nvPr>
        </p:nvGraphicFramePr>
        <p:xfrm>
          <a:off x="940645" y="941424"/>
          <a:ext cx="6190459"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2BF85F86-5EAC-6349-EE44-B54F4CBADAF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Stock numbers on a digital display">
            <a:extLst>
              <a:ext uri="{FF2B5EF4-FFF2-40B4-BE49-F238E27FC236}">
                <a16:creationId xmlns:a16="http://schemas.microsoft.com/office/drawing/2014/main" id="{83D735AC-F5AC-E1B9-4C39-4CA4F9BAE182}"/>
              </a:ext>
            </a:extLst>
          </p:cNvPr>
          <p:cNvPicPr>
            <a:picLocks noChangeAspect="1"/>
          </p:cNvPicPr>
          <p:nvPr/>
        </p:nvPicPr>
        <p:blipFill>
          <a:blip r:embed="rId3"/>
          <a:srcRect l="46903" r="23351" b="-1"/>
          <a:stretch>
            <a:fillRect/>
          </a:stretch>
        </p:blipFill>
        <p:spPr>
          <a:xfrm>
            <a:off x="831" y="10"/>
            <a:ext cx="3502025" cy="6857990"/>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1EB98FD1-E180-63DF-EC4B-3E7ED86B0A92}"/>
              </a:ext>
            </a:extLst>
          </p:cNvPr>
          <p:cNvSpPr>
            <a:spLocks noGrp="1"/>
          </p:cNvSpPr>
          <p:nvPr>
            <p:ph idx="1"/>
          </p:nvPr>
        </p:nvSpPr>
        <p:spPr>
          <a:xfrm>
            <a:off x="3502857" y="97971"/>
            <a:ext cx="8685968" cy="6596743"/>
          </a:xfrm>
        </p:spPr>
        <p:txBody>
          <a:bodyPr>
            <a:normAutofit fontScale="92500" lnSpcReduction="10000"/>
          </a:bodyPr>
          <a:lstStyle/>
          <a:p>
            <a:pPr>
              <a:lnSpc>
                <a:spcPct val="90000"/>
              </a:lnSpc>
            </a:pPr>
            <a:r>
              <a:rPr lang="en-US" sz="1800" dirty="0">
                <a:solidFill>
                  <a:schemeClr val="tx1"/>
                </a:solidFill>
              </a:rPr>
              <a:t>Example Topic: The influence of Twitter marketing on tech stocks</a:t>
            </a:r>
          </a:p>
          <a:p>
            <a:pPr>
              <a:lnSpc>
                <a:spcPct val="90000"/>
              </a:lnSpc>
            </a:pPr>
            <a:r>
              <a:rPr lang="en-US" sz="1800" dirty="0">
                <a:solidFill>
                  <a:schemeClr val="tx1"/>
                </a:solidFill>
              </a:rPr>
              <a:t>Example Subheadings:</a:t>
            </a:r>
          </a:p>
          <a:p>
            <a:pPr lvl="1">
              <a:lnSpc>
                <a:spcPct val="90000"/>
              </a:lnSpc>
            </a:pPr>
            <a:r>
              <a:rPr lang="en-US" dirty="0">
                <a:solidFill>
                  <a:schemeClr val="tx1"/>
                </a:solidFill>
              </a:rPr>
              <a:t>Twitter marketing</a:t>
            </a:r>
          </a:p>
          <a:p>
            <a:pPr lvl="2">
              <a:lnSpc>
                <a:spcPct val="90000"/>
              </a:lnSpc>
            </a:pPr>
            <a:r>
              <a:rPr lang="en-US" sz="1800" dirty="0" err="1">
                <a:solidFill>
                  <a:schemeClr val="tx1"/>
                </a:solidFill>
              </a:rPr>
              <a:t>Taecharungroj</a:t>
            </a:r>
            <a:r>
              <a:rPr lang="en-US" sz="1800" dirty="0">
                <a:solidFill>
                  <a:schemeClr val="tx1"/>
                </a:solidFill>
              </a:rPr>
              <a:t>, V. (2017). Starbucks’ marketing communications strategy on Twitter. Journal of Marketing Communications, 23(6), 552-571.</a:t>
            </a:r>
          </a:p>
          <a:p>
            <a:pPr lvl="2">
              <a:lnSpc>
                <a:spcPct val="90000"/>
              </a:lnSpc>
            </a:pPr>
            <a:r>
              <a:rPr lang="en-US" sz="1800" dirty="0">
                <a:solidFill>
                  <a:schemeClr val="tx1"/>
                </a:solidFill>
              </a:rPr>
              <a:t>Leung, X. Y., Bai, B., &amp; Stahura, K. A. (2015). The marketing effectiveness of social media in the hotel industry: A comparison of Facebook and Twitter. Journal of Hospitality &amp; Tourism Research, 39(2), 147-169.</a:t>
            </a:r>
          </a:p>
          <a:p>
            <a:pPr lvl="1">
              <a:lnSpc>
                <a:spcPct val="90000"/>
              </a:lnSpc>
            </a:pPr>
            <a:r>
              <a:rPr lang="en-US" dirty="0">
                <a:solidFill>
                  <a:schemeClr val="tx1"/>
                </a:solidFill>
              </a:rPr>
              <a:t>Tech industry marketing</a:t>
            </a:r>
          </a:p>
          <a:p>
            <a:pPr lvl="2">
              <a:lnSpc>
                <a:spcPct val="90000"/>
              </a:lnSpc>
            </a:pPr>
            <a:r>
              <a:rPr lang="en-US" sz="1800" dirty="0">
                <a:solidFill>
                  <a:schemeClr val="tx1"/>
                </a:solidFill>
              </a:rPr>
              <a:t>Nouri, P., &amp; Ahmady, A. (2018). A taxonomy of nascent entrepreneurs’ marketing decisions in high-tech small businesses. Journal of Small Business Strategy, 28(3), 69-79.</a:t>
            </a:r>
          </a:p>
          <a:p>
            <a:pPr lvl="2">
              <a:lnSpc>
                <a:spcPct val="90000"/>
              </a:lnSpc>
            </a:pPr>
            <a:r>
              <a:rPr lang="en-US" sz="1800" dirty="0">
                <a:solidFill>
                  <a:schemeClr val="tx1"/>
                </a:solidFill>
              </a:rPr>
              <a:t>Yang, M., &amp; Gabrielsson, P. (2017). Entrepreneurial marketing of international high-tech business-to-business new ventures: A decision-making process perspective. Industrial Marketing Management, 64, 147-160.</a:t>
            </a:r>
          </a:p>
          <a:p>
            <a:pPr lvl="1">
              <a:lnSpc>
                <a:spcPct val="90000"/>
              </a:lnSpc>
            </a:pPr>
            <a:r>
              <a:rPr lang="en-US" dirty="0">
                <a:solidFill>
                  <a:schemeClr val="tx1"/>
                </a:solidFill>
              </a:rPr>
              <a:t>Factors impacting tech stocks</a:t>
            </a:r>
          </a:p>
          <a:p>
            <a:pPr lvl="2">
              <a:lnSpc>
                <a:spcPct val="90000"/>
              </a:lnSpc>
            </a:pPr>
            <a:r>
              <a:rPr lang="en-US" sz="1800" dirty="0">
                <a:solidFill>
                  <a:schemeClr val="tx1"/>
                </a:solidFill>
              </a:rPr>
              <a:t>Bento, N., </a:t>
            </a:r>
            <a:r>
              <a:rPr lang="en-US" sz="1800" dirty="0" err="1">
                <a:solidFill>
                  <a:schemeClr val="tx1"/>
                </a:solidFill>
              </a:rPr>
              <a:t>Gianfrate</a:t>
            </a:r>
            <a:r>
              <a:rPr lang="en-US" sz="1800" dirty="0">
                <a:solidFill>
                  <a:schemeClr val="tx1"/>
                </a:solidFill>
              </a:rPr>
              <a:t>, G., &amp; </a:t>
            </a:r>
            <a:r>
              <a:rPr lang="en-US" sz="1800" dirty="0" err="1">
                <a:solidFill>
                  <a:schemeClr val="tx1"/>
                </a:solidFill>
              </a:rPr>
              <a:t>Groppo</a:t>
            </a:r>
            <a:r>
              <a:rPr lang="en-US" sz="1800" dirty="0">
                <a:solidFill>
                  <a:schemeClr val="tx1"/>
                </a:solidFill>
              </a:rPr>
              <a:t>, S. V. (2019). Do crowdfunding returns reward risk? Evidences from clean-tech projects. Technological Forecasting and Social Change, 141, 107-116.</a:t>
            </a:r>
          </a:p>
          <a:p>
            <a:pPr lvl="2">
              <a:lnSpc>
                <a:spcPct val="90000"/>
              </a:lnSpc>
            </a:pPr>
            <a:r>
              <a:rPr lang="en-US" sz="1800" dirty="0">
                <a:solidFill>
                  <a:schemeClr val="tx1"/>
                </a:solidFill>
              </a:rPr>
              <a:t>Lee, C. C., Chen, M. P., &amp; Chang, C. H. (2013). Dynamic relationships between industry returns and stock market returns. The North American Journal of Economics and Finance, 26, 119-144.</a:t>
            </a:r>
            <a:endParaRPr lang="en-US" sz="1200" dirty="0">
              <a:solidFill>
                <a:schemeClr val="tx1"/>
              </a:solidFill>
            </a:endParaRP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0" name="Straight Connector 19">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0113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4212" y="4487332"/>
            <a:ext cx="8534400" cy="1507067"/>
          </a:xfrm>
        </p:spPr>
        <p:txBody>
          <a:bodyPr>
            <a:normAutofit/>
          </a:bodyPr>
          <a:lstStyle/>
          <a:p>
            <a:pPr marL="0" lvl="0" indent="0">
              <a:buNone/>
            </a:pPr>
            <a:r>
              <a:t>Method 3: First Sentences</a:t>
            </a:r>
          </a:p>
        </p:txBody>
      </p:sp>
      <p:pic>
        <p:nvPicPr>
          <p:cNvPr id="7" name="Graphic 6" descr="Quotes">
            <a:extLst>
              <a:ext uri="{FF2B5EF4-FFF2-40B4-BE49-F238E27FC236}">
                <a16:creationId xmlns:a16="http://schemas.microsoft.com/office/drawing/2014/main" id="{3AB8187A-9A05-9480-9C71-1A604A23CD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55676" y="733647"/>
            <a:ext cx="3575884" cy="3575884"/>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5519058" y="733647"/>
            <a:ext cx="6455228" cy="3575884"/>
          </a:xfrm>
        </p:spPr>
        <p:txBody>
          <a:bodyPr>
            <a:normAutofit/>
          </a:bodyPr>
          <a:lstStyle/>
          <a:p>
            <a:pPr>
              <a:lnSpc>
                <a:spcPct val="90000"/>
              </a:lnSpc>
            </a:pPr>
            <a:r>
              <a:rPr lang="en-US" sz="1800" dirty="0">
                <a:solidFill>
                  <a:schemeClr val="tx1"/>
                </a:solidFill>
              </a:rPr>
              <a:t>A method for constructing an outline for your literature review as a logical argument connecting existing work on your topic to your specific approach to the problem</a:t>
            </a:r>
          </a:p>
          <a:p>
            <a:pPr>
              <a:lnSpc>
                <a:spcPct val="90000"/>
              </a:lnSpc>
            </a:pPr>
            <a:r>
              <a:rPr lang="en-US" sz="1800" dirty="0">
                <a:solidFill>
                  <a:schemeClr val="tx1"/>
                </a:solidFill>
              </a:rPr>
              <a:t>Rather than just outline the concepts you need to discuss, this method forces you to think about the assumptions you are making and the premises you need to support for your research questions/hypotheses to make sense</a:t>
            </a:r>
          </a:p>
          <a:p>
            <a:pPr>
              <a:lnSpc>
                <a:spcPct val="90000"/>
              </a:lnSpc>
            </a:pPr>
            <a:r>
              <a:rPr lang="en-US" sz="1800" dirty="0">
                <a:solidFill>
                  <a:schemeClr val="tx1"/>
                </a:solidFill>
              </a:rPr>
              <a:t>Can lead to a much more coherent and logical flow that is concise and to-the-point</a:t>
            </a:r>
          </a:p>
          <a:p>
            <a:pPr>
              <a:lnSpc>
                <a:spcPct val="90000"/>
              </a:lnSpc>
            </a:pPr>
            <a:endParaRPr lang="en-US" sz="18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D0055FCE-F2BD-2303-E771-D3A8C07A4A0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C00BFE6-E697-B6A5-39A5-F6E362DE84C1}"/>
              </a:ext>
            </a:extLst>
          </p:cNvPr>
          <p:cNvSpPr>
            <a:spLocks noGrp="1"/>
          </p:cNvSpPr>
          <p:nvPr>
            <p:ph type="title"/>
          </p:nvPr>
        </p:nvSpPr>
        <p:spPr>
          <a:xfrm>
            <a:off x="684212" y="685799"/>
            <a:ext cx="3747111" cy="4892040"/>
          </a:xfrm>
        </p:spPr>
        <p:txBody>
          <a:bodyPr>
            <a:normAutofit/>
          </a:bodyPr>
          <a:lstStyle/>
          <a:p>
            <a:pPr algn="r"/>
            <a:r>
              <a:rPr lang="en-US" sz="3100" dirty="0"/>
              <a:t>Example Topic: Changes in the communication styles of political leaders</a:t>
            </a:r>
          </a:p>
        </p:txBody>
      </p:sp>
      <p:cxnSp>
        <p:nvCxnSpPr>
          <p:cNvPr id="12" name="Straight Connector 11">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267EDF5-155D-88F5-642F-9B27BD7CF1AE}"/>
              </a:ext>
            </a:extLst>
          </p:cNvPr>
          <p:cNvSpPr>
            <a:spLocks noGrp="1"/>
          </p:cNvSpPr>
          <p:nvPr>
            <p:ph idx="1"/>
          </p:nvPr>
        </p:nvSpPr>
        <p:spPr>
          <a:xfrm>
            <a:off x="4561115" y="108856"/>
            <a:ext cx="7445826" cy="6607629"/>
          </a:xfrm>
        </p:spPr>
        <p:txBody>
          <a:bodyPr>
            <a:normAutofit fontScale="92500"/>
          </a:bodyPr>
          <a:lstStyle/>
          <a:p>
            <a:pPr>
              <a:lnSpc>
                <a:spcPct val="90000"/>
              </a:lnSpc>
            </a:pPr>
            <a:r>
              <a:rPr lang="en-US" sz="1400" dirty="0">
                <a:solidFill>
                  <a:schemeClr val="tx1"/>
                </a:solidFill>
              </a:rPr>
              <a:t>Example Outline:</a:t>
            </a:r>
          </a:p>
          <a:p>
            <a:pPr lvl="1">
              <a:lnSpc>
                <a:spcPct val="90000"/>
              </a:lnSpc>
            </a:pPr>
            <a:r>
              <a:rPr lang="en-US" sz="1400" dirty="0">
                <a:solidFill>
                  <a:schemeClr val="tx1"/>
                </a:solidFill>
              </a:rPr>
              <a:t>Most scholars and political commentators on both the left and the right agree that Donald Trump is unlike any previous US president.</a:t>
            </a:r>
          </a:p>
          <a:p>
            <a:pPr lvl="1">
              <a:lnSpc>
                <a:spcPct val="90000"/>
              </a:lnSpc>
            </a:pPr>
            <a:r>
              <a:rPr lang="en-US" sz="1400" dirty="0">
                <a:solidFill>
                  <a:schemeClr val="tx1"/>
                </a:solidFill>
              </a:rPr>
              <a:t>During his campaign and in the first years of his presidency, many have claimed that Trump’s simplicity and directness were keys to his popularity.</a:t>
            </a:r>
          </a:p>
          <a:p>
            <a:pPr lvl="1">
              <a:lnSpc>
                <a:spcPct val="90000"/>
              </a:lnSpc>
            </a:pPr>
            <a:r>
              <a:rPr lang="en-US" sz="1400" dirty="0">
                <a:solidFill>
                  <a:schemeClr val="tx1"/>
                </a:solidFill>
              </a:rPr>
              <a:t>A second major distinguishing feature of Trump’s language is his self-confidence.</a:t>
            </a:r>
          </a:p>
          <a:p>
            <a:pPr lvl="1">
              <a:lnSpc>
                <a:spcPct val="90000"/>
              </a:lnSpc>
            </a:pPr>
            <a:r>
              <a:rPr lang="en-US" sz="1400" dirty="0">
                <a:solidFill>
                  <a:schemeClr val="tx1"/>
                </a:solidFill>
              </a:rPr>
              <a:t>We build on an extensive research tradition of exploring political leadership traits.</a:t>
            </a:r>
          </a:p>
          <a:p>
            <a:pPr lvl="1">
              <a:lnSpc>
                <a:spcPct val="90000"/>
              </a:lnSpc>
            </a:pPr>
            <a:r>
              <a:rPr lang="en-US" sz="1400" dirty="0">
                <a:solidFill>
                  <a:schemeClr val="tx1"/>
                </a:solidFill>
              </a:rPr>
              <a:t>If conveying simple messages with confidence is a powerful way to persuade voters in a democracy, it is incumbent on researchers to determine effective ways to measure these dimensions reliably, quickly, and efficiently.</a:t>
            </a:r>
          </a:p>
          <a:p>
            <a:pPr lvl="1">
              <a:lnSpc>
                <a:spcPct val="90000"/>
              </a:lnSpc>
            </a:pPr>
            <a:r>
              <a:rPr lang="en-US" sz="1400" dirty="0">
                <a:solidFill>
                  <a:schemeClr val="tx1"/>
                </a:solidFill>
              </a:rPr>
              <a:t>A common distinction in language is between content and function words.</a:t>
            </a:r>
          </a:p>
          <a:p>
            <a:pPr lvl="1">
              <a:lnSpc>
                <a:spcPct val="90000"/>
              </a:lnSpc>
            </a:pPr>
            <a:r>
              <a:rPr lang="en-US" sz="1400" dirty="0">
                <a:solidFill>
                  <a:schemeClr val="tx1"/>
                </a:solidFill>
              </a:rPr>
              <a:t>The eight categories of function words are not independent and indeed, capture an underlying psychological dimension known as analytic thinking.</a:t>
            </a:r>
          </a:p>
          <a:p>
            <a:pPr lvl="1">
              <a:lnSpc>
                <a:spcPct val="90000"/>
              </a:lnSpc>
            </a:pPr>
            <a:r>
              <a:rPr lang="en-US" sz="1400" dirty="0">
                <a:solidFill>
                  <a:schemeClr val="tx1"/>
                </a:solidFill>
              </a:rPr>
              <a:t>Past work has validated the use of function words as markers of the analytic thinking dimension, including a study of college admission essays from over 25,000 incoming students.</a:t>
            </a:r>
          </a:p>
          <a:p>
            <a:pPr lvl="1">
              <a:lnSpc>
                <a:spcPct val="90000"/>
              </a:lnSpc>
            </a:pPr>
            <a:r>
              <a:rPr lang="en-US" sz="1400" dirty="0">
                <a:solidFill>
                  <a:schemeClr val="tx1"/>
                </a:solidFill>
              </a:rPr>
              <a:t>The analysis of function words has also been useful in identifying people’s relative status or “clout” in a social hierarchy.</a:t>
            </a:r>
          </a:p>
          <a:p>
            <a:pPr lvl="1">
              <a:lnSpc>
                <a:spcPct val="90000"/>
              </a:lnSpc>
            </a:pPr>
            <a:r>
              <a:rPr lang="en-US" sz="1400" dirty="0">
                <a:solidFill>
                  <a:schemeClr val="tx1"/>
                </a:solidFill>
              </a:rPr>
              <a:t>Relevant to this project, the computerized text analysis program Linguistic Inquiry and Word Count (LIWC) was updated in 2015 to include empirically established measures of both analytic thinking and confidence using algorithms based on the projects of Pennebaker et al. and </a:t>
            </a:r>
            <a:r>
              <a:rPr lang="en-US" sz="1400" dirty="0" err="1">
                <a:solidFill>
                  <a:schemeClr val="tx1"/>
                </a:solidFill>
              </a:rPr>
              <a:t>Kacewicz</a:t>
            </a:r>
            <a:r>
              <a:rPr lang="en-US" sz="1400" dirty="0">
                <a:solidFill>
                  <a:schemeClr val="tx1"/>
                </a:solidFill>
              </a:rPr>
              <a:t> et al.</a:t>
            </a:r>
          </a:p>
          <a:p>
            <a:pPr lvl="1">
              <a:lnSpc>
                <a:spcPct val="90000"/>
              </a:lnSpc>
            </a:pPr>
            <a:r>
              <a:rPr lang="en-US" sz="1400" dirty="0">
                <a:solidFill>
                  <a:schemeClr val="tx1"/>
                </a:solidFill>
              </a:rPr>
              <a:t>The algorithm developed from the project of </a:t>
            </a:r>
            <a:r>
              <a:rPr lang="en-US" sz="1400" dirty="0" err="1">
                <a:solidFill>
                  <a:schemeClr val="tx1"/>
                </a:solidFill>
              </a:rPr>
              <a:t>Kacewicz</a:t>
            </a:r>
            <a:r>
              <a:rPr lang="en-US" sz="1400" dirty="0">
                <a:solidFill>
                  <a:schemeClr val="tx1"/>
                </a:solidFill>
              </a:rPr>
              <a:t> et al. is formally referred to as clout.</a:t>
            </a:r>
          </a:p>
          <a:p>
            <a:pPr lvl="1">
              <a:lnSpc>
                <a:spcPct val="90000"/>
              </a:lnSpc>
            </a:pPr>
            <a:r>
              <a:rPr lang="en-US" sz="1400" dirty="0">
                <a:solidFill>
                  <a:schemeClr val="tx1"/>
                </a:solidFill>
              </a:rPr>
              <a:t>The purpose of this project was to apply linguistic analyses to large corpora of texts from the American presidency, non-US leaders, legislative bodies, and cultural contexts spanning multiple decades.</a:t>
            </a:r>
          </a:p>
        </p:txBody>
      </p:sp>
    </p:spTree>
    <p:extLst>
      <p:ext uri="{BB962C8B-B14F-4D97-AF65-F5344CB8AC3E}">
        <p14:creationId xmlns:p14="http://schemas.microsoft.com/office/powerpoint/2010/main" val="3467653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4839" y="5205789"/>
            <a:ext cx="8534400" cy="1507067"/>
          </a:xfrm>
        </p:spPr>
        <p:txBody>
          <a:bodyPr>
            <a:normAutofit/>
          </a:bodyPr>
          <a:lstStyle/>
          <a:p>
            <a:pPr marL="0" lvl="0" indent="0">
              <a:buNone/>
            </a:pPr>
            <a:r>
              <a:t>Final Guidance</a:t>
            </a:r>
          </a:p>
        </p:txBody>
      </p:sp>
      <p:pic>
        <p:nvPicPr>
          <p:cNvPr id="7" name="Graphic 6" descr="Pencil">
            <a:extLst>
              <a:ext uri="{FF2B5EF4-FFF2-40B4-BE49-F238E27FC236}">
                <a16:creationId xmlns:a16="http://schemas.microsoft.com/office/drawing/2014/main" id="{9C52EDFF-B263-F7A3-035C-932C3BB55D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5333" y="733647"/>
            <a:ext cx="3575884" cy="3575884"/>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593772" y="145144"/>
            <a:ext cx="6325054" cy="5417455"/>
          </a:xfrm>
        </p:spPr>
        <p:txBody>
          <a:bodyPr>
            <a:normAutofit lnSpcReduction="10000"/>
          </a:bodyPr>
          <a:lstStyle/>
          <a:p>
            <a:pPr>
              <a:lnSpc>
                <a:spcPct val="90000"/>
              </a:lnSpc>
            </a:pPr>
            <a:r>
              <a:rPr lang="en-US" sz="2400" dirty="0">
                <a:solidFill>
                  <a:schemeClr val="tx1"/>
                </a:solidFill>
              </a:rPr>
              <a:t>Read critically</a:t>
            </a:r>
          </a:p>
          <a:p>
            <a:pPr>
              <a:lnSpc>
                <a:spcPct val="90000"/>
              </a:lnSpc>
            </a:pPr>
            <a:r>
              <a:rPr lang="en-US" sz="2400" dirty="0">
                <a:solidFill>
                  <a:schemeClr val="tx1"/>
                </a:solidFill>
              </a:rPr>
              <a:t>Write short summaries or notes about your sources</a:t>
            </a:r>
          </a:p>
          <a:p>
            <a:pPr>
              <a:lnSpc>
                <a:spcPct val="90000"/>
              </a:lnSpc>
            </a:pPr>
            <a:r>
              <a:rPr lang="en-US" sz="2400" dirty="0">
                <a:solidFill>
                  <a:schemeClr val="tx1"/>
                </a:solidFill>
              </a:rPr>
              <a:t>Keep your goal in mind</a:t>
            </a:r>
          </a:p>
          <a:p>
            <a:pPr>
              <a:lnSpc>
                <a:spcPct val="90000"/>
              </a:lnSpc>
            </a:pPr>
            <a:r>
              <a:rPr lang="en-US" sz="2400" dirty="0">
                <a:solidFill>
                  <a:schemeClr val="tx1"/>
                </a:solidFill>
              </a:rPr>
              <a:t>Try to find multiple citations that support your main points</a:t>
            </a:r>
          </a:p>
          <a:p>
            <a:pPr>
              <a:lnSpc>
                <a:spcPct val="90000"/>
              </a:lnSpc>
            </a:pPr>
            <a:r>
              <a:rPr lang="en-US" sz="2400" dirty="0">
                <a:solidFill>
                  <a:schemeClr val="tx1"/>
                </a:solidFill>
              </a:rPr>
              <a:t>Focus on the big picture not the small details</a:t>
            </a:r>
          </a:p>
          <a:p>
            <a:pPr>
              <a:lnSpc>
                <a:spcPct val="90000"/>
              </a:lnSpc>
            </a:pPr>
            <a:r>
              <a:rPr lang="en-US" sz="2400" dirty="0">
                <a:solidFill>
                  <a:schemeClr val="tx1"/>
                </a:solidFill>
              </a:rPr>
              <a:t>Unless you are developing a new model or algorithm, you don’t need to extensively explain the technical components; just briefly discuss why the chosen model makes the most sense for your particular problem</a:t>
            </a: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2529</TotalTime>
  <Words>6131</Words>
  <Application>Microsoft Office PowerPoint</Application>
  <PresentationFormat>Widescreen</PresentationFormat>
  <Paragraphs>131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Century Gothic</vt:lpstr>
      <vt:lpstr>Wingdings 3</vt:lpstr>
      <vt:lpstr>Slice</vt:lpstr>
      <vt:lpstr>Finding Frameworks and Benchmarks</vt:lpstr>
      <vt:lpstr>Frameworks</vt:lpstr>
      <vt:lpstr>Benchmarks</vt:lpstr>
      <vt:lpstr>Establishing Frameworks and Benchmarks</vt:lpstr>
      <vt:lpstr>Purpose of a Literature Review</vt:lpstr>
      <vt:lpstr>What a Literature Review is</vt:lpstr>
      <vt:lpstr>What a Literature Review is NOT</vt:lpstr>
      <vt:lpstr>Citation Management</vt:lpstr>
      <vt:lpstr>Methods for Organizing and Outlining a Literature Review</vt:lpstr>
      <vt:lpstr>Method 1: Literature Maps</vt:lpstr>
      <vt:lpstr>PowerPoint Presentation</vt:lpstr>
      <vt:lpstr>Method 2: Subheadings</vt:lpstr>
      <vt:lpstr>PowerPoint Presentation</vt:lpstr>
      <vt:lpstr>Method 3: First Sentences</vt:lpstr>
      <vt:lpstr>Example Topic: Changes in the communication styles of political leaders</vt:lpstr>
      <vt:lpstr>Final Guidance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TM02900769[[fn=Retrospect]]</Template>
  <TotalTime>5</TotalTime>
  <Words>5</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Calibri Light</vt:lpstr>
      <vt:lpstr>Times New Roman</vt:lpstr>
      <vt:lpstr>Retrospect</vt:lpstr>
      <vt:lpstr>Title</vt:lpstr>
      <vt:lpstr>Slide 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an Literature Review</dc:title>
  <dc:creator>Dr. Kayla Jordan</dc:creator>
  <cp:keywords/>
  <cp:lastModifiedBy>Kayden Jordan</cp:lastModifiedBy>
  <cp:revision>4</cp:revision>
  <dcterms:created xsi:type="dcterms:W3CDTF">2021-06-01T17:19:45Z</dcterms:created>
  <dcterms:modified xsi:type="dcterms:W3CDTF">2025-11-13T02:12:23Z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6/1/2021</vt:lpwstr>
  </property>
  <property fmtid="{D5CDD505-2E9C-101B-9397-08002B2CF9AE}" pid="3" name="output">
    <vt:lpwstr/>
  </property>
</Properties>
</file>