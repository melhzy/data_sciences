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7"/>
  </p:notesMasterIdLst>
  <p:sldIdLst>
    <p:sldId id="256" r:id="rId2"/>
    <p:sldId id="257" r:id="rId3"/>
    <p:sldId id="259" r:id="rId4"/>
    <p:sldId id="261" r:id="rId5"/>
    <p:sldId id="262" r:id="rId6"/>
    <p:sldId id="263" r:id="rId7"/>
    <p:sldId id="273" r:id="rId8"/>
    <p:sldId id="264" r:id="rId9"/>
    <p:sldId id="271" r:id="rId10"/>
    <p:sldId id="265" r:id="rId11"/>
    <p:sldId id="266" r:id="rId12"/>
    <p:sldId id="272" r:id="rId13"/>
    <p:sldId id="274"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907D8C-8931-45B0-8287-24DF368D87E7}" v="15" dt="2025-10-25T22:51:08.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53276" autoAdjust="0"/>
  </p:normalViewPr>
  <p:slideViewPr>
    <p:cSldViewPr snapToGrid="0">
      <p:cViewPr varScale="1">
        <p:scale>
          <a:sx n="33" d="100"/>
          <a:sy n="33" d="100"/>
        </p:scale>
        <p:origin x="19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undo custSel modSld">
      <pc:chgData name="Kayden Jordan" userId="e8c6793a-f4f0-4dab-a372-bcc2bed74348" providerId="ADAL" clId="{2D097765-E3AD-4BF7-A734-A5DEE3B1B8ED}" dt="2025-10-25T22:54:33.824" v="4063" actId="20577"/>
      <pc:docMkLst>
        <pc:docMk/>
      </pc:docMkLst>
      <pc:sldChg chg="modNotesTx">
        <pc:chgData name="Kayden Jordan" userId="e8c6793a-f4f0-4dab-a372-bcc2bed74348" providerId="ADAL" clId="{2D097765-E3AD-4BF7-A734-A5DEE3B1B8ED}" dt="2025-10-25T21:32:19.658" v="724" actId="20577"/>
        <pc:sldMkLst>
          <pc:docMk/>
          <pc:sldMk cId="0" sldId="257"/>
        </pc:sldMkLst>
      </pc:sldChg>
      <pc:sldChg chg="modNotesTx">
        <pc:chgData name="Kayden Jordan" userId="e8c6793a-f4f0-4dab-a372-bcc2bed74348" providerId="ADAL" clId="{2D097765-E3AD-4BF7-A734-A5DEE3B1B8ED}" dt="2025-10-25T21:39:49.969" v="1147" actId="20577"/>
        <pc:sldMkLst>
          <pc:docMk/>
          <pc:sldMk cId="0" sldId="259"/>
        </pc:sldMkLst>
      </pc:sldChg>
      <pc:sldChg chg="modNotesTx">
        <pc:chgData name="Kayden Jordan" userId="e8c6793a-f4f0-4dab-a372-bcc2bed74348" providerId="ADAL" clId="{2D097765-E3AD-4BF7-A734-A5DEE3B1B8ED}" dt="2025-10-25T21:50:57.521" v="1862" actId="20577"/>
        <pc:sldMkLst>
          <pc:docMk/>
          <pc:sldMk cId="0" sldId="261"/>
        </pc:sldMkLst>
      </pc:sldChg>
      <pc:sldChg chg="modNotesTx">
        <pc:chgData name="Kayden Jordan" userId="e8c6793a-f4f0-4dab-a372-bcc2bed74348" providerId="ADAL" clId="{2D097765-E3AD-4BF7-A734-A5DEE3B1B8ED}" dt="2025-10-25T21:56:53.950" v="2086" actId="20577"/>
        <pc:sldMkLst>
          <pc:docMk/>
          <pc:sldMk cId="0" sldId="262"/>
        </pc:sldMkLst>
      </pc:sldChg>
      <pc:sldChg chg="modNotesTx">
        <pc:chgData name="Kayden Jordan" userId="e8c6793a-f4f0-4dab-a372-bcc2bed74348" providerId="ADAL" clId="{2D097765-E3AD-4BF7-A734-A5DEE3B1B8ED}" dt="2025-10-25T22:05:58.261" v="2388" actId="20577"/>
        <pc:sldMkLst>
          <pc:docMk/>
          <pc:sldMk cId="0" sldId="263"/>
        </pc:sldMkLst>
      </pc:sldChg>
      <pc:sldChg chg="modNotesTx">
        <pc:chgData name="Kayden Jordan" userId="e8c6793a-f4f0-4dab-a372-bcc2bed74348" providerId="ADAL" clId="{2D097765-E3AD-4BF7-A734-A5DEE3B1B8ED}" dt="2025-10-25T22:14:55.902" v="2593" actId="20577"/>
        <pc:sldMkLst>
          <pc:docMk/>
          <pc:sldMk cId="0" sldId="264"/>
        </pc:sldMkLst>
      </pc:sldChg>
      <pc:sldChg chg="modNotesTx">
        <pc:chgData name="Kayden Jordan" userId="e8c6793a-f4f0-4dab-a372-bcc2bed74348" providerId="ADAL" clId="{2D097765-E3AD-4BF7-A734-A5DEE3B1B8ED}" dt="2025-10-25T22:29:25.348" v="3155" actId="20577"/>
        <pc:sldMkLst>
          <pc:docMk/>
          <pc:sldMk cId="0" sldId="265"/>
        </pc:sldMkLst>
      </pc:sldChg>
      <pc:sldChg chg="modNotesTx">
        <pc:chgData name="Kayden Jordan" userId="e8c6793a-f4f0-4dab-a372-bcc2bed74348" providerId="ADAL" clId="{2D097765-E3AD-4BF7-A734-A5DEE3B1B8ED}" dt="2025-10-25T22:41:52.245" v="3648" actId="20577"/>
        <pc:sldMkLst>
          <pc:docMk/>
          <pc:sldMk cId="0" sldId="266"/>
        </pc:sldMkLst>
      </pc:sldChg>
      <pc:sldChg chg="modNotesTx">
        <pc:chgData name="Kayden Jordan" userId="e8c6793a-f4f0-4dab-a372-bcc2bed74348" providerId="ADAL" clId="{2D097765-E3AD-4BF7-A734-A5DEE3B1B8ED}" dt="2025-10-25T22:54:33.824" v="4063" actId="20577"/>
        <pc:sldMkLst>
          <pc:docMk/>
          <pc:sldMk cId="0" sldId="268"/>
        </pc:sldMkLst>
      </pc:sldChg>
      <pc:sldChg chg="modNotesTx">
        <pc:chgData name="Kayden Jordan" userId="e8c6793a-f4f0-4dab-a372-bcc2bed74348" providerId="ADAL" clId="{2D097765-E3AD-4BF7-A734-A5DEE3B1B8ED}" dt="2025-10-25T22:22:26.454" v="2888" actId="20577"/>
        <pc:sldMkLst>
          <pc:docMk/>
          <pc:sldMk cId="2189019366" sldId="271"/>
        </pc:sldMkLst>
      </pc:sldChg>
      <pc:sldChg chg="modNotesTx">
        <pc:chgData name="Kayden Jordan" userId="e8c6793a-f4f0-4dab-a372-bcc2bed74348" providerId="ADAL" clId="{2D097765-E3AD-4BF7-A734-A5DEE3B1B8ED}" dt="2025-10-25T22:49:39.037" v="3944" actId="20577"/>
        <pc:sldMkLst>
          <pc:docMk/>
          <pc:sldMk cId="703214343" sldId="272"/>
        </pc:sldMkLst>
      </pc:sldChg>
      <pc:sldChg chg="modNotesTx">
        <pc:chgData name="Kayden Jordan" userId="e8c6793a-f4f0-4dab-a372-bcc2bed74348" providerId="ADAL" clId="{2D097765-E3AD-4BF7-A734-A5DEE3B1B8ED}" dt="2025-10-25T22:08:57.189" v="2442" actId="20577"/>
        <pc:sldMkLst>
          <pc:docMk/>
          <pc:sldMk cId="760669525" sldId="273"/>
        </pc:sldMkLst>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hyperlink" Target="https://harrisburgu.instructure.com/courses/17603/assignments/447560" TargetMode="Externa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harrisburgu.instructure.com/courses/17603/assignments/447560" TargetMode="External"/><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E81772-AC45-4857-AF13-DF3D7F2B3B8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F59FFB43-2616-4306-A48B-EC0BF3A368AD}">
      <dgm:prSet/>
      <dgm:spPr/>
      <dgm:t>
        <a:bodyPr/>
        <a:lstStyle/>
        <a:p>
          <a:r>
            <a:rPr lang="en-US"/>
            <a:t>Human Subjects Research</a:t>
          </a:r>
        </a:p>
      </dgm:t>
    </dgm:pt>
    <dgm:pt modelId="{95C61E61-9FE9-481B-B898-A63D28D1F0C2}" type="parTrans" cxnId="{9C7D28E6-B75A-4E49-AF52-CA8748D36F75}">
      <dgm:prSet/>
      <dgm:spPr/>
      <dgm:t>
        <a:bodyPr/>
        <a:lstStyle/>
        <a:p>
          <a:endParaRPr lang="en-US"/>
        </a:p>
      </dgm:t>
    </dgm:pt>
    <dgm:pt modelId="{92CCD29F-BF23-4B20-AFBE-B07108E8A717}" type="sibTrans" cxnId="{9C7D28E6-B75A-4E49-AF52-CA8748D36F75}">
      <dgm:prSet/>
      <dgm:spPr/>
      <dgm:t>
        <a:bodyPr/>
        <a:lstStyle/>
        <a:p>
          <a:endParaRPr lang="en-US"/>
        </a:p>
      </dgm:t>
    </dgm:pt>
    <dgm:pt modelId="{9DF94BBB-8524-4EBE-97EA-70D917E4A8AD}">
      <dgm:prSet/>
      <dgm:spPr/>
      <dgm:t>
        <a:bodyPr/>
        <a:lstStyle/>
        <a:p>
          <a:r>
            <a:rPr lang="en-US"/>
            <a:t>Well-defined and regulated</a:t>
          </a:r>
        </a:p>
      </dgm:t>
    </dgm:pt>
    <dgm:pt modelId="{5B5634E0-ED90-43FE-A387-C42626F15103}" type="parTrans" cxnId="{80FBB70A-D685-426D-AA3E-0528118C46C8}">
      <dgm:prSet/>
      <dgm:spPr/>
      <dgm:t>
        <a:bodyPr/>
        <a:lstStyle/>
        <a:p>
          <a:endParaRPr lang="en-US"/>
        </a:p>
      </dgm:t>
    </dgm:pt>
    <dgm:pt modelId="{58C08075-AF54-470E-BBAD-A20A0EDD6C27}" type="sibTrans" cxnId="{80FBB70A-D685-426D-AA3E-0528118C46C8}">
      <dgm:prSet/>
      <dgm:spPr/>
      <dgm:t>
        <a:bodyPr/>
        <a:lstStyle/>
        <a:p>
          <a:endParaRPr lang="en-US"/>
        </a:p>
      </dgm:t>
    </dgm:pt>
    <dgm:pt modelId="{5B7BDB77-6CA1-46B1-BC91-3FC222D8200B}">
      <dgm:prSet/>
      <dgm:spPr/>
      <dgm:t>
        <a:bodyPr/>
        <a:lstStyle/>
        <a:p>
          <a:r>
            <a:rPr lang="en-US"/>
            <a:t>Professionalism and Scientific Values</a:t>
          </a:r>
        </a:p>
      </dgm:t>
    </dgm:pt>
    <dgm:pt modelId="{BBEA6806-AEDD-4E39-B027-88963342142C}" type="parTrans" cxnId="{1E2D9011-3542-4625-8B2B-338842EDCF69}">
      <dgm:prSet/>
      <dgm:spPr/>
      <dgm:t>
        <a:bodyPr/>
        <a:lstStyle/>
        <a:p>
          <a:endParaRPr lang="en-US"/>
        </a:p>
      </dgm:t>
    </dgm:pt>
    <dgm:pt modelId="{5922CBF6-FFFA-4836-AC96-A35904913F2A}" type="sibTrans" cxnId="{1E2D9011-3542-4625-8B2B-338842EDCF69}">
      <dgm:prSet/>
      <dgm:spPr/>
      <dgm:t>
        <a:bodyPr/>
        <a:lstStyle/>
        <a:p>
          <a:endParaRPr lang="en-US"/>
        </a:p>
      </dgm:t>
    </dgm:pt>
    <dgm:pt modelId="{1A650B83-E7A2-4B45-8851-60687CBDF50B}">
      <dgm:prSet/>
      <dgm:spPr/>
      <dgm:t>
        <a:bodyPr/>
        <a:lstStyle/>
        <a:p>
          <a:r>
            <a:rPr lang="en-US"/>
            <a:t>Mix of norms and regulations</a:t>
          </a:r>
        </a:p>
      </dgm:t>
    </dgm:pt>
    <dgm:pt modelId="{09627919-0CF5-4B9F-83CC-917341F26F1D}" type="parTrans" cxnId="{3091DE6E-AE71-4955-9DD7-3099C6693473}">
      <dgm:prSet/>
      <dgm:spPr/>
      <dgm:t>
        <a:bodyPr/>
        <a:lstStyle/>
        <a:p>
          <a:endParaRPr lang="en-US"/>
        </a:p>
      </dgm:t>
    </dgm:pt>
    <dgm:pt modelId="{CD923885-0C6E-4BA4-8CBF-256A470C5C7D}" type="sibTrans" cxnId="{3091DE6E-AE71-4955-9DD7-3099C6693473}">
      <dgm:prSet/>
      <dgm:spPr/>
      <dgm:t>
        <a:bodyPr/>
        <a:lstStyle/>
        <a:p>
          <a:endParaRPr lang="en-US"/>
        </a:p>
      </dgm:t>
    </dgm:pt>
    <dgm:pt modelId="{9D8F3C53-5953-4775-BD65-FE1408BF310E}">
      <dgm:prSet/>
      <dgm:spPr/>
      <dgm:t>
        <a:bodyPr/>
        <a:lstStyle/>
        <a:p>
          <a:r>
            <a:rPr lang="en-US"/>
            <a:t>Data Ethics</a:t>
          </a:r>
        </a:p>
      </dgm:t>
    </dgm:pt>
    <dgm:pt modelId="{C57F25A0-1B0D-4013-99C3-03016BC6EE09}" type="parTrans" cxnId="{E9067761-9F88-4E64-BEB5-CBD1FA4462F4}">
      <dgm:prSet/>
      <dgm:spPr/>
      <dgm:t>
        <a:bodyPr/>
        <a:lstStyle/>
        <a:p>
          <a:endParaRPr lang="en-US"/>
        </a:p>
      </dgm:t>
    </dgm:pt>
    <dgm:pt modelId="{6A726BA2-BC46-403F-87AC-3E39D65023E5}" type="sibTrans" cxnId="{E9067761-9F88-4E64-BEB5-CBD1FA4462F4}">
      <dgm:prSet/>
      <dgm:spPr/>
      <dgm:t>
        <a:bodyPr/>
        <a:lstStyle/>
        <a:p>
          <a:endParaRPr lang="en-US"/>
        </a:p>
      </dgm:t>
    </dgm:pt>
    <dgm:pt modelId="{9694D004-BB41-4F19-98BC-710286FC6591}">
      <dgm:prSet/>
      <dgm:spPr/>
      <dgm:t>
        <a:bodyPr/>
        <a:lstStyle/>
        <a:p>
          <a:r>
            <a:rPr lang="en-US"/>
            <a:t>Still being defined and not regulated (in the US)</a:t>
          </a:r>
        </a:p>
      </dgm:t>
    </dgm:pt>
    <dgm:pt modelId="{808801DA-A0A6-4E94-965E-685E28DFCE77}" type="parTrans" cxnId="{3CF07909-5CFD-4ABC-978D-7074F6F54600}">
      <dgm:prSet/>
      <dgm:spPr/>
      <dgm:t>
        <a:bodyPr/>
        <a:lstStyle/>
        <a:p>
          <a:endParaRPr lang="en-US"/>
        </a:p>
      </dgm:t>
    </dgm:pt>
    <dgm:pt modelId="{95A3E398-C94E-461C-8C3B-CBD51C2C7E16}" type="sibTrans" cxnId="{3CF07909-5CFD-4ABC-978D-7074F6F54600}">
      <dgm:prSet/>
      <dgm:spPr/>
      <dgm:t>
        <a:bodyPr/>
        <a:lstStyle/>
        <a:p>
          <a:endParaRPr lang="en-US"/>
        </a:p>
      </dgm:t>
    </dgm:pt>
    <dgm:pt modelId="{438A092E-7E84-4D9F-935D-F879FDD9528E}" type="pres">
      <dgm:prSet presAssocID="{5FE81772-AC45-4857-AF13-DF3D7F2B3B8F}" presName="Name0" presStyleCnt="0">
        <dgm:presLayoutVars>
          <dgm:dir/>
          <dgm:animLvl val="lvl"/>
          <dgm:resizeHandles val="exact"/>
        </dgm:presLayoutVars>
      </dgm:prSet>
      <dgm:spPr/>
    </dgm:pt>
    <dgm:pt modelId="{7DCFA92C-58DF-4FA1-93D5-9EA7D881FE80}" type="pres">
      <dgm:prSet presAssocID="{F59FFB43-2616-4306-A48B-EC0BF3A368AD}" presName="linNode" presStyleCnt="0"/>
      <dgm:spPr/>
    </dgm:pt>
    <dgm:pt modelId="{2C3BA3CD-02F3-495C-B066-F56AC987B0A5}" type="pres">
      <dgm:prSet presAssocID="{F59FFB43-2616-4306-A48B-EC0BF3A368AD}" presName="parentText" presStyleLbl="node1" presStyleIdx="0" presStyleCnt="3">
        <dgm:presLayoutVars>
          <dgm:chMax val="1"/>
          <dgm:bulletEnabled val="1"/>
        </dgm:presLayoutVars>
      </dgm:prSet>
      <dgm:spPr/>
    </dgm:pt>
    <dgm:pt modelId="{D3F976BA-23A0-4449-9086-9349FE61BF53}" type="pres">
      <dgm:prSet presAssocID="{F59FFB43-2616-4306-A48B-EC0BF3A368AD}" presName="descendantText" presStyleLbl="alignAccFollowNode1" presStyleIdx="0" presStyleCnt="3">
        <dgm:presLayoutVars>
          <dgm:bulletEnabled val="1"/>
        </dgm:presLayoutVars>
      </dgm:prSet>
      <dgm:spPr/>
    </dgm:pt>
    <dgm:pt modelId="{F666FC0D-246C-4763-BF4B-DB31699A869F}" type="pres">
      <dgm:prSet presAssocID="{92CCD29F-BF23-4B20-AFBE-B07108E8A717}" presName="sp" presStyleCnt="0"/>
      <dgm:spPr/>
    </dgm:pt>
    <dgm:pt modelId="{33501B17-A437-4373-A40E-30C14ECDDE7D}" type="pres">
      <dgm:prSet presAssocID="{5B7BDB77-6CA1-46B1-BC91-3FC222D8200B}" presName="linNode" presStyleCnt="0"/>
      <dgm:spPr/>
    </dgm:pt>
    <dgm:pt modelId="{E1A9FCF3-F310-4D82-B067-865D4FEAB65B}" type="pres">
      <dgm:prSet presAssocID="{5B7BDB77-6CA1-46B1-BC91-3FC222D8200B}" presName="parentText" presStyleLbl="node1" presStyleIdx="1" presStyleCnt="3">
        <dgm:presLayoutVars>
          <dgm:chMax val="1"/>
          <dgm:bulletEnabled val="1"/>
        </dgm:presLayoutVars>
      </dgm:prSet>
      <dgm:spPr/>
    </dgm:pt>
    <dgm:pt modelId="{B1DA6936-B0F0-49EB-A39A-B20B276F6FCA}" type="pres">
      <dgm:prSet presAssocID="{5B7BDB77-6CA1-46B1-BC91-3FC222D8200B}" presName="descendantText" presStyleLbl="alignAccFollowNode1" presStyleIdx="1" presStyleCnt="3">
        <dgm:presLayoutVars>
          <dgm:bulletEnabled val="1"/>
        </dgm:presLayoutVars>
      </dgm:prSet>
      <dgm:spPr/>
    </dgm:pt>
    <dgm:pt modelId="{F5D88AF1-48A0-4C5C-ABC3-4D6D3E09A03C}" type="pres">
      <dgm:prSet presAssocID="{5922CBF6-FFFA-4836-AC96-A35904913F2A}" presName="sp" presStyleCnt="0"/>
      <dgm:spPr/>
    </dgm:pt>
    <dgm:pt modelId="{DFD93B54-541A-4100-BC76-09447DBB1372}" type="pres">
      <dgm:prSet presAssocID="{9D8F3C53-5953-4775-BD65-FE1408BF310E}" presName="linNode" presStyleCnt="0"/>
      <dgm:spPr/>
    </dgm:pt>
    <dgm:pt modelId="{6AAE44CA-1012-44D6-BF20-9E18DFC840EA}" type="pres">
      <dgm:prSet presAssocID="{9D8F3C53-5953-4775-BD65-FE1408BF310E}" presName="parentText" presStyleLbl="node1" presStyleIdx="2" presStyleCnt="3">
        <dgm:presLayoutVars>
          <dgm:chMax val="1"/>
          <dgm:bulletEnabled val="1"/>
        </dgm:presLayoutVars>
      </dgm:prSet>
      <dgm:spPr/>
    </dgm:pt>
    <dgm:pt modelId="{5CD55988-5CD7-43F3-AAB5-6CAE21BD526C}" type="pres">
      <dgm:prSet presAssocID="{9D8F3C53-5953-4775-BD65-FE1408BF310E}" presName="descendantText" presStyleLbl="alignAccFollowNode1" presStyleIdx="2" presStyleCnt="3">
        <dgm:presLayoutVars>
          <dgm:bulletEnabled val="1"/>
        </dgm:presLayoutVars>
      </dgm:prSet>
      <dgm:spPr/>
    </dgm:pt>
  </dgm:ptLst>
  <dgm:cxnLst>
    <dgm:cxn modelId="{3CF07909-5CFD-4ABC-978D-7074F6F54600}" srcId="{9D8F3C53-5953-4775-BD65-FE1408BF310E}" destId="{9694D004-BB41-4F19-98BC-710286FC6591}" srcOrd="0" destOrd="0" parTransId="{808801DA-A0A6-4E94-965E-685E28DFCE77}" sibTransId="{95A3E398-C94E-461C-8C3B-CBD51C2C7E16}"/>
    <dgm:cxn modelId="{80FBB70A-D685-426D-AA3E-0528118C46C8}" srcId="{F59FFB43-2616-4306-A48B-EC0BF3A368AD}" destId="{9DF94BBB-8524-4EBE-97EA-70D917E4A8AD}" srcOrd="0" destOrd="0" parTransId="{5B5634E0-ED90-43FE-A387-C42626F15103}" sibTransId="{58C08075-AF54-470E-BBAD-A20A0EDD6C27}"/>
    <dgm:cxn modelId="{1E2D9011-3542-4625-8B2B-338842EDCF69}" srcId="{5FE81772-AC45-4857-AF13-DF3D7F2B3B8F}" destId="{5B7BDB77-6CA1-46B1-BC91-3FC222D8200B}" srcOrd="1" destOrd="0" parTransId="{BBEA6806-AEDD-4E39-B027-88963342142C}" sibTransId="{5922CBF6-FFFA-4836-AC96-A35904913F2A}"/>
    <dgm:cxn modelId="{C2B8E12B-70D9-4041-A823-6F453145742C}" type="presOf" srcId="{9694D004-BB41-4F19-98BC-710286FC6591}" destId="{5CD55988-5CD7-43F3-AAB5-6CAE21BD526C}" srcOrd="0" destOrd="0" presId="urn:microsoft.com/office/officeart/2005/8/layout/vList5"/>
    <dgm:cxn modelId="{E9067761-9F88-4E64-BEB5-CBD1FA4462F4}" srcId="{5FE81772-AC45-4857-AF13-DF3D7F2B3B8F}" destId="{9D8F3C53-5953-4775-BD65-FE1408BF310E}" srcOrd="2" destOrd="0" parTransId="{C57F25A0-1B0D-4013-99C3-03016BC6EE09}" sibTransId="{6A726BA2-BC46-403F-87AC-3E39D65023E5}"/>
    <dgm:cxn modelId="{3091DE6E-AE71-4955-9DD7-3099C6693473}" srcId="{5B7BDB77-6CA1-46B1-BC91-3FC222D8200B}" destId="{1A650B83-E7A2-4B45-8851-60687CBDF50B}" srcOrd="0" destOrd="0" parTransId="{09627919-0CF5-4B9F-83CC-917341F26F1D}" sibTransId="{CD923885-0C6E-4BA4-8CBF-256A470C5C7D}"/>
    <dgm:cxn modelId="{B30D4A4F-2FA5-4B69-ADD2-FE62BADE9A6F}" type="presOf" srcId="{1A650B83-E7A2-4B45-8851-60687CBDF50B}" destId="{B1DA6936-B0F0-49EB-A39A-B20B276F6FCA}" srcOrd="0" destOrd="0" presId="urn:microsoft.com/office/officeart/2005/8/layout/vList5"/>
    <dgm:cxn modelId="{C0682582-1309-4B2F-8C5C-4C3B2D6C1D6C}" type="presOf" srcId="{9DF94BBB-8524-4EBE-97EA-70D917E4A8AD}" destId="{D3F976BA-23A0-4449-9086-9349FE61BF53}" srcOrd="0" destOrd="0" presId="urn:microsoft.com/office/officeart/2005/8/layout/vList5"/>
    <dgm:cxn modelId="{EC2DBBD4-49E5-4D2A-AD46-45AC4BDC092B}" type="presOf" srcId="{5B7BDB77-6CA1-46B1-BC91-3FC222D8200B}" destId="{E1A9FCF3-F310-4D82-B067-865D4FEAB65B}" srcOrd="0" destOrd="0" presId="urn:microsoft.com/office/officeart/2005/8/layout/vList5"/>
    <dgm:cxn modelId="{3FF8A7D9-993B-4267-8998-00B912E6A029}" type="presOf" srcId="{9D8F3C53-5953-4775-BD65-FE1408BF310E}" destId="{6AAE44CA-1012-44D6-BF20-9E18DFC840EA}" srcOrd="0" destOrd="0" presId="urn:microsoft.com/office/officeart/2005/8/layout/vList5"/>
    <dgm:cxn modelId="{9C7D28E6-B75A-4E49-AF52-CA8748D36F75}" srcId="{5FE81772-AC45-4857-AF13-DF3D7F2B3B8F}" destId="{F59FFB43-2616-4306-A48B-EC0BF3A368AD}" srcOrd="0" destOrd="0" parTransId="{95C61E61-9FE9-481B-B898-A63D28D1F0C2}" sibTransId="{92CCD29F-BF23-4B20-AFBE-B07108E8A717}"/>
    <dgm:cxn modelId="{A2A33AED-CF49-4203-8697-D7EFFC3FF741}" type="presOf" srcId="{F59FFB43-2616-4306-A48B-EC0BF3A368AD}" destId="{2C3BA3CD-02F3-495C-B066-F56AC987B0A5}" srcOrd="0" destOrd="0" presId="urn:microsoft.com/office/officeart/2005/8/layout/vList5"/>
    <dgm:cxn modelId="{2763DFF6-2139-4E7C-9B8C-388D4062FF2D}" type="presOf" srcId="{5FE81772-AC45-4857-AF13-DF3D7F2B3B8F}" destId="{438A092E-7E84-4D9F-935D-F879FDD9528E}" srcOrd="0" destOrd="0" presId="urn:microsoft.com/office/officeart/2005/8/layout/vList5"/>
    <dgm:cxn modelId="{554074D6-7427-432E-B983-7FECA171CE5B}" type="presParOf" srcId="{438A092E-7E84-4D9F-935D-F879FDD9528E}" destId="{7DCFA92C-58DF-4FA1-93D5-9EA7D881FE80}" srcOrd="0" destOrd="0" presId="urn:microsoft.com/office/officeart/2005/8/layout/vList5"/>
    <dgm:cxn modelId="{B0DB943B-3CF3-47F0-ABA5-E30E61834161}" type="presParOf" srcId="{7DCFA92C-58DF-4FA1-93D5-9EA7D881FE80}" destId="{2C3BA3CD-02F3-495C-B066-F56AC987B0A5}" srcOrd="0" destOrd="0" presId="urn:microsoft.com/office/officeart/2005/8/layout/vList5"/>
    <dgm:cxn modelId="{4182DD40-5A4B-42ED-8726-19411739653F}" type="presParOf" srcId="{7DCFA92C-58DF-4FA1-93D5-9EA7D881FE80}" destId="{D3F976BA-23A0-4449-9086-9349FE61BF53}" srcOrd="1" destOrd="0" presId="urn:microsoft.com/office/officeart/2005/8/layout/vList5"/>
    <dgm:cxn modelId="{86FDD38B-8019-42DF-A89D-C383B413374E}" type="presParOf" srcId="{438A092E-7E84-4D9F-935D-F879FDD9528E}" destId="{F666FC0D-246C-4763-BF4B-DB31699A869F}" srcOrd="1" destOrd="0" presId="urn:microsoft.com/office/officeart/2005/8/layout/vList5"/>
    <dgm:cxn modelId="{2B85161C-1FCB-485B-914F-49CBEF9D2D3B}" type="presParOf" srcId="{438A092E-7E84-4D9F-935D-F879FDD9528E}" destId="{33501B17-A437-4373-A40E-30C14ECDDE7D}" srcOrd="2" destOrd="0" presId="urn:microsoft.com/office/officeart/2005/8/layout/vList5"/>
    <dgm:cxn modelId="{5180F7F2-15C8-4659-8620-84A4C1C06419}" type="presParOf" srcId="{33501B17-A437-4373-A40E-30C14ECDDE7D}" destId="{E1A9FCF3-F310-4D82-B067-865D4FEAB65B}" srcOrd="0" destOrd="0" presId="urn:microsoft.com/office/officeart/2005/8/layout/vList5"/>
    <dgm:cxn modelId="{47C27D47-4105-4DA9-85A5-2E8B14FA963F}" type="presParOf" srcId="{33501B17-A437-4373-A40E-30C14ECDDE7D}" destId="{B1DA6936-B0F0-49EB-A39A-B20B276F6FCA}" srcOrd="1" destOrd="0" presId="urn:microsoft.com/office/officeart/2005/8/layout/vList5"/>
    <dgm:cxn modelId="{5A82BFAB-E4C9-49B7-B28A-2CE56513BD31}" type="presParOf" srcId="{438A092E-7E84-4D9F-935D-F879FDD9528E}" destId="{F5D88AF1-48A0-4C5C-ABC3-4D6D3E09A03C}" srcOrd="3" destOrd="0" presId="urn:microsoft.com/office/officeart/2005/8/layout/vList5"/>
    <dgm:cxn modelId="{0ED3C898-4885-446B-8C6C-A26D6F55A10A}" type="presParOf" srcId="{438A092E-7E84-4D9F-935D-F879FDD9528E}" destId="{DFD93B54-541A-4100-BC76-09447DBB1372}" srcOrd="4" destOrd="0" presId="urn:microsoft.com/office/officeart/2005/8/layout/vList5"/>
    <dgm:cxn modelId="{733F2259-60B8-408B-998C-A954BBF21634}" type="presParOf" srcId="{DFD93B54-541A-4100-BC76-09447DBB1372}" destId="{6AAE44CA-1012-44D6-BF20-9E18DFC840EA}" srcOrd="0" destOrd="0" presId="urn:microsoft.com/office/officeart/2005/8/layout/vList5"/>
    <dgm:cxn modelId="{09532964-8B64-4527-A865-3040E9F55044}" type="presParOf" srcId="{DFD93B54-541A-4100-BC76-09447DBB1372}" destId="{5CD55988-5CD7-43F3-AAB5-6CAE21BD526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D948D3-6E6D-4F92-AA28-1D25C1B2479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8555991-CB64-4458-8AF2-E63B2C9BF762}">
      <dgm:prSet/>
      <dgm:spPr/>
      <dgm:t>
        <a:bodyPr/>
        <a:lstStyle/>
        <a:p>
          <a:r>
            <a:rPr lang="en-US"/>
            <a:t>Data Privacy</a:t>
          </a:r>
        </a:p>
      </dgm:t>
    </dgm:pt>
    <dgm:pt modelId="{4FDC77C6-8585-43D6-B65C-5CFD7D84E9D8}" type="parTrans" cxnId="{90200F6F-955C-4F52-A243-176181C80E4F}">
      <dgm:prSet/>
      <dgm:spPr/>
      <dgm:t>
        <a:bodyPr/>
        <a:lstStyle/>
        <a:p>
          <a:endParaRPr lang="en-US"/>
        </a:p>
      </dgm:t>
    </dgm:pt>
    <dgm:pt modelId="{1DF9B826-14DB-4BC8-AF94-FAA1802CB6E8}" type="sibTrans" cxnId="{90200F6F-955C-4F52-A243-176181C80E4F}">
      <dgm:prSet/>
      <dgm:spPr/>
      <dgm:t>
        <a:bodyPr/>
        <a:lstStyle/>
        <a:p>
          <a:endParaRPr lang="en-US"/>
        </a:p>
      </dgm:t>
    </dgm:pt>
    <dgm:pt modelId="{93B1C1FD-0B82-40D1-835E-8A32EE4EE494}">
      <dgm:prSet/>
      <dgm:spPr/>
      <dgm:t>
        <a:bodyPr/>
        <a:lstStyle/>
        <a:p>
          <a:r>
            <a:rPr lang="en-US"/>
            <a:t>Explainability</a:t>
          </a:r>
        </a:p>
      </dgm:t>
    </dgm:pt>
    <dgm:pt modelId="{6E6B77EB-B153-4E12-B551-D2F30BD40AD4}" type="parTrans" cxnId="{46A71FEE-16D4-4728-9D7F-3EDF4949AAD5}">
      <dgm:prSet/>
      <dgm:spPr/>
      <dgm:t>
        <a:bodyPr/>
        <a:lstStyle/>
        <a:p>
          <a:endParaRPr lang="en-US"/>
        </a:p>
      </dgm:t>
    </dgm:pt>
    <dgm:pt modelId="{DE257AB4-B0E2-4F71-89EA-4902D5D69671}" type="sibTrans" cxnId="{46A71FEE-16D4-4728-9D7F-3EDF4949AAD5}">
      <dgm:prSet/>
      <dgm:spPr/>
      <dgm:t>
        <a:bodyPr/>
        <a:lstStyle/>
        <a:p>
          <a:endParaRPr lang="en-US"/>
        </a:p>
      </dgm:t>
    </dgm:pt>
    <dgm:pt modelId="{B4AB9164-B4B4-4D4D-BCB8-A3863D711C40}">
      <dgm:prSet/>
      <dgm:spPr/>
      <dgm:t>
        <a:bodyPr/>
        <a:lstStyle/>
        <a:p>
          <a:r>
            <a:rPr lang="en-US"/>
            <a:t>Automating Decision-Making</a:t>
          </a:r>
        </a:p>
      </dgm:t>
    </dgm:pt>
    <dgm:pt modelId="{0AE50369-5EEF-4A5F-BD06-83D721623652}" type="parTrans" cxnId="{208F40DA-EC26-40BD-9A17-90395A76BFBE}">
      <dgm:prSet/>
      <dgm:spPr/>
      <dgm:t>
        <a:bodyPr/>
        <a:lstStyle/>
        <a:p>
          <a:endParaRPr lang="en-US"/>
        </a:p>
      </dgm:t>
    </dgm:pt>
    <dgm:pt modelId="{7720D8EC-BCB9-468A-AA6F-52141BE296CF}" type="sibTrans" cxnId="{208F40DA-EC26-40BD-9A17-90395A76BFBE}">
      <dgm:prSet/>
      <dgm:spPr/>
      <dgm:t>
        <a:bodyPr/>
        <a:lstStyle/>
        <a:p>
          <a:endParaRPr lang="en-US"/>
        </a:p>
      </dgm:t>
    </dgm:pt>
    <dgm:pt modelId="{9A01456D-F8FA-4BAB-B25E-08FC00C55223}">
      <dgm:prSet/>
      <dgm:spPr/>
      <dgm:t>
        <a:bodyPr/>
        <a:lstStyle/>
        <a:p>
          <a:r>
            <a:rPr lang="en-US"/>
            <a:t>Micro-targeting</a:t>
          </a:r>
        </a:p>
      </dgm:t>
    </dgm:pt>
    <dgm:pt modelId="{30EB45C3-79E7-4F15-82E0-E25BE57188BC}" type="parTrans" cxnId="{32D69687-FDE2-4240-966D-3936610D5514}">
      <dgm:prSet/>
      <dgm:spPr/>
      <dgm:t>
        <a:bodyPr/>
        <a:lstStyle/>
        <a:p>
          <a:endParaRPr lang="en-US"/>
        </a:p>
      </dgm:t>
    </dgm:pt>
    <dgm:pt modelId="{EB26CBE6-C7EF-4B2F-8103-4BEDCC8146F4}" type="sibTrans" cxnId="{32D69687-FDE2-4240-966D-3936610D5514}">
      <dgm:prSet/>
      <dgm:spPr/>
      <dgm:t>
        <a:bodyPr/>
        <a:lstStyle/>
        <a:p>
          <a:endParaRPr lang="en-US"/>
        </a:p>
      </dgm:t>
    </dgm:pt>
    <dgm:pt modelId="{791B2A00-408D-426D-9375-CE7BB5FDC3E9}">
      <dgm:prSet/>
      <dgm:spPr/>
      <dgm:t>
        <a:bodyPr/>
        <a:lstStyle/>
        <a:p>
          <a:r>
            <a:rPr lang="en-US"/>
            <a:t>Data Accuracy and Quality</a:t>
          </a:r>
        </a:p>
      </dgm:t>
    </dgm:pt>
    <dgm:pt modelId="{88744DFF-AF54-42DE-9D5F-47BD52D06C6D}" type="parTrans" cxnId="{B98EF9A3-83E5-438C-A3BE-19A71955DA01}">
      <dgm:prSet/>
      <dgm:spPr/>
      <dgm:t>
        <a:bodyPr/>
        <a:lstStyle/>
        <a:p>
          <a:endParaRPr lang="en-US"/>
        </a:p>
      </dgm:t>
    </dgm:pt>
    <dgm:pt modelId="{15DCBACB-C7BA-40CF-9CC6-2FA1B712BBE5}" type="sibTrans" cxnId="{B98EF9A3-83E5-438C-A3BE-19A71955DA01}">
      <dgm:prSet/>
      <dgm:spPr/>
      <dgm:t>
        <a:bodyPr/>
        <a:lstStyle/>
        <a:p>
          <a:endParaRPr lang="en-US"/>
        </a:p>
      </dgm:t>
    </dgm:pt>
    <dgm:pt modelId="{EFC89239-3EDD-415A-BEDB-55008ACF300D}" type="pres">
      <dgm:prSet presAssocID="{6FD948D3-6E6D-4F92-AA28-1D25C1B24793}" presName="linear" presStyleCnt="0">
        <dgm:presLayoutVars>
          <dgm:animLvl val="lvl"/>
          <dgm:resizeHandles val="exact"/>
        </dgm:presLayoutVars>
      </dgm:prSet>
      <dgm:spPr/>
    </dgm:pt>
    <dgm:pt modelId="{AC330DDC-B48B-4E89-BBDF-9EF5B2AD604E}" type="pres">
      <dgm:prSet presAssocID="{E8555991-CB64-4458-8AF2-E63B2C9BF762}" presName="parentText" presStyleLbl="node1" presStyleIdx="0" presStyleCnt="5">
        <dgm:presLayoutVars>
          <dgm:chMax val="0"/>
          <dgm:bulletEnabled val="1"/>
        </dgm:presLayoutVars>
      </dgm:prSet>
      <dgm:spPr/>
    </dgm:pt>
    <dgm:pt modelId="{F25EC49C-FB99-4B69-80DC-903043483232}" type="pres">
      <dgm:prSet presAssocID="{1DF9B826-14DB-4BC8-AF94-FAA1802CB6E8}" presName="spacer" presStyleCnt="0"/>
      <dgm:spPr/>
    </dgm:pt>
    <dgm:pt modelId="{22A80912-1CF4-4564-BA53-4A8568022C43}" type="pres">
      <dgm:prSet presAssocID="{93B1C1FD-0B82-40D1-835E-8A32EE4EE494}" presName="parentText" presStyleLbl="node1" presStyleIdx="1" presStyleCnt="5">
        <dgm:presLayoutVars>
          <dgm:chMax val="0"/>
          <dgm:bulletEnabled val="1"/>
        </dgm:presLayoutVars>
      </dgm:prSet>
      <dgm:spPr/>
    </dgm:pt>
    <dgm:pt modelId="{4CF6CCBA-3E0D-44FA-9BFE-FA7C61573875}" type="pres">
      <dgm:prSet presAssocID="{DE257AB4-B0E2-4F71-89EA-4902D5D69671}" presName="spacer" presStyleCnt="0"/>
      <dgm:spPr/>
    </dgm:pt>
    <dgm:pt modelId="{D3CBEEAA-B1F9-40C7-8780-2D00FBC79078}" type="pres">
      <dgm:prSet presAssocID="{B4AB9164-B4B4-4D4D-BCB8-A3863D711C40}" presName="parentText" presStyleLbl="node1" presStyleIdx="2" presStyleCnt="5">
        <dgm:presLayoutVars>
          <dgm:chMax val="0"/>
          <dgm:bulletEnabled val="1"/>
        </dgm:presLayoutVars>
      </dgm:prSet>
      <dgm:spPr/>
    </dgm:pt>
    <dgm:pt modelId="{5C771EE9-B5CB-47BE-92B1-4C7E541810C3}" type="pres">
      <dgm:prSet presAssocID="{7720D8EC-BCB9-468A-AA6F-52141BE296CF}" presName="spacer" presStyleCnt="0"/>
      <dgm:spPr/>
    </dgm:pt>
    <dgm:pt modelId="{9D36E4E4-8024-44F1-B94E-38F1A9B2DCA8}" type="pres">
      <dgm:prSet presAssocID="{9A01456D-F8FA-4BAB-B25E-08FC00C55223}" presName="parentText" presStyleLbl="node1" presStyleIdx="3" presStyleCnt="5">
        <dgm:presLayoutVars>
          <dgm:chMax val="0"/>
          <dgm:bulletEnabled val="1"/>
        </dgm:presLayoutVars>
      </dgm:prSet>
      <dgm:spPr/>
    </dgm:pt>
    <dgm:pt modelId="{2186A51C-046A-4FE4-A044-B99CD105C077}" type="pres">
      <dgm:prSet presAssocID="{EB26CBE6-C7EF-4B2F-8103-4BEDCC8146F4}" presName="spacer" presStyleCnt="0"/>
      <dgm:spPr/>
    </dgm:pt>
    <dgm:pt modelId="{DBCD0163-8934-43A9-A16A-17677B99D169}" type="pres">
      <dgm:prSet presAssocID="{791B2A00-408D-426D-9375-CE7BB5FDC3E9}" presName="parentText" presStyleLbl="node1" presStyleIdx="4" presStyleCnt="5">
        <dgm:presLayoutVars>
          <dgm:chMax val="0"/>
          <dgm:bulletEnabled val="1"/>
        </dgm:presLayoutVars>
      </dgm:prSet>
      <dgm:spPr/>
    </dgm:pt>
  </dgm:ptLst>
  <dgm:cxnLst>
    <dgm:cxn modelId="{C2AC2E27-E49E-477A-8024-E394B974DE01}" type="presOf" srcId="{791B2A00-408D-426D-9375-CE7BB5FDC3E9}" destId="{DBCD0163-8934-43A9-A16A-17677B99D169}" srcOrd="0" destOrd="0" presId="urn:microsoft.com/office/officeart/2005/8/layout/vList2"/>
    <dgm:cxn modelId="{267EDA2B-C405-4F53-9D33-FB2FB0E5F07C}" type="presOf" srcId="{6FD948D3-6E6D-4F92-AA28-1D25C1B24793}" destId="{EFC89239-3EDD-415A-BEDB-55008ACF300D}" srcOrd="0" destOrd="0" presId="urn:microsoft.com/office/officeart/2005/8/layout/vList2"/>
    <dgm:cxn modelId="{90200F6F-955C-4F52-A243-176181C80E4F}" srcId="{6FD948D3-6E6D-4F92-AA28-1D25C1B24793}" destId="{E8555991-CB64-4458-8AF2-E63B2C9BF762}" srcOrd="0" destOrd="0" parTransId="{4FDC77C6-8585-43D6-B65C-5CFD7D84E9D8}" sibTransId="{1DF9B826-14DB-4BC8-AF94-FAA1802CB6E8}"/>
    <dgm:cxn modelId="{32D69687-FDE2-4240-966D-3936610D5514}" srcId="{6FD948D3-6E6D-4F92-AA28-1D25C1B24793}" destId="{9A01456D-F8FA-4BAB-B25E-08FC00C55223}" srcOrd="3" destOrd="0" parTransId="{30EB45C3-79E7-4F15-82E0-E25BE57188BC}" sibTransId="{EB26CBE6-C7EF-4B2F-8103-4BEDCC8146F4}"/>
    <dgm:cxn modelId="{87990A96-F4C4-4DF4-9C4A-8217D6BC2D39}" type="presOf" srcId="{93B1C1FD-0B82-40D1-835E-8A32EE4EE494}" destId="{22A80912-1CF4-4564-BA53-4A8568022C43}" srcOrd="0" destOrd="0" presId="urn:microsoft.com/office/officeart/2005/8/layout/vList2"/>
    <dgm:cxn modelId="{B98EF9A3-83E5-438C-A3BE-19A71955DA01}" srcId="{6FD948D3-6E6D-4F92-AA28-1D25C1B24793}" destId="{791B2A00-408D-426D-9375-CE7BB5FDC3E9}" srcOrd="4" destOrd="0" parTransId="{88744DFF-AF54-42DE-9D5F-47BD52D06C6D}" sibTransId="{15DCBACB-C7BA-40CF-9CC6-2FA1B712BBE5}"/>
    <dgm:cxn modelId="{6956A3C6-95FD-47D4-AB5B-D17D02D6F7D5}" type="presOf" srcId="{9A01456D-F8FA-4BAB-B25E-08FC00C55223}" destId="{9D36E4E4-8024-44F1-B94E-38F1A9B2DCA8}" srcOrd="0" destOrd="0" presId="urn:microsoft.com/office/officeart/2005/8/layout/vList2"/>
    <dgm:cxn modelId="{B4708FCA-EE52-4DA1-869B-5E932B09090A}" type="presOf" srcId="{B4AB9164-B4B4-4D4D-BCB8-A3863D711C40}" destId="{D3CBEEAA-B1F9-40C7-8780-2D00FBC79078}" srcOrd="0" destOrd="0" presId="urn:microsoft.com/office/officeart/2005/8/layout/vList2"/>
    <dgm:cxn modelId="{208F40DA-EC26-40BD-9A17-90395A76BFBE}" srcId="{6FD948D3-6E6D-4F92-AA28-1D25C1B24793}" destId="{B4AB9164-B4B4-4D4D-BCB8-A3863D711C40}" srcOrd="2" destOrd="0" parTransId="{0AE50369-5EEF-4A5F-BD06-83D721623652}" sibTransId="{7720D8EC-BCB9-468A-AA6F-52141BE296CF}"/>
    <dgm:cxn modelId="{46A71FEE-16D4-4728-9D7F-3EDF4949AAD5}" srcId="{6FD948D3-6E6D-4F92-AA28-1D25C1B24793}" destId="{93B1C1FD-0B82-40D1-835E-8A32EE4EE494}" srcOrd="1" destOrd="0" parTransId="{6E6B77EB-B153-4E12-B551-D2F30BD40AD4}" sibTransId="{DE257AB4-B0E2-4F71-89EA-4902D5D69671}"/>
    <dgm:cxn modelId="{EB0168FF-6F80-41D3-BF46-A794CADC01A9}" type="presOf" srcId="{E8555991-CB64-4458-8AF2-E63B2C9BF762}" destId="{AC330DDC-B48B-4E89-BBDF-9EF5B2AD604E}" srcOrd="0" destOrd="0" presId="urn:microsoft.com/office/officeart/2005/8/layout/vList2"/>
    <dgm:cxn modelId="{607AFB65-121B-4841-9E23-9974C447FC5B}" type="presParOf" srcId="{EFC89239-3EDD-415A-BEDB-55008ACF300D}" destId="{AC330DDC-B48B-4E89-BBDF-9EF5B2AD604E}" srcOrd="0" destOrd="0" presId="urn:microsoft.com/office/officeart/2005/8/layout/vList2"/>
    <dgm:cxn modelId="{7B99B9D2-90CD-4442-AD49-A971095C363F}" type="presParOf" srcId="{EFC89239-3EDD-415A-BEDB-55008ACF300D}" destId="{F25EC49C-FB99-4B69-80DC-903043483232}" srcOrd="1" destOrd="0" presId="urn:microsoft.com/office/officeart/2005/8/layout/vList2"/>
    <dgm:cxn modelId="{7C323AE7-01AC-4ECA-BA3C-63402DF75C0B}" type="presParOf" srcId="{EFC89239-3EDD-415A-BEDB-55008ACF300D}" destId="{22A80912-1CF4-4564-BA53-4A8568022C43}" srcOrd="2" destOrd="0" presId="urn:microsoft.com/office/officeart/2005/8/layout/vList2"/>
    <dgm:cxn modelId="{D942DF63-2F38-48B5-9645-435110C65A7C}" type="presParOf" srcId="{EFC89239-3EDD-415A-BEDB-55008ACF300D}" destId="{4CF6CCBA-3E0D-44FA-9BFE-FA7C61573875}" srcOrd="3" destOrd="0" presId="urn:microsoft.com/office/officeart/2005/8/layout/vList2"/>
    <dgm:cxn modelId="{3422681C-8AEA-4FC8-B0E7-E634E4B91040}" type="presParOf" srcId="{EFC89239-3EDD-415A-BEDB-55008ACF300D}" destId="{D3CBEEAA-B1F9-40C7-8780-2D00FBC79078}" srcOrd="4" destOrd="0" presId="urn:microsoft.com/office/officeart/2005/8/layout/vList2"/>
    <dgm:cxn modelId="{00D18B45-7FB6-4694-9595-4917B05B8D74}" type="presParOf" srcId="{EFC89239-3EDD-415A-BEDB-55008ACF300D}" destId="{5C771EE9-B5CB-47BE-92B1-4C7E541810C3}" srcOrd="5" destOrd="0" presId="urn:microsoft.com/office/officeart/2005/8/layout/vList2"/>
    <dgm:cxn modelId="{DE1C67D4-9DE5-4A84-AA59-621E61730381}" type="presParOf" srcId="{EFC89239-3EDD-415A-BEDB-55008ACF300D}" destId="{9D36E4E4-8024-44F1-B94E-38F1A9B2DCA8}" srcOrd="6" destOrd="0" presId="urn:microsoft.com/office/officeart/2005/8/layout/vList2"/>
    <dgm:cxn modelId="{384AECB1-A09B-4C6A-BC81-CCD81F52470A}" type="presParOf" srcId="{EFC89239-3EDD-415A-BEDB-55008ACF300D}" destId="{2186A51C-046A-4FE4-A044-B99CD105C077}" srcOrd="7" destOrd="0" presId="urn:microsoft.com/office/officeart/2005/8/layout/vList2"/>
    <dgm:cxn modelId="{D606119A-72C9-4F02-8606-731FF20644C8}" type="presParOf" srcId="{EFC89239-3EDD-415A-BEDB-55008ACF300D}" destId="{DBCD0163-8934-43A9-A16A-17677B99D16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5DB748-5158-40E8-93CE-0AFAA6F2384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9DD82F8-3D17-4DF3-B068-C5FF9EA05A84}">
      <dgm:prSet/>
      <dgm:spPr/>
      <dgm:t>
        <a:bodyPr/>
        <a:lstStyle/>
        <a:p>
          <a:r>
            <a:rPr lang="en-US"/>
            <a:t>In your groups, discuss potential ethical issues within your broad topic of study</a:t>
          </a:r>
        </a:p>
      </dgm:t>
    </dgm:pt>
    <dgm:pt modelId="{EAEA09B0-711A-4952-B0DA-2A2C13737F07}" type="parTrans" cxnId="{8825CAE6-E588-4B9F-BD14-5DB55149C27B}">
      <dgm:prSet/>
      <dgm:spPr/>
      <dgm:t>
        <a:bodyPr/>
        <a:lstStyle/>
        <a:p>
          <a:endParaRPr lang="en-US"/>
        </a:p>
      </dgm:t>
    </dgm:pt>
    <dgm:pt modelId="{9F3545FB-C5FC-4D2B-AE3F-04E7CB2C618C}" type="sibTrans" cxnId="{8825CAE6-E588-4B9F-BD14-5DB55149C27B}">
      <dgm:prSet/>
      <dgm:spPr/>
      <dgm:t>
        <a:bodyPr/>
        <a:lstStyle/>
        <a:p>
          <a:endParaRPr lang="en-US"/>
        </a:p>
      </dgm:t>
    </dgm:pt>
    <dgm:pt modelId="{893324C2-2F4C-483C-8250-C94EB4A9ED2D}">
      <dgm:prSet/>
      <dgm:spPr/>
      <dgm:t>
        <a:bodyPr/>
        <a:lstStyle/>
        <a:p>
          <a:r>
            <a:rPr lang="en-US"/>
            <a:t>Identify at least two ethical issues you might encounter within your topic of study</a:t>
          </a:r>
        </a:p>
      </dgm:t>
    </dgm:pt>
    <dgm:pt modelId="{30F2C15E-D7C9-4F47-9A04-431310846749}" type="parTrans" cxnId="{088CB5F9-1A48-43A4-8989-08CF4AC8FF2E}">
      <dgm:prSet/>
      <dgm:spPr/>
      <dgm:t>
        <a:bodyPr/>
        <a:lstStyle/>
        <a:p>
          <a:endParaRPr lang="en-US"/>
        </a:p>
      </dgm:t>
    </dgm:pt>
    <dgm:pt modelId="{32234D3A-FCE1-40B6-B42C-54AB9CE934DB}" type="sibTrans" cxnId="{088CB5F9-1A48-43A4-8989-08CF4AC8FF2E}">
      <dgm:prSet/>
      <dgm:spPr/>
      <dgm:t>
        <a:bodyPr/>
        <a:lstStyle/>
        <a:p>
          <a:endParaRPr lang="en-US"/>
        </a:p>
      </dgm:t>
    </dgm:pt>
    <dgm:pt modelId="{0D044A74-D712-48FE-8392-04EB5B0C2609}">
      <dgm:prSet/>
      <dgm:spPr/>
      <dgm:t>
        <a:bodyPr/>
        <a:lstStyle/>
        <a:p>
          <a:r>
            <a:rPr lang="en-US"/>
            <a:t>Submit as a group on Canvas, </a:t>
          </a:r>
          <a:r>
            <a:rPr lang="en-US">
              <a:hlinkClick xmlns:r="http://schemas.openxmlformats.org/officeDocument/2006/relationships" r:id="rId1"/>
            </a:rPr>
            <a:t>https://harrisburgu.instructure.com/courses/17603/assignments/447560</a:t>
          </a:r>
          <a:r>
            <a:rPr lang="en-US"/>
            <a:t> </a:t>
          </a:r>
        </a:p>
      </dgm:t>
    </dgm:pt>
    <dgm:pt modelId="{2D2201DA-5BB6-43B4-9F54-505786BDD689}" type="parTrans" cxnId="{D45FA678-0B56-4490-B6AA-E48E5B3CCC9F}">
      <dgm:prSet/>
      <dgm:spPr/>
      <dgm:t>
        <a:bodyPr/>
        <a:lstStyle/>
        <a:p>
          <a:endParaRPr lang="en-US"/>
        </a:p>
      </dgm:t>
    </dgm:pt>
    <dgm:pt modelId="{68512AEA-BE84-4DD1-A3E4-C08932679C99}" type="sibTrans" cxnId="{D45FA678-0B56-4490-B6AA-E48E5B3CCC9F}">
      <dgm:prSet/>
      <dgm:spPr/>
      <dgm:t>
        <a:bodyPr/>
        <a:lstStyle/>
        <a:p>
          <a:endParaRPr lang="en-US"/>
        </a:p>
      </dgm:t>
    </dgm:pt>
    <dgm:pt modelId="{452EB2D5-0C13-4772-ACCB-FEF046CFDDE7}" type="pres">
      <dgm:prSet presAssocID="{0E5DB748-5158-40E8-93CE-0AFAA6F2384C}" presName="root" presStyleCnt="0">
        <dgm:presLayoutVars>
          <dgm:dir/>
          <dgm:resizeHandles val="exact"/>
        </dgm:presLayoutVars>
      </dgm:prSet>
      <dgm:spPr/>
    </dgm:pt>
    <dgm:pt modelId="{4ED17489-AC5F-43C9-A7BE-427F713AECE9}" type="pres">
      <dgm:prSet presAssocID="{E9DD82F8-3D17-4DF3-B068-C5FF9EA05A84}" presName="compNode" presStyleCnt="0"/>
      <dgm:spPr/>
    </dgm:pt>
    <dgm:pt modelId="{A6FD7300-050C-4A47-BFE8-7BDF66B8286D}" type="pres">
      <dgm:prSet presAssocID="{E9DD82F8-3D17-4DF3-B068-C5FF9EA05A84}" presName="bgRect" presStyleLbl="bgShp" presStyleIdx="0" presStyleCnt="3"/>
      <dgm:spPr/>
    </dgm:pt>
    <dgm:pt modelId="{6FACE622-DF74-4194-B99B-B9DA8052BBD9}" type="pres">
      <dgm:prSet presAssocID="{E9DD82F8-3D17-4DF3-B068-C5FF9EA05A84}" presName="iconRect" presStyleLbl="node1" presStyleIdx="0" presStyleCnt="3"/>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ard Room"/>
        </a:ext>
      </dgm:extLst>
    </dgm:pt>
    <dgm:pt modelId="{1B913E54-FA92-455D-8DA4-17FF309BD344}" type="pres">
      <dgm:prSet presAssocID="{E9DD82F8-3D17-4DF3-B068-C5FF9EA05A84}" presName="spaceRect" presStyleCnt="0"/>
      <dgm:spPr/>
    </dgm:pt>
    <dgm:pt modelId="{8474C5D7-8F29-451D-8D59-BF2FE7696350}" type="pres">
      <dgm:prSet presAssocID="{E9DD82F8-3D17-4DF3-B068-C5FF9EA05A84}" presName="parTx" presStyleLbl="revTx" presStyleIdx="0" presStyleCnt="3">
        <dgm:presLayoutVars>
          <dgm:chMax val="0"/>
          <dgm:chPref val="0"/>
        </dgm:presLayoutVars>
      </dgm:prSet>
      <dgm:spPr/>
    </dgm:pt>
    <dgm:pt modelId="{C8844810-D612-436E-A512-ED95B0A5AC1E}" type="pres">
      <dgm:prSet presAssocID="{9F3545FB-C5FC-4D2B-AE3F-04E7CB2C618C}" presName="sibTrans" presStyleCnt="0"/>
      <dgm:spPr/>
    </dgm:pt>
    <dgm:pt modelId="{752474A1-C626-4A74-ACB9-6A2F9B392255}" type="pres">
      <dgm:prSet presAssocID="{893324C2-2F4C-483C-8250-C94EB4A9ED2D}" presName="compNode" presStyleCnt="0"/>
      <dgm:spPr/>
    </dgm:pt>
    <dgm:pt modelId="{CE7EAD47-EF34-48AC-B93D-6BD9C292D7CD}" type="pres">
      <dgm:prSet presAssocID="{893324C2-2F4C-483C-8250-C94EB4A9ED2D}" presName="bgRect" presStyleLbl="bgShp" presStyleIdx="1" presStyleCnt="3"/>
      <dgm:spPr/>
    </dgm:pt>
    <dgm:pt modelId="{644F0BDF-D664-4199-8631-1137E6626384}" type="pres">
      <dgm:prSet presAssocID="{893324C2-2F4C-483C-8250-C94EB4A9ED2D}"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ACA74247-0509-4E37-B3A8-3B9C2F90FD67}" type="pres">
      <dgm:prSet presAssocID="{893324C2-2F4C-483C-8250-C94EB4A9ED2D}" presName="spaceRect" presStyleCnt="0"/>
      <dgm:spPr/>
    </dgm:pt>
    <dgm:pt modelId="{57E83264-9AFE-4522-AC2A-46F47E6BA35B}" type="pres">
      <dgm:prSet presAssocID="{893324C2-2F4C-483C-8250-C94EB4A9ED2D}" presName="parTx" presStyleLbl="revTx" presStyleIdx="1" presStyleCnt="3">
        <dgm:presLayoutVars>
          <dgm:chMax val="0"/>
          <dgm:chPref val="0"/>
        </dgm:presLayoutVars>
      </dgm:prSet>
      <dgm:spPr/>
    </dgm:pt>
    <dgm:pt modelId="{8A5BBAD8-1CC8-4390-BAD1-D8605D197BD9}" type="pres">
      <dgm:prSet presAssocID="{32234D3A-FCE1-40B6-B42C-54AB9CE934DB}" presName="sibTrans" presStyleCnt="0"/>
      <dgm:spPr/>
    </dgm:pt>
    <dgm:pt modelId="{7E737F91-2BCD-4412-8F66-849300B2FA83}" type="pres">
      <dgm:prSet presAssocID="{0D044A74-D712-48FE-8392-04EB5B0C2609}" presName="compNode" presStyleCnt="0"/>
      <dgm:spPr/>
    </dgm:pt>
    <dgm:pt modelId="{B0C7E0E9-A69B-4987-B2B7-611A25DADF47}" type="pres">
      <dgm:prSet presAssocID="{0D044A74-D712-48FE-8392-04EB5B0C2609}" presName="bgRect" presStyleLbl="bgShp" presStyleIdx="2" presStyleCnt="3"/>
      <dgm:spPr/>
    </dgm:pt>
    <dgm:pt modelId="{9F1A7992-21EF-43CF-86F4-8783373B01C9}" type="pres">
      <dgm:prSet presAssocID="{0D044A74-D712-48FE-8392-04EB5B0C2609}"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Easel"/>
        </a:ext>
      </dgm:extLst>
    </dgm:pt>
    <dgm:pt modelId="{97BB58FB-97ED-497B-819C-F9D7320717C2}" type="pres">
      <dgm:prSet presAssocID="{0D044A74-D712-48FE-8392-04EB5B0C2609}" presName="spaceRect" presStyleCnt="0"/>
      <dgm:spPr/>
    </dgm:pt>
    <dgm:pt modelId="{359BA3C8-7B77-4618-8DC4-82BFDD1EE8E7}" type="pres">
      <dgm:prSet presAssocID="{0D044A74-D712-48FE-8392-04EB5B0C2609}" presName="parTx" presStyleLbl="revTx" presStyleIdx="2" presStyleCnt="3">
        <dgm:presLayoutVars>
          <dgm:chMax val="0"/>
          <dgm:chPref val="0"/>
        </dgm:presLayoutVars>
      </dgm:prSet>
      <dgm:spPr/>
    </dgm:pt>
  </dgm:ptLst>
  <dgm:cxnLst>
    <dgm:cxn modelId="{CA77C017-3917-49B9-83AA-8A1F847EB0D0}" type="presOf" srcId="{E9DD82F8-3D17-4DF3-B068-C5FF9EA05A84}" destId="{8474C5D7-8F29-451D-8D59-BF2FE7696350}" srcOrd="0" destOrd="0" presId="urn:microsoft.com/office/officeart/2018/2/layout/IconVerticalSolidList"/>
    <dgm:cxn modelId="{729AB722-05B8-47D0-BC61-0740F765E1DB}" type="presOf" srcId="{0E5DB748-5158-40E8-93CE-0AFAA6F2384C}" destId="{452EB2D5-0C13-4772-ACCB-FEF046CFDDE7}" srcOrd="0" destOrd="0" presId="urn:microsoft.com/office/officeart/2018/2/layout/IconVerticalSolidList"/>
    <dgm:cxn modelId="{D45FA678-0B56-4490-B6AA-E48E5B3CCC9F}" srcId="{0E5DB748-5158-40E8-93CE-0AFAA6F2384C}" destId="{0D044A74-D712-48FE-8392-04EB5B0C2609}" srcOrd="2" destOrd="0" parTransId="{2D2201DA-5BB6-43B4-9F54-505786BDD689}" sibTransId="{68512AEA-BE84-4DD1-A3E4-C08932679C99}"/>
    <dgm:cxn modelId="{34B4008E-8381-4A12-BA7C-BBC6A2CD5A29}" type="presOf" srcId="{893324C2-2F4C-483C-8250-C94EB4A9ED2D}" destId="{57E83264-9AFE-4522-AC2A-46F47E6BA35B}" srcOrd="0" destOrd="0" presId="urn:microsoft.com/office/officeart/2018/2/layout/IconVerticalSolidList"/>
    <dgm:cxn modelId="{53F37ED3-6BE4-4BBA-A5D8-6BAF71B9E9C8}" type="presOf" srcId="{0D044A74-D712-48FE-8392-04EB5B0C2609}" destId="{359BA3C8-7B77-4618-8DC4-82BFDD1EE8E7}" srcOrd="0" destOrd="0" presId="urn:microsoft.com/office/officeart/2018/2/layout/IconVerticalSolidList"/>
    <dgm:cxn modelId="{8825CAE6-E588-4B9F-BD14-5DB55149C27B}" srcId="{0E5DB748-5158-40E8-93CE-0AFAA6F2384C}" destId="{E9DD82F8-3D17-4DF3-B068-C5FF9EA05A84}" srcOrd="0" destOrd="0" parTransId="{EAEA09B0-711A-4952-B0DA-2A2C13737F07}" sibTransId="{9F3545FB-C5FC-4D2B-AE3F-04E7CB2C618C}"/>
    <dgm:cxn modelId="{088CB5F9-1A48-43A4-8989-08CF4AC8FF2E}" srcId="{0E5DB748-5158-40E8-93CE-0AFAA6F2384C}" destId="{893324C2-2F4C-483C-8250-C94EB4A9ED2D}" srcOrd="1" destOrd="0" parTransId="{30F2C15E-D7C9-4F47-9A04-431310846749}" sibTransId="{32234D3A-FCE1-40B6-B42C-54AB9CE934DB}"/>
    <dgm:cxn modelId="{323A45AA-D3C2-4553-AE31-D5F5A25BEE5F}" type="presParOf" srcId="{452EB2D5-0C13-4772-ACCB-FEF046CFDDE7}" destId="{4ED17489-AC5F-43C9-A7BE-427F713AECE9}" srcOrd="0" destOrd="0" presId="urn:microsoft.com/office/officeart/2018/2/layout/IconVerticalSolidList"/>
    <dgm:cxn modelId="{6FC6B9EB-3BB1-4582-BA4A-19BD7B131D62}" type="presParOf" srcId="{4ED17489-AC5F-43C9-A7BE-427F713AECE9}" destId="{A6FD7300-050C-4A47-BFE8-7BDF66B8286D}" srcOrd="0" destOrd="0" presId="urn:microsoft.com/office/officeart/2018/2/layout/IconVerticalSolidList"/>
    <dgm:cxn modelId="{BFEF7C83-2A28-431E-AB0D-4F82CD5159D2}" type="presParOf" srcId="{4ED17489-AC5F-43C9-A7BE-427F713AECE9}" destId="{6FACE622-DF74-4194-B99B-B9DA8052BBD9}" srcOrd="1" destOrd="0" presId="urn:microsoft.com/office/officeart/2018/2/layout/IconVerticalSolidList"/>
    <dgm:cxn modelId="{1334D388-BD08-4DEE-9EDB-8518A787E726}" type="presParOf" srcId="{4ED17489-AC5F-43C9-A7BE-427F713AECE9}" destId="{1B913E54-FA92-455D-8DA4-17FF309BD344}" srcOrd="2" destOrd="0" presId="urn:microsoft.com/office/officeart/2018/2/layout/IconVerticalSolidList"/>
    <dgm:cxn modelId="{491A96D3-4629-4D71-9C38-9CDBB0F15E26}" type="presParOf" srcId="{4ED17489-AC5F-43C9-A7BE-427F713AECE9}" destId="{8474C5D7-8F29-451D-8D59-BF2FE7696350}" srcOrd="3" destOrd="0" presId="urn:microsoft.com/office/officeart/2018/2/layout/IconVerticalSolidList"/>
    <dgm:cxn modelId="{0836CE35-6D7D-488B-9D2C-18D9A9F22B08}" type="presParOf" srcId="{452EB2D5-0C13-4772-ACCB-FEF046CFDDE7}" destId="{C8844810-D612-436E-A512-ED95B0A5AC1E}" srcOrd="1" destOrd="0" presId="urn:microsoft.com/office/officeart/2018/2/layout/IconVerticalSolidList"/>
    <dgm:cxn modelId="{C26C2A32-8208-432F-B97C-ED80B5B6CEFE}" type="presParOf" srcId="{452EB2D5-0C13-4772-ACCB-FEF046CFDDE7}" destId="{752474A1-C626-4A74-ACB9-6A2F9B392255}" srcOrd="2" destOrd="0" presId="urn:microsoft.com/office/officeart/2018/2/layout/IconVerticalSolidList"/>
    <dgm:cxn modelId="{2AECF131-E7C6-42E4-AE0D-E249492CF506}" type="presParOf" srcId="{752474A1-C626-4A74-ACB9-6A2F9B392255}" destId="{CE7EAD47-EF34-48AC-B93D-6BD9C292D7CD}" srcOrd="0" destOrd="0" presId="urn:microsoft.com/office/officeart/2018/2/layout/IconVerticalSolidList"/>
    <dgm:cxn modelId="{4017FF31-6E37-4550-B668-A085F6296EAA}" type="presParOf" srcId="{752474A1-C626-4A74-ACB9-6A2F9B392255}" destId="{644F0BDF-D664-4199-8631-1137E6626384}" srcOrd="1" destOrd="0" presId="urn:microsoft.com/office/officeart/2018/2/layout/IconVerticalSolidList"/>
    <dgm:cxn modelId="{B3A39986-6000-445B-9586-47FDA95B5378}" type="presParOf" srcId="{752474A1-C626-4A74-ACB9-6A2F9B392255}" destId="{ACA74247-0509-4E37-B3A8-3B9C2F90FD67}" srcOrd="2" destOrd="0" presId="urn:microsoft.com/office/officeart/2018/2/layout/IconVerticalSolidList"/>
    <dgm:cxn modelId="{0B318FA3-21F9-4122-B8C8-403102737833}" type="presParOf" srcId="{752474A1-C626-4A74-ACB9-6A2F9B392255}" destId="{57E83264-9AFE-4522-AC2A-46F47E6BA35B}" srcOrd="3" destOrd="0" presId="urn:microsoft.com/office/officeart/2018/2/layout/IconVerticalSolidList"/>
    <dgm:cxn modelId="{1D009EDC-D3AF-4844-9DE7-B87D1B13CC90}" type="presParOf" srcId="{452EB2D5-0C13-4772-ACCB-FEF046CFDDE7}" destId="{8A5BBAD8-1CC8-4390-BAD1-D8605D197BD9}" srcOrd="3" destOrd="0" presId="urn:microsoft.com/office/officeart/2018/2/layout/IconVerticalSolidList"/>
    <dgm:cxn modelId="{36587C21-3690-4F15-A62A-889832A2041A}" type="presParOf" srcId="{452EB2D5-0C13-4772-ACCB-FEF046CFDDE7}" destId="{7E737F91-2BCD-4412-8F66-849300B2FA83}" srcOrd="4" destOrd="0" presId="urn:microsoft.com/office/officeart/2018/2/layout/IconVerticalSolidList"/>
    <dgm:cxn modelId="{B971D64F-8907-4F34-806E-537F2F0FAEA2}" type="presParOf" srcId="{7E737F91-2BCD-4412-8F66-849300B2FA83}" destId="{B0C7E0E9-A69B-4987-B2B7-611A25DADF47}" srcOrd="0" destOrd="0" presId="urn:microsoft.com/office/officeart/2018/2/layout/IconVerticalSolidList"/>
    <dgm:cxn modelId="{BB30A468-EC11-4F3B-899A-FEE9A3A6436B}" type="presParOf" srcId="{7E737F91-2BCD-4412-8F66-849300B2FA83}" destId="{9F1A7992-21EF-43CF-86F4-8783373B01C9}" srcOrd="1" destOrd="0" presId="urn:microsoft.com/office/officeart/2018/2/layout/IconVerticalSolidList"/>
    <dgm:cxn modelId="{25877F7C-035B-464F-B8CD-63414DB4DA3F}" type="presParOf" srcId="{7E737F91-2BCD-4412-8F66-849300B2FA83}" destId="{97BB58FB-97ED-497B-819C-F9D7320717C2}" srcOrd="2" destOrd="0" presId="urn:microsoft.com/office/officeart/2018/2/layout/IconVerticalSolidList"/>
    <dgm:cxn modelId="{5BAD18C9-E88B-43C5-9AA1-9352C624E116}" type="presParOf" srcId="{7E737F91-2BCD-4412-8F66-849300B2FA83}" destId="{359BA3C8-7B77-4618-8DC4-82BFDD1EE8E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976BA-23A0-4449-9086-9349FE61BF53}">
      <dsp:nvSpPr>
        <dsp:cNvPr id="0" name=""/>
        <dsp:cNvSpPr/>
      </dsp:nvSpPr>
      <dsp:spPr>
        <a:xfrm rot="5400000">
          <a:off x="3595093" y="-1161911"/>
          <a:ext cx="1353160" cy="4020398"/>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a:t>Well-defined and regulated</a:t>
          </a:r>
        </a:p>
      </dsp:txBody>
      <dsp:txXfrm rot="-5400000">
        <a:off x="2261474" y="237764"/>
        <a:ext cx="3954342" cy="1221048"/>
      </dsp:txXfrm>
    </dsp:sp>
    <dsp:sp modelId="{2C3BA3CD-02F3-495C-B066-F56AC987B0A5}">
      <dsp:nvSpPr>
        <dsp:cNvPr id="0" name=""/>
        <dsp:cNvSpPr/>
      </dsp:nvSpPr>
      <dsp:spPr>
        <a:xfrm>
          <a:off x="0" y="2562"/>
          <a:ext cx="2261474" cy="1691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Human Subjects Research</a:t>
          </a:r>
        </a:p>
      </dsp:txBody>
      <dsp:txXfrm>
        <a:off x="82570" y="85132"/>
        <a:ext cx="2096334" cy="1526310"/>
      </dsp:txXfrm>
    </dsp:sp>
    <dsp:sp modelId="{B1DA6936-B0F0-49EB-A39A-B20B276F6FCA}">
      <dsp:nvSpPr>
        <dsp:cNvPr id="0" name=""/>
        <dsp:cNvSpPr/>
      </dsp:nvSpPr>
      <dsp:spPr>
        <a:xfrm rot="5400000">
          <a:off x="3595093" y="614111"/>
          <a:ext cx="1353160" cy="4020398"/>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a:t>Mix of norms and regulations</a:t>
          </a:r>
        </a:p>
      </dsp:txBody>
      <dsp:txXfrm rot="-5400000">
        <a:off x="2261474" y="2013786"/>
        <a:ext cx="3954342" cy="1221048"/>
      </dsp:txXfrm>
    </dsp:sp>
    <dsp:sp modelId="{E1A9FCF3-F310-4D82-B067-865D4FEAB65B}">
      <dsp:nvSpPr>
        <dsp:cNvPr id="0" name=""/>
        <dsp:cNvSpPr/>
      </dsp:nvSpPr>
      <dsp:spPr>
        <a:xfrm>
          <a:off x="0" y="1778585"/>
          <a:ext cx="2261474" cy="1691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Professionalism and Scientific Values</a:t>
          </a:r>
        </a:p>
      </dsp:txBody>
      <dsp:txXfrm>
        <a:off x="82570" y="1861155"/>
        <a:ext cx="2096334" cy="1526310"/>
      </dsp:txXfrm>
    </dsp:sp>
    <dsp:sp modelId="{5CD55988-5CD7-43F3-AAB5-6CAE21BD526C}">
      <dsp:nvSpPr>
        <dsp:cNvPr id="0" name=""/>
        <dsp:cNvSpPr/>
      </dsp:nvSpPr>
      <dsp:spPr>
        <a:xfrm rot="5400000">
          <a:off x="3595093" y="2390134"/>
          <a:ext cx="1353160" cy="4020398"/>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a:t>Still being defined and not regulated (in the US)</a:t>
          </a:r>
        </a:p>
      </dsp:txBody>
      <dsp:txXfrm rot="-5400000">
        <a:off x="2261474" y="3789809"/>
        <a:ext cx="3954342" cy="1221048"/>
      </dsp:txXfrm>
    </dsp:sp>
    <dsp:sp modelId="{6AAE44CA-1012-44D6-BF20-9E18DFC840EA}">
      <dsp:nvSpPr>
        <dsp:cNvPr id="0" name=""/>
        <dsp:cNvSpPr/>
      </dsp:nvSpPr>
      <dsp:spPr>
        <a:xfrm>
          <a:off x="0" y="3554608"/>
          <a:ext cx="2261474" cy="169145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a:t>Data Ethics</a:t>
          </a:r>
        </a:p>
      </dsp:txBody>
      <dsp:txXfrm>
        <a:off x="82570" y="3637178"/>
        <a:ext cx="2096334" cy="1526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330DDC-B48B-4E89-BBDF-9EF5B2AD604E}">
      <dsp:nvSpPr>
        <dsp:cNvPr id="0" name=""/>
        <dsp:cNvSpPr/>
      </dsp:nvSpPr>
      <dsp:spPr>
        <a:xfrm>
          <a:off x="0" y="309815"/>
          <a:ext cx="5638800" cy="72539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Data Privacy</a:t>
          </a:r>
        </a:p>
      </dsp:txBody>
      <dsp:txXfrm>
        <a:off x="35411" y="345226"/>
        <a:ext cx="5567978" cy="654577"/>
      </dsp:txXfrm>
    </dsp:sp>
    <dsp:sp modelId="{22A80912-1CF4-4564-BA53-4A8568022C43}">
      <dsp:nvSpPr>
        <dsp:cNvPr id="0" name=""/>
        <dsp:cNvSpPr/>
      </dsp:nvSpPr>
      <dsp:spPr>
        <a:xfrm>
          <a:off x="0" y="1124495"/>
          <a:ext cx="5638800" cy="725399"/>
        </a:xfrm>
        <a:prstGeom prst="roundRect">
          <a:avLst/>
        </a:prstGeom>
        <a:solidFill>
          <a:schemeClr val="accent2">
            <a:hueOff val="686585"/>
            <a:satOff val="-12202"/>
            <a:lumOff val="39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Explainability</a:t>
          </a:r>
        </a:p>
      </dsp:txBody>
      <dsp:txXfrm>
        <a:off x="35411" y="1159906"/>
        <a:ext cx="5567978" cy="654577"/>
      </dsp:txXfrm>
    </dsp:sp>
    <dsp:sp modelId="{D3CBEEAA-B1F9-40C7-8780-2D00FBC79078}">
      <dsp:nvSpPr>
        <dsp:cNvPr id="0" name=""/>
        <dsp:cNvSpPr/>
      </dsp:nvSpPr>
      <dsp:spPr>
        <a:xfrm>
          <a:off x="0" y="1939175"/>
          <a:ext cx="5638800" cy="725399"/>
        </a:xfrm>
        <a:prstGeom prst="roundRect">
          <a:avLst/>
        </a:prstGeom>
        <a:solidFill>
          <a:schemeClr val="accent2">
            <a:hueOff val="1373170"/>
            <a:satOff val="-24404"/>
            <a:lumOff val="78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Automating Decision-Making</a:t>
          </a:r>
        </a:p>
      </dsp:txBody>
      <dsp:txXfrm>
        <a:off x="35411" y="1974586"/>
        <a:ext cx="5567978" cy="654577"/>
      </dsp:txXfrm>
    </dsp:sp>
    <dsp:sp modelId="{9D36E4E4-8024-44F1-B94E-38F1A9B2DCA8}">
      <dsp:nvSpPr>
        <dsp:cNvPr id="0" name=""/>
        <dsp:cNvSpPr/>
      </dsp:nvSpPr>
      <dsp:spPr>
        <a:xfrm>
          <a:off x="0" y="2753855"/>
          <a:ext cx="5638800" cy="725399"/>
        </a:xfrm>
        <a:prstGeom prst="roundRect">
          <a:avLst/>
        </a:prstGeom>
        <a:solidFill>
          <a:schemeClr val="accent2">
            <a:hueOff val="2059755"/>
            <a:satOff val="-36606"/>
            <a:lumOff val="1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Micro-targeting</a:t>
          </a:r>
        </a:p>
      </dsp:txBody>
      <dsp:txXfrm>
        <a:off x="35411" y="2789266"/>
        <a:ext cx="5567978" cy="654577"/>
      </dsp:txXfrm>
    </dsp:sp>
    <dsp:sp modelId="{DBCD0163-8934-43A9-A16A-17677B99D169}">
      <dsp:nvSpPr>
        <dsp:cNvPr id="0" name=""/>
        <dsp:cNvSpPr/>
      </dsp:nvSpPr>
      <dsp:spPr>
        <a:xfrm>
          <a:off x="0" y="3568535"/>
          <a:ext cx="5638800" cy="725399"/>
        </a:xfrm>
        <a:prstGeom prst="roundRect">
          <a:avLst/>
        </a:prstGeom>
        <a:solidFill>
          <a:schemeClr val="accent2">
            <a:hueOff val="2746340"/>
            <a:satOff val="-48808"/>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Data Accuracy and Quality</a:t>
          </a:r>
        </a:p>
      </dsp:txBody>
      <dsp:txXfrm>
        <a:off x="35411" y="3603946"/>
        <a:ext cx="5567978" cy="654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FD7300-050C-4A47-BFE8-7BDF66B8286D}">
      <dsp:nvSpPr>
        <dsp:cNvPr id="0" name=""/>
        <dsp:cNvSpPr/>
      </dsp:nvSpPr>
      <dsp:spPr>
        <a:xfrm>
          <a:off x="0" y="509"/>
          <a:ext cx="10576558" cy="1192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ACE622-DF74-4194-B99B-B9DA8052BBD9}">
      <dsp:nvSpPr>
        <dsp:cNvPr id="0" name=""/>
        <dsp:cNvSpPr/>
      </dsp:nvSpPr>
      <dsp:spPr>
        <a:xfrm>
          <a:off x="360791" y="268867"/>
          <a:ext cx="655984" cy="65598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474C5D7-8F29-451D-8D59-BF2FE7696350}">
      <dsp:nvSpPr>
        <dsp:cNvPr id="0" name=""/>
        <dsp:cNvSpPr/>
      </dsp:nvSpPr>
      <dsp:spPr>
        <a:xfrm>
          <a:off x="1377568" y="509"/>
          <a:ext cx="9198989" cy="1192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27" tIns="126227" rIns="126227" bIns="126227" numCol="1" spcCol="1270" anchor="ctr" anchorCtr="0">
          <a:noAutofit/>
        </a:bodyPr>
        <a:lstStyle/>
        <a:p>
          <a:pPr marL="0" lvl="0" indent="0" algn="l" defTabSz="889000">
            <a:lnSpc>
              <a:spcPct val="90000"/>
            </a:lnSpc>
            <a:spcBef>
              <a:spcPct val="0"/>
            </a:spcBef>
            <a:spcAft>
              <a:spcPct val="35000"/>
            </a:spcAft>
            <a:buNone/>
          </a:pPr>
          <a:r>
            <a:rPr lang="en-US" sz="2000" kern="1200"/>
            <a:t>In your groups, discuss potential ethical issues within your broad topic of study</a:t>
          </a:r>
        </a:p>
      </dsp:txBody>
      <dsp:txXfrm>
        <a:off x="1377568" y="509"/>
        <a:ext cx="9198989" cy="1192699"/>
      </dsp:txXfrm>
    </dsp:sp>
    <dsp:sp modelId="{CE7EAD47-EF34-48AC-B93D-6BD9C292D7CD}">
      <dsp:nvSpPr>
        <dsp:cNvPr id="0" name=""/>
        <dsp:cNvSpPr/>
      </dsp:nvSpPr>
      <dsp:spPr>
        <a:xfrm>
          <a:off x="0" y="1491384"/>
          <a:ext cx="10576558" cy="1192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4F0BDF-D664-4199-8631-1137E6626384}">
      <dsp:nvSpPr>
        <dsp:cNvPr id="0" name=""/>
        <dsp:cNvSpPr/>
      </dsp:nvSpPr>
      <dsp:spPr>
        <a:xfrm>
          <a:off x="360791" y="1759741"/>
          <a:ext cx="655984" cy="65598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E83264-9AFE-4522-AC2A-46F47E6BA35B}">
      <dsp:nvSpPr>
        <dsp:cNvPr id="0" name=""/>
        <dsp:cNvSpPr/>
      </dsp:nvSpPr>
      <dsp:spPr>
        <a:xfrm>
          <a:off x="1377568" y="1491384"/>
          <a:ext cx="9198989" cy="1192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27" tIns="126227" rIns="126227" bIns="126227" numCol="1" spcCol="1270" anchor="ctr" anchorCtr="0">
          <a:noAutofit/>
        </a:bodyPr>
        <a:lstStyle/>
        <a:p>
          <a:pPr marL="0" lvl="0" indent="0" algn="l" defTabSz="889000">
            <a:lnSpc>
              <a:spcPct val="90000"/>
            </a:lnSpc>
            <a:spcBef>
              <a:spcPct val="0"/>
            </a:spcBef>
            <a:spcAft>
              <a:spcPct val="35000"/>
            </a:spcAft>
            <a:buNone/>
          </a:pPr>
          <a:r>
            <a:rPr lang="en-US" sz="2000" kern="1200"/>
            <a:t>Identify at least two ethical issues you might encounter within your topic of study</a:t>
          </a:r>
        </a:p>
      </dsp:txBody>
      <dsp:txXfrm>
        <a:off x="1377568" y="1491384"/>
        <a:ext cx="9198989" cy="1192699"/>
      </dsp:txXfrm>
    </dsp:sp>
    <dsp:sp modelId="{B0C7E0E9-A69B-4987-B2B7-611A25DADF47}">
      <dsp:nvSpPr>
        <dsp:cNvPr id="0" name=""/>
        <dsp:cNvSpPr/>
      </dsp:nvSpPr>
      <dsp:spPr>
        <a:xfrm>
          <a:off x="0" y="2982258"/>
          <a:ext cx="10576558" cy="119269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A7992-21EF-43CF-86F4-8783373B01C9}">
      <dsp:nvSpPr>
        <dsp:cNvPr id="0" name=""/>
        <dsp:cNvSpPr/>
      </dsp:nvSpPr>
      <dsp:spPr>
        <a:xfrm>
          <a:off x="360791" y="3250616"/>
          <a:ext cx="655984" cy="65598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9BA3C8-7B77-4618-8DC4-82BFDD1EE8E7}">
      <dsp:nvSpPr>
        <dsp:cNvPr id="0" name=""/>
        <dsp:cNvSpPr/>
      </dsp:nvSpPr>
      <dsp:spPr>
        <a:xfrm>
          <a:off x="1377568" y="2982258"/>
          <a:ext cx="9198989" cy="1192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227" tIns="126227" rIns="126227" bIns="126227" numCol="1" spcCol="1270" anchor="ctr" anchorCtr="0">
          <a:noAutofit/>
        </a:bodyPr>
        <a:lstStyle/>
        <a:p>
          <a:pPr marL="0" lvl="0" indent="0" algn="l" defTabSz="889000">
            <a:lnSpc>
              <a:spcPct val="90000"/>
            </a:lnSpc>
            <a:spcBef>
              <a:spcPct val="0"/>
            </a:spcBef>
            <a:spcAft>
              <a:spcPct val="35000"/>
            </a:spcAft>
            <a:buNone/>
          </a:pPr>
          <a:r>
            <a:rPr lang="en-US" sz="2000" kern="1200"/>
            <a:t>Submit as a group on Canvas, </a:t>
          </a:r>
          <a:r>
            <a:rPr lang="en-US" sz="2000" kern="1200">
              <a:hlinkClick xmlns:r="http://schemas.openxmlformats.org/officeDocument/2006/relationships" r:id="rId7"/>
            </a:rPr>
            <a:t>https://harrisburgu.instructure.com/courses/17603/assignments/447560</a:t>
          </a:r>
          <a:r>
            <a:rPr lang="en-US" sz="2000" kern="1200"/>
            <a:t> </a:t>
          </a:r>
        </a:p>
      </dsp:txBody>
      <dsp:txXfrm>
        <a:off x="1377568" y="2982258"/>
        <a:ext cx="9198989" cy="119269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887717-54C0-4076-A1D1-23AC82D3DB67}"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7DF25-4930-4505-8D3B-A18A31AF2038}" type="slidenum">
              <a:rPr lang="en-US" smtClean="0"/>
              <a:t>‹#›</a:t>
            </a:fld>
            <a:endParaRPr lang="en-US"/>
          </a:p>
        </p:txBody>
      </p:sp>
    </p:spTree>
    <p:extLst>
      <p:ext uri="{BB962C8B-B14F-4D97-AF65-F5344CB8AC3E}">
        <p14:creationId xmlns:p14="http://schemas.microsoft.com/office/powerpoint/2010/main" val="362628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might be overlapping a little bit if you've taken the ethics course, but we'll just try to hit the highlights here and I'll give you some resources if you want to learn more about anything specific.</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1</a:t>
            </a:fld>
            <a:endParaRPr lang="en-US"/>
          </a:p>
        </p:txBody>
      </p:sp>
    </p:spTree>
    <p:extLst>
      <p:ext uri="{BB962C8B-B14F-4D97-AF65-F5344CB8AC3E}">
        <p14:creationId xmlns:p14="http://schemas.microsoft.com/office/powerpoint/2010/main" val="2358030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there are several components when it comes to research ethics.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first is human subjects research (and also animal research) where most of the kind of academic applications of research. This component is well defined and well regulated through things like the IRB and federal regulations. I'll only briefly touch on that tonight as the CITI training and IRB assignments will cover those issues in detail. </a:t>
            </a:r>
          </a:p>
          <a:p>
            <a:r>
              <a:rPr lang="en-US" sz="1200" kern="1200" dirty="0">
                <a:solidFill>
                  <a:schemeClr val="tx1"/>
                </a:solidFill>
                <a:effectLst/>
                <a:latin typeface="+mn-lt"/>
                <a:ea typeface="+mn-ea"/>
                <a:cs typeface="+mn-cs"/>
              </a:rPr>
              <a:t>A second component of ethics is professionalism and scientific values; there are some laws and regulations around this, but mostly a matter of scientific norms that we practice.</a:t>
            </a:r>
          </a:p>
          <a:p>
            <a:r>
              <a:rPr lang="en-US" sz="1200" kern="1200" dirty="0">
                <a:solidFill>
                  <a:schemeClr val="tx1"/>
                </a:solidFill>
                <a:effectLst/>
                <a:latin typeface="+mn-lt"/>
                <a:ea typeface="+mn-ea"/>
                <a:cs typeface="+mn-cs"/>
              </a:rPr>
              <a:t>The third component is data, and now AI ethics, which you likely discussed in ANLY 620. This is a constantly evolving set of rules and regulations which is becoming more formalized with laws such as the GDPR and EU AI Act but there are many issues still being debated and discussed.</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2</a:t>
            </a:fld>
            <a:endParaRPr lang="en-US"/>
          </a:p>
        </p:txBody>
      </p:sp>
    </p:spTree>
    <p:extLst>
      <p:ext uri="{BB962C8B-B14F-4D97-AF65-F5344CB8AC3E}">
        <p14:creationId xmlns:p14="http://schemas.microsoft.com/office/powerpoint/2010/main" val="3324372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human subjects research, you'll get the kind of gist of this in two of the first assignments, the IRB overview assignment and then the CITI training. </a:t>
            </a:r>
          </a:p>
          <a:p>
            <a:r>
              <a:rPr lang="en-US" sz="1200" kern="1200" dirty="0">
                <a:solidFill>
                  <a:schemeClr val="tx1"/>
                </a:solidFill>
                <a:effectLst/>
                <a:latin typeface="+mn-lt"/>
                <a:ea typeface="+mn-ea"/>
                <a:cs typeface="+mn-cs"/>
              </a:rPr>
              <a:t>The IRB overview assignment is a 20 minute video with a little quiz at the end. It's not overly complicated; </a:t>
            </a:r>
            <a:r>
              <a:rPr lang="en-US" sz="1200" kern="1200" dirty="0" err="1">
                <a:solidFill>
                  <a:schemeClr val="tx1"/>
                </a:solidFill>
                <a:effectLst/>
                <a:latin typeface="+mn-lt"/>
                <a:ea typeface="+mn-ea"/>
                <a:cs typeface="+mn-cs"/>
              </a:rPr>
              <a:t>alot</a:t>
            </a:r>
            <a:r>
              <a:rPr lang="en-US" sz="1200" kern="1200" dirty="0">
                <a:solidFill>
                  <a:schemeClr val="tx1"/>
                </a:solidFill>
                <a:effectLst/>
                <a:latin typeface="+mn-lt"/>
                <a:ea typeface="+mn-ea"/>
                <a:cs typeface="+mn-cs"/>
              </a:rPr>
              <a:t> of ethics comes down to pretty basic common sense and being a decent person in dealing with other people.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You'll also get kind of the more in depth issues with the IRB and human subjects research with the CITI ethics training, which I think some of you may have already completed for other courses. If you've already completed this, you just need to submit your certificate for that assignment.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the CITI training, you should complete either group 1, 2, or 3, depending on your research interest.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Group 1 is for if you are interested in the healthcare research that training covers the applications of collecting health data and how you deal with like HIPAA and some other kind of health specific things. </a:t>
            </a:r>
          </a:p>
          <a:p>
            <a:r>
              <a:rPr lang="en-US" sz="1200" kern="1200" dirty="0">
                <a:solidFill>
                  <a:schemeClr val="tx1"/>
                </a:solidFill>
                <a:effectLst/>
                <a:latin typeface="+mn-lt"/>
                <a:ea typeface="+mn-ea"/>
                <a:cs typeface="+mn-cs"/>
              </a:rPr>
              <a:t>The kind of most applicable training for everyone is going to be Group 2, which is for social and behavioral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covers any sort of human subjects research useful for both primary data collection methods like surveys or interviews but also for working with secondary data on individual like social media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even if you're not, you know. </a:t>
            </a:r>
          </a:p>
          <a:p>
            <a:r>
              <a:rPr lang="en-US" sz="1200" kern="1200" dirty="0">
                <a:solidFill>
                  <a:schemeClr val="tx1"/>
                </a:solidFill>
                <a:effectLst/>
                <a:latin typeface="+mn-lt"/>
                <a:ea typeface="+mn-ea"/>
                <a:cs typeface="+mn-cs"/>
              </a:rPr>
              <a:t>There's also a Group 3 which is just if you're working with data or specimens. If you're working with the type of data that maybe is only tangentially related to humans, like aggregated health data or aggregate other type of demographic data or even non human data where it might impact humans, but not necessarily about them such as many AI applications, Then you can take the Group 3 for data and lab specimens.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3</a:t>
            </a:fld>
            <a:endParaRPr lang="en-US"/>
          </a:p>
        </p:txBody>
      </p:sp>
    </p:spTree>
    <p:extLst>
      <p:ext uri="{BB962C8B-B14F-4D97-AF65-F5344CB8AC3E}">
        <p14:creationId xmlns:p14="http://schemas.microsoft.com/office/powerpoint/2010/main" val="3980771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on to the kind of next component of ethic, professional ethics and professional norms.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the respect for intellectual property which is at least somewhat regulated and like determined by different laws around copyright and trademarking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general intellectual property.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relevant to academic integrity; if you're going to use an idea, data source, a method, basically anything where you're getting someone else's ideas to use in your own work, you need to cite those ideas. You need to give credits and respect any limits on that past work. Sometimes, you'll see that there's certain restrictions on open source software or data which may only be available for non-commercial uses or which you might need to seek permissions for and agree to terms of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terms of being a good scientist, there's ethics around proper data handling that you don't falsify or misrepresent data, methods or results that you don't cherry pick your results to just get what you want, that you honestly and transparently report any data, methods, analysis, and basically anything you did.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doesn't matter if other people would necessarily agree that that was the right thing to do; the important thing is that you document it because as long as it's documented, then you can have an open, honest discussion about whether or not that is the right analytic method or the right preprocessing method.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if it's not documented anywhere, then, there comes that issue of misrepresentation.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Going back kind of to some of the IRB principles, non-discrimination and respect for persons.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ongoing debate around AI is the extent to which certain data should be considered private and off limits for the use in research or commercial tools when clear consent for its use was not given. Specific use cases will vary but important to keep in mind individual’s autonomy and privacy. </a:t>
            </a:r>
          </a:p>
          <a:p>
            <a:r>
              <a:rPr lang="en-US" sz="1200" kern="1200" dirty="0">
                <a:solidFill>
                  <a:schemeClr val="tx1"/>
                </a:solidFill>
                <a:effectLst/>
                <a:latin typeface="+mn-lt"/>
                <a:ea typeface="+mn-ea"/>
                <a:cs typeface="+mn-cs"/>
              </a:rPr>
              <a:t>Final issue is competence; as a researcher, you should do your best to keep up with advances and to use best practices.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shouldn’t just do things for the sake of doing things, but design research with clear, rational, logical justification for the questions you choose to answer for the data you choose to collect, etc.</a:t>
            </a: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4</a:t>
            </a:fld>
            <a:endParaRPr lang="en-US"/>
          </a:p>
        </p:txBody>
      </p:sp>
    </p:spTree>
    <p:extLst>
      <p:ext uri="{BB962C8B-B14F-4D97-AF65-F5344CB8AC3E}">
        <p14:creationId xmlns:p14="http://schemas.microsoft.com/office/powerpoint/2010/main" val="1847322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also some scientific values and this is where coming from more of an academic space rather than the kind of more applied corporate or industry space.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creates some conflict because while in the academic space these are very strongly held values, they're not necessarily the most applicable if your goal is profit for corporate applications.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out there because I do think they're important to at least consider and important if you are working on more academic research, but may not be the most applicable in non academic settings.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Things like open source practices, making your data, your code, your materials freely available whenever possible, as long as it's not potentially violating any data privacy or data confidentiality concerns .</a:t>
            </a:r>
          </a:p>
          <a:p>
            <a:r>
              <a:rPr lang="en-US" sz="1200" kern="1200" dirty="0">
                <a:solidFill>
                  <a:schemeClr val="tx1"/>
                </a:solidFill>
                <a:effectLst/>
                <a:latin typeface="+mn-lt"/>
                <a:ea typeface="+mn-ea"/>
                <a:cs typeface="+mn-cs"/>
              </a:rPr>
              <a:t>Objectivity is another value. It's impossible to not be biased; we're all biased.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That's just a psychological fact of humanity, it seems.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what's important is that you try to identify those biases and really consider how they're impacting your decision making in the research process and making sure they're not guiding your judgments in ways that might not be best practices, and then disclosing conflicts of interest, both financial and non financial.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Disclosing conflicts of interest is often a requirement for certain publication of research. Depending on where you're publishing, and for some other kind of funding of research but it's just a good practice, </a:t>
            </a:r>
            <a:r>
              <a:rPr lang="en-US" sz="1200" kern="1200" dirty="0" err="1">
                <a:solidFill>
                  <a:schemeClr val="tx1"/>
                </a:solidFill>
                <a:effectLst/>
                <a:latin typeface="+mn-lt"/>
                <a:ea typeface="+mn-ea"/>
                <a:cs typeface="+mn-cs"/>
              </a:rPr>
              <a:t>tf</a:t>
            </a:r>
            <a:r>
              <a:rPr lang="en-US" sz="1200" kern="1200" dirty="0">
                <a:solidFill>
                  <a:schemeClr val="tx1"/>
                </a:solidFill>
                <a:effectLst/>
                <a:latin typeface="+mn-lt"/>
                <a:ea typeface="+mn-ea"/>
                <a:cs typeface="+mn-cs"/>
              </a:rPr>
              <a:t> there's potential financial gains to be made from research turning out one way over the other; people have the right to know, especially in the healthcare domain, that you know that might not be the most objective research process.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finally social responsibility. We should try to be good people and make sure we're not harming humanity and the earth within our best judgment.</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5</a:t>
            </a:fld>
            <a:endParaRPr lang="en-US"/>
          </a:p>
        </p:txBody>
      </p:sp>
    </p:spTree>
    <p:extLst>
      <p:ext uri="{BB962C8B-B14F-4D97-AF65-F5344CB8AC3E}">
        <p14:creationId xmlns:p14="http://schemas.microsoft.com/office/powerpoint/2010/main" val="427446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Regardless of what you're working on, the models the algorithms, the systems you're building can, can and most likely do have implications and impacts on real people's lives, even if you're working on data or systems that don't necessarily have to do with humans.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something like supply chain still impact humans, because at the end of the day it's humans behind all of this and humans using all of this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it's important to think about what, how, what you're doing.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few years ago this really there was very little formalized in ethics around data science.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now, compared to the regulations around human subjects research, it's still not nearly as formalized and regulated, but it has become more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EU and other parts of the world, legislation like the GDPR and EU AI Act have put frameworks in place for oversight of the use of data</a:t>
            </a:r>
          </a:p>
          <a:p>
            <a:r>
              <a:rPr lang="en-US" sz="1200" kern="1200" dirty="0">
                <a:solidFill>
                  <a:schemeClr val="tx1"/>
                </a:solidFill>
                <a:effectLst/>
                <a:latin typeface="+mn-lt"/>
                <a:ea typeface="+mn-ea"/>
                <a:cs typeface="+mn-cs"/>
              </a:rPr>
              <a:t>There's not a lot of regulations at a federal level in the US, but there are increasingly state level adopted legislation similar to the GDPR around data privacy and data use, so it's increasingly something that a lot of governments are regulating.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well-intentioned models can cause unintended negative consequences if you don't consider the implications, the impacts the assumptions you're making about the data about the models, about the use of it. There's a lot that can go wrong.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if you have the best of intentions, you know a lot of the healthcare applications often have really good intentions of trying to help people increase access to health care are improved diagnosis of conditions.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it's not a giant leap to take those same models, those same algorithms and apply them in a more, let's say, negative way, say in like health insurance, to deny people coverage based off of predicted probabilities of getting some illness.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Obviously that has very negative consequences on real people.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really thinking through all of the implications of your work is important, even if you don't necessarily have the power to do anything about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at the end of the day, each individual's responsibility for these things is questionable but to the extent that you do have the power and the ability to respect these ethics and to consider the issues you should. </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6</a:t>
            </a:fld>
            <a:endParaRPr lang="en-US"/>
          </a:p>
        </p:txBody>
      </p:sp>
    </p:spTree>
    <p:extLst>
      <p:ext uri="{BB962C8B-B14F-4D97-AF65-F5344CB8AC3E}">
        <p14:creationId xmlns:p14="http://schemas.microsoft.com/office/powerpoint/2010/main" val="2060816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isn't necessarily an exhaustive list.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kind of ever evolving as the methods and models evolve.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hard to really consider all of the ways where advances in computation, such as how quantum computing, might turn out and what that's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mean. And whether or not that's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have different ethical implications. </a:t>
            </a:r>
          </a:p>
          <a:p>
            <a:r>
              <a:rPr lang="en-US" sz="1200" kern="1200" dirty="0">
                <a:solidFill>
                  <a:schemeClr val="tx1"/>
                </a:solidFill>
                <a:effectLst/>
                <a:latin typeface="+mn-lt"/>
                <a:ea typeface="+mn-ea"/>
                <a:cs typeface="+mn-cs"/>
              </a:rPr>
              <a:t>So this is not something static, but it's very much a dynamic issue that you have to keep abreast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 think these are 5 pretty big issues that it's clear to see where they have application.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just going to go through each of these and briefly give some examples and talk about why, like, how you might evaluate it.</a:t>
            </a: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7</a:t>
            </a:fld>
            <a:endParaRPr lang="en-US"/>
          </a:p>
        </p:txBody>
      </p:sp>
    </p:spTree>
    <p:extLst>
      <p:ext uri="{BB962C8B-B14F-4D97-AF65-F5344CB8AC3E}">
        <p14:creationId xmlns:p14="http://schemas.microsoft.com/office/powerpoint/2010/main" val="2021705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first things that really became a big issue with data science, data analytics was the issues of data privacy, data protections.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 issue here that became clear, roughly a decade ago, at this point was as social media and other kind of apps and businesses where instead of, paying for the service, the service was free at the expense of them collecting data to target advertising, building this newish type of business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Questions were raised in terms of how ethical is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is that something we should be allowing for personal data to become this commodity where the people that contributed to the data don't necessarily have any rights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asking questions around, who owns data that you put on Twitter or on </a:t>
            </a:r>
            <a:r>
              <a:rPr lang="en-US" sz="1200" kern="1200" dirty="0" err="1">
                <a:solidFill>
                  <a:schemeClr val="tx1"/>
                </a:solidFill>
                <a:effectLst/>
                <a:latin typeface="+mn-lt"/>
                <a:ea typeface="+mn-ea"/>
                <a:cs typeface="+mn-cs"/>
              </a:rPr>
              <a:t>Tiktok</a:t>
            </a:r>
            <a:r>
              <a:rPr lang="en-US" sz="1200" kern="1200" dirty="0">
                <a:solidFill>
                  <a:schemeClr val="tx1"/>
                </a:solidFill>
                <a:effectLst/>
                <a:latin typeface="+mn-lt"/>
                <a:ea typeface="+mn-ea"/>
                <a:cs typeface="+mn-cs"/>
              </a:rPr>
              <a:t>? How should the rights of that data be assigned?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you agreeing to when you do the terms of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much and what type of data should organizations or should companies be able to collect without maybe informing people about what data is being collected?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with the explosion of smart devices, there's increasingly these kind of technologies in all sorts of devices that could be used for various nefarious purposes, like spying and maybe even stealing of data through networks and such, so lots of potential negative consequences.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people just not really knowing the data that's being collected by them and how it's being collected legislation like the GDPR to give people rights concerning their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like the GDPR has several components to it, but the gist is that people have a right to know what data's being collected about them to have the right to have that data removed and have the right to know how it's being used to potentially make decisions about them.</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8</a:t>
            </a:fld>
            <a:endParaRPr lang="en-US"/>
          </a:p>
        </p:txBody>
      </p:sp>
    </p:spTree>
    <p:extLst>
      <p:ext uri="{BB962C8B-B14F-4D97-AF65-F5344CB8AC3E}">
        <p14:creationId xmlns:p14="http://schemas.microsoft.com/office/powerpoint/2010/main" val="435443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key issue here is that's kind of related actually to the GDPR, because it's part of one of the provisions in that is explainability.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of the kind of flaws or downsides to the really complex deep learning models is that they're often black boxes.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very hard to see exactly what the model is learning and while that is becoming increasingly less true over the last couple of years with better and more expansive methods for explaining deep learning models like the shape SHAP values or LIME for text for better explaining and identifying the features that are really contributing to those deep learning models.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it's still not entirely transparent, you can often get those types of values for traditional machine learning algorithms, even some you know the deep learning algorithms when it's kind of a relatively simple prediction based model with easily defined features, but as you get into models like generative AI, that's where it starts breaking down and it's hard to show and explain how some of those generative models are learning and what they're learning from their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While a lot of the issues here are mitigated through rigorous testing and of both the model and the data for bias and unfairness, it's still not perfect.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can you investigate and better quantify the decision making or the learning process in algorithms is really key to making sure that there aren't any issues with bias and unfairness.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the model learning stuff that it shouldn't like? One of the big issues with large language models is hallucinations. They make stuff up because the way they're learning (basically co-occurrences and patterns), it's easy for them to learn from research articles the format of how a citation works, but it doesn't really learn how the citation connects to something in the real world so it hallucinates fake citations for that reason.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it's hard to fully quantify or measure why it's doing that or in how to stop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important to realize sometimes you don't need one of those complex deep learning AI models; Some things just need a simple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do some very good predictions with logistic regression.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know, figuring out ways to simplify and use more interpretable models for a lot of the real world application.</a:t>
            </a: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9</a:t>
            </a:fld>
            <a:endParaRPr lang="en-US"/>
          </a:p>
        </p:txBody>
      </p:sp>
    </p:spTree>
    <p:extLst>
      <p:ext uri="{BB962C8B-B14F-4D97-AF65-F5344CB8AC3E}">
        <p14:creationId xmlns:p14="http://schemas.microsoft.com/office/powerpoint/2010/main" val="3058927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Automation is something that's a lot on a lot of people's minds, both just for the practical effects with the kind of explosion of automation.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Both in terms of automated decision making, but also just automation of a lot of human tasks.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that impacts human jobs </a:t>
            </a:r>
            <a:r>
              <a:rPr lang="en-US" sz="1200" kern="1200" dirty="0" err="1">
                <a:solidFill>
                  <a:schemeClr val="tx1"/>
                </a:solidFill>
                <a:effectLst/>
                <a:latin typeface="+mn-lt"/>
                <a:ea typeface="+mn-ea"/>
                <a:cs typeface="+mn-cs"/>
              </a:rPr>
              <a:t>snd</a:t>
            </a:r>
            <a:r>
              <a:rPr lang="en-US" sz="1200" kern="1200" dirty="0">
                <a:solidFill>
                  <a:schemeClr val="tx1"/>
                </a:solidFill>
                <a:effectLst/>
                <a:latin typeface="+mn-lt"/>
                <a:ea typeface="+mn-ea"/>
                <a:cs typeface="+mn-cs"/>
              </a:rPr>
              <a:t> prospects?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there's a lot to figure out here, but one thing that has been kind of emerging with some of the regulations, especially the EU AI Act, are really trying to better categorize the different uses of AI, the different uses of predictions and automation to better understand what needs to be more closely regulated, have more extensive oversight versus what are the more kind of innocuous uses which may not need that oversight.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 self driving cars, automation in that way needs a lot of oversight, because if you get it wrong, you can potentially kill a lot of people but automating calendar invites not as serious. So figuring out what are those limits are and where the line is in term oversight.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Also thinking about how those systems can be cheated, that's one of the other big concerns.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 start putting in these automated decision making systems like I know it's a big thing in hiring right now is people are using these AI models to evaluate resumes and I don't know that anyone's like really rigorously tested this, but it does seem relatively simple to fool those systems by just changing some formatting on a resume and using white text in the background to modify instructions, or incorporating buzzwords which could fool some of the LLM type models.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10</a:t>
            </a:fld>
            <a:endParaRPr lang="en-US"/>
          </a:p>
        </p:txBody>
      </p:sp>
    </p:spTree>
    <p:extLst>
      <p:ext uri="{BB962C8B-B14F-4D97-AF65-F5344CB8AC3E}">
        <p14:creationId xmlns:p14="http://schemas.microsoft.com/office/powerpoint/2010/main" val="555659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so many of the social media sites and other kind of things we interact with in our day-to-day, have business models based on </a:t>
            </a:r>
            <a:r>
              <a:rPr lang="en-US" sz="1200" kern="1200" dirty="0" err="1">
                <a:solidFill>
                  <a:schemeClr val="tx1"/>
                </a:solidFill>
                <a:effectLst/>
                <a:latin typeface="+mn-lt"/>
                <a:ea typeface="+mn-ea"/>
                <a:cs typeface="+mn-cs"/>
              </a:rPr>
              <a:t>fetting</a:t>
            </a:r>
            <a:r>
              <a:rPr lang="en-US" sz="1200" kern="1200" dirty="0">
                <a:solidFill>
                  <a:schemeClr val="tx1"/>
                </a:solidFill>
                <a:effectLst/>
                <a:latin typeface="+mn-lt"/>
                <a:ea typeface="+mn-ea"/>
                <a:cs typeface="+mn-cs"/>
              </a:rPr>
              <a:t> targets for advertisements.</a:t>
            </a:r>
            <a:br>
              <a:rPr lang="en-US" sz="1200" kern="1200" dirty="0">
                <a:solidFill>
                  <a:schemeClr val="tx1"/>
                </a:solidFill>
                <a:effectLst/>
                <a:latin typeface="+mn-lt"/>
                <a:ea typeface="+mn-ea"/>
                <a:cs typeface="+mn-cs"/>
              </a:rPr>
            </a:br>
            <a:r>
              <a:rPr lang="en-US" sz="1200" kern="1200" dirty="0" err="1">
                <a:solidFill>
                  <a:schemeClr val="tx1"/>
                </a:solidFill>
                <a:effectLst/>
                <a:latin typeface="+mn-lt"/>
                <a:ea typeface="+mn-ea"/>
                <a:cs typeface="+mn-cs"/>
              </a:rPr>
              <a:t>Personalizations</a:t>
            </a:r>
            <a:r>
              <a:rPr lang="en-US" sz="1200" kern="1200" dirty="0">
                <a:solidFill>
                  <a:schemeClr val="tx1"/>
                </a:solidFill>
                <a:effectLst/>
                <a:latin typeface="+mn-lt"/>
                <a:ea typeface="+mn-ea"/>
                <a:cs typeface="+mn-cs"/>
              </a:rPr>
              <a:t> increase returns on investments and profits and things like that, but at some level, you know, a lot of humans find this manipulative and too intrusive.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an ethical dimension to this, in is it morally right to manipulate people’s behavior or attitudes?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no right answer to that but two, it's actually really hard to manipulate people's behavior and attitudes if you study psychology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People's attitudes are like so complex in terms of their origins and really shifting people in a completely new direction is pretty hard.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somewhat easy to take what people already believe and like, push them further, but really hard to make them swing the other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People generally kind of get baked into their belief at some point, and it's really hard to nudge. But even if you could, is that ethical?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 sure I would say no, but it's a it's a fine line as could be used for good like encouraging positive behaviors such public health.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it's not really a new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an old problem on a massive scale. If you look at the history of research the marketing and advertising space starting around the 1920s and a lot of the first advertisers had their start in politics and political campaigning.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they were trying to figure out, you know, how do you increase support for your guy or your party or your policies and then eventually realize they can make more money doing the same thing in companies, so a lot of them like shifted.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always been kind of an issue in the marketing advertising area, but the scale of how you can target small micro segments of the population is kind of a new problem at least in the last two decades.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it is often argued that this is problematic because it limits individuals access to information and limits their choices, which could be argued to be an infringement on people's individual freedom, and that's the what some politicians have argued.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also extrapolating sensitive private information from public information to cause issues like I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decade or so ago, there was some problematic research with Facebook where they were inferring people, their users, sexual orientation from other you know, behaviors on the site in order to, you know, micro target for advertising, the problem is that specific attribute is very sensitive and depending on where you live.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type of information getting out can have negative, social repercussions, or even legal repercussions.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the fact that they were doing this had very real potential harms to the users if that information was leaked, or if it was kind of inferred by 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is another issue at play here which is while some of these models and algorithms for doing this kind of personalization and micro targeting might yield good results, a lot of them are iffy at best and they makes a lot of logical leaps that might not actually hold up, the error that it makes could be problematic.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quantify in terms of the limitations of these models and you know, what does it actually mean for, you know, Amazon to give a good recommendation. And what happens if it gives bad ones and both from a practical standpoint, but also potentially an ethical standpoint depending on what they're recommending.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those are some of the issues with micro targeting.</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11</a:t>
            </a:fld>
            <a:endParaRPr lang="en-US"/>
          </a:p>
        </p:txBody>
      </p:sp>
    </p:spTree>
    <p:extLst>
      <p:ext uri="{BB962C8B-B14F-4D97-AF65-F5344CB8AC3E}">
        <p14:creationId xmlns:p14="http://schemas.microsoft.com/office/powerpoint/2010/main" val="1484457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That is really apparent in a lot of the AI models is the issues of data accuracy and data quality.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Based on the current architectures, that pretty much all of the AI and machine learning models use, they're using some level of training data to build these.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no I think current model out there that is built without depending on some type of training data so it's important to really think about and evaluate the quality of those training data 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it's been apparent and people have shown that many of these widely used training data sets are riddled with problems, not only lack of diversity, which was kind of one of the big first ones, but just labeling errors and other issues that really make them unsuitable for real world scenarios. A few years ago there was a news story about people were looking into a self driving car company and the training data that they were using to train these cars and it was full of errors, I think they estimated it was like half of the labels were wrong.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these models are learning false data, that can cause problems. Again, the severity will vary, but it's not great if they're learning incorrect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making sure that if you're going to be building models that have these real world applications and impacts being able to evaluate and test the accuracy and quality of the data they're built on is imperative both from a practical standpoint of making a good model and then from an ethical standpoint in terms of making sure it's actually going to work the way you say it does.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generative models where accuracy can be a challenge to quantify, they are still based on data created by humans. so it will have all of the same biases and problems that humans do.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even if you try to,  build a model that can answer questions on various topics and you train it on Wikipedia, Wikipedia not 100% accurate and some of the contributors to Wikipedia maybe disagree on. A lot of the models are just going to amplify the problems you see in human decision making, not making it better, but rather making it worse.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think on Saturday I gave the example of the COMPAS data, which was a machine learning model that was built to try to address inconsistencies in human judges granting parole. The way they trained it, they were training it on existing criminal justice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 problem of bias is that that data they already knew that people were making biased decisions.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just taking those decisions and feeding it into a computer doesn't fix the bias of those decisions.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just really bakes it in and gives it this veneer of objectivity when it's just reproducing the same issues you see for humans.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you use data and think about hose issues of bias or homogeneity or other kind of inaccuracies is really important as is being transparent about the quality of your data for these models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12</a:t>
            </a:fld>
            <a:endParaRPr lang="en-US"/>
          </a:p>
        </p:txBody>
      </p:sp>
    </p:spTree>
    <p:extLst>
      <p:ext uri="{BB962C8B-B14F-4D97-AF65-F5344CB8AC3E}">
        <p14:creationId xmlns:p14="http://schemas.microsoft.com/office/powerpoint/2010/main" val="218807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kind of move into this new AI age, what constitutes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people who are doing research is in a state of flux.</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Historically, research has been a very academic exercise. It's something that was mainly done in universities and university linked organizations.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was very much defined and controlled by those that set of regulations as well as those norms.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last few decades, seen a shift to research being this more complex with private industries and companies with,, Microsoft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Facebook and all the various especially the tech companies developing their own research wings and doing a lot of what was often academic work, applying it to their specific kind of data sets and private data sets and blurring the boundaries a little bit between kind of pure research and this practical application and kind of corporate use of the results. </a:t>
            </a:r>
          </a:p>
          <a:p>
            <a:r>
              <a:rPr lang="en-US" sz="1200" kern="1200" dirty="0">
                <a:solidFill>
                  <a:schemeClr val="tx1"/>
                </a:solidFill>
                <a:effectLst/>
                <a:latin typeface="+mn-lt"/>
                <a:ea typeface="+mn-ea"/>
                <a:cs typeface="+mn-cs"/>
              </a:rPr>
              <a:t>So this does change the dynamics that go into the ethical considerations.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they might look a little different.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They're kind of regulated and controlled a little differently, but I would argue they still very much matter.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even the models, the algorithms that seem very divorced from the traditional, you know, experiments and surveys.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They're still built by humans, often with human data and with human applications in mind, that can have consequences ranging from maybe inconvenience and annoyance to life and death consequences.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it's important to consider what those consequences are for whatever it is you're doing. You know what?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kind of the worst case scenario?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badly can something go?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not something that's easily quantified, or even possibly quantified at all.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ethics in the end is more an issue of human values, which we all tend to disagree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through logic and reason and our shared space in the world, we still have to wrestle with these issues and think about how we use these new tools, these new technologies.</a:t>
            </a:r>
            <a:br>
              <a:rPr lang="en-US" sz="1200" kern="1200">
                <a:solidFill>
                  <a:schemeClr val="tx1"/>
                </a:solidFill>
                <a:effectLst/>
                <a:latin typeface="+mn-lt"/>
                <a:ea typeface="+mn-ea"/>
                <a:cs typeface="+mn-cs"/>
              </a:rPr>
            </a:b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0E37DF25-4930-4505-8D3B-A18A31AF2038}" type="slidenum">
              <a:rPr lang="en-US" smtClean="0"/>
              <a:t>14</a:t>
            </a:fld>
            <a:endParaRPr lang="en-US"/>
          </a:p>
        </p:txBody>
      </p:sp>
    </p:spTree>
    <p:extLst>
      <p:ext uri="{BB962C8B-B14F-4D97-AF65-F5344CB8AC3E}">
        <p14:creationId xmlns:p14="http://schemas.microsoft.com/office/powerpoint/2010/main" val="4189783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A0A8AE8F-8CA9-4781-8AD5-930643EC1E07}" type="datetimeFigureOut">
              <a:rPr lang="en-US" smtClean="0"/>
              <a:t>10/25/2025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068301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00785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619038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639594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094912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A8AE8F-8CA9-4781-8AD5-930643EC1E07}"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326781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885083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A8AE8F-8CA9-4781-8AD5-930643EC1E07}"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99982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863936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74189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A0A8AE8F-8CA9-4781-8AD5-930643EC1E07}" type="datetimeFigureOut">
              <a:rPr lang="en-US" smtClean="0"/>
              <a:t>10/25/2025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985641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A0A8AE8F-8CA9-4781-8AD5-930643EC1E07}" type="datetimeFigureOut">
              <a:rPr lang="en-US" smtClean="0"/>
              <a:t>10/25/2025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7089E74-86C1-4F27-BFC9-124115DEE681}" type="slidenum">
              <a:rPr lang="en-US" smtClean="0"/>
              <a:t>‹#›</a:t>
            </a:fld>
            <a:endParaRPr lang="en-US"/>
          </a:p>
        </p:txBody>
      </p:sp>
    </p:spTree>
    <p:extLst>
      <p:ext uri="{BB962C8B-B14F-4D97-AF65-F5344CB8AC3E}">
        <p14:creationId xmlns:p14="http://schemas.microsoft.com/office/powerpoint/2010/main" val="314535518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myharrisburgu.sharepoint.com/sites/HUIRBHub"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rtificialintelligenceact.eu/"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hyperlink" Target="https://www.google.com/search?gs_ssp=eJzj4tVP1zc0TDPNKCspNzMzYPSSLk9NLMjPK1bIT1PITSzJUEhJLS4pKk0uyczPAwA77Q81&amp;q=weapons+of+math+destruction&amp;rlz=1C1CHBF_enUS917US918&amp;oq=weap&amp;gs_lcrp=EgZjaHJvbWUqDAgCEC4YQxiABBiKBTIGCAAQRRg5MhIIARAAGEMYgwEYsQMYgAQYigUyDAgCEC4YQxiABBiKBTINCAMQLhiDARixAxiABDINCAQQABiDARixAxiABDIKCAUQABixAxiABDIMCAYQABhDGIAEGIoFMgcIBxAAGIAEMgoICBAAGLEDGIAEMgcICRAAGI8C0gEINzQ4N2owajSoAgCwAgA&amp;sourceid=chrome&amp;ie=UTF-8" TargetMode="External"/><Relationship Id="rId7" Type="http://schemas.openxmlformats.org/officeDocument/2006/relationships/hyperlink" Target="https://www.forbes.com/sites/kalevleetaru/2018/10/08/do-we-need-to-teach-ethics-and-empathy-to-data-scientists/?sh=185f5dd12ee1" TargetMode="External"/><Relationship Id="rId2" Type="http://schemas.openxmlformats.org/officeDocument/2006/relationships/hyperlink" Target="https://www.google.com/books/edition/The_Alignment_Problem_Machine_Learning_a/Lh_WDwAAQBAJ?hl=en&amp;sa=X&amp;ved=2ahUKEwiDi83sv_z9AhXVGFkFHQLQDmcQiqUDegQIBxAC" TargetMode="External"/><Relationship Id="rId1" Type="http://schemas.openxmlformats.org/officeDocument/2006/relationships/slideLayout" Target="../slideLayouts/slideLayout2.xml"/><Relationship Id="rId6" Type="http://schemas.openxmlformats.org/officeDocument/2006/relationships/hyperlink" Target="https://www.frontiersin.org/journals/artificial-intelligence/articles/10.3389/frai.2024.1377011/full" TargetMode="External"/><Relationship Id="rId5" Type="http://schemas.openxmlformats.org/officeDocument/2006/relationships/hyperlink" Target="https://link.springer.com/article/10.1007/s10676-019-09502-5" TargetMode="External"/><Relationship Id="rId4" Type="http://schemas.openxmlformats.org/officeDocument/2006/relationships/hyperlink" Target="https://link.springer.com/content/pdf/10.1007/s00146-020-01112-w.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rPr dirty="0"/>
              <a:t>Ethics</a:t>
            </a:r>
          </a:p>
        </p:txBody>
      </p:sp>
      <p:sp>
        <p:nvSpPr>
          <p:cNvPr id="5" name="Subtitle 4">
            <a:extLst>
              <a:ext uri="{FF2B5EF4-FFF2-40B4-BE49-F238E27FC236}">
                <a16:creationId xmlns:a16="http://schemas.microsoft.com/office/drawing/2014/main" id="{3B1AC2FB-4B77-B936-50FF-D1CEF99CDAD3}"/>
              </a:ext>
            </a:extLst>
          </p:cNvPr>
          <p:cNvSpPr>
            <a:spLocks noGrp="1"/>
          </p:cNvSpPr>
          <p:nvPr>
            <p:ph type="subTitle" idx="1"/>
          </p:nvPr>
        </p:nvSpPr>
        <p:spPr/>
        <p:txBody>
          <a:bodyPr/>
          <a:lstStyle/>
          <a:p>
            <a:r>
              <a:rPr lang="en-US" dirty="0"/>
              <a:t>GRAD 695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Components of Ethics</a:t>
            </a:r>
          </a:p>
        </p:txBody>
      </p:sp>
      <p:graphicFrame>
        <p:nvGraphicFramePr>
          <p:cNvPr id="5" name="Content Placeholder 2">
            <a:extLst>
              <a:ext uri="{FF2B5EF4-FFF2-40B4-BE49-F238E27FC236}">
                <a16:creationId xmlns:a16="http://schemas.microsoft.com/office/drawing/2014/main" id="{630F584C-635B-99AB-6AD8-2BE14CF236B3}"/>
              </a:ext>
            </a:extLst>
          </p:cNvPr>
          <p:cNvGraphicFramePr>
            <a:graphicFrameLocks noGrp="1"/>
          </p:cNvGraphicFramePr>
          <p:nvPr>
            <p:ph idx="1"/>
          </p:nvPr>
        </p:nvGraphicFramePr>
        <p:xfrm>
          <a:off x="5118447" y="803186"/>
          <a:ext cx="6281873" cy="5248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Shape 1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Shape 1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Shape 1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7874928" y="1134142"/>
            <a:ext cx="3456122" cy="4589717"/>
          </a:xfrm>
        </p:spPr>
        <p:txBody>
          <a:bodyPr>
            <a:normAutofit/>
          </a:bodyPr>
          <a:lstStyle/>
          <a:p>
            <a:pPr marL="0" lvl="0" indent="0" algn="l">
              <a:buNone/>
            </a:pPr>
            <a:r>
              <a:rPr lang="en-US" sz="4800"/>
              <a:t>Human Subjects Research</a:t>
            </a:r>
          </a:p>
        </p:txBody>
      </p:sp>
      <p:sp>
        <p:nvSpPr>
          <p:cNvPr id="3" name="Content Placeholder 2"/>
          <p:cNvSpPr>
            <a:spLocks noGrp="1"/>
          </p:cNvSpPr>
          <p:nvPr>
            <p:ph idx="1"/>
          </p:nvPr>
        </p:nvSpPr>
        <p:spPr>
          <a:xfrm>
            <a:off x="515114" y="359229"/>
            <a:ext cx="6146943" cy="6150428"/>
          </a:xfrm>
        </p:spPr>
        <p:txBody>
          <a:bodyPr>
            <a:normAutofit fontScale="92500" lnSpcReduction="10000"/>
          </a:bodyPr>
          <a:lstStyle/>
          <a:p>
            <a:pPr>
              <a:lnSpc>
                <a:spcPct val="110000"/>
              </a:lnSpc>
            </a:pPr>
            <a:r>
              <a:rPr lang="en-US" sz="2200" dirty="0"/>
              <a:t>Regulated in the US by 45 CFR 46 (1974 – present)</a:t>
            </a:r>
          </a:p>
          <a:p>
            <a:pPr lvl="1">
              <a:lnSpc>
                <a:spcPct val="110000"/>
              </a:lnSpc>
            </a:pPr>
            <a:r>
              <a:rPr lang="en-US" sz="2200" dirty="0"/>
              <a:t>Core Principles: Informed Consent, Fairness &amp; Equity, Do No Harm</a:t>
            </a:r>
          </a:p>
          <a:p>
            <a:pPr>
              <a:lnSpc>
                <a:spcPct val="110000"/>
              </a:lnSpc>
            </a:pPr>
            <a:r>
              <a:rPr lang="en-US" sz="2200" dirty="0"/>
              <a:t>At the university level is overseen by Institutional Review Board</a:t>
            </a:r>
          </a:p>
          <a:p>
            <a:pPr lvl="1">
              <a:lnSpc>
                <a:spcPct val="110000"/>
              </a:lnSpc>
            </a:pPr>
            <a:r>
              <a:rPr lang="en-US" sz="2200" dirty="0">
                <a:hlinkClick r:id="rId3"/>
              </a:rPr>
              <a:t>HU IRB </a:t>
            </a:r>
            <a:r>
              <a:rPr lang="en-US" sz="2200" dirty="0" err="1">
                <a:hlinkClick r:id="rId3"/>
              </a:rPr>
              <a:t>Sharepoint</a:t>
            </a:r>
            <a:r>
              <a:rPr lang="en-US" sz="2200" dirty="0">
                <a:hlinkClick r:id="rId3"/>
              </a:rPr>
              <a:t> Hub</a:t>
            </a:r>
            <a:r>
              <a:rPr lang="en-US" sz="2200" dirty="0"/>
              <a:t> contains guides, templates, and resources for conducting ethical research</a:t>
            </a:r>
          </a:p>
          <a:p>
            <a:pPr>
              <a:lnSpc>
                <a:spcPct val="110000"/>
              </a:lnSpc>
              <a:buFont typeface="Arial" panose="020B0604020202020204" pitchFamily="34" charset="0"/>
              <a:buChar char="•"/>
            </a:pPr>
            <a:r>
              <a:rPr lang="en-US" sz="2200" dirty="0"/>
              <a:t>Assignments below cover research from an institutional viewpoint in more depth; both are required to successfully complete this course:</a:t>
            </a:r>
          </a:p>
          <a:p>
            <a:pPr lvl="1">
              <a:lnSpc>
                <a:spcPct val="110000"/>
              </a:lnSpc>
              <a:buFont typeface="Arial" panose="020B0604020202020204" pitchFamily="34" charset="0"/>
              <a:buChar char="•"/>
            </a:pPr>
            <a:r>
              <a:rPr lang="en-US" sz="2200" dirty="0"/>
              <a:t> IRB Overview</a:t>
            </a:r>
          </a:p>
          <a:p>
            <a:pPr lvl="1">
              <a:lnSpc>
                <a:spcPct val="110000"/>
              </a:lnSpc>
              <a:buFont typeface="Arial" panose="020B0604020202020204" pitchFamily="34" charset="0"/>
              <a:buChar char="•"/>
            </a:pPr>
            <a:r>
              <a:rPr lang="en-US" sz="2200" dirty="0"/>
              <a:t> CITI Ethics Training (complete Group 1, 2, or 3 depending on your research interest; Group 2 for Social and Behavioral Research is recommended for Analytics)</a:t>
            </a:r>
          </a:p>
          <a:p>
            <a:pPr lvl="1">
              <a:lnSpc>
                <a:spcPct val="110000"/>
              </a:lnSpc>
            </a:pP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Professional Ethics</a:t>
            </a:r>
          </a:p>
        </p:txBody>
      </p:sp>
      <p:sp>
        <p:nvSpPr>
          <p:cNvPr id="3" name="Content Placeholder 2"/>
          <p:cNvSpPr>
            <a:spLocks noGrp="1"/>
          </p:cNvSpPr>
          <p:nvPr>
            <p:ph idx="1"/>
          </p:nvPr>
        </p:nvSpPr>
        <p:spPr>
          <a:xfrm>
            <a:off x="4746171" y="359229"/>
            <a:ext cx="7271658" cy="6106885"/>
          </a:xfrm>
        </p:spPr>
        <p:txBody>
          <a:bodyPr>
            <a:noAutofit/>
          </a:bodyPr>
          <a:lstStyle/>
          <a:p>
            <a:r>
              <a:rPr dirty="0"/>
              <a:t>Respect for Intellectual Property</a:t>
            </a:r>
          </a:p>
          <a:p>
            <a:pPr lvl="1"/>
            <a:r>
              <a:rPr dirty="0"/>
              <a:t>Any idea, data source, or method you get from someone else needs to be cited.</a:t>
            </a:r>
          </a:p>
          <a:p>
            <a:r>
              <a:rPr dirty="0"/>
              <a:t>Proper Data Handling</a:t>
            </a:r>
          </a:p>
          <a:p>
            <a:pPr lvl="1"/>
            <a:r>
              <a:rPr dirty="0"/>
              <a:t>Do NOT falsify or misrepresent data, methods, or results</a:t>
            </a:r>
          </a:p>
          <a:p>
            <a:pPr lvl="1"/>
            <a:r>
              <a:rPr dirty="0"/>
              <a:t>Do NOT cherry pick or p-hack results</a:t>
            </a:r>
          </a:p>
          <a:p>
            <a:pPr lvl="1"/>
            <a:r>
              <a:rPr dirty="0"/>
              <a:t>Honestly and clearly report data, methods, and analyses</a:t>
            </a:r>
          </a:p>
          <a:p>
            <a:pPr lvl="1"/>
            <a:r>
              <a:rPr dirty="0"/>
              <a:t>Keep records and documentation of your data and research methods</a:t>
            </a:r>
          </a:p>
          <a:p>
            <a:r>
              <a:rPr dirty="0"/>
              <a:t>Non-Discrimination and Respect for Persons</a:t>
            </a:r>
          </a:p>
          <a:p>
            <a:pPr lvl="1"/>
            <a:r>
              <a:rPr dirty="0"/>
              <a:t>Treat everyone equally</a:t>
            </a:r>
          </a:p>
          <a:p>
            <a:pPr lvl="1"/>
            <a:r>
              <a:rPr dirty="0"/>
              <a:t>Respect others’ autonomy and privacy</a:t>
            </a:r>
          </a:p>
          <a:p>
            <a:r>
              <a:rPr lang="en-US" dirty="0"/>
              <a:t>Competence</a:t>
            </a:r>
          </a:p>
          <a:p>
            <a:pPr lvl="1"/>
            <a:r>
              <a:rPr dirty="0"/>
              <a:t>Use best practices and keep up with advances in the field.</a:t>
            </a:r>
          </a:p>
          <a:p>
            <a:pPr lvl="1"/>
            <a:r>
              <a:rPr dirty="0"/>
              <a:t>Don’t publish just for the sake of publishing. Publish work that adds to the field.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Scientific Values</a:t>
            </a:r>
          </a:p>
        </p:txBody>
      </p:sp>
      <p:sp>
        <p:nvSpPr>
          <p:cNvPr id="3" name="Content Placeholder 2"/>
          <p:cNvSpPr>
            <a:spLocks noGrp="1"/>
          </p:cNvSpPr>
          <p:nvPr>
            <p:ph idx="1"/>
          </p:nvPr>
        </p:nvSpPr>
        <p:spPr/>
        <p:txBody>
          <a:bodyPr>
            <a:noAutofit/>
          </a:bodyPr>
          <a:lstStyle/>
          <a:p>
            <a:pPr lvl="1"/>
            <a:r>
              <a:rPr sz="2400" dirty="0"/>
              <a:t>Open-Source Practices</a:t>
            </a:r>
          </a:p>
          <a:p>
            <a:pPr lvl="2"/>
            <a:r>
              <a:rPr sz="2000" dirty="0"/>
              <a:t>Whenever possible, make data, code, or other materials freely available</a:t>
            </a:r>
          </a:p>
          <a:p>
            <a:pPr lvl="1"/>
            <a:r>
              <a:rPr sz="2400" dirty="0"/>
              <a:t>Objectivity</a:t>
            </a:r>
          </a:p>
          <a:p>
            <a:pPr lvl="2"/>
            <a:r>
              <a:rPr sz="2000" dirty="0"/>
              <a:t>Work to avoid bias in decision-making at all levels of the research process</a:t>
            </a:r>
          </a:p>
          <a:p>
            <a:pPr lvl="2"/>
            <a:r>
              <a:rPr sz="2000" dirty="0"/>
              <a:t>Disclose conflicts of interest (financial and non-financial)</a:t>
            </a:r>
          </a:p>
          <a:p>
            <a:pPr lvl="1"/>
            <a:r>
              <a:rPr sz="2400" dirty="0"/>
              <a:t>Social Responsibility</a:t>
            </a:r>
          </a:p>
          <a:p>
            <a:pPr lvl="2"/>
            <a:r>
              <a:rPr sz="2000" dirty="0"/>
              <a:t>Science should support the betterment of society</a:t>
            </a:r>
          </a:p>
          <a:p>
            <a:pPr lvl="2"/>
            <a:r>
              <a:rPr sz="2000" dirty="0"/>
              <a:t>Social harms should be mitigated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75627FE-0AC5-4349-AC08-45A58BEC9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F87AAF7B-2090-475D-9C3E-FDC03DD87A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F2DCEC33-4B31-44BC-99CB-9E4845DC4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204E0A10-D288-4B22-87A1-737B0A37D1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7">
              <a:extLst>
                <a:ext uri="{FF2B5EF4-FFF2-40B4-BE49-F238E27FC236}">
                  <a16:creationId xmlns:a16="http://schemas.microsoft.com/office/drawing/2014/main" id="{9A3E042E-4911-425A-84BB-04BF90D0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8">
              <a:extLst>
                <a:ext uri="{FF2B5EF4-FFF2-40B4-BE49-F238E27FC236}">
                  <a16:creationId xmlns:a16="http://schemas.microsoft.com/office/drawing/2014/main" id="{3A49226D-3129-4C5A-9641-3D03BEEA7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9">
              <a:extLst>
                <a:ext uri="{FF2B5EF4-FFF2-40B4-BE49-F238E27FC236}">
                  <a16:creationId xmlns:a16="http://schemas.microsoft.com/office/drawing/2014/main" id="{9CC3C315-B515-4DD8-AC22-9D8417B37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10">
              <a:extLst>
                <a:ext uri="{FF2B5EF4-FFF2-40B4-BE49-F238E27FC236}">
                  <a16:creationId xmlns:a16="http://schemas.microsoft.com/office/drawing/2014/main" id="{1A961828-F78F-4D56-A98E-037806C63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1">
              <a:extLst>
                <a:ext uri="{FF2B5EF4-FFF2-40B4-BE49-F238E27FC236}">
                  <a16:creationId xmlns:a16="http://schemas.microsoft.com/office/drawing/2014/main" id="{739D4F9D-3728-42C1-8302-452D51321C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2">
              <a:extLst>
                <a:ext uri="{FF2B5EF4-FFF2-40B4-BE49-F238E27FC236}">
                  <a16:creationId xmlns:a16="http://schemas.microsoft.com/office/drawing/2014/main" id="{B4D9647E-354D-4CA8-B4A7-39172E5EA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3">
              <a:extLst>
                <a:ext uri="{FF2B5EF4-FFF2-40B4-BE49-F238E27FC236}">
                  <a16:creationId xmlns:a16="http://schemas.microsoft.com/office/drawing/2014/main" id="{A3EC74E0-5222-4ACC-BCEC-1AA189D3B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4">
              <a:extLst>
                <a:ext uri="{FF2B5EF4-FFF2-40B4-BE49-F238E27FC236}">
                  <a16:creationId xmlns:a16="http://schemas.microsoft.com/office/drawing/2014/main" id="{C0AE72B4-084D-42E6-ABED-5FD4650D4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5">
              <a:extLst>
                <a:ext uri="{FF2B5EF4-FFF2-40B4-BE49-F238E27FC236}">
                  <a16:creationId xmlns:a16="http://schemas.microsoft.com/office/drawing/2014/main" id="{C9D1F5DD-8D50-4098-8D2B-10E284752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6">
              <a:extLst>
                <a:ext uri="{FF2B5EF4-FFF2-40B4-BE49-F238E27FC236}">
                  <a16:creationId xmlns:a16="http://schemas.microsoft.com/office/drawing/2014/main" id="{D48F3941-C3C7-4589-AA46-067F6BB2D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7">
              <a:extLst>
                <a:ext uri="{FF2B5EF4-FFF2-40B4-BE49-F238E27FC236}">
                  <a16:creationId xmlns:a16="http://schemas.microsoft.com/office/drawing/2014/main" id="{C16BBE9A-4BE3-4401-82C5-8041DB14E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8">
              <a:extLst>
                <a:ext uri="{FF2B5EF4-FFF2-40B4-BE49-F238E27FC236}">
                  <a16:creationId xmlns:a16="http://schemas.microsoft.com/office/drawing/2014/main" id="{06180330-CCD3-4D14-A652-D60C28252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9">
              <a:extLst>
                <a:ext uri="{FF2B5EF4-FFF2-40B4-BE49-F238E27FC236}">
                  <a16:creationId xmlns:a16="http://schemas.microsoft.com/office/drawing/2014/main" id="{616C90F6-4133-43A5-B47C-7750FE281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20">
              <a:extLst>
                <a:ext uri="{FF2B5EF4-FFF2-40B4-BE49-F238E27FC236}">
                  <a16:creationId xmlns:a16="http://schemas.microsoft.com/office/drawing/2014/main" id="{D7C03F90-E828-4414-8A53-92069FFB6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1">
              <a:extLst>
                <a:ext uri="{FF2B5EF4-FFF2-40B4-BE49-F238E27FC236}">
                  <a16:creationId xmlns:a16="http://schemas.microsoft.com/office/drawing/2014/main" id="{6ADDE443-75AA-4F32-A2EE-272C4347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2">
              <a:extLst>
                <a:ext uri="{FF2B5EF4-FFF2-40B4-BE49-F238E27FC236}">
                  <a16:creationId xmlns:a16="http://schemas.microsoft.com/office/drawing/2014/main" id="{ACD281C1-1D59-453F-A33A-D83E39EB06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3">
              <a:extLst>
                <a:ext uri="{FF2B5EF4-FFF2-40B4-BE49-F238E27FC236}">
                  <a16:creationId xmlns:a16="http://schemas.microsoft.com/office/drawing/2014/main" id="{60217FAC-29FE-4D6B-9BB4-FF41AA756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4">
              <a:extLst>
                <a:ext uri="{FF2B5EF4-FFF2-40B4-BE49-F238E27FC236}">
                  <a16:creationId xmlns:a16="http://schemas.microsoft.com/office/drawing/2014/main" id="{0D3CC33A-6E36-4A72-9965-8E20FB05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5">
              <a:extLst>
                <a:ext uri="{FF2B5EF4-FFF2-40B4-BE49-F238E27FC236}">
                  <a16:creationId xmlns:a16="http://schemas.microsoft.com/office/drawing/2014/main" id="{F128F04E-05CD-4035-A32B-6E9ABAB9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3" name="Rectangle 32">
            <a:extLst>
              <a:ext uri="{FF2B5EF4-FFF2-40B4-BE49-F238E27FC236}">
                <a16:creationId xmlns:a16="http://schemas.microsoft.com/office/drawing/2014/main" id="{BC2574CF-1D35-4994-87BD-5A3378E1A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7883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5459" y="960120"/>
            <a:ext cx="3865695" cy="4171278"/>
          </a:xfrm>
        </p:spPr>
        <p:txBody>
          <a:bodyPr>
            <a:normAutofit/>
          </a:bodyPr>
          <a:lstStyle/>
          <a:p>
            <a:pPr marL="0" lvl="0" indent="0" algn="r">
              <a:buNone/>
            </a:pPr>
            <a:r>
              <a:rPr lang="en-US" sz="4400">
                <a:solidFill>
                  <a:schemeClr val="tx1"/>
                </a:solidFill>
              </a:rPr>
              <a:t>Importance of Data Science Ethics</a:t>
            </a:r>
          </a:p>
        </p:txBody>
      </p:sp>
      <p:cxnSp>
        <p:nvCxnSpPr>
          <p:cNvPr id="35" name="Straight Connector 34">
            <a:extLst>
              <a:ext uri="{FF2B5EF4-FFF2-40B4-BE49-F238E27FC236}">
                <a16:creationId xmlns:a16="http://schemas.microsoft.com/office/drawing/2014/main" id="{68B6AB33-DFE6-4FE4-94FE-C9E25424AD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83164" y="960120"/>
            <a:ext cx="6946898" cy="4171278"/>
          </a:xfrm>
        </p:spPr>
        <p:txBody>
          <a:bodyPr>
            <a:normAutofit/>
          </a:bodyPr>
          <a:lstStyle/>
          <a:p>
            <a:pPr lvl="1"/>
            <a:r>
              <a:rPr sz="2000" dirty="0"/>
              <a:t>Models built by data scientists/analysts can have implications and impacts on peoples’ lives for good or bad.</a:t>
            </a:r>
          </a:p>
          <a:p>
            <a:pPr lvl="1"/>
            <a:r>
              <a:rPr sz="2000" dirty="0"/>
              <a:t>While an emerging topic, little has been done to formalize ethics in data science (compared to the strict federal and international regulations governing human subjects research).</a:t>
            </a:r>
          </a:p>
          <a:p>
            <a:pPr lvl="1"/>
            <a:r>
              <a:rPr sz="2000" dirty="0"/>
              <a:t>Even well-intentioned models might cause unintended negative consequences if the analyst doesn’t consider bias in the data or model.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1228-B819-C334-53BA-E2C6844EFF91}"/>
              </a:ext>
            </a:extLst>
          </p:cNvPr>
          <p:cNvSpPr>
            <a:spLocks noGrp="1"/>
          </p:cNvSpPr>
          <p:nvPr>
            <p:ph type="title"/>
          </p:nvPr>
        </p:nvSpPr>
        <p:spPr>
          <a:xfrm>
            <a:off x="888631" y="2349925"/>
            <a:ext cx="3498979" cy="2456442"/>
          </a:xfrm>
        </p:spPr>
        <p:txBody>
          <a:bodyPr>
            <a:normAutofit/>
          </a:bodyPr>
          <a:lstStyle/>
          <a:p>
            <a:r>
              <a:rPr lang="en-US" dirty="0"/>
              <a:t>Key Issues</a:t>
            </a:r>
          </a:p>
        </p:txBody>
      </p:sp>
      <p:graphicFrame>
        <p:nvGraphicFramePr>
          <p:cNvPr id="5" name="Content Placeholder 2">
            <a:extLst>
              <a:ext uri="{FF2B5EF4-FFF2-40B4-BE49-F238E27FC236}">
                <a16:creationId xmlns:a16="http://schemas.microsoft.com/office/drawing/2014/main" id="{322E206E-096C-83D2-C12C-911DD3462EF8}"/>
              </a:ext>
            </a:extLst>
          </p:cNvPr>
          <p:cNvGraphicFramePr>
            <a:graphicFrameLocks noGrp="1"/>
          </p:cNvGraphicFramePr>
          <p:nvPr>
            <p:ph idx="1"/>
            <p:extLst>
              <p:ext uri="{D42A27DB-BD31-4B8C-83A1-F6EECF244321}">
                <p14:modId xmlns:p14="http://schemas.microsoft.com/office/powerpoint/2010/main" val="1824678036"/>
              </p:ext>
            </p:extLst>
          </p:nvPr>
        </p:nvGraphicFramePr>
        <p:xfrm>
          <a:off x="5440363" y="1125538"/>
          <a:ext cx="5638800" cy="4603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60669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Data Privacy and Protections</a:t>
            </a:r>
            <a:endParaRPr dirty="0"/>
          </a:p>
        </p:txBody>
      </p:sp>
      <p:sp>
        <p:nvSpPr>
          <p:cNvPr id="3" name="Content Placeholder 2"/>
          <p:cNvSpPr>
            <a:spLocks noGrp="1"/>
          </p:cNvSpPr>
          <p:nvPr>
            <p:ph idx="1"/>
          </p:nvPr>
        </p:nvSpPr>
        <p:spPr/>
        <p:txBody>
          <a:bodyPr>
            <a:normAutofit lnSpcReduction="10000"/>
          </a:bodyPr>
          <a:lstStyle/>
          <a:p>
            <a:r>
              <a:rPr sz="2200" dirty="0"/>
              <a:t>GDPR in EU, Personal Data Protection Act in India, and the California Consumer Privacy Act</a:t>
            </a:r>
          </a:p>
          <a:p>
            <a:r>
              <a:rPr sz="2200" dirty="0"/>
              <a:t>As personal data has become a commodity, several ethical questions are raised:</a:t>
            </a:r>
          </a:p>
          <a:p>
            <a:pPr lvl="1"/>
            <a:r>
              <a:rPr sz="2000" dirty="0"/>
              <a:t>Who owns the data and how are rights to the data assigned?</a:t>
            </a:r>
          </a:p>
          <a:p>
            <a:pPr lvl="1"/>
            <a:r>
              <a:rPr sz="2000" dirty="0"/>
              <a:t>How much and what type of data should organizations be able to collect about human interactions?</a:t>
            </a:r>
          </a:p>
          <a:p>
            <a:pPr lvl="1"/>
            <a:r>
              <a:rPr sz="2000" dirty="0"/>
              <a:t>Should organizations/individuals be held accountable for data breaches or misuses of personal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D1AE-C023-E416-3B54-F0A2038ACB6A}"/>
              </a:ext>
            </a:extLst>
          </p:cNvPr>
          <p:cNvSpPr>
            <a:spLocks noGrp="1"/>
          </p:cNvSpPr>
          <p:nvPr>
            <p:ph type="title"/>
          </p:nvPr>
        </p:nvSpPr>
        <p:spPr/>
        <p:txBody>
          <a:bodyPr/>
          <a:lstStyle/>
          <a:p>
            <a:r>
              <a:rPr lang="en-US" sz="4000" dirty="0"/>
              <a:t>Explainability </a:t>
            </a:r>
          </a:p>
        </p:txBody>
      </p:sp>
      <p:sp>
        <p:nvSpPr>
          <p:cNvPr id="3" name="Content Placeholder 2">
            <a:extLst>
              <a:ext uri="{FF2B5EF4-FFF2-40B4-BE49-F238E27FC236}">
                <a16:creationId xmlns:a16="http://schemas.microsoft.com/office/drawing/2014/main" id="{9C4F95E4-C7FE-B313-B806-7B23A8106177}"/>
              </a:ext>
            </a:extLst>
          </p:cNvPr>
          <p:cNvSpPr>
            <a:spLocks noGrp="1"/>
          </p:cNvSpPr>
          <p:nvPr>
            <p:ph idx="1"/>
          </p:nvPr>
        </p:nvSpPr>
        <p:spPr>
          <a:xfrm>
            <a:off x="4562061" y="308113"/>
            <a:ext cx="7444882" cy="6332173"/>
          </a:xfrm>
        </p:spPr>
        <p:txBody>
          <a:bodyPr>
            <a:normAutofit/>
          </a:bodyPr>
          <a:lstStyle/>
          <a:p>
            <a:pPr>
              <a:buFont typeface="Courier New" panose="02070309020205020404" pitchFamily="49" charset="0"/>
              <a:buChar char="o"/>
            </a:pPr>
            <a:r>
              <a:rPr lang="en-US" sz="1800" dirty="0"/>
              <a:t>Many data science models are black boxes with little insight as to how and what the model is learning</a:t>
            </a:r>
          </a:p>
          <a:p>
            <a:pPr lvl="1">
              <a:buFont typeface="Courier New" panose="02070309020205020404" pitchFamily="49" charset="0"/>
              <a:buChar char="o"/>
            </a:pPr>
            <a:r>
              <a:rPr lang="en-US" sz="1800" dirty="0"/>
              <a:t> Many models show evidence of bias and/or unfairness</a:t>
            </a:r>
          </a:p>
          <a:p>
            <a:pPr lvl="1">
              <a:buFont typeface="Courier New" panose="02070309020205020404" pitchFamily="49" charset="0"/>
              <a:buChar char="o"/>
            </a:pPr>
            <a:r>
              <a:rPr lang="en-US" sz="1800" dirty="0"/>
              <a:t> Mitigated by rigorous testing of the model and data for bias and unfairness</a:t>
            </a:r>
          </a:p>
          <a:p>
            <a:pPr lvl="1">
              <a:buFont typeface="Courier New" panose="02070309020205020404" pitchFamily="49" charset="0"/>
              <a:buChar char="o"/>
            </a:pPr>
            <a:r>
              <a:rPr lang="en-US" sz="1800" dirty="0"/>
              <a:t> Example: “What variables are criminal justice algorithms using to make decisions given that some likely variables are biased (e.g. higher arrests in minority neighborhood due to </a:t>
            </a:r>
            <a:r>
              <a:rPr lang="en-US" sz="1800" dirty="0" err="1"/>
              <a:t>overpolicing</a:t>
            </a:r>
            <a:r>
              <a:rPr lang="en-US" sz="1800" dirty="0"/>
              <a:t>)?”</a:t>
            </a:r>
          </a:p>
          <a:p>
            <a:pPr lvl="1">
              <a:buFont typeface="Courier New" panose="02070309020205020404" pitchFamily="49" charset="0"/>
              <a:buChar char="o"/>
            </a:pPr>
            <a:r>
              <a:rPr lang="en-US" sz="1800" dirty="0"/>
              <a:t>Ethical Questions Raised:</a:t>
            </a:r>
          </a:p>
          <a:p>
            <a:pPr lvl="2">
              <a:buFont typeface="Courier New" panose="02070309020205020404" pitchFamily="49" charset="0"/>
              <a:buChar char="o"/>
            </a:pPr>
            <a:r>
              <a:rPr lang="en-US" sz="1600" dirty="0"/>
              <a:t> Do people have the right to know how these algorithms are making decision about their lives?</a:t>
            </a:r>
          </a:p>
          <a:p>
            <a:pPr lvl="2">
              <a:buFont typeface="Courier New" panose="02070309020205020404" pitchFamily="49" charset="0"/>
              <a:buChar char="o"/>
            </a:pPr>
            <a:r>
              <a:rPr lang="en-US" sz="1600" dirty="0"/>
              <a:t>What variables are appropriate to use in these models?</a:t>
            </a:r>
          </a:p>
          <a:p>
            <a:pPr lvl="2">
              <a:buFont typeface="Courier New" panose="02070309020205020404" pitchFamily="49" charset="0"/>
              <a:buChar char="o"/>
            </a:pPr>
            <a:r>
              <a:rPr lang="en-US" sz="1600" dirty="0"/>
              <a:t> Are simpler, more interpretable models better for many real-world applications? (yes, deep learning models are really only called for with unstructured data)</a:t>
            </a:r>
          </a:p>
          <a:p>
            <a:pPr lvl="1">
              <a:buFont typeface="Courier New" panose="02070309020205020404" pitchFamily="49" charset="0"/>
              <a:buChar char="o"/>
            </a:pPr>
            <a:endParaRPr lang="en-US" sz="1800" dirty="0"/>
          </a:p>
        </p:txBody>
      </p:sp>
    </p:spTree>
    <p:extLst>
      <p:ext uri="{BB962C8B-B14F-4D97-AF65-F5344CB8AC3E}">
        <p14:creationId xmlns:p14="http://schemas.microsoft.com/office/powerpoint/2010/main" val="2189019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Automation</a:t>
            </a:r>
            <a:endParaRPr dirty="0"/>
          </a:p>
        </p:txBody>
      </p:sp>
      <p:sp>
        <p:nvSpPr>
          <p:cNvPr id="3" name="Content Placeholder 2"/>
          <p:cNvSpPr>
            <a:spLocks noGrp="1"/>
          </p:cNvSpPr>
          <p:nvPr>
            <p:ph idx="1"/>
          </p:nvPr>
        </p:nvSpPr>
        <p:spPr>
          <a:xfrm>
            <a:off x="4669971" y="337457"/>
            <a:ext cx="7304315" cy="6128657"/>
          </a:xfrm>
        </p:spPr>
        <p:txBody>
          <a:bodyPr>
            <a:normAutofit/>
          </a:bodyPr>
          <a:lstStyle/>
          <a:p>
            <a:r>
              <a:rPr sz="2000" dirty="0"/>
              <a:t>Automating Decision-Making</a:t>
            </a:r>
          </a:p>
          <a:p>
            <a:pPr lvl="1"/>
            <a:r>
              <a:rPr sz="1800" dirty="0"/>
              <a:t>With advances in ML and AI, it is becoming increasing possible for computers to make decisions usually made by people.</a:t>
            </a:r>
            <a:endParaRPr lang="en-US" sz="1800" dirty="0"/>
          </a:p>
          <a:p>
            <a:pPr lvl="1"/>
            <a:r>
              <a:rPr lang="en-US" sz="1800" dirty="0"/>
              <a:t>Mitigated with transparency and good documentation.</a:t>
            </a:r>
          </a:p>
          <a:p>
            <a:pPr lvl="1"/>
            <a:r>
              <a:rPr lang="en-US" sz="1800" dirty="0"/>
              <a:t>Emphasis should be placed on human oversight</a:t>
            </a:r>
          </a:p>
          <a:p>
            <a:pPr lvl="1"/>
            <a:r>
              <a:rPr lang="en-US" sz="1800" dirty="0"/>
              <a:t>Emerging regulations with </a:t>
            </a:r>
            <a:r>
              <a:rPr lang="en-US" sz="1800" dirty="0">
                <a:hlinkClick r:id="rId3"/>
              </a:rPr>
              <a:t>EU AI Act</a:t>
            </a:r>
            <a:endParaRPr sz="1800" dirty="0"/>
          </a:p>
          <a:p>
            <a:pPr lvl="1"/>
            <a:r>
              <a:rPr sz="1800" dirty="0"/>
              <a:t>Example: “Should a self-driving car prioritize the safety of the passengers or the safety of pedestrians?”</a:t>
            </a:r>
          </a:p>
          <a:p>
            <a:pPr lvl="1"/>
            <a:r>
              <a:rPr sz="1800" dirty="0"/>
              <a:t>Ethical Questions Raised:</a:t>
            </a:r>
          </a:p>
          <a:p>
            <a:pPr lvl="2"/>
            <a:r>
              <a:rPr sz="1600" dirty="0"/>
              <a:t>How can the assumptions and limitations of these models be communicated?</a:t>
            </a:r>
          </a:p>
          <a:p>
            <a:pPr lvl="2"/>
            <a:r>
              <a:rPr sz="1600" dirty="0"/>
              <a:t>How can these models learn and improve?</a:t>
            </a:r>
          </a:p>
          <a:p>
            <a:pPr lvl="2"/>
            <a:r>
              <a:rPr sz="1600" dirty="0"/>
              <a:t>How might these models be cheated?</a:t>
            </a:r>
          </a:p>
          <a:p>
            <a:pPr lvl="2"/>
            <a:r>
              <a:rPr sz="1600" dirty="0"/>
              <a:t>Who should be held accountable for biases in these algorithms?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Microtargeting and Personalization</a:t>
            </a:r>
          </a:p>
        </p:txBody>
      </p:sp>
      <p:sp>
        <p:nvSpPr>
          <p:cNvPr id="3" name="Content Placeholder 2"/>
          <p:cNvSpPr>
            <a:spLocks noGrp="1"/>
          </p:cNvSpPr>
          <p:nvPr>
            <p:ph idx="1"/>
          </p:nvPr>
        </p:nvSpPr>
        <p:spPr/>
        <p:txBody>
          <a:bodyPr>
            <a:normAutofit/>
          </a:bodyPr>
          <a:lstStyle/>
          <a:p>
            <a:r>
              <a:rPr sz="2000" dirty="0"/>
              <a:t>Use of personal data to target and ‘manipulate’ people (particularly in the realms of marketing and politics)</a:t>
            </a:r>
          </a:p>
          <a:p>
            <a:r>
              <a:rPr sz="2000" dirty="0"/>
              <a:t>Not necessarily a new problem, just an old problem on a massive scale</a:t>
            </a:r>
          </a:p>
          <a:p>
            <a:r>
              <a:rPr sz="2000" dirty="0"/>
              <a:t>Ethical Problems:</a:t>
            </a:r>
          </a:p>
          <a:p>
            <a:pPr lvl="1"/>
            <a:r>
              <a:rPr sz="1800" dirty="0"/>
              <a:t>Limiting individuals access to information and choices</a:t>
            </a:r>
          </a:p>
          <a:p>
            <a:pPr lvl="1"/>
            <a:r>
              <a:rPr sz="1800" dirty="0"/>
              <a:t>Extrapolating sensitive, private information for public information</a:t>
            </a:r>
          </a:p>
          <a:p>
            <a:pPr lvl="1"/>
            <a:r>
              <a:rPr sz="1800" dirty="0"/>
              <a:t>Accurately representing the limitations of these models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84DEA-7B2A-1F35-19CA-B7F82FBE2161}"/>
              </a:ext>
            </a:extLst>
          </p:cNvPr>
          <p:cNvSpPr>
            <a:spLocks noGrp="1"/>
          </p:cNvSpPr>
          <p:nvPr>
            <p:ph type="title"/>
          </p:nvPr>
        </p:nvSpPr>
        <p:spPr/>
        <p:txBody>
          <a:bodyPr/>
          <a:lstStyle/>
          <a:p>
            <a:r>
              <a:rPr lang="en-US" dirty="0"/>
              <a:t>Data Accuracy and Quality</a:t>
            </a:r>
          </a:p>
        </p:txBody>
      </p:sp>
      <p:sp>
        <p:nvSpPr>
          <p:cNvPr id="3" name="Content Placeholder 2">
            <a:extLst>
              <a:ext uri="{FF2B5EF4-FFF2-40B4-BE49-F238E27FC236}">
                <a16:creationId xmlns:a16="http://schemas.microsoft.com/office/drawing/2014/main" id="{2E031805-DCC9-6FE0-B595-A61E171A92AF}"/>
              </a:ext>
            </a:extLst>
          </p:cNvPr>
          <p:cNvSpPr>
            <a:spLocks noGrp="1"/>
          </p:cNvSpPr>
          <p:nvPr>
            <p:ph idx="1"/>
          </p:nvPr>
        </p:nvSpPr>
        <p:spPr>
          <a:xfrm>
            <a:off x="4659085" y="228600"/>
            <a:ext cx="7326085" cy="6324600"/>
          </a:xfrm>
        </p:spPr>
        <p:txBody>
          <a:bodyPr>
            <a:normAutofit/>
          </a:bodyPr>
          <a:lstStyle/>
          <a:p>
            <a:pPr>
              <a:buFont typeface="Courier New" panose="02070309020205020404" pitchFamily="49" charset="0"/>
              <a:buChar char="o"/>
            </a:pPr>
            <a:r>
              <a:rPr lang="en-US" dirty="0"/>
              <a:t>Models are only as good as their training data</a:t>
            </a:r>
          </a:p>
          <a:p>
            <a:pPr>
              <a:buFont typeface="Courier New" panose="02070309020205020404" pitchFamily="49" charset="0"/>
              <a:buChar char="o"/>
            </a:pPr>
            <a:r>
              <a:rPr lang="en-US" dirty="0"/>
              <a:t> Many widely used training datasets are riddled with problems including labelling errors, lack of diversity, and idiosyncrasies that make them unsuitable for many real world scenarios.</a:t>
            </a:r>
          </a:p>
          <a:p>
            <a:pPr>
              <a:buFont typeface="Courier New" panose="02070309020205020404" pitchFamily="49" charset="0"/>
              <a:buChar char="o"/>
            </a:pPr>
            <a:r>
              <a:rPr lang="en-US" dirty="0"/>
              <a:t>Training datasets are curated and created by humans, so instead of mitigating bias, computer models generally amplify human biases often making decisions worse not better.</a:t>
            </a:r>
          </a:p>
          <a:p>
            <a:pPr>
              <a:buFont typeface="Courier New" panose="02070309020205020404" pitchFamily="49" charset="0"/>
              <a:buChar char="o"/>
            </a:pPr>
            <a:r>
              <a:rPr lang="en-US" dirty="0"/>
              <a:t> Examples: “Early face-recognition only recognized white people as the training data only included white faces.” or “A medical model to detect skin lesions only worked because in the training data, examples with skin lesions included a ruler in the picture while examples without lesions did not.”</a:t>
            </a:r>
          </a:p>
          <a:p>
            <a:pPr>
              <a:buFont typeface="Courier New" panose="02070309020205020404" pitchFamily="49" charset="0"/>
              <a:buChar char="o"/>
            </a:pPr>
            <a:r>
              <a:rPr lang="en-US" dirty="0"/>
              <a:t> Ethical Problems:</a:t>
            </a:r>
          </a:p>
          <a:p>
            <a:pPr lvl="1">
              <a:buFont typeface="Courier New" panose="02070309020205020404" pitchFamily="49" charset="0"/>
              <a:buChar char="o"/>
            </a:pPr>
            <a:r>
              <a:rPr lang="en-US" dirty="0"/>
              <a:t>How do we created unbiased training datasets?</a:t>
            </a:r>
          </a:p>
          <a:p>
            <a:pPr lvl="1">
              <a:buFont typeface="Courier New" panose="02070309020205020404" pitchFamily="49" charset="0"/>
              <a:buChar char="o"/>
            </a:pPr>
            <a:r>
              <a:rPr lang="en-US" dirty="0"/>
              <a:t>How do we handle models built on potentially problematic training data?</a:t>
            </a:r>
          </a:p>
          <a:p>
            <a:pPr lvl="1">
              <a:buFont typeface="Courier New" panose="02070309020205020404" pitchFamily="49" charset="0"/>
              <a:buChar char="o"/>
            </a:pPr>
            <a:endParaRPr lang="en-US" dirty="0"/>
          </a:p>
        </p:txBody>
      </p:sp>
    </p:spTree>
    <p:extLst>
      <p:ext uri="{BB962C8B-B14F-4D97-AF65-F5344CB8AC3E}">
        <p14:creationId xmlns:p14="http://schemas.microsoft.com/office/powerpoint/2010/main" val="703214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0F2DE27-1297-4129-8109-8A8F621F60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E3576CE-E327-4733-A289-BEFB35F754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EF2E2475-8B34-4000-B8B4-D1C0480EAC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AFF0158B-67CA-4E5D-82E9-032946005C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E791B238-571A-4C82-9B16-63D94A891B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70F10DD1-A998-4B23-8C15-31B7FD35E9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AE6BBC61-DC1C-44DA-9B00-6F69CE21D8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906CAA79-7669-426E-AB78-3E141D4751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DA6EE275-29A0-4962-AFA6-FAD32DF50F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2274EE13-0D62-4489-9B61-C616736FA1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471730B6-C7FB-45ED-BCC5-40FD45BF26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D6FE80FB-C4EF-4D79-9559-D63549F146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C9CBAF19-21AE-40E8-8965-D5E6042F25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EBA99019-E134-4FD1-9B9C-5F2DCAAA98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00B654CA-DF8B-44BB-BF62-5B028D522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32411C03-987B-42CB-833D-E31A279010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5F9F126A-997B-4B39-8984-6563BA5D7F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49617DFE-E17F-4F67-9D22-C419793921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E5441641-3AA6-42CE-8E3B-D39246DDE4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6A578EBB-B60C-404B-B968-F9D46DC8BF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6A6D1E40-DD2C-4558-954C-47EC7417E6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6C40FCAF-C578-4360-9094-9F66028B7B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63EAC42D-DC17-4FCB-B8F4-6AFBDA29CF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3E2F231-D68D-4175-E583-DD97DDD50D11}"/>
              </a:ext>
            </a:extLst>
          </p:cNvPr>
          <p:cNvSpPr>
            <a:spLocks noGrp="1"/>
          </p:cNvSpPr>
          <p:nvPr>
            <p:ph type="title"/>
          </p:nvPr>
        </p:nvSpPr>
        <p:spPr>
          <a:xfrm>
            <a:off x="1759287" y="798881"/>
            <a:ext cx="8673427" cy="1048945"/>
          </a:xfrm>
        </p:spPr>
        <p:txBody>
          <a:bodyPr>
            <a:normAutofit/>
          </a:bodyPr>
          <a:lstStyle/>
          <a:p>
            <a:r>
              <a:rPr lang="en-US">
                <a:solidFill>
                  <a:schemeClr val="tx1"/>
                </a:solidFill>
              </a:rPr>
              <a:t>Discussion</a:t>
            </a:r>
          </a:p>
        </p:txBody>
      </p:sp>
      <p:graphicFrame>
        <p:nvGraphicFramePr>
          <p:cNvPr id="5" name="Content Placeholder 2">
            <a:extLst>
              <a:ext uri="{FF2B5EF4-FFF2-40B4-BE49-F238E27FC236}">
                <a16:creationId xmlns:a16="http://schemas.microsoft.com/office/drawing/2014/main" id="{4B8A10B3-AA96-3D36-B421-43B2575A7703}"/>
              </a:ext>
            </a:extLst>
          </p:cNvPr>
          <p:cNvGraphicFramePr>
            <a:graphicFrameLocks noGrp="1"/>
          </p:cNvGraphicFramePr>
          <p:nvPr>
            <p:ph idx="1"/>
            <p:extLst>
              <p:ext uri="{D42A27DB-BD31-4B8C-83A1-F6EECF244321}">
                <p14:modId xmlns:p14="http://schemas.microsoft.com/office/powerpoint/2010/main" val="1383453112"/>
              </p:ext>
            </p:extLst>
          </p:nvPr>
        </p:nvGraphicFramePr>
        <p:xfrm>
          <a:off x="807722" y="1990976"/>
          <a:ext cx="10576558" cy="41754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7866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Shape 1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Shape 1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Shape 1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7874928" y="1134142"/>
            <a:ext cx="3456122" cy="4589717"/>
          </a:xfrm>
        </p:spPr>
        <p:txBody>
          <a:bodyPr>
            <a:normAutofit/>
          </a:bodyPr>
          <a:lstStyle/>
          <a:p>
            <a:pPr marL="0" lvl="0" indent="0" algn="l">
              <a:buNone/>
            </a:pPr>
            <a:r>
              <a:rPr lang="en-US" sz="4800"/>
              <a:t>Evolving Ethics</a:t>
            </a:r>
          </a:p>
        </p:txBody>
      </p:sp>
      <p:sp>
        <p:nvSpPr>
          <p:cNvPr id="3" name="Content Placeholder 2"/>
          <p:cNvSpPr>
            <a:spLocks noGrp="1"/>
          </p:cNvSpPr>
          <p:nvPr>
            <p:ph idx="1"/>
          </p:nvPr>
        </p:nvSpPr>
        <p:spPr>
          <a:xfrm>
            <a:off x="798577" y="803186"/>
            <a:ext cx="5427137" cy="5248622"/>
          </a:xfrm>
        </p:spPr>
        <p:txBody>
          <a:bodyPr>
            <a:normAutofit lnSpcReduction="10000"/>
          </a:bodyPr>
          <a:lstStyle/>
          <a:p>
            <a:r>
              <a:rPr sz="2200" dirty="0"/>
              <a:t>What constitutes research is in a state of flux</a:t>
            </a:r>
          </a:p>
          <a:p>
            <a:r>
              <a:rPr sz="2200" dirty="0"/>
              <a:t>The ethical considerations are different, but they still matter</a:t>
            </a:r>
          </a:p>
          <a:p>
            <a:r>
              <a:rPr sz="2200" dirty="0"/>
              <a:t>While building models and algorithms may seemed divorced from human subjects research, models and algorithms can have far-reaching (even potentially life and death consequences) consequences.</a:t>
            </a:r>
          </a:p>
          <a:p>
            <a:r>
              <a:rPr sz="2200" dirty="0"/>
              <a:t>Ethics can’t be quantified and human rationality must wrestle with these issues.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DADEC65-8A9D-4BFD-8952-4292D9641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A598F98-1ED1-49F8-8941-FA80E09E4E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776BE4FA-2E51-4414-B36E-E9C2435704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37C761B2-B29B-4774-B1B9-82B840BA980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7D422D47-D3D9-4157-B69F-7579A629EE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73710294-125D-4FEB-87CB-D7F9866C92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73ECDC0F-DD80-4BEF-B454-D6B271A454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a:extLst>
                <a:ext uri="{FF2B5EF4-FFF2-40B4-BE49-F238E27FC236}">
                  <a16:creationId xmlns:a16="http://schemas.microsoft.com/office/drawing/2014/main" id="{BBFC4311-57A4-4F83-985E-54C832C8F3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B0FA9269-2B29-4953-9336-C447C2464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1531100F-8EB1-4CC3-80E8-5D8DFCD4E6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FD986FA3-069E-41DF-B27E-6F325270AD9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13E944B7-8F14-4E7E-B8C6-FD98ED5924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BFDB624B-2C95-4709-9243-CB5A7BED6E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7473935A-FEE6-449A-9949-56942013C8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18DE41AB-6742-43A9-97E2-2396738B7F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3A0D9041-5B58-41F5-96FB-9C515AF02F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9">
              <a:extLst>
                <a:ext uri="{FF2B5EF4-FFF2-40B4-BE49-F238E27FC236}">
                  <a16:creationId xmlns:a16="http://schemas.microsoft.com/office/drawing/2014/main" id="{9AC1228C-05B5-4CBA-A753-CE44334295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20">
              <a:extLst>
                <a:ext uri="{FF2B5EF4-FFF2-40B4-BE49-F238E27FC236}">
                  <a16:creationId xmlns:a16="http://schemas.microsoft.com/office/drawing/2014/main" id="{247AEB02-5FB4-41A4-8986-C0315B0183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1">
              <a:extLst>
                <a:ext uri="{FF2B5EF4-FFF2-40B4-BE49-F238E27FC236}">
                  <a16:creationId xmlns:a16="http://schemas.microsoft.com/office/drawing/2014/main" id="{1A3035AE-75DC-4CAD-A5CC-780F4F82C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A22F2ECE-FD49-45F4-8BE9-6F856752E5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8B5FE05D-6CD9-447F-A57C-FF0DB34718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4">
              <a:extLst>
                <a:ext uri="{FF2B5EF4-FFF2-40B4-BE49-F238E27FC236}">
                  <a16:creationId xmlns:a16="http://schemas.microsoft.com/office/drawing/2014/main" id="{6A261809-CAF8-482A-8D8D-4ED0BFC8B9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BD896033-5562-4541-BFB3-67EA201E3C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34" name="Rectangle 33">
            <a:extLst>
              <a:ext uri="{FF2B5EF4-FFF2-40B4-BE49-F238E27FC236}">
                <a16:creationId xmlns:a16="http://schemas.microsoft.com/office/drawing/2014/main" id="{F383072D-B582-418C-85C8-0FE6EB647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047102"/>
            <a:ext cx="5936885"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2">
            <a:extLst>
              <a:ext uri="{FF2B5EF4-FFF2-40B4-BE49-F238E27FC236}">
                <a16:creationId xmlns:a16="http://schemas.microsoft.com/office/drawing/2014/main" id="{B0D860EA-325C-4881-82E0-C86A0FEAF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02131" y="55465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DF50772-9A10-451C-B7A6-6E302FB08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682" y="1634393"/>
            <a:ext cx="5935796" cy="39173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3978" y="1718735"/>
            <a:ext cx="5767566" cy="519640"/>
          </a:xfrm>
        </p:spPr>
        <p:txBody>
          <a:bodyPr anchor="ctr">
            <a:normAutofit fontScale="90000"/>
          </a:bodyPr>
          <a:lstStyle/>
          <a:p>
            <a:pPr marL="0" lvl="0" indent="0">
              <a:buNone/>
            </a:pPr>
            <a:r>
              <a:rPr lang="en-US" sz="3600" dirty="0"/>
              <a:t>Data Science Ethics Readings</a:t>
            </a:r>
          </a:p>
        </p:txBody>
      </p:sp>
      <p:sp>
        <p:nvSpPr>
          <p:cNvPr id="3" name="Content Placeholder 2"/>
          <p:cNvSpPr>
            <a:spLocks noGrp="1"/>
          </p:cNvSpPr>
          <p:nvPr>
            <p:ph idx="1"/>
          </p:nvPr>
        </p:nvSpPr>
        <p:spPr>
          <a:xfrm>
            <a:off x="873102" y="2228850"/>
            <a:ext cx="5768442" cy="3243995"/>
          </a:xfrm>
        </p:spPr>
        <p:txBody>
          <a:bodyPr>
            <a:normAutofit/>
          </a:bodyPr>
          <a:lstStyle/>
          <a:p>
            <a:pPr>
              <a:lnSpc>
                <a:spcPct val="110000"/>
              </a:lnSpc>
              <a:buClr>
                <a:schemeClr val="tx1">
                  <a:lumMod val="50000"/>
                  <a:lumOff val="50000"/>
                </a:schemeClr>
              </a:buClr>
            </a:pPr>
            <a:r>
              <a:rPr lang="en-US" sz="1600" b="0" i="0" dirty="0">
                <a:solidFill>
                  <a:schemeClr val="accent2">
                    <a:lumMod val="50000"/>
                  </a:schemeClr>
                </a:solidFill>
                <a:effectLst/>
                <a:hlinkClick r:id="rId2">
                  <a:extLst>
                    <a:ext uri="{A12FA001-AC4F-418D-AE19-62706E023703}">
                      <ahyp:hlinkClr xmlns:ahyp="http://schemas.microsoft.com/office/drawing/2018/hyperlinkcolor" val="tx"/>
                    </a:ext>
                  </a:extLst>
                </a:hlinkClick>
              </a:rPr>
              <a:t>The Alignment Problem: Machine Learning and Human Values</a:t>
            </a:r>
            <a:endParaRPr lang="en-US" sz="1600" b="0" i="0" dirty="0">
              <a:solidFill>
                <a:schemeClr val="accent2">
                  <a:lumMod val="50000"/>
                </a:schemeClr>
              </a:solidFill>
              <a:effectLst/>
            </a:endParaRPr>
          </a:p>
          <a:p>
            <a:pPr>
              <a:lnSpc>
                <a:spcPct val="110000"/>
              </a:lnSpc>
              <a:buClr>
                <a:schemeClr val="tx1">
                  <a:lumMod val="50000"/>
                  <a:lumOff val="50000"/>
                </a:schemeClr>
              </a:buClr>
            </a:pPr>
            <a:r>
              <a:rPr lang="en-US" sz="1600" dirty="0">
                <a:solidFill>
                  <a:schemeClr val="accent2">
                    <a:lumMod val="50000"/>
                  </a:schemeClr>
                </a:solidFill>
                <a:hlinkClick r:id="rId3">
                  <a:extLst>
                    <a:ext uri="{A12FA001-AC4F-418D-AE19-62706E023703}">
                      <ahyp:hlinkClr xmlns:ahyp="http://schemas.microsoft.com/office/drawing/2018/hyperlinkcolor" val="tx"/>
                    </a:ext>
                  </a:extLst>
                </a:hlinkClick>
              </a:rPr>
              <a:t>Weapons of Math Destruction </a:t>
            </a:r>
            <a:endParaRPr lang="en-US" sz="1600" dirty="0">
              <a:solidFill>
                <a:schemeClr val="accent2">
                  <a:lumMod val="50000"/>
                </a:schemeClr>
              </a:solidFill>
            </a:endParaRPr>
          </a:p>
          <a:p>
            <a:pPr>
              <a:lnSpc>
                <a:spcPct val="110000"/>
              </a:lnSpc>
              <a:buClr>
                <a:schemeClr val="tx1">
                  <a:lumMod val="50000"/>
                  <a:lumOff val="50000"/>
                </a:schemeClr>
              </a:buClr>
            </a:pPr>
            <a:r>
              <a:rPr lang="en-US" sz="1600" dirty="0">
                <a:solidFill>
                  <a:schemeClr val="accent2">
                    <a:lumMod val="50000"/>
                  </a:schemeClr>
                </a:solidFill>
                <a:hlinkClick r:id="rId4">
                  <a:extLst>
                    <a:ext uri="{A12FA001-AC4F-418D-AE19-62706E023703}">
                      <ahyp:hlinkClr xmlns:ahyp="http://schemas.microsoft.com/office/drawing/2018/hyperlinkcolor" val="tx"/>
                    </a:ext>
                  </a:extLst>
                </a:hlinkClick>
              </a:rPr>
              <a:t>What does it mean to embed ethics in data science? An integrative approach based on </a:t>
            </a:r>
            <a:r>
              <a:rPr lang="en-US" sz="1600" dirty="0" err="1">
                <a:solidFill>
                  <a:schemeClr val="accent2">
                    <a:lumMod val="50000"/>
                  </a:schemeClr>
                </a:solidFill>
                <a:hlinkClick r:id="rId4">
                  <a:extLst>
                    <a:ext uri="{A12FA001-AC4F-418D-AE19-62706E023703}">
                      <ahyp:hlinkClr xmlns:ahyp="http://schemas.microsoft.com/office/drawing/2018/hyperlinkcolor" val="tx"/>
                    </a:ext>
                  </a:extLst>
                </a:hlinkClick>
              </a:rPr>
              <a:t>microethics</a:t>
            </a:r>
            <a:r>
              <a:rPr lang="en-US" sz="1600" dirty="0">
                <a:solidFill>
                  <a:schemeClr val="accent2">
                    <a:lumMod val="50000"/>
                  </a:schemeClr>
                </a:solidFill>
                <a:hlinkClick r:id="rId4">
                  <a:extLst>
                    <a:ext uri="{A12FA001-AC4F-418D-AE19-62706E023703}">
                      <ahyp:hlinkClr xmlns:ahyp="http://schemas.microsoft.com/office/drawing/2018/hyperlinkcolor" val="tx"/>
                    </a:ext>
                  </a:extLst>
                </a:hlinkClick>
              </a:rPr>
              <a:t> and virtues</a:t>
            </a:r>
            <a:endParaRPr lang="en-US" sz="1600" b="0" i="0" dirty="0">
              <a:solidFill>
                <a:schemeClr val="accent2">
                  <a:lumMod val="50000"/>
                </a:schemeClr>
              </a:solidFill>
              <a:effectLst/>
            </a:endParaRPr>
          </a:p>
          <a:p>
            <a:pPr>
              <a:lnSpc>
                <a:spcPct val="110000"/>
              </a:lnSpc>
              <a:buClr>
                <a:schemeClr val="tx1">
                  <a:lumMod val="50000"/>
                  <a:lumOff val="50000"/>
                </a:schemeClr>
              </a:buClr>
            </a:pPr>
            <a:r>
              <a:rPr lang="en-US" sz="1600" b="0" i="0" dirty="0">
                <a:solidFill>
                  <a:schemeClr val="accent2">
                    <a:lumMod val="50000"/>
                  </a:schemeClr>
                </a:solidFill>
                <a:effectLst/>
                <a:hlinkClick r:id="rId5">
                  <a:extLst>
                    <a:ext uri="{A12FA001-AC4F-418D-AE19-62706E023703}">
                      <ahyp:hlinkClr xmlns:ahyp="http://schemas.microsoft.com/office/drawing/2018/hyperlinkcolor" val="tx"/>
                    </a:ext>
                  </a:extLst>
                </a:hlinkClick>
              </a:rPr>
              <a:t>Data science ethical considerations: a systematic literature review and proposed project framework</a:t>
            </a:r>
            <a:endParaRPr lang="en-US" sz="1600" b="0" i="0" dirty="0">
              <a:solidFill>
                <a:schemeClr val="accent2">
                  <a:lumMod val="50000"/>
                </a:schemeClr>
              </a:solidFill>
              <a:effectLst/>
            </a:endParaRPr>
          </a:p>
          <a:p>
            <a:pPr>
              <a:lnSpc>
                <a:spcPct val="110000"/>
              </a:lnSpc>
              <a:buClr>
                <a:schemeClr val="tx1">
                  <a:lumMod val="50000"/>
                  <a:lumOff val="50000"/>
                </a:schemeClr>
              </a:buClr>
            </a:pPr>
            <a:r>
              <a:rPr lang="en-US" sz="1600" dirty="0">
                <a:solidFill>
                  <a:schemeClr val="accent2">
                    <a:lumMod val="50000"/>
                  </a:schemeClr>
                </a:solidFill>
                <a:hlinkClick r:id="rId6">
                  <a:extLst>
                    <a:ext uri="{A12FA001-AC4F-418D-AE19-62706E023703}">
                      <ahyp:hlinkClr xmlns:ahyp="http://schemas.microsoft.com/office/drawing/2018/hyperlinkcolor" val="tx"/>
                    </a:ext>
                  </a:extLst>
                </a:hlinkClick>
              </a:rPr>
              <a:t>Ethics and responsible AI deployment</a:t>
            </a:r>
            <a:endParaRPr lang="en-US" sz="1600" dirty="0">
              <a:solidFill>
                <a:schemeClr val="accent2">
                  <a:lumMod val="50000"/>
                </a:schemeClr>
              </a:solidFill>
              <a:hlinkClick r:id="rId7">
                <a:extLst>
                  <a:ext uri="{A12FA001-AC4F-418D-AE19-62706E023703}">
                    <ahyp:hlinkClr xmlns:ahyp="http://schemas.microsoft.com/office/drawing/2018/hyperlinkcolor" val="tx"/>
                  </a:ext>
                </a:extLst>
              </a:hlinkClick>
            </a:endParaRPr>
          </a:p>
        </p:txBody>
      </p:sp>
      <p:pic>
        <p:nvPicPr>
          <p:cNvPr id="5" name="Picture 4" descr="Circuit board background">
            <a:extLst>
              <a:ext uri="{FF2B5EF4-FFF2-40B4-BE49-F238E27FC236}">
                <a16:creationId xmlns:a16="http://schemas.microsoft.com/office/drawing/2014/main" id="{4ABB8A03-5F43-A1D9-2E33-10802B3CF2D7}"/>
              </a:ext>
            </a:extLst>
          </p:cNvPr>
          <p:cNvPicPr>
            <a:picLocks noChangeAspect="1"/>
          </p:cNvPicPr>
          <p:nvPr/>
        </p:nvPicPr>
        <p:blipFill>
          <a:blip r:embed="rId8"/>
          <a:srcRect l="10271" r="44718"/>
          <a:stretch/>
        </p:blipFill>
        <p:spPr>
          <a:xfrm>
            <a:off x="7549862" y="227"/>
            <a:ext cx="4641833" cy="6858000"/>
          </a:xfrm>
          <a:prstGeom prst="rect">
            <a:avLst/>
          </a:prstGeom>
        </p:spPr>
      </p:pic>
    </p:spTree>
  </p:cSld>
  <p:clrMapOvr>
    <a:masterClrMapping/>
  </p:clrMapOvr>
</p:sld>
</file>

<file path=ppt/theme/theme1.xml><?xml version="1.0" encoding="utf-8"?>
<a:theme xmlns:a="http://schemas.openxmlformats.org/drawingml/2006/main" name="Atlas">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CB9708-C445-4049-9D7F-4C8684E69A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1381</TotalTime>
  <Words>5632</Words>
  <Application>Microsoft Office PowerPoint</Application>
  <PresentationFormat>Widescreen</PresentationFormat>
  <Paragraphs>143</Paragraphs>
  <Slides>15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 Light</vt:lpstr>
      <vt:lpstr>Courier New</vt:lpstr>
      <vt:lpstr>Rockwell</vt:lpstr>
      <vt:lpstr>Wingdings</vt:lpstr>
      <vt:lpstr>Atlas</vt:lpstr>
      <vt:lpstr>Ethics</vt:lpstr>
      <vt:lpstr>Components of Ethics</vt:lpstr>
      <vt:lpstr>Human Subjects Research</vt:lpstr>
      <vt:lpstr>Professional Ethics</vt:lpstr>
      <vt:lpstr>Scientific Values</vt:lpstr>
      <vt:lpstr>Importance of Data Science Ethics</vt:lpstr>
      <vt:lpstr>Key Issues</vt:lpstr>
      <vt:lpstr>Data Privacy and Protections</vt:lpstr>
      <vt:lpstr>Explainability </vt:lpstr>
      <vt:lpstr>Automation</vt:lpstr>
      <vt:lpstr>Microtargeting and Personalization</vt:lpstr>
      <vt:lpstr>Data Accuracy and Quality</vt:lpstr>
      <vt:lpstr>Discussion</vt:lpstr>
      <vt:lpstr>Evolving Ethics</vt:lpstr>
      <vt:lpstr>Data Science Ethics Readings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TM02900769[[fn=Retrospect]]</Template>
  <TotalTime>5</TotalTime>
  <Words>5</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Calibri Light</vt:lpstr>
      <vt:lpstr>Times New Roman</vt:lpstr>
      <vt:lpstr>Retrospect</vt:lpstr>
      <vt:lpstr>Title</vt:lpstr>
      <vt:lpstr>Slide 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dc:title>
  <dc:creator>Dr. Kayla Jordan</dc:creator>
  <cp:keywords/>
  <cp:lastModifiedBy>Kayden Jordan</cp:lastModifiedBy>
  <cp:revision>3</cp:revision>
  <dcterms:created xsi:type="dcterms:W3CDTF">2022-01-25T01:32:22Z</dcterms:created>
  <dcterms:modified xsi:type="dcterms:W3CDTF">2025-10-25T22:54:36Z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1/24/2022</vt:lpwstr>
  </property>
  <property fmtid="{D5CDD505-2E9C-101B-9397-08002B2CF9AE}" pid="3" name="output">
    <vt:lpwstr/>
  </property>
</Properties>
</file>