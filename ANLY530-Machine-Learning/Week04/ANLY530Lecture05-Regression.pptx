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4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66" r:id="rId26"/>
    <p:sldId id="287" r:id="rId27"/>
    <p:sldId id="293" r:id="rId28"/>
    <p:sldId id="294" r:id="rId29"/>
    <p:sldId id="295" r:id="rId30"/>
    <p:sldId id="289" r:id="rId31"/>
    <p:sldId id="290" r:id="rId32"/>
    <p:sldId id="291" r:id="rId33"/>
    <p:sldId id="292" r:id="rId34"/>
    <p:sldId id="299" r:id="rId35"/>
    <p:sldId id="300" r:id="rId36"/>
    <p:sldId id="296" r:id="rId37"/>
    <p:sldId id="297" r:id="rId38"/>
    <p:sldId id="29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1344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Sheet1!$B$48:$B$74</c:f>
              <c:numCache>
                <c:formatCode>General</c:formatCode>
                <c:ptCount val="27"/>
                <c:pt idx="0">
                  <c:v>-7</c:v>
                </c:pt>
                <c:pt idx="1">
                  <c:v>-6</c:v>
                </c:pt>
                <c:pt idx="2">
                  <c:v>-5</c:v>
                </c:pt>
                <c:pt idx="3">
                  <c:v>-4</c:v>
                </c:pt>
                <c:pt idx="4">
                  <c:v>-3</c:v>
                </c:pt>
                <c:pt idx="5">
                  <c:v>-2</c:v>
                </c:pt>
                <c:pt idx="6">
                  <c:v>-1.75</c:v>
                </c:pt>
                <c:pt idx="7">
                  <c:v>-1.5</c:v>
                </c:pt>
                <c:pt idx="8">
                  <c:v>-1.25</c:v>
                </c:pt>
                <c:pt idx="9">
                  <c:v>-1</c:v>
                </c:pt>
                <c:pt idx="10">
                  <c:v>-0.75</c:v>
                </c:pt>
                <c:pt idx="11">
                  <c:v>-0.5</c:v>
                </c:pt>
                <c:pt idx="12">
                  <c:v>-0.25</c:v>
                </c:pt>
                <c:pt idx="13">
                  <c:v>0</c:v>
                </c:pt>
                <c:pt idx="14">
                  <c:v>0.25</c:v>
                </c:pt>
                <c:pt idx="15">
                  <c:v>0.5</c:v>
                </c:pt>
                <c:pt idx="16">
                  <c:v>0.75</c:v>
                </c:pt>
                <c:pt idx="17">
                  <c:v>1</c:v>
                </c:pt>
                <c:pt idx="18">
                  <c:v>1.25</c:v>
                </c:pt>
                <c:pt idx="19">
                  <c:v>1.5</c:v>
                </c:pt>
                <c:pt idx="20">
                  <c:v>1.75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</c:numCache>
            </c:numRef>
          </c:cat>
          <c:val>
            <c:numRef>
              <c:f>Sheet1!$E$48:$E$74</c:f>
              <c:numCache>
                <c:formatCode>General</c:formatCode>
                <c:ptCount val="27"/>
                <c:pt idx="0">
                  <c:v>49</c:v>
                </c:pt>
                <c:pt idx="1">
                  <c:v>36</c:v>
                </c:pt>
                <c:pt idx="2">
                  <c:v>25</c:v>
                </c:pt>
                <c:pt idx="3">
                  <c:v>16</c:v>
                </c:pt>
                <c:pt idx="4">
                  <c:v>9</c:v>
                </c:pt>
                <c:pt idx="5">
                  <c:v>4</c:v>
                </c:pt>
                <c:pt idx="6">
                  <c:v>3.0625</c:v>
                </c:pt>
                <c:pt idx="7">
                  <c:v>2.25</c:v>
                </c:pt>
                <c:pt idx="8">
                  <c:v>1.5625</c:v>
                </c:pt>
                <c:pt idx="9">
                  <c:v>1</c:v>
                </c:pt>
                <c:pt idx="10">
                  <c:v>0.5625</c:v>
                </c:pt>
                <c:pt idx="11">
                  <c:v>0.25</c:v>
                </c:pt>
                <c:pt idx="12">
                  <c:v>6.25E-2</c:v>
                </c:pt>
                <c:pt idx="13">
                  <c:v>0</c:v>
                </c:pt>
                <c:pt idx="14">
                  <c:v>6.25E-2</c:v>
                </c:pt>
                <c:pt idx="15">
                  <c:v>0.25</c:v>
                </c:pt>
                <c:pt idx="16">
                  <c:v>0.5625</c:v>
                </c:pt>
                <c:pt idx="17">
                  <c:v>1</c:v>
                </c:pt>
                <c:pt idx="18">
                  <c:v>1.5625</c:v>
                </c:pt>
                <c:pt idx="19">
                  <c:v>2.25</c:v>
                </c:pt>
                <c:pt idx="20">
                  <c:v>3.0625</c:v>
                </c:pt>
                <c:pt idx="21">
                  <c:v>4</c:v>
                </c:pt>
                <c:pt idx="22">
                  <c:v>9</c:v>
                </c:pt>
                <c:pt idx="23">
                  <c:v>16</c:v>
                </c:pt>
                <c:pt idx="24">
                  <c:v>25</c:v>
                </c:pt>
                <c:pt idx="25">
                  <c:v>36</c:v>
                </c:pt>
                <c:pt idx="26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C9-4B78-9324-E2D176303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037248"/>
        <c:axId val="36602240"/>
      </c:lineChart>
      <c:catAx>
        <c:axId val="8803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crossAx val="36602240"/>
        <c:crossesAt val="0"/>
        <c:auto val="1"/>
        <c:lblAlgn val="ctr"/>
        <c:lblOffset val="100"/>
        <c:noMultiLvlLbl val="0"/>
      </c:catAx>
      <c:valAx>
        <c:axId val="36602240"/>
        <c:scaling>
          <c:orientation val="minMax"/>
          <c:max val="3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88037248"/>
        <c:crosses val="autoZero"/>
        <c:crossBetween val="between"/>
        <c:minorUnit val="0.1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Sheet1!$B$1:$B$7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cat>
          <c:val>
            <c:numRef>
              <c:f>Sheet1!$A$1:$A$7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  <c:pt idx="5">
                  <c:v>3</c:v>
                </c:pt>
                <c:pt idx="6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47-4525-8063-12C2A3316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460416"/>
        <c:axId val="88819200"/>
      </c:lineChart>
      <c:catAx>
        <c:axId val="1244604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000" i="1"/>
                </a:pPr>
                <a:r>
                  <a:rPr lang="en-US" sz="2000" i="1"/>
                  <a:t>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88819200"/>
        <c:crosses val="autoZero"/>
        <c:auto val="1"/>
        <c:lblAlgn val="ctr"/>
        <c:lblOffset val="100"/>
        <c:noMultiLvlLbl val="0"/>
      </c:catAx>
      <c:valAx>
        <c:axId val="88819200"/>
        <c:scaling>
          <c:orientation val="minMax"/>
          <c:max val="3.5"/>
        </c:scaling>
        <c:delete val="0"/>
        <c:axPos val="l"/>
        <c:majorGridlines/>
        <c:title>
          <c:tx>
            <c:rich>
              <a:bodyPr rot="0" vert="wordArtVert"/>
              <a:lstStyle/>
              <a:p>
                <a:pPr>
                  <a:defRPr sz="2000" i="1"/>
                </a:pPr>
                <a:r>
                  <a:rPr lang="en-US" sz="2000" i="1"/>
                  <a:t>Y</a:t>
                </a:r>
              </a:p>
            </c:rich>
          </c:tx>
          <c:layout>
            <c:manualLayout>
              <c:xMode val="edge"/>
              <c:yMode val="edge"/>
              <c:x val="0.05"/>
              <c:y val="3.6052785068533107E-4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12446041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0.56944</cdr:x>
      <cdr:y>0.33102</cdr:y>
    </cdr:from>
    <cdr:to>
      <cdr:x>0.5757</cdr:x>
      <cdr:y>0.37616</cdr:y>
    </cdr:to>
    <cdr:sp macro="" textlink="">
      <cdr:nvSpPr>
        <cdr:cNvPr id="2" name="Freeform 1"/>
        <cdr:cNvSpPr/>
      </cdr:nvSpPr>
      <cdr:spPr>
        <a:xfrm xmlns:a="http://schemas.openxmlformats.org/drawingml/2006/main">
          <a:off x="2603500" y="908050"/>
          <a:ext cx="28583" cy="123825"/>
        </a:xfrm>
        <a:custGeom xmlns:a="http://schemas.openxmlformats.org/drawingml/2006/main">
          <a:avLst/>
          <a:gdLst>
            <a:gd name="connsiteX0" fmla="*/ 0 w 28583"/>
            <a:gd name="connsiteY0" fmla="*/ 0 h 123825"/>
            <a:gd name="connsiteX1" fmla="*/ 9525 w 28583"/>
            <a:gd name="connsiteY1" fmla="*/ 57150 h 123825"/>
            <a:gd name="connsiteX2" fmla="*/ 28575 w 28583"/>
            <a:gd name="connsiteY2" fmla="*/ 123825 h 123825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28583" h="123825">
              <a:moveTo>
                <a:pt x="0" y="0"/>
              </a:moveTo>
              <a:cubicBezTo>
                <a:pt x="3175" y="19050"/>
                <a:pt x="4841" y="38414"/>
                <a:pt x="9525" y="57150"/>
              </a:cubicBezTo>
              <a:cubicBezTo>
                <a:pt x="29579" y="137366"/>
                <a:pt x="28575" y="91049"/>
                <a:pt x="28575" y="123825"/>
              </a:cubicBezTo>
            </a:path>
          </a:pathLst>
        </a:cu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endParaRPr lang="en-US" sz="1100"/>
        </a:p>
      </cdr:txBody>
    </cdr:sp>
  </cdr:relSizeAnchor>
  <cdr:relSizeAnchor xmlns:cdr="http://schemas.openxmlformats.org/drawingml/2006/chartDrawing">
    <cdr:from>
      <cdr:x>0.80069</cdr:x>
      <cdr:y>0.12616</cdr:y>
    </cdr:from>
    <cdr:to>
      <cdr:x>0.80695</cdr:x>
      <cdr:y>0.1713</cdr:y>
    </cdr:to>
    <cdr:sp macro="" textlink="">
      <cdr:nvSpPr>
        <cdr:cNvPr id="3" name="Freeform 2"/>
        <cdr:cNvSpPr/>
      </cdr:nvSpPr>
      <cdr:spPr>
        <a:xfrm xmlns:a="http://schemas.openxmlformats.org/drawingml/2006/main">
          <a:off x="3660775" y="346075"/>
          <a:ext cx="28583" cy="123825"/>
        </a:xfrm>
        <a:custGeom xmlns:a="http://schemas.openxmlformats.org/drawingml/2006/main">
          <a:avLst/>
          <a:gdLst>
            <a:gd name="connsiteX0" fmla="*/ 0 w 28583"/>
            <a:gd name="connsiteY0" fmla="*/ 0 h 123825"/>
            <a:gd name="connsiteX1" fmla="*/ 9525 w 28583"/>
            <a:gd name="connsiteY1" fmla="*/ 57150 h 123825"/>
            <a:gd name="connsiteX2" fmla="*/ 28575 w 28583"/>
            <a:gd name="connsiteY2" fmla="*/ 123825 h 123825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28583" h="123825">
              <a:moveTo>
                <a:pt x="0" y="0"/>
              </a:moveTo>
              <a:cubicBezTo>
                <a:pt x="3175" y="19050"/>
                <a:pt x="4841" y="38414"/>
                <a:pt x="9525" y="57150"/>
              </a:cubicBezTo>
              <a:cubicBezTo>
                <a:pt x="29579" y="137366"/>
                <a:pt x="28575" y="91049"/>
                <a:pt x="28575" y="123825"/>
              </a:cubicBezTo>
            </a:path>
          </a:pathLst>
        </a:cu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endParaRPr lang="en-US" sz="11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52C88-2631-46A7-94F6-076436318A78}" type="datetimeFigureOut">
              <a:rPr lang="en-US" smtClean="0"/>
              <a:t>6/7/2023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7BE9B-3013-4183-93FC-BBE875207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3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7BE9B-3013-4183-93FC-BBE875207F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5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F773A-4D0E-4563-B776-218D4B227A91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0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B74-3948-4B4A-85CA-6C50427D025D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4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6F97-9864-4885-A3C2-4D2483F95B8A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EFFF-8253-4DAF-A014-2358275E0904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5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408CD-D9A5-41B7-9528-1CE01A8BA7B0}" type="datetime1">
              <a:rPr lang="en-US" smtClean="0"/>
              <a:t>6/7/2023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7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296B-BF12-49BA-A252-1D3CFDD8FF68}" type="datetime1">
              <a:rPr lang="en-US" smtClean="0"/>
              <a:t>6/7/2023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5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1628-26A5-49E1-9295-9EC28D82A447}" type="datetime1">
              <a:rPr lang="en-US" smtClean="0"/>
              <a:t>6/7/2023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3E2A6-40D9-4B90-93B7-6C5CF8F09114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8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85A9-99E6-4CF7-830C-EF2153FE3294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8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19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94534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435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9847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9712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5F5A-C3AA-4C8A-A7CF-020068CD6D5B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63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04F7B-3455-4CAC-86B8-AE60DB99BCE7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8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9A685-8F5B-4C11-AA11-6BBAC0DBFEA1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C06033A-5115-4512-9D88-0657E032D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5" Type="http://schemas.openxmlformats.org/officeDocument/2006/relationships/image" Target="../media/image5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chart" Target="../charts/chart2.xml"/><Relationship Id="rId3" Type="http://schemas.openxmlformats.org/officeDocument/2006/relationships/chart" Target="../charts/chart1.xml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5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6.png"/><Relationship Id="rId4" Type="http://schemas.openxmlformats.org/officeDocument/2006/relationships/chart" Target="../charts/chart1.xml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Gradient_descen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44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Techniques and Algorithms –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402125" y="1295400"/>
            <a:ext cx="8229600" cy="479515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Regression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Multivariable Regression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Regression – vector of outputs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8929" y="3728358"/>
                <a:ext cx="5388463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 …+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 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29" y="3728358"/>
                <a:ext cx="5388463" cy="490199"/>
              </a:xfrm>
              <a:prstGeom prst="rect">
                <a:avLst/>
              </a:prstGeom>
              <a:blipFill rotWithShape="1">
                <a:blip r:embed="rId2"/>
                <a:stretch>
                  <a:fillRect l="-1697" t="-8750" b="-2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468879" y="5176158"/>
                <a:ext cx="6174896" cy="7712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𝒀</m:t>
                            </m:r>
                          </m:e>
                        </m:mr>
                        <m:m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sz="2400" i="1">
                          <a:latin typeface="Cambria Math"/>
                        </a:rPr>
                        <m:t>=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𝑿</m:t>
                            </m:r>
                          </m:e>
                        </m:mr>
                        <m:m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+1)</m:t>
                            </m:r>
                          </m:e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𝑩</m:t>
                            </m:r>
                          </m:e>
                        </m:mr>
                        <m:m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+1 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sz="2400" i="1">
                          <a:latin typeface="Cambria Math"/>
                        </a:rPr>
                        <m:t>+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𝑬</m:t>
                            </m:r>
                          </m:e>
                        </m:mr>
                        <m:mr>
                          <m:e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879" y="5176158"/>
                <a:ext cx="6174896" cy="77123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68929" y="2057400"/>
                <a:ext cx="32258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 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𝜺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29" y="2057400"/>
                <a:ext cx="322588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71600" y="14510"/>
            <a:ext cx="6589200" cy="1280890"/>
          </a:xfrm>
        </p:spPr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Linear Regression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679923" y="411683"/>
            <a:ext cx="2438400" cy="914400"/>
            <a:chOff x="3162769" y="4833610"/>
            <a:chExt cx="2438400" cy="914400"/>
          </a:xfrm>
        </p:grpSpPr>
        <p:sp>
          <p:nvSpPr>
            <p:cNvPr id="4" name="Rectangle 3"/>
            <p:cNvSpPr/>
            <p:nvPr/>
          </p:nvSpPr>
          <p:spPr>
            <a:xfrm>
              <a:off x="3924769" y="4833610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i="1" dirty="0"/>
                <a:t>f</a:t>
              </a:r>
              <a:r>
                <a:rPr lang="en-US" sz="2800" i="1" baseline="-25000" dirty="0"/>
                <a:t>s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162769" y="501946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/>
                <a:t>x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36967" y="501946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/>
                <a:t>y</a:t>
              </a:r>
            </a:p>
          </p:txBody>
        </p:sp>
        <p:cxnSp>
          <p:nvCxnSpPr>
            <p:cNvPr id="7" name="Straight Arrow Connector 6"/>
            <p:cNvCxnSpPr>
              <a:stCxn id="5" idx="3"/>
              <a:endCxn id="4" idx="1"/>
            </p:cNvCxnSpPr>
            <p:nvPr/>
          </p:nvCxnSpPr>
          <p:spPr>
            <a:xfrm>
              <a:off x="3526971" y="5281070"/>
              <a:ext cx="397798" cy="97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839169" y="5292485"/>
              <a:ext cx="397798" cy="97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1741713" y="1930636"/>
            <a:ext cx="5960523" cy="1231940"/>
            <a:chOff x="1447800" y="2133600"/>
            <a:chExt cx="5960523" cy="1231940"/>
          </a:xfrm>
        </p:grpSpPr>
        <p:sp>
          <p:nvSpPr>
            <p:cNvPr id="10" name="TextBox 9"/>
            <p:cNvSpPr txBox="1"/>
            <p:nvPr/>
          </p:nvSpPr>
          <p:spPr>
            <a:xfrm>
              <a:off x="1447800" y="2133600"/>
              <a:ext cx="1142999" cy="1231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 of House 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x(</a:t>
              </a:r>
              <a:r>
                <a:rPr lang="en-US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88000" y="2133600"/>
              <a:ext cx="1820323" cy="1231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Estimated Price </a:t>
              </a:r>
            </a:p>
            <a:p>
              <a:pPr algn="ctr"/>
              <a:r>
                <a:rPr lang="en-US" sz="2400" dirty="0"/>
                <a:t>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y(</a:t>
              </a:r>
              <a:r>
                <a:rPr lang="en-US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2400" dirty="0"/>
                <a:t>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657600" y="2314664"/>
              <a:ext cx="990600" cy="8382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13" name="Straight Arrow Connector 12"/>
            <p:cNvCxnSpPr>
              <a:stCxn id="10" idx="3"/>
              <a:endCxn id="12" idx="1"/>
            </p:cNvCxnSpPr>
            <p:nvPr/>
          </p:nvCxnSpPr>
          <p:spPr>
            <a:xfrm flipV="1">
              <a:off x="2590799" y="2733764"/>
              <a:ext cx="1066801" cy="1580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2" idx="3"/>
              <a:endCxn id="11" idx="1"/>
            </p:cNvCxnSpPr>
            <p:nvPr/>
          </p:nvCxnSpPr>
          <p:spPr>
            <a:xfrm>
              <a:off x="4648200" y="2733764"/>
              <a:ext cx="939800" cy="1580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08827" y="6176357"/>
                <a:ext cx="3671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𝒂𝒏𝒅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827" y="6176357"/>
                <a:ext cx="3671070" cy="461665"/>
              </a:xfrm>
              <a:prstGeom prst="rect">
                <a:avLst/>
              </a:prstGeom>
              <a:blipFill>
                <a:blip r:embed="rId4"/>
                <a:stretch>
                  <a:fillRect l="-2488" t="-10526" r="-165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626387" y="3398048"/>
                <a:ext cx="2857256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𝑿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1">
                              <a:latin typeface="Cambria Math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𝑛𝑘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387" y="3398048"/>
                <a:ext cx="2857256" cy="11128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702237" y="3341302"/>
                <a:ext cx="1163011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𝒚</m:t>
                      </m:r>
                      <m:r>
                        <a:rPr lang="en-US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237" y="3341302"/>
                <a:ext cx="1163011" cy="11695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574126" y="5607149"/>
                <a:ext cx="270961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126" y="5607149"/>
                <a:ext cx="2709615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49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870746" y="4751829"/>
            <a:ext cx="384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space versus hypothesis space</a:t>
            </a:r>
          </a:p>
        </p:txBody>
      </p:sp>
      <p:sp>
        <p:nvSpPr>
          <p:cNvPr id="20" name="Title 25"/>
          <p:cNvSpPr txBox="1">
            <a:spLocks/>
          </p:cNvSpPr>
          <p:nvPr/>
        </p:nvSpPr>
        <p:spPr>
          <a:xfrm>
            <a:off x="742225" y="90157"/>
            <a:ext cx="4405920" cy="144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Problem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79035" y="3374584"/>
            <a:ext cx="3472478" cy="3006321"/>
            <a:chOff x="621260" y="3726461"/>
            <a:chExt cx="3472478" cy="3006321"/>
          </a:xfrm>
        </p:grpSpPr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7881" y="3726461"/>
              <a:ext cx="2916959" cy="29806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621260" y="4510853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(House</a:t>
              </a:r>
            </a:p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Prices)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84151" y="5809452"/>
              <a:ext cx="130676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(House</a:t>
              </a:r>
            </a:p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Size Sq. Ft)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402741" y="3810000"/>
              <a:ext cx="31141" cy="28970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176779" y="5882508"/>
              <a:ext cx="291695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3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4471546" y="5138896"/>
            <a:ext cx="4641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is different from what you have seen in statistics</a:t>
            </a:r>
          </a:p>
        </p:txBody>
      </p:sp>
    </p:spTree>
    <p:extLst>
      <p:ext uri="{BB962C8B-B14F-4D97-AF65-F5344CB8AC3E}">
        <p14:creationId xmlns:p14="http://schemas.microsoft.com/office/powerpoint/2010/main" val="94889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04800" y="76200"/>
            <a:ext cx="8305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Training Set of Housing Prices – San Luis Obispo, 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468878"/>
              </p:ext>
            </p:extLst>
          </p:nvPr>
        </p:nvGraphicFramePr>
        <p:xfrm>
          <a:off x="1828800" y="1752600"/>
          <a:ext cx="5067300" cy="1611950"/>
        </p:xfrm>
        <a:graphic>
          <a:graphicData uri="http://schemas.openxmlformats.org/drawingml/2006/table">
            <a:tbl>
              <a:tblPr firstRow="1" firstCol="1" bandRow="1"/>
              <a:tblGrid>
                <a:gridCol w="1307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1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Bedrooms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Bathrooms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2371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795000.00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2818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399000.00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3032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545000.00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3540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909000.00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25514" y="4064977"/>
                <a:ext cx="8001000" cy="2096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Notation: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training examples – in this case m=781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features – in this case n=4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 =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(features)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training observation or example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value of feature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𝑗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training observation or example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14" y="4064977"/>
                <a:ext cx="8001000" cy="2096921"/>
              </a:xfrm>
              <a:prstGeom prst="rect">
                <a:avLst/>
              </a:prstGeom>
              <a:blipFill>
                <a:blip r:embed="rId3"/>
                <a:stretch>
                  <a:fillRect l="-1220" t="-232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166057"/>
              </p:ext>
            </p:extLst>
          </p:nvPr>
        </p:nvGraphicFramePr>
        <p:xfrm>
          <a:off x="1295400" y="4235766"/>
          <a:ext cx="2133600" cy="1752600"/>
        </p:xfrm>
        <a:graphic>
          <a:graphicData uri="http://schemas.openxmlformats.org/drawingml/2006/table">
            <a:tbl>
              <a:tblPr firstRow="1" firstCol="1" band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Size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Price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2371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795000.00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2818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399000.00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3032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545000.00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3540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909000.00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>
                        <a:alphaModFix amt="74000"/>
                      </a:blip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070488"/>
              </p:ext>
            </p:extLst>
          </p:nvPr>
        </p:nvGraphicFramePr>
        <p:xfrm>
          <a:off x="2438400" y="840698"/>
          <a:ext cx="4724400" cy="1752600"/>
        </p:xfrm>
        <a:graphic>
          <a:graphicData uri="http://schemas.openxmlformats.org/drawingml/2006/table">
            <a:tbl>
              <a:tblPr firstRow="1" firstCol="1" bandRow="1"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Bedroom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Bathrooms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Size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Price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2371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795000.00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2818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399000.00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3032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545000.00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3540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909000.00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alphaModFix amt="74000"/>
                      </a:blip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90600" y="2794336"/>
                <a:ext cx="4468628" cy="478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(2)</m:t>
                          </m:r>
                        </m:sup>
                      </m:sSubSup>
                      <m:r>
                        <a:rPr lang="en-US" sz="2000" i="1">
                          <a:latin typeface="Cambria Math"/>
                        </a:rPr>
                        <m:t>=4,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(2)</m:t>
                          </m:r>
                        </m:sup>
                      </m:sSubSup>
                      <m:r>
                        <a:rPr lang="en-US" sz="2000" i="1">
                          <a:latin typeface="Cambria Math"/>
                        </a:rPr>
                        <m:t>=3</m:t>
                      </m:r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r>
                        <a:rPr lang="en-US" sz="2000" i="1">
                          <a:latin typeface="Cambria Math"/>
                        </a:rPr>
                        <m:t>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(2)</m:t>
                          </m:r>
                        </m:sup>
                      </m:sSubSup>
                      <m:r>
                        <a:rPr lang="en-US" sz="2000" i="1">
                          <a:latin typeface="Cambria Math"/>
                        </a:rPr>
                        <m:t>=2818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794336"/>
                <a:ext cx="4468628" cy="478593"/>
              </a:xfrm>
              <a:prstGeom prst="rect">
                <a:avLst/>
              </a:prstGeom>
              <a:blipFill rotWithShape="1">
                <a:blip r:embed="rId3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72843" y="2794336"/>
                <a:ext cx="1820050" cy="9051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2818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843" y="2794336"/>
                <a:ext cx="1820050" cy="9051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91000" y="4273771"/>
                <a:ext cx="2950295" cy="4129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=2371, 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=2818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4273771"/>
                <a:ext cx="2950295" cy="41293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191000" y="5150166"/>
                <a:ext cx="3325269" cy="12262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2371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2818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3032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3540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/>
                        </a:rPr>
                        <m:t>  </m:t>
                      </m:r>
                      <m:r>
                        <a:rPr lang="en-US" sz="2000" i="1">
                          <a:latin typeface="Cambria Math"/>
                        </a:rPr>
                        <m:t>𝑦</m:t>
                      </m:r>
                      <m:r>
                        <a:rPr lang="en-US" sz="20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795000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399000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545000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909000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5150166"/>
                <a:ext cx="3325269" cy="122623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9"/>
          <p:cNvSpPr txBox="1">
            <a:spLocks/>
          </p:cNvSpPr>
          <p:nvPr/>
        </p:nvSpPr>
        <p:spPr>
          <a:xfrm>
            <a:off x="468086" y="7833"/>
            <a:ext cx="8229600" cy="906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04800" y="3886200"/>
            <a:ext cx="83928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0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388441" y="4825105"/>
                <a:ext cx="1830822" cy="9142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441" y="4825105"/>
                <a:ext cx="1830822" cy="9142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152926" y="4345455"/>
                <a:ext cx="3871573" cy="1873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400" i="1">
                              <a:latin typeface="Cambria Math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/>
                        </a:rPr>
                        <m:t>       </m:t>
                      </m:r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26" y="4345455"/>
                <a:ext cx="3871573" cy="187352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851724" y="1496664"/>
            <a:ext cx="7429550" cy="2671628"/>
            <a:chOff x="851724" y="1496664"/>
            <a:chExt cx="7429550" cy="2671628"/>
          </a:xfrm>
        </p:grpSpPr>
        <p:grpSp>
          <p:nvGrpSpPr>
            <p:cNvPr id="5" name="Group 4"/>
            <p:cNvGrpSpPr/>
            <p:nvPr/>
          </p:nvGrpSpPr>
          <p:grpSpPr>
            <a:xfrm>
              <a:off x="5110278" y="1749201"/>
              <a:ext cx="3170996" cy="1889556"/>
              <a:chOff x="3356186" y="2708771"/>
              <a:chExt cx="3170996" cy="18895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/>
                  <p:cNvSpPr/>
                  <p:nvPr/>
                </p:nvSpPr>
                <p:spPr>
                  <a:xfrm>
                    <a:off x="3356186" y="2708771"/>
                    <a:ext cx="3170996" cy="188955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=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−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(1)</m:t>
                                            </m:r>
                                          </m:sup>
                                        </m:sSup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−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−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(2)</m:t>
                                            </m:r>
                                          </m:sup>
                                        </m:sSup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−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(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𝑚</m:t>
                                                  </m:r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 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" name="Rectangle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56186" y="2708771"/>
                    <a:ext cx="3170996" cy="1889556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/>
              <p:cNvCxnSpPr/>
              <p:nvPr/>
            </p:nvCxnSpPr>
            <p:spPr>
              <a:xfrm>
                <a:off x="4267200" y="3059084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267200" y="3581400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4267200" y="4267200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5791200" y="3081251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791200" y="3581400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791200" y="4267200"/>
                <a:ext cx="457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851724" y="1496664"/>
                  <a:ext cx="2904257" cy="23946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>
                            <a:latin typeface="Cambria Math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2400" i="1">
                                                <a:latin typeface="Cambria Math"/>
                                              </a:rPr>
                                              <m:t>)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𝑚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 ∈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24" y="1496664"/>
                  <a:ext cx="2904257" cy="239463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/>
            <p:cNvSpPr txBox="1"/>
            <p:nvPr/>
          </p:nvSpPr>
          <p:spPr>
            <a:xfrm>
              <a:off x="4881678" y="2853198"/>
              <a:ext cx="9220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design </a:t>
              </a:r>
            </a:p>
            <a:p>
              <a:r>
                <a:rPr lang="en-US" dirty="0"/>
                <a:t>matrix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6083968" y="3706627"/>
                  <a:ext cx="194053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i="1" smtClean="0">
                          <a:latin typeface="Cambria Math"/>
                        </a:rPr>
                        <m:t>𝑚</m:t>
                      </m:r>
                      <m:r>
                        <a:rPr lang="en-US" sz="2400" i="1" smtClean="0">
                          <a:latin typeface="Cambria Math"/>
                        </a:rPr>
                        <m:t> </m:t>
                      </m:r>
                      <m:r>
                        <a:rPr lang="en-US" sz="2400" i="1" smtClean="0">
                          <a:latin typeface="Cambria Math"/>
                        </a:rPr>
                        <m:t>𝑥</m:t>
                      </m:r>
                      <m:r>
                        <a:rPr lang="en-US" sz="2400" i="1" smtClean="0">
                          <a:latin typeface="Cambria Math"/>
                        </a:rPr>
                        <m:t> (</m:t>
                      </m:r>
                      <m:r>
                        <a:rPr lang="en-US" sz="2400" i="1" smtClean="0"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latin typeface="Cambria Math"/>
                        </a:rPr>
                        <m:t>+1)</m:t>
                      </m:r>
                    </m:oMath>
                  </a14:m>
                  <a:r>
                    <a:rPr lang="en-US" sz="2400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3968" y="3706627"/>
                  <a:ext cx="1940531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516" t="-9211" r="-4403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/>
            <p:cNvCxnSpPr/>
            <p:nvPr/>
          </p:nvCxnSpPr>
          <p:spPr>
            <a:xfrm>
              <a:off x="4343400" y="1599850"/>
              <a:ext cx="0" cy="21882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925032" y="6218981"/>
                <a:ext cx="11416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i="1" smtClean="0">
                        <a:latin typeface="Cambria Math"/>
                      </a:rPr>
                      <m:t>𝑚</m:t>
                    </m:r>
                    <m:r>
                      <a:rPr lang="en-US" sz="2400" i="1" smtClean="0">
                        <a:latin typeface="Cambria Math"/>
                      </a:rPr>
                      <m:t> </m:t>
                    </m:r>
                    <m:r>
                      <a:rPr lang="en-US" sz="240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 2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032" y="6218981"/>
                <a:ext cx="1141659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4813" t="-10526" r="-7487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66378" y="1045396"/>
                <a:ext cx="7779566" cy="526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𝑚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𝑒𝑥𝑎𝑚𝑝𝑙𝑒𝑠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, …,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𝑜𝑓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𝑓𝑒𝑎𝑡𝑢𝑟𝑒𝑠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78" y="1045396"/>
                <a:ext cx="7779566" cy="526554"/>
              </a:xfrm>
              <a:prstGeom prst="rect">
                <a:avLst/>
              </a:prstGeom>
              <a:blipFill>
                <a:blip r:embed="rId8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00007" y="290407"/>
                <a:ext cx="26802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007" y="290407"/>
                <a:ext cx="2680221" cy="461665"/>
              </a:xfrm>
              <a:prstGeom prst="rect">
                <a:avLst/>
              </a:prstGeom>
              <a:blipFill rotWithShape="1"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597620" y="0"/>
                <a:ext cx="1996700" cy="15040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/>
                        </a:rPr>
                        <m:t> ∈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20" y="0"/>
                <a:ext cx="1996700" cy="15040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73443" y="1015853"/>
                <a:ext cx="1941429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443" y="1015853"/>
                <a:ext cx="1941429" cy="49705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39625" y="1512912"/>
                <a:ext cx="5009064" cy="1095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0, …,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sz="2400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625" y="1512912"/>
                <a:ext cx="5009064" cy="109510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64045" y="2743200"/>
                <a:ext cx="29161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𝑋</m:t>
                      </m:r>
                      <m:r>
                        <a:rPr lang="en-US" i="1">
                          <a:latin typeface="Cambria Math"/>
                        </a:rPr>
                        <m:t>𝜃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𝑦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045" y="2743200"/>
                <a:ext cx="2916183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12267" y="3193020"/>
                <a:ext cx="6463780" cy="12841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)(</m:t>
                      </m:r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−</m:t>
                      </m:r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−2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267" y="3193020"/>
                <a:ext cx="6463780" cy="128413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82616" y="4545147"/>
                <a:ext cx="3515001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𝜕</m:t>
                          </m:r>
                          <m:r>
                            <a:rPr lang="en-US" sz="2400" i="1">
                              <a:latin typeface="Cambria Math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𝜕𝜃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=2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−2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616" y="4545147"/>
                <a:ext cx="3515001" cy="79457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59274" y="5339723"/>
                <a:ext cx="1961691" cy="4914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274" y="5339723"/>
                <a:ext cx="1961691" cy="491481"/>
              </a:xfrm>
              <a:prstGeom prst="rect">
                <a:avLst/>
              </a:prstGeom>
              <a:blipFill rotWithShape="1">
                <a:blip r:embed="rId9"/>
                <a:stretch>
                  <a:fillRect r="-311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577975" y="6019800"/>
                <a:ext cx="2524281" cy="65081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975" y="6019800"/>
                <a:ext cx="2524281" cy="65081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-24384" y="5339648"/>
                <a:ext cx="3732514" cy="1143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0000" lnSpcReduction="10000"/>
              </a:bodyPr>
              <a:lstStyle>
                <a:defPPr>
                  <a:defRPr lang="en-US"/>
                </a:defPPr>
                <a:lvl1pPr algn="ctr">
                  <a:spcBef>
                    <a:spcPct val="0"/>
                  </a:spcBef>
                  <a:buNone/>
                  <a:defRPr sz="4100" b="1">
                    <a:ln w="6350">
                      <a:noFill/>
                    </a:ln>
                    <a:gradFill>
                      <a:gsLst>
                        <a:gs pos="0">
                          <a:schemeClr val="accent1">
                            <a:tint val="73000"/>
                            <a:satMod val="145000"/>
                          </a:schemeClr>
                        </a:gs>
                        <a:gs pos="73000">
                          <a:schemeClr val="accent1">
                            <a:tint val="73000"/>
                            <a:satMod val="145000"/>
                          </a:schemeClr>
                        </a:gs>
                        <a:gs pos="100000">
                          <a:schemeClr val="accent1">
                            <a:tint val="83000"/>
                            <a:satMod val="143000"/>
                          </a:schemeClr>
                        </a:gs>
                      </a:gsLst>
                      <a:lin ang="4800000" scaled="1"/>
                    </a:gradFill>
                    <a:effectLst>
                      <a:outerShdw blurRad="114300" dist="101600" dir="27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compute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Method 1 </a:t>
                </a: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384" y="5339648"/>
                <a:ext cx="3732514" cy="1143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51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828800" y="381000"/>
                <a:ext cx="5857822" cy="650819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𝜃</m:t>
                      </m:r>
                      <m:r>
                        <a:rPr lang="en-US" sz="240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b="0" i="1" smtClean="0">
                          <a:latin typeface="Cambria Math"/>
                        </a:rPr>
                        <m:t>      </m:t>
                      </m:r>
                      <m:r>
                        <a:rPr lang="en-US" sz="2400" b="0" i="1" smtClean="0">
                          <a:latin typeface="Cambria Math"/>
                        </a:rPr>
                        <m:t>𝑡h𝑒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𝑁𝑜𝑟𝑚𝑎𝑙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𝐸𝑞𝑢𝑎𝑡𝑖𝑜𝑛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81000"/>
                <a:ext cx="5857822" cy="6508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514600" y="1219200"/>
                <a:ext cx="3871573" cy="1873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400" i="1">
                              <a:latin typeface="Cambria Math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/>
                        </a:rPr>
                        <m:t>       </m:t>
                      </m:r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1219200"/>
                <a:ext cx="3871573" cy="187352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559994" y="3489209"/>
                <a:ext cx="4395434" cy="573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𝑨</m:t>
                      </m:r>
                      <m:r>
                        <a:rPr lang="en-US" sz="2400" b="1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   </m:t>
                      </m:r>
                      <m:r>
                        <a:rPr lang="en-US" sz="2400" i="1">
                          <a:latin typeface="Cambria Math"/>
                        </a:rPr>
                        <m:t>𝑎𝑛𝑑</m:t>
                      </m:r>
                      <m:r>
                        <a:rPr lang="en-US" sz="2400" i="1">
                          <a:latin typeface="Cambria Math"/>
                        </a:rPr>
                        <m:t> 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994" y="3489209"/>
                <a:ext cx="4395434" cy="5738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073243" y="4368848"/>
                <a:ext cx="3368936" cy="573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243" y="4368848"/>
                <a:ext cx="3368936" cy="573875"/>
              </a:xfrm>
              <a:prstGeom prst="rect">
                <a:avLst/>
              </a:prstGeom>
              <a:blipFill rotWithShape="1">
                <a:blip r:embed="rId5"/>
                <a:stretch>
                  <a:fillRect l="-126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764041" y="5486399"/>
                <a:ext cx="1987339" cy="4988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  <m:r>
                            <a:rPr lang="en-US" sz="2400" i="1">
                              <a:latin typeface="Cambria Math"/>
                            </a:rPr>
                            <m:t>= </m:t>
                          </m:r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4041" y="5486399"/>
                <a:ext cx="1987339" cy="498855"/>
              </a:xfrm>
              <a:prstGeom prst="rect">
                <a:avLst/>
              </a:prstGeom>
              <a:blipFill rotWithShape="1"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52759" y="1073598"/>
            <a:ext cx="8229600" cy="10514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800"/>
              </a:lnSpc>
            </a:pPr>
            <a:r>
              <a:rPr lang="en-US" sz="3200" cap="none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34159" y="1889647"/>
                <a:ext cx="6019800" cy="2497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400" i="1">
                                      <a:latin typeface="Cambria Math"/>
                                    </a:rPr>
                                    <m:t>−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we want to </a:t>
                </a: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𝑚𝑖𝑛𝑖𝑚𝑖𝑧𝑒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,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𝐽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159" y="1889647"/>
                <a:ext cx="6019800" cy="2497671"/>
              </a:xfrm>
              <a:prstGeom prst="rect">
                <a:avLst/>
              </a:prstGeom>
              <a:blipFill>
                <a:blip r:embed="rId2"/>
                <a:stretch>
                  <a:fillRect l="-1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111457" y="811988"/>
                <a:ext cx="31201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457" y="811988"/>
                <a:ext cx="3120149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533363" y="180221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1070" y="4108340"/>
            <a:ext cx="8229600" cy="105144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800"/>
              </a:lnSpc>
            </a:pPr>
            <a:r>
              <a:rPr lang="en-US" sz="3200" cap="none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Solving by the Normal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69661" y="5319932"/>
                <a:ext cx="2524281" cy="573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𝜃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61" y="5319932"/>
                <a:ext cx="2524281" cy="573875"/>
              </a:xfrm>
              <a:prstGeom prst="rect">
                <a:avLst/>
              </a:prstGeom>
              <a:blipFill rotWithShape="1">
                <a:blip r:embed="rId4"/>
                <a:stretch>
                  <a:fillRect r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441074" y="5422204"/>
            <a:ext cx="8242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295819" y="4754852"/>
                <a:ext cx="3871573" cy="1873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400" i="1">
                              <a:latin typeface="Cambria Math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/>
                        </a:rPr>
                        <m:t>       </m:t>
                      </m:r>
                      <m:r>
                        <a:rPr lang="en-US" sz="2400" i="1">
                          <a:latin typeface="Cambria Math"/>
                        </a:rPr>
                        <m:t>𝑦</m:t>
                      </m:r>
                      <m:r>
                        <a:rPr lang="en-US" sz="2400" i="1">
                          <a:latin typeface="Cambria Math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(2)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19" y="4754852"/>
                <a:ext cx="3871573" cy="18735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3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257800" y="-29095"/>
            <a:ext cx="3810000" cy="2514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371600"/>
            <a:ext cx="7010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&gt; x = matrix(c(2371, 2818, 3032, 3540), </a:t>
            </a:r>
            <a:r>
              <a:rPr lang="fr-FR" dirty="0" err="1"/>
              <a:t>ncol</a:t>
            </a:r>
            <a:r>
              <a:rPr lang="fr-FR" dirty="0"/>
              <a:t>=1) </a:t>
            </a:r>
          </a:p>
          <a:p>
            <a:r>
              <a:rPr lang="fr-FR" dirty="0"/>
              <a:t>&gt; y = matrix(c(795000, 399000, 545000, 909000), </a:t>
            </a:r>
            <a:r>
              <a:rPr lang="fr-FR" dirty="0" err="1"/>
              <a:t>ncol</a:t>
            </a:r>
            <a:r>
              <a:rPr lang="fr-FR" dirty="0"/>
              <a:t>=1) </a:t>
            </a:r>
          </a:p>
          <a:p>
            <a:r>
              <a:rPr lang="fr-FR" dirty="0"/>
              <a:t>&gt; </a:t>
            </a:r>
            <a:r>
              <a:rPr lang="fr-FR" dirty="0" err="1"/>
              <a:t>xTrans</a:t>
            </a:r>
            <a:r>
              <a:rPr lang="fr-FR" dirty="0"/>
              <a:t> = t(x) </a:t>
            </a:r>
          </a:p>
          <a:p>
            <a:r>
              <a:rPr lang="fr-FR" dirty="0"/>
              <a:t>&gt; </a:t>
            </a:r>
            <a:r>
              <a:rPr lang="fr-FR" dirty="0" err="1"/>
              <a:t>xTrans</a:t>
            </a:r>
            <a:endParaRPr lang="fr-FR" dirty="0"/>
          </a:p>
          <a:p>
            <a:r>
              <a:rPr lang="fr-FR" dirty="0"/>
              <a:t>       [,1]    [,2]   [,3]    [,4]</a:t>
            </a:r>
          </a:p>
          <a:p>
            <a:r>
              <a:rPr lang="fr-FR" dirty="0"/>
              <a:t> [1,] 2371 2818 3032 3540</a:t>
            </a:r>
          </a:p>
          <a:p>
            <a:r>
              <a:rPr lang="pt-BR" dirty="0"/>
              <a:t>&gt; A = xTrans %*% x </a:t>
            </a:r>
          </a:p>
          <a:p>
            <a:r>
              <a:rPr lang="pt-BR" dirty="0"/>
              <a:t>&gt; A [,1] [1,] 35287389 </a:t>
            </a:r>
          </a:p>
          <a:p>
            <a:r>
              <a:rPr lang="pt-BR" dirty="0"/>
              <a:t>&gt; solve(A)</a:t>
            </a:r>
          </a:p>
          <a:p>
            <a:r>
              <a:rPr lang="pt-BR" dirty="0"/>
              <a:t>         [,1]</a:t>
            </a:r>
          </a:p>
          <a:p>
            <a:r>
              <a:rPr lang="pt-BR" dirty="0"/>
              <a:t> [1,] 2.833874e-08</a:t>
            </a:r>
          </a:p>
          <a:p>
            <a:r>
              <a:rPr lang="en-US" dirty="0"/>
              <a:t>&gt; theta = </a:t>
            </a:r>
            <a:r>
              <a:rPr lang="en-US" dirty="0" err="1"/>
              <a:t>invA</a:t>
            </a:r>
            <a:r>
              <a:rPr lang="en-US" dirty="0"/>
              <a:t> %*% </a:t>
            </a:r>
            <a:r>
              <a:rPr lang="en-US" dirty="0" err="1"/>
              <a:t>xTrans</a:t>
            </a:r>
            <a:r>
              <a:rPr lang="en-US" dirty="0"/>
              <a:t> %*% y </a:t>
            </a:r>
          </a:p>
          <a:p>
            <a:r>
              <a:rPr lang="en-US" dirty="0"/>
              <a:t>&gt; theta [,1] [1,] 223.2987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0" y="4267200"/>
            <a:ext cx="541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matrix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'2371; 2818; 3032; 3540'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matrix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'795000; 399000; 545000; 909000'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xtran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transpose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xtran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theta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)*(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xtran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99586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6550942" cy="48768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7574199" y="3396734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C9900"/>
                </a:solidFill>
              </a:rPr>
              <a:t>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498904" y="4191000"/>
                <a:ext cx="21505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904" y="4191000"/>
                <a:ext cx="2150589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2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1629" y="2744766"/>
                <a:ext cx="24496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9" y="2744766"/>
                <a:ext cx="2449645" cy="400110"/>
              </a:xfrm>
              <a:prstGeom prst="rect">
                <a:avLst/>
              </a:prstGeom>
              <a:blipFill>
                <a:blip r:embed="rId2"/>
                <a:stretch>
                  <a:fillRect l="-2239" t="-7576" r="-49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30629" y="1371600"/>
                <a:ext cx="8839200" cy="10114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/>
                            </a:rPr>
                            <m:t>2</m:t>
                          </m:r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sz="2200" i="1">
                          <a:latin typeface="Cambria Math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/>
                            </a:rPr>
                            <m:t>𝑖</m:t>
                          </m:r>
                          <m:r>
                            <a:rPr lang="en-US" sz="22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sz="2200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200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r>
                            <a:rPr lang="en-US" sz="2200" i="1">
                              <a:latin typeface="Cambria Math"/>
                            </a:rPr>
                            <m:t>𝑤h𝑒𝑟𝑒</m:t>
                          </m:r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 i="1">
                              <a:latin typeface="Cambria Math"/>
                            </a:rPr>
                            <m:t>= 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latin typeface="Cambria Math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9" y="1371600"/>
                <a:ext cx="8839200" cy="1011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 Function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4572000" y="5029200"/>
                <a:ext cx="4189714" cy="1143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0000" lnSpcReduction="10000"/>
              </a:bodyPr>
              <a:lstStyle>
                <a:defPPr>
                  <a:defRPr lang="en-US"/>
                </a:defPPr>
                <a:lvl1pPr algn="ctr">
                  <a:spcBef>
                    <a:spcPct val="0"/>
                  </a:spcBef>
                  <a:buNone/>
                  <a:defRPr sz="4100" b="1">
                    <a:ln w="6350">
                      <a:noFill/>
                    </a:ln>
                    <a:gradFill>
                      <a:gsLst>
                        <a:gs pos="0">
                          <a:schemeClr val="accent1">
                            <a:tint val="73000"/>
                            <a:satMod val="145000"/>
                          </a:schemeClr>
                        </a:gs>
                        <a:gs pos="73000">
                          <a:schemeClr val="accent1">
                            <a:tint val="73000"/>
                            <a:satMod val="145000"/>
                          </a:schemeClr>
                        </a:gs>
                        <a:gs pos="100000">
                          <a:schemeClr val="accent1">
                            <a:tint val="83000"/>
                            <a:satMod val="143000"/>
                          </a:schemeClr>
                        </a:gs>
                      </a:gsLst>
                      <a:lin ang="4800000" scaled="1"/>
                    </a:gradFill>
                    <a:effectLst>
                      <a:outerShdw blurRad="114300" dist="101600" dir="27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to compute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/>
                      </a:rPr>
                      <m:t>𝜃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Method 2 </a:t>
                </a: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029200"/>
                <a:ext cx="4189714" cy="1143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10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432831" y="20782"/>
                <a:ext cx="8229600" cy="1143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defPPr>
                  <a:defRPr lang="en-US"/>
                </a:defPPr>
                <a:lvl1pPr algn="ctr">
                  <a:spcBef>
                    <a:spcPct val="0"/>
                  </a:spcBef>
                  <a:buNone/>
                  <a:defRPr sz="4100" b="1">
                    <a:ln w="6350">
                      <a:noFill/>
                    </a:ln>
                    <a:gradFill>
                      <a:gsLst>
                        <a:gs pos="0">
                          <a:schemeClr val="accent1">
                            <a:tint val="73000"/>
                            <a:satMod val="145000"/>
                          </a:schemeClr>
                        </a:gs>
                        <a:gs pos="73000">
                          <a:schemeClr val="accent1">
                            <a:tint val="73000"/>
                            <a:satMod val="145000"/>
                          </a:schemeClr>
                        </a:gs>
                        <a:gs pos="100000">
                          <a:schemeClr val="accent1">
                            <a:tint val="83000"/>
                            <a:satMod val="143000"/>
                          </a:schemeClr>
                        </a:gs>
                      </a:gsLst>
                      <a:lin ang="4800000" scaled="1"/>
                    </a:gradFill>
                    <a:effectLst>
                      <a:outerShdw blurRad="114300" dist="101600" dir="27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Simplified Problem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/>
                      </a:rPr>
                      <m:t>=0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31" y="20782"/>
                <a:ext cx="8229600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016704" y="1126039"/>
                <a:ext cx="3442609" cy="398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h𝑦𝑝𝑜𝑡h𝑒𝑠𝑖𝑠</m:t>
                          </m:r>
                          <m:r>
                            <a:rPr lang="en-US" i="1">
                              <a:latin typeface="Cambria Math"/>
                            </a:rPr>
                            <m:t>:   </m:t>
                          </m:r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704" y="1126039"/>
                <a:ext cx="3442609" cy="398251"/>
              </a:xfrm>
              <a:prstGeom prst="rect">
                <a:avLst/>
              </a:prstGeom>
              <a:blipFill rotWithShape="1">
                <a:blip r:embed="rId3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456233" y="1735639"/>
                <a:ext cx="2321341" cy="3976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𝑝𝑎𝑟𝑎𝑚𝑒𝑡𝑒𝑟𝑠</m:t>
                          </m:r>
                          <m:r>
                            <a:rPr lang="en-US" i="1">
                              <a:latin typeface="Cambria Math"/>
                            </a:rPr>
                            <m:t>:    </m:t>
                          </m:r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233" y="1735639"/>
                <a:ext cx="2321341" cy="397609"/>
              </a:xfrm>
              <a:prstGeom prst="rect">
                <a:avLst/>
              </a:prstGeom>
              <a:blipFill rotWithShape="1"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25904" y="2269039"/>
                <a:ext cx="8534400" cy="844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𝐶𝑜𝑠𝑡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𝑓𝑛</m:t>
                      </m:r>
                      <m:r>
                        <a:rPr lang="en-US" i="1">
                          <a:latin typeface="Cambria Math"/>
                        </a:rPr>
                        <m:t>:    </m:t>
                      </m:r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𝑤h𝑒𝑟𝑒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04" y="2269039"/>
                <a:ext cx="8534400" cy="8443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34218" y="3259639"/>
                <a:ext cx="2765372" cy="5972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𝐺𝑜𝑎𝑙</m:t>
                      </m:r>
                      <m:r>
                        <a:rPr lang="en-US" i="1">
                          <a:latin typeface="Cambria Math"/>
                        </a:rPr>
                        <m:t>: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𝑚𝑖𝑛𝑖𝑚𝑖𝑧𝑒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𝐽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218" y="3259639"/>
                <a:ext cx="2765372" cy="59721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178504" y="4097839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Simplified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504" y="4097839"/>
                <a:ext cx="4572000" cy="646331"/>
              </a:xfrm>
              <a:prstGeom prst="rect">
                <a:avLst/>
              </a:prstGeom>
              <a:blipFill>
                <a:blip r:embed="rId7"/>
                <a:stretch>
                  <a:fillRect l="-1067" t="-4717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30804" y="4752460"/>
                <a:ext cx="6324600" cy="8443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latin typeface="Cambria Math"/>
                        </a:rPr>
                        <m:t>     </m:t>
                      </m:r>
                      <m:r>
                        <a:rPr lang="en-US" i="1">
                          <a:latin typeface="Cambria Math"/>
                        </a:rPr>
                        <m:t>𝑤h𝑒𝑟𝑒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804" y="4752460"/>
                <a:ext cx="6324600" cy="84439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65792" y="5648440"/>
                <a:ext cx="2997424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792" y="5648440"/>
                <a:ext cx="2997424" cy="6127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2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4746017" y="1531987"/>
            <a:ext cx="4061133" cy="3438902"/>
            <a:chOff x="4769122" y="2841246"/>
            <a:chExt cx="4061133" cy="343890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" name="Chart 2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37746269"/>
                    </p:ext>
                  </p:extLst>
                </p:nvPr>
              </p:nvGraphicFramePr>
              <p:xfrm>
                <a:off x="4769122" y="3284901"/>
                <a:ext cx="3972164" cy="2714312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25" name="Chart 24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037746269"/>
                    </p:ext>
                  </p:extLst>
                </p:nvPr>
              </p:nvGraphicFramePr>
              <p:xfrm>
                <a:off x="4769122" y="3284901"/>
                <a:ext cx="3972164" cy="2714312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p:cxnSp>
          <p:nvCxnSpPr>
            <p:cNvPr id="13" name="Straight Arrow Connector 12"/>
            <p:cNvCxnSpPr>
              <a:stCxn id="12" idx="3"/>
            </p:cNvCxnSpPr>
            <p:nvPr/>
          </p:nvCxnSpPr>
          <p:spPr>
            <a:xfrm flipV="1">
              <a:off x="6219080" y="5870245"/>
              <a:ext cx="490017" cy="233783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p:sp>
          <p:nvSpPr>
            <p:cNvPr id="16" name="Freeform 15"/>
            <p:cNvSpPr/>
            <p:nvPr/>
          </p:nvSpPr>
          <p:spPr>
            <a:xfrm>
              <a:off x="6715001" y="5804580"/>
              <a:ext cx="24833" cy="107579"/>
            </a:xfrm>
            <a:custGeom>
              <a:avLst/>
              <a:gdLst>
                <a:gd name="connsiteX0" fmla="*/ 0 w 28583"/>
                <a:gd name="connsiteY0" fmla="*/ 0 h 123825"/>
                <a:gd name="connsiteX1" fmla="*/ 9525 w 28583"/>
                <a:gd name="connsiteY1" fmla="*/ 57150 h 123825"/>
                <a:gd name="connsiteX2" fmla="*/ 28575 w 28583"/>
                <a:gd name="connsiteY2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83" h="123825">
                  <a:moveTo>
                    <a:pt x="0" y="0"/>
                  </a:moveTo>
                  <a:cubicBezTo>
                    <a:pt x="3175" y="19050"/>
                    <a:pt x="4841" y="38414"/>
                    <a:pt x="9525" y="57150"/>
                  </a:cubicBezTo>
                  <a:cubicBezTo>
                    <a:pt x="29579" y="137366"/>
                    <a:pt x="28575" y="91049"/>
                    <a:pt x="28575" y="123825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7"/>
                <p:cNvSpPr txBox="1"/>
                <p:nvPr/>
              </p:nvSpPr>
              <p:spPr>
                <a:xfrm>
                  <a:off x="4986054" y="5927908"/>
                  <a:ext cx="1233026" cy="352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</m:t>
                            </m:r>
                          </m:e>
                        </m:d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=0</m:t>
                        </m:r>
                      </m:oMath>
                    </m:oMathPara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054" y="5927908"/>
                  <a:ext cx="1233026" cy="35224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2807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20"/>
                <p:cNvSpPr txBox="1"/>
                <p:nvPr/>
              </p:nvSpPr>
              <p:spPr>
                <a:xfrm>
                  <a:off x="5562100" y="2890902"/>
                  <a:ext cx="794433" cy="352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𝑱</m:t>
                        </m:r>
                        <m:r>
                          <a:rPr kumimoji="0" 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Cambria Math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𝟏</m:t>
                            </m:r>
                          </m:sub>
                        </m:sSub>
                        <m:r>
                          <a:rPr kumimoji="0" lang="en-US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100" y="2890902"/>
                  <a:ext cx="794433" cy="35224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308" r="-3846" b="-29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21"/>
                <p:cNvSpPr txBox="1"/>
                <p:nvPr/>
              </p:nvSpPr>
              <p:spPr>
                <a:xfrm>
                  <a:off x="7861969" y="5855963"/>
                  <a:ext cx="794433" cy="352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Cambria Math"/>
                                <a:cs typeface="+mn-cs"/>
                              </a:rPr>
                              <m:t>𝜽</m:t>
                            </m:r>
                          </m:e>
                          <m:sub>
                            <m:r>
                              <a:rPr kumimoji="0" lang="en-US" sz="20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969" y="5855963"/>
                  <a:ext cx="794433" cy="35224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379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reeform 16"/>
            <p:cNvSpPr/>
            <p:nvPr/>
          </p:nvSpPr>
          <p:spPr>
            <a:xfrm>
              <a:off x="6471478" y="5626122"/>
              <a:ext cx="24833" cy="107579"/>
            </a:xfrm>
            <a:custGeom>
              <a:avLst/>
              <a:gdLst>
                <a:gd name="connsiteX0" fmla="*/ 0 w 28583"/>
                <a:gd name="connsiteY0" fmla="*/ 0 h 123825"/>
                <a:gd name="connsiteX1" fmla="*/ 9525 w 28583"/>
                <a:gd name="connsiteY1" fmla="*/ 57150 h 123825"/>
                <a:gd name="connsiteX2" fmla="*/ 28575 w 28583"/>
                <a:gd name="connsiteY2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83" h="123825">
                  <a:moveTo>
                    <a:pt x="0" y="0"/>
                  </a:moveTo>
                  <a:cubicBezTo>
                    <a:pt x="3175" y="19050"/>
                    <a:pt x="4841" y="38414"/>
                    <a:pt x="9525" y="57150"/>
                  </a:cubicBezTo>
                  <a:cubicBezTo>
                    <a:pt x="29579" y="137366"/>
                    <a:pt x="28575" y="91049"/>
                    <a:pt x="28575" y="123825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6119776" y="4844640"/>
              <a:ext cx="66203" cy="53790"/>
            </a:xfrm>
            <a:custGeom>
              <a:avLst/>
              <a:gdLst>
                <a:gd name="connsiteX0" fmla="*/ 0 w 28583"/>
                <a:gd name="connsiteY0" fmla="*/ 0 h 123825"/>
                <a:gd name="connsiteX1" fmla="*/ 9525 w 28583"/>
                <a:gd name="connsiteY1" fmla="*/ 57150 h 123825"/>
                <a:gd name="connsiteX2" fmla="*/ 28575 w 28583"/>
                <a:gd name="connsiteY2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83" h="123825">
                  <a:moveTo>
                    <a:pt x="0" y="0"/>
                  </a:moveTo>
                  <a:cubicBezTo>
                    <a:pt x="3175" y="19050"/>
                    <a:pt x="4841" y="38414"/>
                    <a:pt x="9525" y="57150"/>
                  </a:cubicBezTo>
                  <a:cubicBezTo>
                    <a:pt x="29579" y="137366"/>
                    <a:pt x="28575" y="91049"/>
                    <a:pt x="28575" y="123825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556094" y="5892449"/>
                  <a:ext cx="326169" cy="3208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094" y="5892449"/>
                  <a:ext cx="326169" cy="320876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7"/>
                <p:cNvSpPr txBox="1"/>
                <p:nvPr/>
              </p:nvSpPr>
              <p:spPr>
                <a:xfrm>
                  <a:off x="7224247" y="5341320"/>
                  <a:ext cx="1606008" cy="3476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.5</m:t>
                            </m:r>
                          </m:e>
                        </m:d>
                        <m:r>
                          <a:rPr lang="en-US" sz="2000" i="1" ker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≈</m:t>
                        </m:r>
                        <m:r>
                          <a:rPr lang="en-US" sz="2000" b="0" i="1" kern="0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0.58</m:t>
                        </m:r>
                      </m:oMath>
                    </m:oMathPara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247" y="5341320"/>
                  <a:ext cx="1606008" cy="347616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2807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/>
            <p:cNvCxnSpPr/>
            <p:nvPr/>
          </p:nvCxnSpPr>
          <p:spPr>
            <a:xfrm>
              <a:off x="6394633" y="2841246"/>
              <a:ext cx="0" cy="3438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17"/>
                <p:cNvSpPr txBox="1"/>
                <p:nvPr/>
              </p:nvSpPr>
              <p:spPr>
                <a:xfrm>
                  <a:off x="6722847" y="4928470"/>
                  <a:ext cx="1933555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−.5</m:t>
                            </m:r>
                          </m:e>
                        </m:d>
                        <m:r>
                          <a:rPr lang="en-US" sz="2000" i="1" ker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≈</m:t>
                        </m:r>
                        <m:r>
                          <a:rPr lang="en-US" sz="2000" b="0" i="1" kern="0" smtClean="0">
                            <a:solidFill>
                              <a:sysClr val="windowText" lastClr="000000"/>
                            </a:solidFill>
                            <a:latin typeface="Cambria Math"/>
                          </a:rPr>
                          <m:t>3.46</m:t>
                        </m:r>
                      </m:oMath>
                    </m:oMathPara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2847" y="4928470"/>
                  <a:ext cx="1933555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23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/>
            <p:cNvCxnSpPr>
              <a:stCxn id="31" idx="1"/>
            </p:cNvCxnSpPr>
            <p:nvPr/>
          </p:nvCxnSpPr>
          <p:spPr>
            <a:xfrm flipH="1" flipV="1">
              <a:off x="6219080" y="4928470"/>
              <a:ext cx="503767" cy="20005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4" idx="1"/>
            </p:cNvCxnSpPr>
            <p:nvPr/>
          </p:nvCxnSpPr>
          <p:spPr>
            <a:xfrm flipH="1">
              <a:off x="6556094" y="5515128"/>
              <a:ext cx="668153" cy="1647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>
            <a:off x="4561024" y="971633"/>
            <a:ext cx="0" cy="46482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621877" y="300279"/>
                <a:ext cx="1549783" cy="7232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defPPr>
                  <a:defRPr lang="en-US"/>
                </a:defPPr>
                <a:lvl1pPr algn="ctr">
                  <a:spcBef>
                    <a:spcPct val="0"/>
                  </a:spcBef>
                  <a:buNone/>
                  <a:defRPr sz="4100" b="1">
                    <a:ln w="6350">
                      <a:noFill/>
                    </a:ln>
                    <a:gradFill>
                      <a:gsLst>
                        <a:gs pos="0">
                          <a:schemeClr val="accent1">
                            <a:tint val="73000"/>
                            <a:satMod val="145000"/>
                          </a:schemeClr>
                        </a:gs>
                        <a:gs pos="73000">
                          <a:schemeClr val="accent1">
                            <a:tint val="73000"/>
                            <a:satMod val="145000"/>
                          </a:schemeClr>
                        </a:gs>
                        <a:gs pos="100000">
                          <a:schemeClr val="accent1">
                            <a:tint val="83000"/>
                            <a:satMod val="143000"/>
                          </a:schemeClr>
                        </a:gs>
                      </a:gsLst>
                      <a:lin ang="4800000" scaled="1"/>
                    </a:gradFill>
                    <a:effectLst>
                      <a:outerShdw blurRad="114300" dist="101600" dir="27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(</m:t>
                      </m:r>
                      <m:r>
                        <a:rPr lang="en-US">
                          <a:latin typeface="Cambria Math"/>
                        </a:rPr>
                        <m:t>𝑥</m:t>
                      </m:r>
                      <m:r>
                        <a:rPr lang="en-US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877" y="300279"/>
                <a:ext cx="1549783" cy="723275"/>
              </a:xfrm>
              <a:prstGeom prst="rect">
                <a:avLst/>
              </a:prstGeom>
              <a:blipFill rotWithShape="1">
                <a:blip r:embed="rId1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450006" y="300279"/>
                <a:ext cx="1471237" cy="7232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defPPr>
                  <a:defRPr lang="en-US"/>
                </a:defPPr>
                <a:lvl1pPr algn="ctr">
                  <a:spcBef>
                    <a:spcPct val="0"/>
                  </a:spcBef>
                  <a:buNone/>
                  <a:defRPr sz="4100" b="1">
                    <a:ln w="6350">
                      <a:noFill/>
                    </a:ln>
                    <a:gradFill>
                      <a:gsLst>
                        <a:gs pos="0">
                          <a:schemeClr val="accent1">
                            <a:tint val="73000"/>
                            <a:satMod val="145000"/>
                          </a:schemeClr>
                        </a:gs>
                        <a:gs pos="73000">
                          <a:schemeClr val="accent1">
                            <a:tint val="73000"/>
                            <a:satMod val="145000"/>
                          </a:schemeClr>
                        </a:gs>
                        <a:gs pos="100000">
                          <a:schemeClr val="accent1">
                            <a:tint val="83000"/>
                            <a:satMod val="143000"/>
                          </a:schemeClr>
                        </a:gs>
                      </a:gsLst>
                      <a:lin ang="4800000" scaled="1"/>
                    </a:gradFill>
                    <a:effectLst>
                      <a:outerShdw blurRad="114300" dist="101600" dir="2700000" algn="tl" rotWithShape="0">
                        <a:srgbClr val="000000">
                          <a:alpha val="4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𝐽</m:t>
                      </m:r>
                      <m:r>
                        <a:rPr lang="en-US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006" y="300279"/>
                <a:ext cx="1471237" cy="723275"/>
              </a:xfrm>
              <a:prstGeom prst="rect">
                <a:avLst/>
              </a:prstGeom>
              <a:blipFill rotWithShape="1">
                <a:blip r:embed="rId1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16065" y="1023554"/>
                <a:ext cx="3466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is a function of x)</a:t>
                </a: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65" y="1023554"/>
                <a:ext cx="3466590" cy="369332"/>
              </a:xfrm>
              <a:prstGeom prst="rect">
                <a:avLst/>
              </a:prstGeom>
              <a:blipFill>
                <a:blip r:embed="rId13"/>
                <a:stretch>
                  <a:fillRect l="-140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119975" y="1023554"/>
                <a:ext cx="29603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(function of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975" y="1023554"/>
                <a:ext cx="2960362" cy="369332"/>
              </a:xfrm>
              <a:prstGeom prst="rect">
                <a:avLst/>
              </a:prstGeom>
              <a:blipFill>
                <a:blip r:embed="rId14"/>
                <a:stretch>
                  <a:fillRect l="-1852" t="-10000" r="-61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-27127" y="2190676"/>
            <a:ext cx="4572000" cy="2743200"/>
            <a:chOff x="-16151" y="2514443"/>
            <a:chExt cx="4572000" cy="2743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3"/>
                <p:cNvSpPr txBox="1"/>
                <p:nvPr/>
              </p:nvSpPr>
              <p:spPr>
                <a:xfrm>
                  <a:off x="1936474" y="2752568"/>
                  <a:ext cx="914400" cy="4054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h</m:t>
                            </m:r>
                          </m:e>
                          <m:sub>
                            <m: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Cambria Math"/>
                                <a:cs typeface="+mn-cs"/>
                              </a:rPr>
                              <m:t>𝜃</m:t>
                            </m:r>
                          </m:sub>
                        </m:sSub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6474" y="2752568"/>
                  <a:ext cx="914400" cy="4054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194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Arrow Connector 54"/>
            <p:cNvCxnSpPr/>
            <p:nvPr/>
          </p:nvCxnSpPr>
          <p:spPr>
            <a:xfrm>
              <a:off x="2269849" y="3171668"/>
              <a:ext cx="180975" cy="152400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arrow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6"/>
                <p:cNvSpPr txBox="1"/>
                <p:nvPr/>
              </p:nvSpPr>
              <p:spPr>
                <a:xfrm>
                  <a:off x="3060424" y="3343118"/>
                  <a:ext cx="914400" cy="4054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rtlCol="0" anchor="t">
                  <a:spAutoFit/>
                </a:bodyPr>
                <a:lstStyle>
                  <a:lvl1pPr marL="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Cambria Math"/>
                                <a:cs typeface="+mn-cs"/>
                              </a:rPr>
                              <m:t>𝜃</m:t>
                            </m:r>
                          </m:e>
                          <m:sub>
                            <m:r>
                              <a:rPr kumimoji="0" lang="en-US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=1</m:t>
                        </m:r>
                      </m:oMath>
                    </m:oMathPara>
                  </a14:m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6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424" y="3343118"/>
                  <a:ext cx="914400" cy="4054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7" name="Chart 56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461870458"/>
                    </p:ext>
                  </p:extLst>
                </p:nvPr>
              </p:nvGraphicFramePr>
              <p:xfrm>
                <a:off x="-16151" y="2514443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7"/>
                </a:graphicData>
              </a:graphic>
            </p:graphicFrame>
          </mc:Choice>
          <mc:Fallback xmlns="">
            <p:graphicFrame>
              <p:nvGraphicFramePr>
                <p:cNvPr id="57" name="Chart 56"/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461870458"/>
                    </p:ext>
                  </p:extLst>
                </p:nvPr>
              </p:nvGraphicFramePr>
              <p:xfrm>
                <a:off x="-16151" y="2514443"/>
                <a:ext cx="4572000" cy="27432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8"/>
                </a:graphicData>
              </a:graphic>
            </p:graphicFrame>
          </mc:Fallback>
        </mc:AlternateContent>
        <p:sp>
          <p:nvSpPr>
            <p:cNvPr id="58" name="Freeform 57"/>
            <p:cNvSpPr/>
            <p:nvPr/>
          </p:nvSpPr>
          <p:spPr>
            <a:xfrm>
              <a:off x="1600200" y="3916936"/>
              <a:ext cx="28583" cy="123825"/>
            </a:xfrm>
            <a:custGeom>
              <a:avLst/>
              <a:gdLst>
                <a:gd name="connsiteX0" fmla="*/ 0 w 28583"/>
                <a:gd name="connsiteY0" fmla="*/ 0 h 123825"/>
                <a:gd name="connsiteX1" fmla="*/ 9525 w 28583"/>
                <a:gd name="connsiteY1" fmla="*/ 57150 h 123825"/>
                <a:gd name="connsiteX2" fmla="*/ 28575 w 28583"/>
                <a:gd name="connsiteY2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83" h="123825">
                  <a:moveTo>
                    <a:pt x="0" y="0"/>
                  </a:moveTo>
                  <a:cubicBezTo>
                    <a:pt x="3175" y="19050"/>
                    <a:pt x="4841" y="38414"/>
                    <a:pt x="9525" y="57150"/>
                  </a:cubicBezTo>
                  <a:cubicBezTo>
                    <a:pt x="29579" y="137366"/>
                    <a:pt x="28575" y="91049"/>
                    <a:pt x="28575" y="1238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4905117" y="5122786"/>
                <a:ext cx="3923895" cy="786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117" y="5122786"/>
                <a:ext cx="3923895" cy="786241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847469" y="5285073"/>
                <a:ext cx="31510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𝑥</m:t>
                      </m:r>
                      <m:r>
                        <a:rPr lang="en-US" sz="2400" i="1">
                          <a:latin typeface="Cambria Math"/>
                        </a:rPr>
                        <m:t>    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69" y="5285073"/>
                <a:ext cx="3151055" cy="461665"/>
              </a:xfrm>
              <a:prstGeom prst="rect">
                <a:avLst/>
              </a:prstGeom>
              <a:blipFill rotWithShape="1">
                <a:blip r:embed="rId2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5026092" y="6232794"/>
            <a:ext cx="4072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Prof. Andrew Ng, </a:t>
            </a:r>
          </a:p>
          <a:p>
            <a:r>
              <a:rPr lang="en-US" sz="1200" dirty="0"/>
              <a:t>Stanford University, Machine Learning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8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5" y="1371600"/>
            <a:ext cx="6229890" cy="46417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6248400"/>
            <a:ext cx="2643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Prof. Andrew Ng, </a:t>
            </a:r>
          </a:p>
          <a:p>
            <a:r>
              <a:rPr lang="en-US" sz="1200" dirty="0"/>
              <a:t>Stanford University , Machine Learning</a:t>
            </a: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533400" y="2701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Plot of Cost Function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22621" y="1905000"/>
                <a:ext cx="9074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621" y="1905000"/>
                <a:ext cx="907428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564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Plot of Cost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8613844" cy="4384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6119289"/>
            <a:ext cx="2585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Prof. Andrew Ng, </a:t>
            </a:r>
          </a:p>
          <a:p>
            <a:r>
              <a:rPr lang="en-US" sz="1200" dirty="0"/>
              <a:t>Stanford University , Machine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62000" y="-4769"/>
            <a:ext cx="8229600" cy="1238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511228" y="1578986"/>
                <a:ext cx="5257800" cy="451224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descent is a general algorithm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called steepest descent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descent applies to many functions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observation that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 multi-variable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𝐹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and differentiable in the neighborhood of a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𝑎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𝐹</m:t>
                    </m:r>
                    <m:r>
                      <a:rPr lang="en-US" sz="2000" i="1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decreases fastest if one goes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direction of the negative gradient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𝐹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𝑎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8" y="1578986"/>
                <a:ext cx="5257800" cy="4512243"/>
              </a:xfrm>
              <a:prstGeom prst="rect">
                <a:avLst/>
              </a:prstGeom>
              <a:blipFill>
                <a:blip r:embed="rId2"/>
                <a:stretch>
                  <a:fillRect l="-1624" t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467249"/>
            <a:ext cx="3333333" cy="3571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172200"/>
            <a:ext cx="45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From Wikipedia at: </a:t>
            </a:r>
            <a:r>
              <a:rPr lang="en-US" sz="1400" dirty="0">
                <a:hlinkClick r:id="rId4"/>
              </a:rPr>
              <a:t>https://en.wikipedia.org/wiki/Gradient_descent</a:t>
            </a:r>
            <a:r>
              <a:rPr lang="en-US" sz="14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8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04800" y="4082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Worked Example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585855" y="1219200"/>
            <a:ext cx="0" cy="21336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1000" y="1219200"/>
            <a:ext cx="3668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219200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1680865"/>
                <a:ext cx="2906565" cy="13946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 until convergence {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≔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−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r>
                  <a:rPr lang="en-US" b="0" dirty="0"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𝑓𝑜𝑟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=1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𝑎𝑛𝑑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=0</m:t>
                        </m:r>
                      </m:e>
                    </m:d>
                  </m:oMath>
                </a14:m>
                <a:endParaRPr lang="en-US" b="0" dirty="0"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r>
                  <a:rPr lang="en-US" b="0" dirty="0"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80865"/>
                <a:ext cx="2906565" cy="1394613"/>
              </a:xfrm>
              <a:prstGeom prst="rect">
                <a:avLst/>
              </a:prstGeom>
              <a:blipFill>
                <a:blip r:embed="rId2"/>
                <a:stretch>
                  <a:fillRect l="-1891" t="-2620" b="-6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67400" y="1680865"/>
                <a:ext cx="20576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680865"/>
                <a:ext cx="2057615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01544" y="2064550"/>
                <a:ext cx="3389326" cy="8443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544" y="2064550"/>
                <a:ext cx="3389326" cy="8443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67400" y="2911677"/>
                <a:ext cx="2093714" cy="5972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/>
                              </a:rPr>
                              <m:t>𝑚𝑖𝑛𝑖𝑚𝑖𝑧𝑒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𝐽</m:t>
                      </m:r>
                      <m:r>
                        <a:rPr lang="en-US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911677"/>
                <a:ext cx="2093714" cy="5972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23029" y="3515819"/>
                <a:ext cx="6325652" cy="31005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i="1">
                                      <a:latin typeface="Cambria Math"/>
                                    </a:rPr>
                                    <m:t>− 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𝐶𝑎𝑠𝑒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    </m:t>
                      </m:r>
                      <m:r>
                        <a:rPr lang="en-US" i="1">
                          <a:latin typeface="Cambria Math"/>
                        </a:rPr>
                        <m:t>𝑗</m:t>
                      </m:r>
                      <m:r>
                        <a:rPr lang="en-US" i="1">
                          <a:latin typeface="Cambria Math"/>
                        </a:rPr>
                        <m:t>=0: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𝐶𝑎𝑠𝑒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    </m:t>
                      </m:r>
                      <m:r>
                        <a:rPr lang="en-US" i="1">
                          <a:latin typeface="Cambria Math"/>
                        </a:rPr>
                        <m:t>𝑗</m:t>
                      </m:r>
                      <m:r>
                        <a:rPr lang="en-US" i="1">
                          <a:latin typeface="Cambria Math"/>
                        </a:rPr>
                        <m:t>=1: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)− 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i="1">
                          <a:latin typeface="Cambria Math"/>
                        </a:rPr>
                        <m:t>∙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29" y="3515819"/>
                <a:ext cx="6325652" cy="31005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75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70545" y="4835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Algorithm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99345" y="1679788"/>
            <a:ext cx="6400800" cy="3794317"/>
            <a:chOff x="1447800" y="1469886"/>
            <a:chExt cx="6400800" cy="37943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1447800" y="1981199"/>
                  <a:ext cx="6400800" cy="28212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400" dirty="0"/>
                    <a:t>Repeat until convergence {</a:t>
                  </a:r>
                </a:p>
                <a:p>
                  <a:pPr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4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 :=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 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a14:m>
                  <a:endParaRPr lang="en-US" sz="2400" dirty="0"/>
                </a:p>
                <a:p>
                  <a:pPr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400" dirty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 :=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 </m:t>
                      </m:r>
                      <m:r>
                        <a:rPr lang="en-US" sz="2400" i="1">
                          <a:latin typeface="Cambria Math"/>
                        </a:rPr>
                        <m:t>𝛼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US" sz="2400" i="1">
                                  <a:latin typeface="Cambria Math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400" i="1">
                          <a:latin typeface="Cambria Math"/>
                        </a:rPr>
                        <m:t> ∙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a14:m>
                  <a:endParaRPr lang="en-US" sz="2400" b="0" dirty="0">
                    <a:ea typeface="Cambria Math"/>
                  </a:endParaRPr>
                </a:p>
                <a:p>
                  <a:pPr>
                    <a:spcBef>
                      <a:spcPts val="1200"/>
                    </a:spcBef>
                    <a:spcAft>
                      <a:spcPts val="1200"/>
                    </a:spcAft>
                  </a:pPr>
                  <a:r>
                    <a:rPr lang="en-US" sz="2400" b="0" dirty="0">
                      <a:ea typeface="Cambria Math"/>
                    </a:rPr>
                    <a:t>}</a:t>
                  </a: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1981199"/>
                  <a:ext cx="6400800" cy="282128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24" t="-1728" b="-41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/>
            <p:cNvSpPr/>
            <p:nvPr/>
          </p:nvSpPr>
          <p:spPr>
            <a:xfrm>
              <a:off x="3505200" y="2545922"/>
              <a:ext cx="3048000" cy="8772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505200" y="3505200"/>
              <a:ext cx="3810000" cy="8772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 rot="20722984">
                  <a:off x="6320030" y="1469886"/>
                  <a:ext cx="1468286" cy="6660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𝐽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22984">
                  <a:off x="6320030" y="1469886"/>
                  <a:ext cx="1468286" cy="66608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 flipH="1">
              <a:off x="5029200" y="1981199"/>
              <a:ext cx="1230546" cy="68580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 rot="20722984">
                  <a:off x="5660029" y="4598123"/>
                  <a:ext cx="1468286" cy="6660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𝜕</m:t>
                            </m:r>
                          </m:num>
                          <m:den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𝐽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722984">
                  <a:off x="5660029" y="4598123"/>
                  <a:ext cx="1468286" cy="66608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flipH="1" flipV="1">
              <a:off x="5029200" y="4038600"/>
              <a:ext cx="654590" cy="10778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4597" y="2876902"/>
                <a:ext cx="190379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Update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𝒂𝒏𝒅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</a:rPr>
                  <a:t>Simultaneously!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7" y="2876902"/>
                <a:ext cx="1903791" cy="1015663"/>
              </a:xfrm>
              <a:prstGeom prst="rect">
                <a:avLst/>
              </a:prstGeom>
              <a:blipFill>
                <a:blip r:embed="rId6"/>
                <a:stretch>
                  <a:fillRect l="-8333" t="-3593" r="-865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44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9144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Gradient Descent Pictorially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1789550" y="5710005"/>
                <a:ext cx="10422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  <a:ea typeface="Cambria Math"/>
                            </a:rPr>
                            <m:t>𝜽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550" y="5710005"/>
                <a:ext cx="1042208" cy="461665"/>
              </a:xfrm>
              <a:prstGeom prst="rect">
                <a:avLst/>
              </a:prstGeom>
              <a:blipFill>
                <a:blip r:embed="rId2"/>
                <a:stretch>
                  <a:fillRect r="-117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/>
          <p:cNvGrpSpPr/>
          <p:nvPr/>
        </p:nvGrpSpPr>
        <p:grpSpPr>
          <a:xfrm>
            <a:off x="5375114" y="1236656"/>
            <a:ext cx="3276600" cy="4482171"/>
            <a:chOff x="5520149" y="805233"/>
            <a:chExt cx="3276600" cy="4482171"/>
          </a:xfrm>
        </p:grpSpPr>
        <p:sp>
          <p:nvSpPr>
            <p:cNvPr id="95" name="Oval 94"/>
            <p:cNvSpPr/>
            <p:nvPr/>
          </p:nvSpPr>
          <p:spPr>
            <a:xfrm rot="1345581">
              <a:off x="6166639" y="1111225"/>
              <a:ext cx="1527521" cy="38701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 rot="1345581">
              <a:off x="6045867" y="805233"/>
              <a:ext cx="1769064" cy="448217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5520149" y="1331693"/>
              <a:ext cx="3276600" cy="3429251"/>
              <a:chOff x="5520149" y="1331693"/>
              <a:chExt cx="3276600" cy="3429251"/>
            </a:xfrm>
          </p:grpSpPr>
          <p:cxnSp>
            <p:nvCxnSpPr>
              <p:cNvPr id="98" name="Straight Connector 97"/>
              <p:cNvCxnSpPr/>
              <p:nvPr/>
            </p:nvCxnSpPr>
            <p:spPr>
              <a:xfrm>
                <a:off x="7067182" y="1471916"/>
                <a:ext cx="6579" cy="296999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flipH="1">
                <a:off x="5520149" y="3179624"/>
                <a:ext cx="3276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/>
              <p:cNvSpPr/>
              <p:nvPr/>
            </p:nvSpPr>
            <p:spPr>
              <a:xfrm rot="1345581">
                <a:off x="6613601" y="2243665"/>
                <a:ext cx="633597" cy="160530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scene3d>
                <a:camera prst="isometricTop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 rot="1345581">
                <a:off x="6500145" y="1956208"/>
                <a:ext cx="860509" cy="21802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scene3d>
                <a:camera prst="isometricTop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 rot="1345581">
                <a:off x="6253655" y="1331693"/>
                <a:ext cx="1353488" cy="342925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scene3d>
                <a:camera prst="isometricTop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 rot="1345581">
                <a:off x="6368039" y="1621501"/>
                <a:ext cx="1124720" cy="28496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scene3d>
                <a:camera prst="isometricTop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/>
              <p:cNvSpPr/>
              <p:nvPr/>
            </p:nvSpPr>
            <p:spPr>
              <a:xfrm rot="21228799">
                <a:off x="7784109" y="3807772"/>
                <a:ext cx="160335" cy="80845"/>
              </a:xfrm>
              <a:prstGeom prst="arc">
                <a:avLst>
                  <a:gd name="adj1" fmla="val 964993"/>
                  <a:gd name="adj2" fmla="val 10338830"/>
                </a:avLst>
              </a:prstGeom>
              <a:ln w="19050">
                <a:solidFill>
                  <a:srgbClr val="FF0000"/>
                </a:solidFill>
                <a:tailEnd type="stealth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Arc 104"/>
              <p:cNvSpPr/>
              <p:nvPr/>
            </p:nvSpPr>
            <p:spPr>
              <a:xfrm rot="1108445">
                <a:off x="7520212" y="3734291"/>
                <a:ext cx="240250" cy="121140"/>
              </a:xfrm>
              <a:prstGeom prst="arc">
                <a:avLst>
                  <a:gd name="adj1" fmla="val 964993"/>
                  <a:gd name="adj2" fmla="val 10338830"/>
                </a:avLst>
              </a:prstGeom>
              <a:ln w="19050">
                <a:solidFill>
                  <a:srgbClr val="FF0000"/>
                </a:solidFill>
                <a:tailEnd type="stealth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Arc 105"/>
              <p:cNvSpPr/>
              <p:nvPr/>
            </p:nvSpPr>
            <p:spPr>
              <a:xfrm rot="3260130">
                <a:off x="7329417" y="3586635"/>
                <a:ext cx="196257" cy="98958"/>
              </a:xfrm>
              <a:prstGeom prst="arc">
                <a:avLst>
                  <a:gd name="adj1" fmla="val 964993"/>
                  <a:gd name="adj2" fmla="val 10338830"/>
                </a:avLst>
              </a:prstGeom>
              <a:ln w="19050">
                <a:solidFill>
                  <a:srgbClr val="FF0000"/>
                </a:solidFill>
                <a:tailEnd type="stealth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/>
              <p:cNvSpPr/>
              <p:nvPr/>
            </p:nvSpPr>
            <p:spPr>
              <a:xfrm rot="2978045">
                <a:off x="7025617" y="3279359"/>
                <a:ext cx="395628" cy="199486"/>
              </a:xfrm>
              <a:prstGeom prst="arc">
                <a:avLst>
                  <a:gd name="adj1" fmla="val 964993"/>
                  <a:gd name="adj2" fmla="val 10338830"/>
                </a:avLst>
              </a:prstGeom>
              <a:ln w="19050">
                <a:solidFill>
                  <a:srgbClr val="FF0000"/>
                </a:solidFill>
                <a:tailEnd type="stealth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7016500" y="3141120"/>
                <a:ext cx="88917" cy="76692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6615232" y="4778506"/>
                <a:ext cx="6013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232" y="4778506"/>
                <a:ext cx="601382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292768" y="5756171"/>
                <a:ext cx="14412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𝑱</m:t>
                      </m:r>
                      <m:r>
                        <a:rPr lang="en-US" sz="2400" b="1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768" y="5756171"/>
                <a:ext cx="1441292" cy="461665"/>
              </a:xfrm>
              <a:prstGeom prst="rect">
                <a:avLst/>
              </a:prstGeom>
              <a:blipFill>
                <a:blip r:embed="rId4"/>
                <a:stretch>
                  <a:fillRect r="-422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7474064" y="1848118"/>
                <a:ext cx="137935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Initialize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=900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=−0.1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064" y="1848118"/>
                <a:ext cx="1379352" cy="1200329"/>
              </a:xfrm>
              <a:prstGeom prst="rect">
                <a:avLst/>
              </a:prstGeom>
              <a:blipFill>
                <a:blip r:embed="rId5"/>
                <a:stretch>
                  <a:fillRect l="-3540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Arrow Connector 111"/>
          <p:cNvCxnSpPr>
            <a:stCxn id="111" idx="2"/>
          </p:cNvCxnSpPr>
          <p:nvPr/>
        </p:nvCxnSpPr>
        <p:spPr>
          <a:xfrm flipH="1">
            <a:off x="7851833" y="3048447"/>
            <a:ext cx="311907" cy="112766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/>
          <p:cNvGrpSpPr/>
          <p:nvPr/>
        </p:nvGrpSpPr>
        <p:grpSpPr>
          <a:xfrm>
            <a:off x="381000" y="1583651"/>
            <a:ext cx="8787838" cy="3820823"/>
            <a:chOff x="447131" y="1540800"/>
            <a:chExt cx="8787838" cy="3820823"/>
          </a:xfrm>
        </p:grpSpPr>
        <p:cxnSp>
          <p:nvCxnSpPr>
            <p:cNvPr id="114" name="Straight Connector 113"/>
            <p:cNvCxnSpPr/>
            <p:nvPr/>
          </p:nvCxnSpPr>
          <p:spPr>
            <a:xfrm>
              <a:off x="1724821" y="1902617"/>
              <a:ext cx="0" cy="2743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1624377" y="4493417"/>
              <a:ext cx="27674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Group 115"/>
            <p:cNvGrpSpPr/>
            <p:nvPr/>
          </p:nvGrpSpPr>
          <p:grpSpPr>
            <a:xfrm>
              <a:off x="1624377" y="1944181"/>
              <a:ext cx="152400" cy="2320636"/>
              <a:chOff x="1194956" y="1794164"/>
              <a:chExt cx="152400" cy="2320636"/>
            </a:xfrm>
          </p:grpSpPr>
          <p:cxnSp>
            <p:nvCxnSpPr>
              <p:cNvPr id="172" name="Straight Connector 171"/>
              <p:cNvCxnSpPr/>
              <p:nvPr/>
            </p:nvCxnSpPr>
            <p:spPr>
              <a:xfrm>
                <a:off x="1194956" y="1794164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/>
              <p:nvPr/>
            </p:nvCxnSpPr>
            <p:spPr>
              <a:xfrm>
                <a:off x="1194956" y="2125683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/>
              <p:nvPr/>
            </p:nvCxnSpPr>
            <p:spPr>
              <a:xfrm>
                <a:off x="1194956" y="2457202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1194956" y="2788721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/>
              <p:nvPr/>
            </p:nvCxnSpPr>
            <p:spPr>
              <a:xfrm>
                <a:off x="1194956" y="3120240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/>
              <p:nvPr/>
            </p:nvCxnSpPr>
            <p:spPr>
              <a:xfrm>
                <a:off x="1194956" y="3451759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/>
              <p:nvPr/>
            </p:nvCxnSpPr>
            <p:spPr>
              <a:xfrm>
                <a:off x="1194956" y="3783278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/>
              <p:nvPr/>
            </p:nvCxnSpPr>
            <p:spPr>
              <a:xfrm>
                <a:off x="1194956" y="4114800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/>
            <p:cNvGrpSpPr/>
            <p:nvPr/>
          </p:nvGrpSpPr>
          <p:grpSpPr>
            <a:xfrm rot="5400000">
              <a:off x="3102856" y="3336563"/>
              <a:ext cx="152400" cy="2320636"/>
              <a:chOff x="1194956" y="1794164"/>
              <a:chExt cx="152400" cy="2320636"/>
            </a:xfrm>
          </p:grpSpPr>
          <p:cxnSp>
            <p:nvCxnSpPr>
              <p:cNvPr id="164" name="Straight Connector 163"/>
              <p:cNvCxnSpPr/>
              <p:nvPr/>
            </p:nvCxnSpPr>
            <p:spPr>
              <a:xfrm>
                <a:off x="1194956" y="1794164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1194956" y="2125683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1194956" y="2457202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>
                <a:off x="1194956" y="2788721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>
                <a:off x="1194956" y="3120240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/>
              <p:cNvCxnSpPr/>
              <p:nvPr/>
            </p:nvCxnSpPr>
            <p:spPr>
              <a:xfrm>
                <a:off x="1194956" y="3451759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>
              <a:xfrm>
                <a:off x="1194956" y="3783278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/>
              <p:nvPr/>
            </p:nvCxnSpPr>
            <p:spPr>
              <a:xfrm>
                <a:off x="1194956" y="4114800"/>
                <a:ext cx="1524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8" name="Straight Connector 117"/>
            <p:cNvCxnSpPr/>
            <p:nvPr/>
          </p:nvCxnSpPr>
          <p:spPr>
            <a:xfrm flipV="1">
              <a:off x="1724821" y="2275700"/>
              <a:ext cx="2283034" cy="222118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1624377" y="3601776"/>
              <a:ext cx="1057402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21" idx="7"/>
            </p:cNvCxnSpPr>
            <p:nvPr/>
          </p:nvCxnSpPr>
          <p:spPr>
            <a:xfrm flipH="1">
              <a:off x="2681779" y="3568038"/>
              <a:ext cx="14314" cy="1005043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2611625" y="3553545"/>
              <a:ext cx="98961" cy="9896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Straight Connector 121"/>
            <p:cNvCxnSpPr/>
            <p:nvPr/>
          </p:nvCxnSpPr>
          <p:spPr>
            <a:xfrm>
              <a:off x="3008099" y="1944181"/>
              <a:ext cx="1459922" cy="198911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2582818" y="2131217"/>
              <a:ext cx="1743442" cy="180207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2350260" y="2512217"/>
              <a:ext cx="1791441" cy="147080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c 124"/>
            <p:cNvSpPr/>
            <p:nvPr/>
          </p:nvSpPr>
          <p:spPr>
            <a:xfrm rot="19800398" flipV="1">
              <a:off x="2729192" y="2091014"/>
              <a:ext cx="497335" cy="250768"/>
            </a:xfrm>
            <a:prstGeom prst="arc">
              <a:avLst>
                <a:gd name="adj1" fmla="val 964993"/>
                <a:gd name="adj2" fmla="val 10338830"/>
              </a:avLst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Arc 125"/>
            <p:cNvSpPr/>
            <p:nvPr/>
          </p:nvSpPr>
          <p:spPr>
            <a:xfrm rot="19122645" flipV="1">
              <a:off x="2379639" y="2353680"/>
              <a:ext cx="497335" cy="250768"/>
            </a:xfrm>
            <a:prstGeom prst="arc">
              <a:avLst>
                <a:gd name="adj1" fmla="val 964993"/>
                <a:gd name="adj2" fmla="val 10338830"/>
              </a:avLst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Arc 126"/>
            <p:cNvSpPr/>
            <p:nvPr/>
          </p:nvSpPr>
          <p:spPr>
            <a:xfrm rot="18280019" flipV="1">
              <a:off x="2089582" y="2673972"/>
              <a:ext cx="497335" cy="250768"/>
            </a:xfrm>
            <a:prstGeom prst="arc">
              <a:avLst>
                <a:gd name="adj1" fmla="val 964993"/>
                <a:gd name="adj2" fmla="val 10338830"/>
              </a:avLst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472668" y="2870942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625068" y="3023342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777468" y="3175742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474180" y="3175742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3032265" y="2870942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832130" y="273156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340212" y="3349314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030753" y="31646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168542" y="23601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320942" y="25125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473342" y="26649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3170054" y="26649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728139" y="236014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528004" y="222076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4036086" y="283852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726627" y="2653854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 flipV="1">
              <a:off x="2712098" y="3341843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 flipV="1">
              <a:off x="3012257" y="3601776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 flipV="1">
              <a:off x="2407298" y="3646643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 flipV="1">
              <a:off x="2710586" y="3646643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 flipV="1">
              <a:off x="2152501" y="3341843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49" name="TextBox 148"/>
            <p:cNvSpPr txBox="1"/>
            <p:nvPr/>
          </p:nvSpPr>
          <p:spPr>
            <a:xfrm flipV="1">
              <a:off x="2352636" y="3202461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 flipV="1">
              <a:off x="1844554" y="3820215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 flipV="1">
              <a:off x="2154013" y="363554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991729" y="464581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1000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775801" y="464581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2000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559874" y="465540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3000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093462" y="4051349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093462" y="3491346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093462" y="2931343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300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093462" y="237134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400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093462" y="1811337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 rot="16200000">
              <a:off x="-20945" y="2902908"/>
              <a:ext cx="15824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Brush Script Std" pitchFamily="66" charset="0"/>
                </a:rPr>
                <a:t>Price</a:t>
              </a:r>
            </a:p>
            <a:p>
              <a:pPr algn="ctr"/>
              <a:r>
                <a:rPr lang="en-US" dirty="0">
                  <a:latin typeface="Brush Script Std" pitchFamily="66" charset="0"/>
                </a:rPr>
                <a:t>($ in 1,000’s)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524013" y="4992291"/>
              <a:ext cx="1218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rush Script Std" pitchFamily="66" charset="0"/>
                </a:rPr>
                <a:t>Size (ft</a:t>
              </a:r>
              <a:r>
                <a:rPr lang="en-US" baseline="30000" dirty="0">
                  <a:latin typeface="Brush Script Std" pitchFamily="66" charset="0"/>
                </a:rPr>
                <a:t>2</a:t>
              </a:r>
              <a:r>
                <a:rPr lang="en-US" dirty="0">
                  <a:latin typeface="Brush Script Std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8633587" y="3193160"/>
                  <a:ext cx="60138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/>
                                <a:ea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587" y="3193160"/>
                  <a:ext cx="60138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2696093" y="1540800"/>
                  <a:ext cx="2707349" cy="404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𝒉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𝟗𝟎𝟎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093" y="1540800"/>
                  <a:ext cx="2707349" cy="40498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4016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876300" y="217302"/>
            <a:ext cx="8229600" cy="5232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examples,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572000" y="12192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11382" y="1154668"/>
            <a:ext cx="2683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87331" y="1156156"/>
            <a:ext cx="2666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81200"/>
            <a:ext cx="35814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choose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many iterations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even when n is large, e.g.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00599" y="1981200"/>
                <a:ext cx="388620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need to choose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Don’t need to iterate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compute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 if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very large, e.g.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𝑂</m:t>
                    </m:r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599" y="1981200"/>
                <a:ext cx="3886201" cy="2400657"/>
              </a:xfrm>
              <a:prstGeom prst="rect">
                <a:avLst/>
              </a:prstGeom>
              <a:blipFill>
                <a:blip r:embed="rId2"/>
                <a:stretch>
                  <a:fillRect l="-2038" t="-2030" r="-940" b="-2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05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100" b="1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and Logistic Regression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296081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 binary (categorical) variable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relationship between a categorical response (dependent) variable and one or more predictors (independent) variables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mathematics can be used for linear or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71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295400" y="264563"/>
            <a:ext cx="8229600" cy="5232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 indent="0">
              <a:buFont typeface="Arial" panose="020B0604020202020204" pitchFamily="34" charset="0"/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23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6119289"/>
            <a:ext cx="2585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Prof. Andrew Ng, </a:t>
            </a:r>
          </a:p>
          <a:p>
            <a:r>
              <a:rPr lang="en-US" sz="1200" dirty="0"/>
              <a:t>Stanford University , Machine Learning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47800"/>
            <a:ext cx="7664849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08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24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read the houses dataset 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7700" y="2133600"/>
            <a:ext cx="8039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Linear regression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pandas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linear_model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LinearRegression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houses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read_csv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"address/to/file/RealEstate.csv"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houses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736585"/>
            <a:ext cx="6665379" cy="17399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5236" y="5829196"/>
            <a:ext cx="6922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houses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[[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</a:rPr>
              <a:t>Bedrooms'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</a:rPr>
              <a:t>'Bathrooms'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808080"/>
                </a:solidFill>
                <a:latin typeface="Courier New" panose="02070309020205020404" pitchFamily="49" charset="0"/>
              </a:rPr>
              <a:t>'Size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]]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houses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[[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'Price'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]]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0700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25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linear regression model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4499" y="2109890"/>
            <a:ext cx="64352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statsmodels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model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sm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OLS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model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print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summary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())</a:t>
            </a:r>
            <a:endParaRPr lang="en-US" dirty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41" y="3357461"/>
            <a:ext cx="531495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22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26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85800" y="1407366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model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872" y="1981200"/>
            <a:ext cx="755072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houses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"Size"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houses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"Price"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fit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polyfit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fit_fn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np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poly1d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matplotlib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pyplot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plot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808080"/>
                </a:solidFill>
                <a:latin typeface="Courier New" panose="02070309020205020404" pitchFamily="49" charset="0"/>
              </a:rPr>
              <a:t>bo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fit_fn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'-k'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xlabel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"Size of the house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ylabel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"Price of the house"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title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"Size of the house vs. Price of the house"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plt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show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sz="1600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865" y="2199403"/>
            <a:ext cx="5876925" cy="38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27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part, let’s load the Iris dataset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3717" y="2083475"/>
            <a:ext cx="75060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({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Species'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})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335200"/>
            <a:ext cx="4105275" cy="204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51" y="4335200"/>
            <a:ext cx="3752850" cy="2076450"/>
          </a:xfrm>
          <a:prstGeom prst="rect">
            <a:avLst/>
          </a:prstGeom>
        </p:spPr>
      </p:pic>
      <p:pic>
        <p:nvPicPr>
          <p:cNvPr id="1026" name="Picture 2" descr="Image result for setosa virginica and versi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748559"/>
            <a:ext cx="7397644" cy="23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67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to train and test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28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same methodology as before to split data to train and test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70% of data for training and the rest for testing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model_selection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0.30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52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751082"/>
            <a:ext cx="4056645" cy="277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22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29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228" y="1985899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linear_model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LogisticRegression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model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LogisticRegression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solver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600" dirty="0" err="1">
                <a:solidFill>
                  <a:srgbClr val="808080"/>
                </a:solidFill>
                <a:latin typeface="Courier New" panose="02070309020205020404" pitchFamily="49" charset="0"/>
              </a:rPr>
              <a:t>lbfgs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multi_class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'multinomial'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6285" y="4343568"/>
            <a:ext cx="76544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metrics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confusion_matrix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600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910" y="4851975"/>
            <a:ext cx="2305050" cy="514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" y="5486400"/>
            <a:ext cx="6629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6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metrics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endParaRPr lang="en-US" sz="1600" dirty="0"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5966400"/>
            <a:ext cx="134302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6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about the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647700" y="1524000"/>
                <a:ext cx="8458200" cy="51816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are the coefficients of the model?</a:t>
                </a: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final model</a:t>
                </a:r>
              </a:p>
              <a:p>
                <a:pPr fontAlgn="base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524000"/>
                <a:ext cx="8458200" cy="5181600"/>
              </a:xfrm>
              <a:prstGeom prst="rect">
                <a:avLst/>
              </a:prstGeom>
              <a:blipFill>
                <a:blip r:embed="rId2"/>
                <a:stretch>
                  <a:fillRect l="-1009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3158" y="1951641"/>
            <a:ext cx="4182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intercept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coef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endParaRPr lang="en-US" dirty="0">
              <a:effectLst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96993"/>
            <a:ext cx="4238625" cy="657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713941" y="5410200"/>
                <a:ext cx="6052774" cy="1152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8.76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1.89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−10.65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−0.34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0.86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−2.32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−1.02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.59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−0.26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0.45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−0.26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−0.74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0.41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2.58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1.76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941" y="5410200"/>
                <a:ext cx="6052774" cy="1152175"/>
              </a:xfrm>
              <a:prstGeom prst="rect">
                <a:avLst/>
              </a:prstGeom>
              <a:blipFill>
                <a:blip r:embed="rId4"/>
                <a:stretch>
                  <a:fillRect l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E409-459E-6908-0FF4-137AD4F2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47338"/>
            <a:ext cx="6589200" cy="1280890"/>
          </a:xfrm>
        </p:spPr>
        <p:txBody>
          <a:bodyPr/>
          <a:lstStyle/>
          <a:p>
            <a:r>
              <a:rPr lang="en-US" dirty="0"/>
              <a:t>Regression in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52B566-63D5-DF09-237E-8928AE38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32B80-24FF-7F25-32D0-E1FCD346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800"/>
            <a:ext cx="7848600" cy="2945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F1DFAC-8CFC-B19C-03BE-93C8F496F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2134339"/>
            <a:ext cx="5513738" cy="46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E409-459E-6908-0FF4-137AD4F2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47338"/>
            <a:ext cx="6589200" cy="1280890"/>
          </a:xfrm>
        </p:spPr>
        <p:txBody>
          <a:bodyPr/>
          <a:lstStyle/>
          <a:p>
            <a:r>
              <a:rPr lang="en-US" dirty="0"/>
              <a:t>Plot two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52B566-63D5-DF09-237E-8928AE38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6033A-5115-4512-9D88-0657E032DED2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2489A-2D75-A438-DAEC-E2FCE601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43260"/>
            <a:ext cx="6858000" cy="442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26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in 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33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 of dataset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to train and test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2148197"/>
            <a:ext cx="6477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(iris)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'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data.frame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': 150 obs. of 5 variables: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$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5.1 4.9 4.7 4.6 5 5.4 4.6 5 4.4 4.9 ...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$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: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3.5 3 3.2 3.1 3.6 3.9 3.4 3.4 2.9 3.1 ...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$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1.4 1.4 1.3 1.5 1.4 1.7 1.4 1.5 1.4 1.5 ...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$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: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0.2 0.2 0.2 0.2 0.2 0.4 0.3 0.2 0.2 0.1 ...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$ Species : Factor w/ 3 levels "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setosa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","versicolor",..: 1 1 1 1 1 1 1 1 1 1 ...</a:t>
            </a:r>
            <a:endParaRPr lang="en-US" dirty="0"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395946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require(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caTools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endParaRPr lang="en-US" sz="1000" dirty="0"/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iris$spl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sample.split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iris,SplitRatio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= 0.7)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train &lt;- subset(iris,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iris$spl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==TRUE)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test &lt;- subset(iris,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iris$spl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==FALSE)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train[,-5:-6]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train[,5]</a:t>
            </a:r>
            <a:endParaRPr lang="en-US" dirty="0"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0110" y="5440256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library(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nnet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glfit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multinom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~ ., data=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467300"/>
            <a:ext cx="269305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# weights: 18 (10 variable)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initial value 109.861229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10 value 10.926698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20 value 2.715576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30 value 1.854315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40 value 1.599614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50 value 1.502383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60 value 0.367176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70 value 0.018492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80 value 0.005202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90 value 0.004831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iter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100 value 0.003935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final value 0.003935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stopped after 100 iterations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323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in 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34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about model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6206" y="2286000"/>
            <a:ext cx="56388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summary(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glfit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Call: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multinom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(formula = y ~ ., data = x)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Coefficients: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(Intercept)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versicolor 348.5701   -181.1548    -155.4983    351.2215    133.3534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virginica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-529.8564    -261.9545    -288.4206    613.8399   417.7225 </a:t>
            </a:r>
          </a:p>
          <a:p>
            <a:endParaRPr 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Std. Errors: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(Intercept)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Sepal.Width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Petal.Length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Petal.Width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versicolor 715.3786    980.0067     971.6746    1464.856    1428.445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virginica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715.3786    980.0067     971.6746     1464.856   1428.445 </a:t>
            </a:r>
          </a:p>
          <a:p>
            <a:endParaRPr lang="en-US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Residual Deviance: 0.00787044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AIC: 20.00787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0964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in 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647700" y="1524000"/>
                <a:ext cx="8458200" cy="51816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 model</a:t>
                </a: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𝑐𝑐𝑢𝑟𝑎𝑐𝑦</m:t>
                    </m:r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16+16+17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16+16+17+1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98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</a:t>
                </a: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fontAlgn="base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524000"/>
                <a:ext cx="8458200" cy="5181600"/>
              </a:xfrm>
              <a:prstGeom prst="rect">
                <a:avLst/>
              </a:prstGeom>
              <a:blipFill>
                <a:blip r:embed="rId2"/>
                <a:stretch>
                  <a:fillRect l="-1009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90110" y="2057400"/>
            <a:ext cx="5638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test[,-5:-6]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test[,5] </a:t>
            </a:r>
          </a:p>
          <a:p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&lt;- predict(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glfit,x_test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table(</a:t>
            </a:r>
            <a:r>
              <a:rPr lang="en-US" sz="1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y_test,y_predict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sz="1000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3048000"/>
            <a:ext cx="35718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672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2DCD7A-60D5-443B-B6E6-95AB3E76E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E091EC-93BE-4A98-91D5-EA892120A2F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1AE014C-A9FF-4B81-840E-FEB16344CB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2037</TotalTime>
  <Words>2209</Words>
  <Application>Microsoft Office PowerPoint</Application>
  <PresentationFormat>On-screen Show (4:3)</PresentationFormat>
  <Paragraphs>468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Brush Script Std</vt:lpstr>
      <vt:lpstr>Calibri</vt:lpstr>
      <vt:lpstr>Cambria Math</vt:lpstr>
      <vt:lpstr>Century Gothic</vt:lpstr>
      <vt:lpstr>Courier New</vt:lpstr>
      <vt:lpstr>Times New Roman</vt:lpstr>
      <vt:lpstr>Wingdings</vt:lpstr>
      <vt:lpstr>Wingdings 3</vt:lpstr>
      <vt:lpstr>Wisp</vt:lpstr>
      <vt:lpstr>Machine Learning</vt:lpstr>
      <vt:lpstr>Types of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 Example</vt:lpstr>
      <vt:lpstr>Linear regression Example</vt:lpstr>
      <vt:lpstr>Linear regression Example</vt:lpstr>
      <vt:lpstr>Iris Example</vt:lpstr>
      <vt:lpstr>Split data to train and test</vt:lpstr>
      <vt:lpstr>Train and evaluate</vt:lpstr>
      <vt:lpstr>More about the model</vt:lpstr>
      <vt:lpstr>Regression in R</vt:lpstr>
      <vt:lpstr>Plot two variables</vt:lpstr>
      <vt:lpstr>Iris in R</vt:lpstr>
      <vt:lpstr>Iris in R</vt:lpstr>
      <vt:lpstr>Iris in R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120</cp:revision>
  <dcterms:created xsi:type="dcterms:W3CDTF">2017-10-18T21:32:52Z</dcterms:created>
  <dcterms:modified xsi:type="dcterms:W3CDTF">2023-06-07T13:12:11Z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