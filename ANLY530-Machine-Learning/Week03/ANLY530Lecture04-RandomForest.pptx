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4"/>
  </p:sldMasterIdLst>
  <p:notesMasterIdLst>
    <p:notesMasterId r:id="rId26"/>
  </p:notesMasterIdLst>
  <p:sldIdLst>
    <p:sldId id="257" r:id="rId5"/>
    <p:sldId id="262" r:id="rId6"/>
    <p:sldId id="263" r:id="rId7"/>
    <p:sldId id="261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60" r:id="rId19"/>
    <p:sldId id="276" r:id="rId20"/>
    <p:sldId id="275" r:id="rId21"/>
    <p:sldId id="278" r:id="rId22"/>
    <p:sldId id="277" r:id="rId23"/>
    <p:sldId id="280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3" d="100"/>
          <a:sy n="123" d="100"/>
        </p:scale>
        <p:origin x="80" y="6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48" d="100"/>
          <a:sy n="48" d="100"/>
        </p:scale>
        <p:origin x="-1500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EB7633-4883-4043-BBBD-F1DC2BDDB4B6}" type="datetimeFigureOut">
              <a:rPr lang="en-US" smtClean="0"/>
              <a:t>5/31/2023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723E0A-2D4F-4F32-BD99-82E9D5ED5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959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D4B71-1EF1-4D07-950D-945192FC58E8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4751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4029-032D-4014-87AD-16EE27DD8BDA}" type="datetime1">
              <a:rPr lang="en-US" smtClean="0">
                <a:solidFill>
                  <a:prstClr val="white">
                    <a:shade val="50000"/>
                  </a:prstClr>
                </a:solidFill>
              </a:rPr>
              <a:t>5/31/2023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2761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66A9-A56A-473B-B032-17763C0D2831}" type="datetime1">
              <a:rPr lang="en-US" smtClean="0">
                <a:solidFill>
                  <a:prstClr val="white">
                    <a:shade val="50000"/>
                  </a:prstClr>
                </a:solidFill>
              </a:rPr>
              <a:t>5/31/2023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17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6F358-AAF8-4E45-81FA-95731BDAEE87}" type="datetime1">
              <a:rPr lang="en-US" smtClean="0">
                <a:solidFill>
                  <a:prstClr val="white">
                    <a:shade val="50000"/>
                  </a:prstClr>
                </a:solidFill>
              </a:rPr>
              <a:t>5/31/2023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77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80263-9817-43B8-B948-C52154503888}" type="datetime1">
              <a:rPr lang="en-US" smtClean="0">
                <a:solidFill>
                  <a:prstClr val="white">
                    <a:shade val="50000"/>
                  </a:prstClr>
                </a:solidFill>
              </a:rPr>
              <a:t>5/31/2023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060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94726-A4C6-416F-84A4-792AA8B84299}" type="datetime1">
              <a:rPr lang="en-US" smtClean="0">
                <a:solidFill>
                  <a:prstClr val="white">
                    <a:shade val="50000"/>
                  </a:prstClr>
                </a:solidFill>
              </a:rPr>
              <a:t>5/31/2023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534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6873-9770-485E-9074-8FFF7C174C04}" type="datetime1">
              <a:rPr lang="en-US" smtClean="0">
                <a:solidFill>
                  <a:prstClr val="white">
                    <a:shade val="50000"/>
                  </a:prstClr>
                </a:solidFill>
              </a:rPr>
              <a:t>5/31/2023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7293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79561-069E-47BC-B138-827D3AD19D7E}" type="datetime1">
              <a:rPr lang="en-US" smtClean="0">
                <a:solidFill>
                  <a:prstClr val="white">
                    <a:shade val="50000"/>
                  </a:prstClr>
                </a:solidFill>
              </a:rPr>
              <a:t>5/31/2023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19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EEAF1-458E-49E1-A4A0-0CBE01C17CCD}" type="datetime1">
              <a:rPr lang="en-US" smtClean="0">
                <a:solidFill>
                  <a:prstClr val="white">
                    <a:shade val="50000"/>
                  </a:prstClr>
                </a:solidFill>
              </a:rPr>
              <a:t>5/31/2023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0586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85BA-9EEE-4F0B-AD67-D451CAD34C58}" type="datetime1">
              <a:rPr lang="en-US" smtClean="0">
                <a:solidFill>
                  <a:prstClr val="white">
                    <a:shade val="50000"/>
                  </a:prstClr>
                </a:solidFill>
              </a:rPr>
              <a:t>5/31/2023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741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DB0FF-3BC4-44C6-921A-123533193CD7}" type="datetime1">
              <a:rPr lang="en-US" smtClean="0">
                <a:solidFill>
                  <a:prstClr val="white">
                    <a:shade val="50000"/>
                  </a:prstClr>
                </a:solidFill>
              </a:rPr>
              <a:t>5/31/2023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7865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DB0FF-3BC4-44C6-921A-123533193CD7}" type="datetime1">
              <a:rPr lang="en-US" smtClean="0">
                <a:solidFill>
                  <a:prstClr val="white">
                    <a:shade val="50000"/>
                  </a:prstClr>
                </a:solidFill>
              </a:rPr>
              <a:t>5/31/2023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702026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DB0FF-3BC4-44C6-921A-123533193CD7}" type="datetime1">
              <a:rPr lang="en-US" smtClean="0">
                <a:solidFill>
                  <a:prstClr val="white">
                    <a:shade val="50000"/>
                  </a:prstClr>
                </a:solidFill>
              </a:rPr>
              <a:t>5/31/2023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0036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DB0FF-3BC4-44C6-921A-123533193CD7}" type="datetime1">
              <a:rPr lang="en-US" smtClean="0">
                <a:solidFill>
                  <a:prstClr val="white">
                    <a:shade val="50000"/>
                  </a:prstClr>
                </a:solidFill>
              </a:rPr>
              <a:t>5/31/2023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9088261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DB0FF-3BC4-44C6-921A-123533193CD7}" type="datetime1">
              <a:rPr lang="en-US" smtClean="0">
                <a:solidFill>
                  <a:prstClr val="white">
                    <a:shade val="50000"/>
                  </a:prstClr>
                </a:solidFill>
              </a:rPr>
              <a:t>5/31/2023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90591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E205C-4871-4D03-B63B-A5411008EECA}" type="datetime1">
              <a:rPr lang="en-US" smtClean="0">
                <a:solidFill>
                  <a:prstClr val="white">
                    <a:shade val="50000"/>
                  </a:prstClr>
                </a:solidFill>
              </a:rPr>
              <a:t>5/31/2023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918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F479D-2002-47F9-B10B-A30B95E2A43A}" type="datetime1">
              <a:rPr lang="en-US" smtClean="0">
                <a:solidFill>
                  <a:prstClr val="white">
                    <a:shade val="50000"/>
                  </a:prstClr>
                </a:solidFill>
              </a:rPr>
              <a:t>5/31/2023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653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DB0FF-3BC4-44C6-921A-123533193CD7}" type="datetime1">
              <a:rPr lang="en-US" smtClean="0">
                <a:solidFill>
                  <a:prstClr val="white">
                    <a:shade val="50000"/>
                  </a:prstClr>
                </a:solidFill>
              </a:rPr>
              <a:t>5/31/2023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167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4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Techniques and Algorithms – Random Forest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1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811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00200" y="228600"/>
            <a:ext cx="6589199" cy="1280890"/>
          </a:xfrm>
        </p:spPr>
        <p:txBody>
          <a:bodyPr>
            <a:normAutofit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What is Random forest?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676400"/>
            <a:ext cx="8229600" cy="45082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forests or random decision forests are an ensemble learning method for classification, regression and other tasks that operates by constructing a multitude of decision trees at training time and outputting the class that is the mode of the classes (classification) or mean prediction (regression) of the individual trees.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2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75320" y="6541182"/>
            <a:ext cx="868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Wikipedia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4010236"/>
            <a:ext cx="3293217" cy="251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106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00200" y="228600"/>
            <a:ext cx="6589199" cy="1280890"/>
          </a:xfrm>
        </p:spPr>
        <p:txBody>
          <a:bodyPr>
            <a:normAutofit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676400"/>
            <a:ext cx="8229600" cy="45082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system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loyal costumers and for credit default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combination of components to validate the correct medicine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the disease by analyzing patient medical records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market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Market behavior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loss and gain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3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32320" y="6541182"/>
            <a:ext cx="1981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 and easy machine learning</a:t>
            </a:r>
          </a:p>
        </p:txBody>
      </p:sp>
      <p:pic>
        <p:nvPicPr>
          <p:cNvPr id="1030" name="Picture 6" descr="Image result for bank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510186"/>
            <a:ext cx="672118" cy="672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healthcare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74320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age result for stock market ic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4799" y="4343400"/>
            <a:ext cx="841376" cy="841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1424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00200" y="228600"/>
            <a:ext cx="6589199" cy="1280890"/>
          </a:xfrm>
        </p:spPr>
        <p:txBody>
          <a:bodyPr>
            <a:normAutofit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676400"/>
            <a:ext cx="8229600" cy="45082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Ecommerce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system by looking at a small portion of data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classification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used this algorithm for XBOX Kinect</a:t>
            </a:r>
          </a:p>
          <a:p>
            <a:pPr lvl="1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4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32320" y="6541182"/>
            <a:ext cx="1981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 and easy machine learning</a:t>
            </a:r>
          </a:p>
        </p:txBody>
      </p:sp>
      <p:pic>
        <p:nvPicPr>
          <p:cNvPr id="2050" name="Picture 2" descr="Image result for ecommerce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600200"/>
            <a:ext cx="635359" cy="659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computer vision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114800"/>
            <a:ext cx="838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 result for kinec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4084112"/>
            <a:ext cx="2258596" cy="1381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2029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00200" y="228600"/>
            <a:ext cx="6589199" cy="1280890"/>
          </a:xfrm>
        </p:spPr>
        <p:txBody>
          <a:bodyPr>
            <a:normAutofit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Some definitions…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371600"/>
            <a:ext cx="8229600" cy="51054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we start to analyze how RF works, we need to know some terms: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model: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is a Machine Learning concept in which the idea is to train multiple models using the same learning algorithm.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Bagging: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models are built in parallel on various samples and then the various models vote to give the final model and prediction.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stability and handles overfitting</a:t>
            </a:r>
          </a:p>
          <a:p>
            <a:pPr lvl="1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5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pic>
        <p:nvPicPr>
          <p:cNvPr id="4098" name="Picture 2" descr="Image result for bagging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4953000"/>
            <a:ext cx="8572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3227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00200" y="228600"/>
            <a:ext cx="6589199" cy="1280890"/>
          </a:xfrm>
        </p:spPr>
        <p:txBody>
          <a:bodyPr>
            <a:normAutofit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Some definitions…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371600"/>
            <a:ext cx="8229600" cy="51054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we start to analyze how RF works, we need to know some terms: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Boosting: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are designed in series. In each successive model, the parameters are adjusted based on the learning of previous model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overfitting and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underfitting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Bootstrapping: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statistics, bootstrapping is any test or metric that relies on random sampling with replacement.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6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pic>
        <p:nvPicPr>
          <p:cNvPr id="3074" name="Picture 2" descr="Image result for boosting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581400"/>
            <a:ext cx="1245973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 result for bootstrapping statistics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270" y="5533321"/>
            <a:ext cx="940631" cy="940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0998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00200" y="228600"/>
            <a:ext cx="6589199" cy="1280890"/>
          </a:xfrm>
        </p:spPr>
        <p:txBody>
          <a:bodyPr>
            <a:normAutofit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371600"/>
            <a:ext cx="8229600" cy="51054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we have N number of instances in training data. We start with taking random samples with replacement- Bootstrapped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have M features, a number m&lt;M is specified such that at each node, m variables are selected at random out of M. The best split on these m is used to split the node. The value of m is held constant while the forest is grown.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tree is grown to the largest extent possible and there is no pruning.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new data by aggregating the predictions of the n tree trees (i.e. majority votes for classification, or average for regression)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7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0" y="6541182"/>
            <a:ext cx="1981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 and easy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563213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00200" y="228600"/>
            <a:ext cx="6589199" cy="1280890"/>
          </a:xfrm>
        </p:spPr>
        <p:txBody>
          <a:bodyPr>
            <a:normAutofit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152908"/>
            <a:ext cx="8229600" cy="532409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a healthcare dataset and we want to predict the heart disease using this dataset (obviously not a real world example. Why?)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1- Creating the bootstrapped dataset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8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60920" y="6564887"/>
            <a:ext cx="1783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StatQuest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Josh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Starmer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17" y="2743200"/>
            <a:ext cx="3445638" cy="2895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00200" y="5688568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dataset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768" y="2748563"/>
            <a:ext cx="3424302" cy="28902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0" y="5776455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Bootstrapped dataset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1331" y="5043945"/>
            <a:ext cx="3551176" cy="59485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187" y="4499690"/>
            <a:ext cx="3551176" cy="54425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043" y="3955435"/>
            <a:ext cx="3551176" cy="54425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043" y="3352094"/>
            <a:ext cx="3551176" cy="60334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62000" y="3904835"/>
            <a:ext cx="3487355" cy="5948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64664" y="3325739"/>
            <a:ext cx="3487355" cy="5948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86827" y="5036066"/>
            <a:ext cx="3487355" cy="5948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79845" y="5029200"/>
            <a:ext cx="3487355" cy="5948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655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00200" y="228600"/>
            <a:ext cx="6589199" cy="1280890"/>
          </a:xfrm>
        </p:spPr>
        <p:txBody>
          <a:bodyPr>
            <a:normAutofit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371600"/>
            <a:ext cx="8229600" cy="51054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2- Creating the decision tree on a subset of variables.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9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60920" y="6564887"/>
            <a:ext cx="1783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StatQuest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Josh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Starmer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546" y="2280110"/>
            <a:ext cx="2805672" cy="23680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95524" y="1913826"/>
            <a:ext cx="2590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randomly choose two variables and see which one can be the candidate for root node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946" y="3429000"/>
            <a:ext cx="5638726" cy="269189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0871" y="3566890"/>
            <a:ext cx="1115329" cy="2762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206240"/>
            <a:ext cx="1103376" cy="3810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0924" y="4206240"/>
            <a:ext cx="1103376" cy="381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4581144"/>
            <a:ext cx="2514600" cy="149885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590288"/>
            <a:ext cx="2514600" cy="143256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6781800" y="2192223"/>
            <a:ext cx="502920" cy="5810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7320788" y="2233121"/>
            <a:ext cx="502920" cy="5810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19"/>
          <p:cNvSpPr/>
          <p:nvPr/>
        </p:nvSpPr>
        <p:spPr>
          <a:xfrm>
            <a:off x="3248025" y="2210712"/>
            <a:ext cx="3524250" cy="1332588"/>
          </a:xfrm>
          <a:custGeom>
            <a:avLst/>
            <a:gdLst>
              <a:gd name="connsiteX0" fmla="*/ 3524250 w 3524250"/>
              <a:gd name="connsiteY0" fmla="*/ 294363 h 1332588"/>
              <a:gd name="connsiteX1" fmla="*/ 2028825 w 3524250"/>
              <a:gd name="connsiteY1" fmla="*/ 65763 h 1332588"/>
              <a:gd name="connsiteX2" fmla="*/ 0 w 3524250"/>
              <a:gd name="connsiteY2" fmla="*/ 1332588 h 133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24250" h="1332588">
                <a:moveTo>
                  <a:pt x="3524250" y="294363"/>
                </a:moveTo>
                <a:cubicBezTo>
                  <a:pt x="3070225" y="93544"/>
                  <a:pt x="2616200" y="-107275"/>
                  <a:pt x="2028825" y="65763"/>
                </a:cubicBezTo>
                <a:cubicBezTo>
                  <a:pt x="1441450" y="238800"/>
                  <a:pt x="336550" y="1127801"/>
                  <a:pt x="0" y="133258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/>
          <p:cNvSpPr/>
          <p:nvPr/>
        </p:nvSpPr>
        <p:spPr>
          <a:xfrm>
            <a:off x="3476625" y="2743200"/>
            <a:ext cx="3933825" cy="959804"/>
          </a:xfrm>
          <a:custGeom>
            <a:avLst/>
            <a:gdLst>
              <a:gd name="connsiteX0" fmla="*/ 3933825 w 3933825"/>
              <a:gd name="connsiteY0" fmla="*/ 0 h 959804"/>
              <a:gd name="connsiteX1" fmla="*/ 2371725 w 3933825"/>
              <a:gd name="connsiteY1" fmla="*/ 952500 h 959804"/>
              <a:gd name="connsiteX2" fmla="*/ 542925 w 3933825"/>
              <a:gd name="connsiteY2" fmla="*/ 457200 h 959804"/>
              <a:gd name="connsiteX3" fmla="*/ 0 w 3933825"/>
              <a:gd name="connsiteY3" fmla="*/ 790575 h 959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3825" h="959804">
                <a:moveTo>
                  <a:pt x="3933825" y="0"/>
                </a:moveTo>
                <a:cubicBezTo>
                  <a:pt x="3435350" y="438150"/>
                  <a:pt x="2936875" y="876300"/>
                  <a:pt x="2371725" y="952500"/>
                </a:cubicBezTo>
                <a:cubicBezTo>
                  <a:pt x="1806575" y="1028700"/>
                  <a:pt x="938212" y="484187"/>
                  <a:pt x="542925" y="457200"/>
                </a:cubicBezTo>
                <a:cubicBezTo>
                  <a:pt x="147638" y="430213"/>
                  <a:pt x="73819" y="610394"/>
                  <a:pt x="0" y="7905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781800" y="2286730"/>
            <a:ext cx="502920" cy="2361470"/>
          </a:xfrm>
          <a:prstGeom prst="rect">
            <a:avLst/>
          </a:prstGeom>
          <a:solidFill>
            <a:schemeClr val="bg1">
              <a:alpha val="7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6260846" y="2259014"/>
            <a:ext cx="502920" cy="5810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7834884" y="2259014"/>
            <a:ext cx="502920" cy="5810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25"/>
          <p:cNvSpPr/>
          <p:nvPr/>
        </p:nvSpPr>
        <p:spPr>
          <a:xfrm>
            <a:off x="2133599" y="2314131"/>
            <a:ext cx="4105275" cy="1999788"/>
          </a:xfrm>
          <a:custGeom>
            <a:avLst/>
            <a:gdLst>
              <a:gd name="connsiteX0" fmla="*/ 3524250 w 3524250"/>
              <a:gd name="connsiteY0" fmla="*/ 294363 h 1332588"/>
              <a:gd name="connsiteX1" fmla="*/ 2028825 w 3524250"/>
              <a:gd name="connsiteY1" fmla="*/ 65763 h 1332588"/>
              <a:gd name="connsiteX2" fmla="*/ 0 w 3524250"/>
              <a:gd name="connsiteY2" fmla="*/ 1332588 h 1332588"/>
              <a:gd name="connsiteX0" fmla="*/ 3467926 w 3467926"/>
              <a:gd name="connsiteY0" fmla="*/ 167411 h 1406630"/>
              <a:gd name="connsiteX1" fmla="*/ 2028825 w 3467926"/>
              <a:gd name="connsiteY1" fmla="*/ 139805 h 1406630"/>
              <a:gd name="connsiteX2" fmla="*/ 0 w 3467926"/>
              <a:gd name="connsiteY2" fmla="*/ 1406630 h 140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7926" h="1406630">
                <a:moveTo>
                  <a:pt x="3467926" y="167411"/>
                </a:moveTo>
                <a:cubicBezTo>
                  <a:pt x="3013901" y="-33408"/>
                  <a:pt x="2606813" y="-66731"/>
                  <a:pt x="2028825" y="139805"/>
                </a:cubicBezTo>
                <a:cubicBezTo>
                  <a:pt x="1450837" y="346341"/>
                  <a:pt x="336550" y="1201843"/>
                  <a:pt x="0" y="140663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26"/>
          <p:cNvSpPr/>
          <p:nvPr/>
        </p:nvSpPr>
        <p:spPr>
          <a:xfrm>
            <a:off x="2220035" y="2839752"/>
            <a:ext cx="5800725" cy="1704975"/>
          </a:xfrm>
          <a:custGeom>
            <a:avLst/>
            <a:gdLst>
              <a:gd name="connsiteX0" fmla="*/ 3933825 w 3933825"/>
              <a:gd name="connsiteY0" fmla="*/ 0 h 959804"/>
              <a:gd name="connsiteX1" fmla="*/ 2371725 w 3933825"/>
              <a:gd name="connsiteY1" fmla="*/ 952500 h 959804"/>
              <a:gd name="connsiteX2" fmla="*/ 542925 w 3933825"/>
              <a:gd name="connsiteY2" fmla="*/ 457200 h 959804"/>
              <a:gd name="connsiteX3" fmla="*/ 0 w 3933825"/>
              <a:gd name="connsiteY3" fmla="*/ 790575 h 959804"/>
              <a:gd name="connsiteX0" fmla="*/ 5800725 w 5800725"/>
              <a:gd name="connsiteY0" fmla="*/ 0 h 1704975"/>
              <a:gd name="connsiteX1" fmla="*/ 4238625 w 5800725"/>
              <a:gd name="connsiteY1" fmla="*/ 952500 h 1704975"/>
              <a:gd name="connsiteX2" fmla="*/ 2409825 w 5800725"/>
              <a:gd name="connsiteY2" fmla="*/ 457200 h 1704975"/>
              <a:gd name="connsiteX3" fmla="*/ 0 w 5800725"/>
              <a:gd name="connsiteY3" fmla="*/ 1704975 h 1704975"/>
              <a:gd name="connsiteX0" fmla="*/ 5800725 w 5800725"/>
              <a:gd name="connsiteY0" fmla="*/ 0 h 1704975"/>
              <a:gd name="connsiteX1" fmla="*/ 4238625 w 5800725"/>
              <a:gd name="connsiteY1" fmla="*/ 952500 h 1704975"/>
              <a:gd name="connsiteX2" fmla="*/ 2647950 w 5800725"/>
              <a:gd name="connsiteY2" fmla="*/ 1057275 h 1704975"/>
              <a:gd name="connsiteX3" fmla="*/ 0 w 5800725"/>
              <a:gd name="connsiteY3" fmla="*/ 1704975 h 170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00725" h="1704975">
                <a:moveTo>
                  <a:pt x="5800725" y="0"/>
                </a:moveTo>
                <a:cubicBezTo>
                  <a:pt x="5302250" y="438150"/>
                  <a:pt x="4764088" y="776288"/>
                  <a:pt x="4238625" y="952500"/>
                </a:cubicBezTo>
                <a:cubicBezTo>
                  <a:pt x="3713163" y="1128713"/>
                  <a:pt x="3354388" y="931863"/>
                  <a:pt x="2647950" y="1057275"/>
                </a:cubicBezTo>
                <a:cubicBezTo>
                  <a:pt x="1941512" y="1182688"/>
                  <a:pt x="73819" y="1524794"/>
                  <a:pt x="0" y="17049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072" y="2286000"/>
            <a:ext cx="2805672" cy="236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443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 animBg="1"/>
      <p:bldP spid="18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00200" y="228600"/>
            <a:ext cx="6589199" cy="1280890"/>
          </a:xfrm>
        </p:spPr>
        <p:txBody>
          <a:bodyPr>
            <a:normAutofit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371600"/>
            <a:ext cx="8229600" cy="51054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3- Go back to step one, make new boot strapped model and new decision tree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10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60920" y="6564887"/>
            <a:ext cx="1783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StatQuest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Josh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Starmer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623915"/>
            <a:ext cx="8569758" cy="34149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2819399"/>
            <a:ext cx="2667000" cy="1515979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623915"/>
            <a:ext cx="2321358" cy="1515979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42" y="4494625"/>
            <a:ext cx="8452716" cy="151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230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00200" y="228600"/>
            <a:ext cx="6589199" cy="1280890"/>
          </a:xfrm>
        </p:spPr>
        <p:txBody>
          <a:bodyPr>
            <a:normAutofit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371600"/>
            <a:ext cx="8229600" cy="51054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let’s test the model on an unseen data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11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60920" y="6564887"/>
            <a:ext cx="1783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StatQuest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Josh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Starmer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957" y="2438400"/>
            <a:ext cx="3209925" cy="11049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91" y="2595340"/>
            <a:ext cx="5003609" cy="230051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755957" y="2895600"/>
            <a:ext cx="2576190" cy="84999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/>
          <p:cNvSpPr/>
          <p:nvPr/>
        </p:nvSpPr>
        <p:spPr>
          <a:xfrm>
            <a:off x="2800351" y="1688734"/>
            <a:ext cx="3352800" cy="1340216"/>
          </a:xfrm>
          <a:custGeom>
            <a:avLst/>
            <a:gdLst>
              <a:gd name="connsiteX0" fmla="*/ 3343275 w 3343275"/>
              <a:gd name="connsiteY0" fmla="*/ 1146006 h 1146006"/>
              <a:gd name="connsiteX1" fmla="*/ 2228850 w 3343275"/>
              <a:gd name="connsiteY1" fmla="*/ 88731 h 1146006"/>
              <a:gd name="connsiteX2" fmla="*/ 419100 w 3343275"/>
              <a:gd name="connsiteY2" fmla="*/ 155406 h 1146006"/>
              <a:gd name="connsiteX3" fmla="*/ 0 w 3343275"/>
              <a:gd name="connsiteY3" fmla="*/ 936456 h 1146006"/>
              <a:gd name="connsiteX0" fmla="*/ 3352800 w 3352800"/>
              <a:gd name="connsiteY0" fmla="*/ 1340216 h 1340216"/>
              <a:gd name="connsiteX1" fmla="*/ 2228850 w 3352800"/>
              <a:gd name="connsiteY1" fmla="*/ 101966 h 1340216"/>
              <a:gd name="connsiteX2" fmla="*/ 419100 w 3352800"/>
              <a:gd name="connsiteY2" fmla="*/ 168641 h 1340216"/>
              <a:gd name="connsiteX3" fmla="*/ 0 w 3352800"/>
              <a:gd name="connsiteY3" fmla="*/ 949691 h 1340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2800" h="1340216">
                <a:moveTo>
                  <a:pt x="3352800" y="1340216"/>
                </a:moveTo>
                <a:cubicBezTo>
                  <a:pt x="3039268" y="894128"/>
                  <a:pt x="2717800" y="297229"/>
                  <a:pt x="2228850" y="101966"/>
                </a:cubicBezTo>
                <a:cubicBezTo>
                  <a:pt x="1739900" y="-93297"/>
                  <a:pt x="790575" y="27353"/>
                  <a:pt x="419100" y="168641"/>
                </a:cubicBezTo>
                <a:cubicBezTo>
                  <a:pt x="47625" y="309928"/>
                  <a:pt x="85725" y="816341"/>
                  <a:pt x="0" y="949691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438400" y="2667000"/>
            <a:ext cx="1133856" cy="2926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1371600" y="3276600"/>
            <a:ext cx="850392" cy="3017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671010" y="3916299"/>
            <a:ext cx="850392" cy="3017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489321" y="4517136"/>
            <a:ext cx="850392" cy="3017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152" y="4226052"/>
            <a:ext cx="1447800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4" grpId="0" animBg="1"/>
      <p:bldP spid="25" grpId="0" animBg="1"/>
      <p:bldP spid="28" grpId="0" animBg="1"/>
      <p:bldP spid="33" grpId="0" animBg="1"/>
      <p:bldP spid="3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27" y="2595395"/>
            <a:ext cx="4498674" cy="1622656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00200" y="228600"/>
            <a:ext cx="6589199" cy="1280890"/>
          </a:xfrm>
        </p:spPr>
        <p:txBody>
          <a:bodyPr>
            <a:normAutofit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371600"/>
            <a:ext cx="8229600" cy="51054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 what the second tree says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12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60920" y="6564887"/>
            <a:ext cx="1783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StatQuest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Josh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Starmer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957" y="2438400"/>
            <a:ext cx="3209925" cy="110490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755957" y="2895600"/>
            <a:ext cx="2576190" cy="84999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/>
          <p:cNvSpPr/>
          <p:nvPr/>
        </p:nvSpPr>
        <p:spPr>
          <a:xfrm>
            <a:off x="2800351" y="1688734"/>
            <a:ext cx="3352800" cy="1340216"/>
          </a:xfrm>
          <a:custGeom>
            <a:avLst/>
            <a:gdLst>
              <a:gd name="connsiteX0" fmla="*/ 3343275 w 3343275"/>
              <a:gd name="connsiteY0" fmla="*/ 1146006 h 1146006"/>
              <a:gd name="connsiteX1" fmla="*/ 2228850 w 3343275"/>
              <a:gd name="connsiteY1" fmla="*/ 88731 h 1146006"/>
              <a:gd name="connsiteX2" fmla="*/ 419100 w 3343275"/>
              <a:gd name="connsiteY2" fmla="*/ 155406 h 1146006"/>
              <a:gd name="connsiteX3" fmla="*/ 0 w 3343275"/>
              <a:gd name="connsiteY3" fmla="*/ 936456 h 1146006"/>
              <a:gd name="connsiteX0" fmla="*/ 3352800 w 3352800"/>
              <a:gd name="connsiteY0" fmla="*/ 1340216 h 1340216"/>
              <a:gd name="connsiteX1" fmla="*/ 2228850 w 3352800"/>
              <a:gd name="connsiteY1" fmla="*/ 101966 h 1340216"/>
              <a:gd name="connsiteX2" fmla="*/ 419100 w 3352800"/>
              <a:gd name="connsiteY2" fmla="*/ 168641 h 1340216"/>
              <a:gd name="connsiteX3" fmla="*/ 0 w 3352800"/>
              <a:gd name="connsiteY3" fmla="*/ 949691 h 1340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2800" h="1340216">
                <a:moveTo>
                  <a:pt x="3352800" y="1340216"/>
                </a:moveTo>
                <a:cubicBezTo>
                  <a:pt x="3039268" y="894128"/>
                  <a:pt x="2717800" y="297229"/>
                  <a:pt x="2228850" y="101966"/>
                </a:cubicBezTo>
                <a:cubicBezTo>
                  <a:pt x="1739900" y="-93297"/>
                  <a:pt x="790575" y="27353"/>
                  <a:pt x="419100" y="168641"/>
                </a:cubicBezTo>
                <a:cubicBezTo>
                  <a:pt x="47625" y="309928"/>
                  <a:pt x="85725" y="816341"/>
                  <a:pt x="0" y="949691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438400" y="2667000"/>
            <a:ext cx="1133856" cy="2926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626359" y="3228022"/>
            <a:ext cx="850392" cy="3017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3140701" y="3835085"/>
            <a:ext cx="850392" cy="3017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527" y="4292147"/>
            <a:ext cx="154305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561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4" grpId="0" animBg="1"/>
      <p:bldP spid="25" grpId="0" animBg="1"/>
      <p:bldP spid="28" grpId="0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666" y="2671511"/>
            <a:ext cx="3362325" cy="1838325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00200" y="228600"/>
            <a:ext cx="6589199" cy="1280890"/>
          </a:xfrm>
        </p:spPr>
        <p:txBody>
          <a:bodyPr>
            <a:normAutofit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371600"/>
            <a:ext cx="8229600" cy="51054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about third tree?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13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60920" y="6564887"/>
            <a:ext cx="1783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StatQuest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Josh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Starmer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957" y="2438400"/>
            <a:ext cx="3209925" cy="110490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755957" y="2895600"/>
            <a:ext cx="2576190" cy="84999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/>
          <p:cNvSpPr/>
          <p:nvPr/>
        </p:nvSpPr>
        <p:spPr>
          <a:xfrm>
            <a:off x="2800351" y="1688734"/>
            <a:ext cx="3352800" cy="1340216"/>
          </a:xfrm>
          <a:custGeom>
            <a:avLst/>
            <a:gdLst>
              <a:gd name="connsiteX0" fmla="*/ 3343275 w 3343275"/>
              <a:gd name="connsiteY0" fmla="*/ 1146006 h 1146006"/>
              <a:gd name="connsiteX1" fmla="*/ 2228850 w 3343275"/>
              <a:gd name="connsiteY1" fmla="*/ 88731 h 1146006"/>
              <a:gd name="connsiteX2" fmla="*/ 419100 w 3343275"/>
              <a:gd name="connsiteY2" fmla="*/ 155406 h 1146006"/>
              <a:gd name="connsiteX3" fmla="*/ 0 w 3343275"/>
              <a:gd name="connsiteY3" fmla="*/ 936456 h 1146006"/>
              <a:gd name="connsiteX0" fmla="*/ 3352800 w 3352800"/>
              <a:gd name="connsiteY0" fmla="*/ 1340216 h 1340216"/>
              <a:gd name="connsiteX1" fmla="*/ 2228850 w 3352800"/>
              <a:gd name="connsiteY1" fmla="*/ 101966 h 1340216"/>
              <a:gd name="connsiteX2" fmla="*/ 419100 w 3352800"/>
              <a:gd name="connsiteY2" fmla="*/ 168641 h 1340216"/>
              <a:gd name="connsiteX3" fmla="*/ 0 w 3352800"/>
              <a:gd name="connsiteY3" fmla="*/ 949691 h 1340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2800" h="1340216">
                <a:moveTo>
                  <a:pt x="3352800" y="1340216"/>
                </a:moveTo>
                <a:cubicBezTo>
                  <a:pt x="3039268" y="894128"/>
                  <a:pt x="2717800" y="297229"/>
                  <a:pt x="2228850" y="101966"/>
                </a:cubicBezTo>
                <a:cubicBezTo>
                  <a:pt x="1739900" y="-93297"/>
                  <a:pt x="790575" y="27353"/>
                  <a:pt x="419100" y="168641"/>
                </a:cubicBezTo>
                <a:cubicBezTo>
                  <a:pt x="47625" y="309928"/>
                  <a:pt x="85725" y="816341"/>
                  <a:pt x="0" y="949691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438400" y="2667000"/>
            <a:ext cx="990600" cy="2926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1530191" y="3169721"/>
            <a:ext cx="765334" cy="3017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151" y="4472210"/>
            <a:ext cx="1504950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802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00200" y="228600"/>
            <a:ext cx="6589199" cy="1280890"/>
          </a:xfrm>
        </p:spPr>
        <p:txBody>
          <a:bodyPr>
            <a:normAutofit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371600"/>
            <a:ext cx="8229600" cy="51054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trying for all the trees. We may end up with following table: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majority vote is YES so the prediction will be YES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what we said, do you see this as a bagging problem or boosting?</a:t>
            </a:r>
          </a:p>
          <a:p>
            <a:pPr lvl="1"/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Bagging</a:t>
            </a:r>
          </a:p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Out-of-Bag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equivalent to validation or test data.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14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60920" y="6564887"/>
            <a:ext cx="1783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StatQuest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Josh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Starmer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552" y="2450195"/>
            <a:ext cx="3209925" cy="11049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2652490"/>
            <a:ext cx="1543050" cy="876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55049" y="3119215"/>
            <a:ext cx="5704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187816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00200" y="228600"/>
            <a:ext cx="6589199" cy="1280890"/>
          </a:xfrm>
        </p:spPr>
        <p:txBody>
          <a:bodyPr>
            <a:normAutofit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Why Random forest?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512538"/>
            <a:ext cx="8229600" cy="431969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handles both classification and regression problems.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the missing values and maintains accuracy for missing data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Won’t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overfit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model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large dataset with higher dimensionality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Cons: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performance on regression is not as good as classification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little control on what the model does (black box)</a:t>
            </a:r>
          </a:p>
          <a:p>
            <a:pPr lvl="1"/>
            <a:endParaRPr lang="en-US" sz="22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15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32320" y="6541182"/>
            <a:ext cx="1981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 and easy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882889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32732" y="264366"/>
            <a:ext cx="5105400" cy="1143000"/>
          </a:xfrm>
        </p:spPr>
        <p:txBody>
          <a:bodyPr>
            <a:normAutofit/>
          </a:bodyPr>
          <a:lstStyle/>
          <a:p>
            <a:pPr fontAlgn="base"/>
            <a:r>
              <a:rPr lang="en-US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Iris- Example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16</a:t>
            </a:fld>
            <a:endParaRPr lang="en-US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47700" y="1524000"/>
            <a:ext cx="8458200" cy="5181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this part, let’s load the Iris dataset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11228" y="2895600"/>
            <a:ext cx="8458200" cy="838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3717" y="2083475"/>
            <a:ext cx="750601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datasets </a:t>
            </a:r>
          </a:p>
          <a:p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numpy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np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iris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datasets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load_iris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X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iris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8000"/>
                </a:solidFill>
                <a:latin typeface="Courier New" panose="02070309020205020404" pitchFamily="49" charset="0"/>
              </a:rPr>
              <a:t># Sepal and pedal </a:t>
            </a:r>
            <a:r>
              <a:rPr lang="en-US" sz="1400" dirty="0" err="1">
                <a:solidFill>
                  <a:srgbClr val="008000"/>
                </a:solidFill>
                <a:latin typeface="Courier New" panose="02070309020205020404" pitchFamily="49" charset="0"/>
              </a:rPr>
              <a:t>negth</a:t>
            </a:r>
            <a:r>
              <a:rPr lang="en-US" sz="1400" dirty="0">
                <a:solidFill>
                  <a:srgbClr val="008000"/>
                </a:solidFill>
                <a:latin typeface="Courier New" panose="02070309020205020404" pitchFamily="49" charset="0"/>
              </a:rPr>
              <a:t> and width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y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iris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IRIS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pd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DataFrame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({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400" dirty="0" err="1">
                <a:solidFill>
                  <a:srgbClr val="808080"/>
                </a:solidFill>
                <a:latin typeface="Courier New" panose="02070309020205020404" pitchFamily="49" charset="0"/>
              </a:rPr>
              <a:t>Sepal_Length'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[:,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],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400" dirty="0" err="1">
                <a:solidFill>
                  <a:srgbClr val="808080"/>
                </a:solidFill>
                <a:latin typeface="Courier New" panose="02070309020205020404" pitchFamily="49" charset="0"/>
              </a:rPr>
              <a:t>Sepal_Width'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[:,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],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400" dirty="0" err="1">
                <a:solidFill>
                  <a:srgbClr val="808080"/>
                </a:solidFill>
                <a:latin typeface="Courier New" panose="02070309020205020404" pitchFamily="49" charset="0"/>
              </a:rPr>
              <a:t>Petal_Length'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[:,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],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400" dirty="0" err="1">
                <a:solidFill>
                  <a:srgbClr val="808080"/>
                </a:solidFill>
                <a:latin typeface="Courier New" panose="02070309020205020404" pitchFamily="49" charset="0"/>
              </a:rPr>
              <a:t>Petal_Width'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[:,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3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],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400" dirty="0" err="1">
                <a:solidFill>
                  <a:srgbClr val="808080"/>
                </a:solidFill>
                <a:latin typeface="Courier New" panose="02070309020205020404" pitchFamily="49" charset="0"/>
              </a:rPr>
              <a:t>Species'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})</a:t>
            </a:r>
            <a:endParaRPr lang="en-US" sz="1400" dirty="0"/>
          </a:p>
          <a:p>
            <a:endParaRPr lang="en-US" sz="1400" dirty="0">
              <a:effectLst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4335200"/>
            <a:ext cx="4105275" cy="20478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51" y="4335200"/>
            <a:ext cx="3752850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571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00200" y="228600"/>
            <a:ext cx="6589199" cy="1280890"/>
          </a:xfrm>
        </p:spPr>
        <p:txBody>
          <a:bodyPr>
            <a:normAutofit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Coding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447800"/>
            <a:ext cx="8229600" cy="504066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  <a:p>
            <a:pPr lvl="1"/>
            <a:endParaRPr lang="en-US" sz="22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17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782492"/>
            <a:ext cx="80772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model_selection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train_test_split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X_test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train_test_split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y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test_size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0.30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random_state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52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endParaRPr lang="en-US" sz="1400" dirty="0">
              <a:effectLst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3900" y="2855848"/>
            <a:ext cx="73914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ensemble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RandomForestClassifier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clf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RandomForestClassifier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clf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endParaRPr lang="en-US" sz="1400" dirty="0"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96206" y="4426359"/>
            <a:ext cx="690479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</a:t>
            </a:r>
            <a:r>
              <a:rPr lang="en-US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metrics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confusion_matrix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dirty="0">
                <a:solidFill>
                  <a:srgbClr val="008000"/>
                </a:solidFill>
                <a:latin typeface="Courier New" panose="02070309020205020404" pitchFamily="49" charset="0"/>
              </a:rPr>
              <a:t># Test result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y_predict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clf</a:t>
            </a:r>
            <a:r>
              <a:rPr lang="en-US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predict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X_test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confusion_matrix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y_predict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</a:t>
            </a:r>
            <a:r>
              <a:rPr lang="en-US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metrics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accuracy_score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accuracy_score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y_predict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)*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</a:rPr>
              <a:t>100</a:t>
            </a:r>
            <a:endParaRPr lang="en-US" sz="1600" dirty="0">
              <a:effectLst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307" y="4785137"/>
            <a:ext cx="3222893" cy="7488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6341442"/>
            <a:ext cx="2139958" cy="294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07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00200" y="228600"/>
            <a:ext cx="6589199" cy="1280890"/>
          </a:xfrm>
        </p:spPr>
        <p:txBody>
          <a:bodyPr>
            <a:normAutofit fontScale="90000"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most important features?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447800"/>
            <a:ext cx="8229600" cy="504066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interesting properties of Random forest algorithm is that it lets you see the importance of features.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2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18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4254" y="2514600"/>
            <a:ext cx="83279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pandas </a:t>
            </a:r>
            <a:r>
              <a:rPr lang="en-US" sz="1200" b="1" dirty="0">
                <a:solidFill>
                  <a:srgbClr val="0000FF"/>
                </a:solidFill>
                <a:latin typeface="Courier New" panose="02070309020205020404" pitchFamily="49" charset="0"/>
              </a:rPr>
              <a:t>as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pd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cols = 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en-US" sz="12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200" dirty="0" err="1">
                <a:solidFill>
                  <a:srgbClr val="808080"/>
                </a:solidFill>
                <a:latin typeface="Courier New" panose="02070309020205020404" pitchFamily="49" charset="0"/>
              </a:rPr>
              <a:t>Sepal_Length</a:t>
            </a:r>
            <a:r>
              <a:rPr lang="en-US" sz="12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200" dirty="0" err="1">
                <a:solidFill>
                  <a:srgbClr val="808080"/>
                </a:solidFill>
                <a:latin typeface="Courier New" panose="02070309020205020404" pitchFamily="49" charset="0"/>
              </a:rPr>
              <a:t>Sepal_Width</a:t>
            </a:r>
            <a:r>
              <a:rPr lang="en-US" sz="12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200" dirty="0" err="1">
                <a:solidFill>
                  <a:srgbClr val="808080"/>
                </a:solidFill>
                <a:latin typeface="Courier New" panose="02070309020205020404" pitchFamily="49" charset="0"/>
              </a:rPr>
              <a:t>Petal_Length</a:t>
            </a:r>
            <a:r>
              <a:rPr lang="en-US" sz="12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200" dirty="0" err="1">
                <a:solidFill>
                  <a:srgbClr val="808080"/>
                </a:solidFill>
                <a:latin typeface="Courier New" panose="02070309020205020404" pitchFamily="49" charset="0"/>
              </a:rPr>
              <a:t>Petal_Width</a:t>
            </a:r>
            <a:r>
              <a:rPr lang="en-US" sz="12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]</a:t>
            </a:r>
            <a:endParaRPr lang="fa-IR" sz="1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feature_importances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pd</a:t>
            </a:r>
            <a:r>
              <a:rPr lang="en-US" sz="12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DataFrame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clf</a:t>
            </a:r>
            <a:r>
              <a:rPr lang="en-US" sz="12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feature_importances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_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index 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cols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</a:rPr>
              <a:t>4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],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columns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=[</a:t>
            </a:r>
            <a:r>
              <a:rPr lang="en-US" sz="1200" dirty="0">
                <a:solidFill>
                  <a:srgbClr val="808080"/>
                </a:solidFill>
                <a:latin typeface="Courier New" panose="02070309020205020404" pitchFamily="49" charset="0"/>
              </a:rPr>
              <a:t>'importance'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]).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sort_values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200" dirty="0">
                <a:solidFill>
                  <a:srgbClr val="808080"/>
                </a:solidFill>
                <a:latin typeface="Courier New" panose="02070309020205020404" pitchFamily="49" charset="0"/>
              </a:rPr>
              <a:t>'importance'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ascending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200" b="1" dirty="0">
                <a:solidFill>
                  <a:srgbClr val="0000FF"/>
                </a:solidFill>
                <a:latin typeface="Courier New" panose="02070309020205020404" pitchFamily="49" charset="0"/>
              </a:rPr>
              <a:t>False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endParaRPr lang="fa-IR" sz="12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feature_importances</a:t>
            </a:r>
            <a:endParaRPr lang="en-US" sz="1200" dirty="0">
              <a:effectLst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3959768"/>
            <a:ext cx="2150675" cy="152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624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00200" y="228600"/>
            <a:ext cx="6589199" cy="1280890"/>
          </a:xfrm>
        </p:spPr>
        <p:txBody>
          <a:bodyPr>
            <a:normAutofit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Coding with R- Scatter Plot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19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8C6E26-BA1B-5FAE-959C-824297ECC6FC}"/>
              </a:ext>
            </a:extLst>
          </p:cNvPr>
          <p:cNvSpPr txBox="1"/>
          <p:nvPr/>
        </p:nvSpPr>
        <p:spPr>
          <a:xfrm>
            <a:off x="648346" y="1320827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library</a:t>
            </a:r>
            <a:r>
              <a:rPr lang="pt-BR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 (</a:t>
            </a:r>
            <a:r>
              <a:rPr lang="pt-BR" sz="1400" dirty="0">
                <a:solidFill>
                  <a:srgbClr val="808080"/>
                </a:solidFill>
                <a:latin typeface="Courier New" panose="02070309020205020404" pitchFamily="49" charset="0"/>
              </a:rPr>
              <a:t>"caret"</a:t>
            </a:r>
            <a:r>
              <a:rPr lang="pt-BR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pt-B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pt-B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pt-BR" sz="1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4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"iris"</a:t>
            </a:r>
            <a:r>
              <a:rPr lang="pt-BR" sz="1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pt-BR" sz="1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endParaRPr lang="pt-BR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iris </a:t>
            </a:r>
            <a:r>
              <a:rPr lang="pt-BR" sz="1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pt-BR" sz="1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iris </a:t>
            </a:r>
          </a:p>
          <a:p>
            <a:r>
              <a:rPr lang="pt-BR" sz="1400" b="1" dirty="0">
                <a:solidFill>
                  <a:srgbClr val="880088"/>
                </a:solidFill>
                <a:effectLst/>
                <a:latin typeface="Courier New" panose="02070309020205020404" pitchFamily="49" charset="0"/>
              </a:rPr>
              <a:t>str</a:t>
            </a:r>
            <a:r>
              <a:rPr lang="pt-BR" sz="1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iris</a:t>
            </a:r>
            <a:r>
              <a:rPr lang="pt-BR" sz="1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endParaRPr lang="pt-BR" sz="1400" dirty="0">
              <a:effectLst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00B7F7A-A14A-75C6-B772-98002D905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61" y="2245135"/>
            <a:ext cx="8113823" cy="121664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E8AB0D4-24F6-A18C-D5B2-5577B3F97AA1}"/>
              </a:ext>
            </a:extLst>
          </p:cNvPr>
          <p:cNvSpPr txBox="1"/>
          <p:nvPr/>
        </p:nvSpPr>
        <p:spPr>
          <a:xfrm>
            <a:off x="619931" y="3601254"/>
            <a:ext cx="501886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library</a:t>
            </a:r>
            <a:r>
              <a:rPr lang="en-US" sz="1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AppliedPredictiveModeling</a:t>
            </a:r>
            <a:r>
              <a:rPr lang="en-US" sz="1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sz="1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transparentTheme</a:t>
            </a:r>
            <a:r>
              <a:rPr lang="en-US" sz="1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trans </a:t>
            </a:r>
            <a:r>
              <a:rPr lang="en-US" sz="1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.4</a:t>
            </a:r>
            <a:r>
              <a:rPr lang="en-US" sz="1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sz="1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featurePlot</a:t>
            </a:r>
            <a:r>
              <a:rPr lang="en-US" sz="1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 </a:t>
            </a:r>
            <a:r>
              <a:rPr lang="en-US" sz="1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iris</a:t>
            </a:r>
            <a:r>
              <a:rPr lang="en-US" sz="1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[,</a:t>
            </a:r>
            <a:r>
              <a:rPr lang="en-US" sz="1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4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sz="1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],</a:t>
            </a:r>
            <a:r>
              <a:rPr lang="en-US" sz="1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		</a:t>
            </a:r>
            <a:r>
              <a:rPr lang="en-US" sz="1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 </a:t>
            </a:r>
            <a:r>
              <a:rPr lang="en-US" sz="1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iris$Species</a:t>
            </a:r>
            <a:r>
              <a:rPr lang="en-US" sz="1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			</a:t>
            </a:r>
            <a:r>
              <a:rPr lang="en-US" sz="1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plot </a:t>
            </a:r>
            <a:r>
              <a:rPr lang="en-US" sz="1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"pairs"</a:t>
            </a:r>
            <a:r>
              <a:rPr lang="en-US" sz="1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		</a:t>
            </a:r>
            <a:r>
              <a:rPr lang="en-US" sz="14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## Add a key at the top</a:t>
            </a:r>
            <a:r>
              <a:rPr lang="en-US" sz="1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		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auto</a:t>
            </a:r>
            <a:r>
              <a:rPr lang="en-US" sz="14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key</a:t>
            </a:r>
            <a:r>
              <a:rPr lang="en-US" sz="1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880088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US" sz="1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columns </a:t>
            </a:r>
            <a:r>
              <a:rPr lang="en-US" sz="1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sz="1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))</a:t>
            </a:r>
            <a:endParaRPr lang="en-US" sz="1400" dirty="0">
              <a:effectLst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3E39F53-D780-80D3-3F75-9E809AA26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3639671"/>
            <a:ext cx="2841756" cy="301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250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15341" y="147338"/>
            <a:ext cx="8153400" cy="1280890"/>
          </a:xfrm>
        </p:spPr>
        <p:txBody>
          <a:bodyPr>
            <a:normAutofit fontScale="90000"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Visualization- Overlayed Destiney Plots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20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782492"/>
            <a:ext cx="80772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400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2259B8-B4F8-4778-1617-F20D0DD6C6B3}"/>
              </a:ext>
            </a:extLst>
          </p:cNvPr>
          <p:cNvSpPr txBox="1"/>
          <p:nvPr/>
        </p:nvSpPr>
        <p:spPr>
          <a:xfrm>
            <a:off x="609600" y="1219200"/>
            <a:ext cx="69342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transparentTheme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trans 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.9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sz="1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featurePlot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 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iris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[,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5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],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		y 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iris$Species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		plot 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5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"density"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lvl="3"/>
            <a:r>
              <a:rPr lang="en-US" sz="15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## Pass in options to </a:t>
            </a:r>
            <a:r>
              <a:rPr lang="en-US" sz="150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xyplot</a:t>
            </a:r>
            <a:r>
              <a:rPr lang="en-US" sz="15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() to </a:t>
            </a:r>
          </a:p>
          <a:p>
            <a:pPr lvl="3"/>
            <a:r>
              <a:rPr lang="en-US" sz="15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## make it prettier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		scales 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880088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 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880088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relation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5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"free"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),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					y 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880088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relation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5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"free"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)),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		adjust 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1.5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		</a:t>
            </a:r>
            <a:r>
              <a:rPr lang="en-US" sz="1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pch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5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"|"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		layout 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c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5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),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		</a:t>
            </a:r>
            <a:r>
              <a:rPr lang="en-US" sz="1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auto</a:t>
            </a:r>
            <a:r>
              <a:rPr lang="en-US" sz="15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sz="1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key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880088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columns 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))</a:t>
            </a:r>
            <a:endParaRPr lang="en-US" sz="1500" dirty="0"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82975E-63B9-869B-67FA-F59092FD9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2895600"/>
            <a:ext cx="5110445" cy="365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300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00200" y="228600"/>
            <a:ext cx="6589199" cy="1280890"/>
          </a:xfrm>
        </p:spPr>
        <p:txBody>
          <a:bodyPr>
            <a:normAutofit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447800"/>
            <a:ext cx="8229600" cy="504066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  <a:p>
            <a:pPr lvl="1"/>
            <a:endParaRPr lang="en-US" sz="22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>
                <a:solidFill>
                  <a:prstClr val="white">
                    <a:shade val="50000"/>
                  </a:prstClr>
                </a:solidFill>
              </a:rPr>
              <a:pPr/>
              <a:t>21</a:t>
            </a:fld>
            <a:endParaRPr lang="en-US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782492"/>
            <a:ext cx="80772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400" dirty="0">
              <a:effectLst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6614" y="3041149"/>
            <a:ext cx="817557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library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randomForest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iris_rf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&lt;-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randomForest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Species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~.,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trainData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5352" y="4837961"/>
            <a:ext cx="817557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Tb&lt;- table(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iris_pred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testData$Species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1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Tb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sum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diag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Tb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))/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sum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Tb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)*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100</a:t>
            </a:r>
            <a:endParaRPr lang="en-US" sz="1400" dirty="0"/>
          </a:p>
          <a:p>
            <a:endParaRPr lang="en-US" sz="1400" dirty="0">
              <a:effectLst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6344605"/>
            <a:ext cx="19511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importance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iris_rf</a:t>
            </a:r>
            <a:r>
              <a:rPr lang="en-US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endParaRPr lang="en-US" sz="1200" dirty="0"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5529" y="2779539"/>
            <a:ext cx="6477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testData$Species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&lt;-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as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factor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testData$Species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trainData$Species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&lt;-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as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factor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trainData$Species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endParaRPr lang="en-US" sz="1400" dirty="0">
              <a:effectLst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6974" y="436723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iris_pred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&lt;-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predict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iris_rf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testData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endParaRPr lang="en-US" sz="1400" dirty="0">
              <a:effectLst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5559734"/>
            <a:ext cx="3571875" cy="7905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6E88E7E-6C2C-B3D0-69F5-42D2AAB00A3A}"/>
              </a:ext>
            </a:extLst>
          </p:cNvPr>
          <p:cNvSpPr txBox="1"/>
          <p:nvPr/>
        </p:nvSpPr>
        <p:spPr>
          <a:xfrm>
            <a:off x="1600200" y="1771100"/>
            <a:ext cx="744058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index 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createDataPartition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iris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[,</a:t>
            </a:r>
            <a:r>
              <a:rPr lang="en-US" sz="15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],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 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5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0.80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880088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FALSE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sz="1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trainData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iris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index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,]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sz="1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testData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iris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[-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index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,]</a:t>
            </a:r>
            <a:endParaRPr lang="en-US" sz="15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0539100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376BFFEBE008478A0EC19FFC5CAE25" ma:contentTypeVersion="2" ma:contentTypeDescription="Create a new document." ma:contentTypeScope="" ma:versionID="222da272828c52aae3aea7aac679f7eb">
  <xsd:schema xmlns:xsd="http://www.w3.org/2001/XMLSchema" xmlns:xs="http://www.w3.org/2001/XMLSchema" xmlns:p="http://schemas.microsoft.com/office/2006/metadata/properties" xmlns:ns2="54f0c67b-9c4f-47ec-b2e9-282ef016d26c" targetNamespace="http://schemas.microsoft.com/office/2006/metadata/properties" ma:root="true" ma:fieldsID="9c3027e3c2b9147528be8a0aa63380b9" ns2:_="">
    <xsd:import namespace="54f0c67b-9c4f-47ec-b2e9-282ef016d26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f0c67b-9c4f-47ec-b2e9-282ef016d2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11EDF00-56B9-4DF3-8937-1D10AACBC10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AF1E3A9-C905-4D04-9B8D-864DBA221E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9932A0-C5D5-49B2-8248-4CB3CBDC0E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4f0c67b-9c4f-47ec-b2e9-282ef016d2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1739</TotalTime>
  <Words>1294</Words>
  <Application>Microsoft Office PowerPoint</Application>
  <PresentationFormat>On-screen Show (4:3)</PresentationFormat>
  <Paragraphs>193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Century Gothic</vt:lpstr>
      <vt:lpstr>Courier New</vt:lpstr>
      <vt:lpstr>Times New Roman</vt:lpstr>
      <vt:lpstr>Wingdings 3</vt:lpstr>
      <vt:lpstr>Wisp</vt:lpstr>
      <vt:lpstr>Machine Learnin</vt:lpstr>
      <vt:lpstr>What is Random forest?</vt:lpstr>
      <vt:lpstr>Applications</vt:lpstr>
      <vt:lpstr>Applications</vt:lpstr>
      <vt:lpstr>Some definitions…</vt:lpstr>
      <vt:lpstr>Some definitions…</vt:lpstr>
      <vt:lpstr>Algorithm</vt:lpstr>
      <vt:lpstr>Example</vt:lpstr>
      <vt:lpstr>Example</vt:lpstr>
      <vt:lpstr>Example</vt:lpstr>
      <vt:lpstr>Example</vt:lpstr>
      <vt:lpstr>Example</vt:lpstr>
      <vt:lpstr>Example</vt:lpstr>
      <vt:lpstr>Example</vt:lpstr>
      <vt:lpstr>Why Random forest?</vt:lpstr>
      <vt:lpstr>Iris- Example</vt:lpstr>
      <vt:lpstr>Coding</vt:lpstr>
      <vt:lpstr>What are the most important features?</vt:lpstr>
      <vt:lpstr>Coding with R- Scatter Plot</vt:lpstr>
      <vt:lpstr>Visualization- Overlayed Destiney Plots</vt:lpstr>
      <vt:lpstr>Modeling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I</dc:title>
  <dc:creator>Marvine</dc:creator>
  <cp:lastModifiedBy>Roozbeh Sadeghian</cp:lastModifiedBy>
  <cp:revision>114</cp:revision>
  <dcterms:created xsi:type="dcterms:W3CDTF">2017-10-18T17:46:30Z</dcterms:created>
  <dcterms:modified xsi:type="dcterms:W3CDTF">2023-05-31T14:25:47Z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0x010100FF376BFFEBE008478A0EC19FFC5CAE25</vt:lpwstr>
  </property>
</Properties>
</file>