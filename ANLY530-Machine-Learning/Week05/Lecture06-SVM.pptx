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1"/>
  </p:notesMasterIdLst>
  <p:sldIdLst>
    <p:sldId id="256" r:id="rId5"/>
    <p:sldId id="257" r:id="rId6"/>
    <p:sldId id="258" r:id="rId7"/>
    <p:sldId id="275" r:id="rId8"/>
    <p:sldId id="276" r:id="rId9"/>
    <p:sldId id="277" r:id="rId10"/>
    <p:sldId id="260" r:id="rId11"/>
    <p:sldId id="279" r:id="rId12"/>
    <p:sldId id="280" r:id="rId13"/>
    <p:sldId id="262" r:id="rId14"/>
    <p:sldId id="281" r:id="rId15"/>
    <p:sldId id="282" r:id="rId16"/>
    <p:sldId id="269" r:id="rId17"/>
    <p:sldId id="283" r:id="rId18"/>
    <p:sldId id="287" r:id="rId19"/>
    <p:sldId id="288" r:id="rId20"/>
    <p:sldId id="289" r:id="rId21"/>
    <p:sldId id="290" r:id="rId22"/>
    <p:sldId id="284" r:id="rId23"/>
    <p:sldId id="285" r:id="rId24"/>
    <p:sldId id="286" r:id="rId25"/>
    <p:sldId id="271" r:id="rId26"/>
    <p:sldId id="272" r:id="rId27"/>
    <p:sldId id="273" r:id="rId28"/>
    <p:sldId id="259" r:id="rId29"/>
    <p:sldId id="301" r:id="rId30"/>
    <p:sldId id="302" r:id="rId31"/>
    <p:sldId id="303" r:id="rId32"/>
    <p:sldId id="305" r:id="rId33"/>
    <p:sldId id="304" r:id="rId34"/>
    <p:sldId id="306" r:id="rId35"/>
    <p:sldId id="307" r:id="rId36"/>
    <p:sldId id="308" r:id="rId37"/>
    <p:sldId id="309" r:id="rId38"/>
    <p:sldId id="311" r:id="rId39"/>
    <p:sldId id="310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ozbeh Sadeghian" initials="RS" lastIdx="1" clrIdx="0">
    <p:extLst>
      <p:ext uri="{19B8F6BF-5375-455C-9EA6-DF929625EA0E}">
        <p15:presenceInfo xmlns:p15="http://schemas.microsoft.com/office/powerpoint/2012/main" userId="S-1-5-21-4079817975-3863820998-488927606-201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4" autoAdjust="0"/>
    <p:restoredTop sz="91971" autoAdjust="0"/>
  </p:normalViewPr>
  <p:slideViewPr>
    <p:cSldViewPr>
      <p:cViewPr varScale="1">
        <p:scale>
          <a:sx n="148" d="100"/>
          <a:sy n="148" d="100"/>
        </p:scale>
        <p:origin x="215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83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F5D42-D8C1-4DAB-B388-35B930361576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D4B71-1EF1-4D07-950D-945192FC5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5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45E5-1019-41E3-AE3D-9248ADA9A861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36D3-220C-4873-B645-D83268E11C2B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6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3BE8-D3D6-456B-BD9F-252A423412F9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9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3206C-B1E6-49F0-BACC-3CCF35E2B2EC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8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107A-D577-4299-BB4C-316A1136BCA6}" type="datetime1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7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BA76D-E0B7-46ED-B49D-85C7C9A948CE}" type="datetime1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F7F9-6B8C-4FBC-B0BA-927B28BC9114}" type="datetime1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2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19082-BFB6-451B-812C-C2B8E015887C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7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F23-AF47-417B-8957-43FC06688BC9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3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38C3-E18E-4510-B264-4D703183B50E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824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38C3-E18E-4510-B264-4D703183B50E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871647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38C3-E18E-4510-B264-4D703183B50E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6005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38C3-E18E-4510-B264-4D703183B50E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907706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38C3-E18E-4510-B264-4D703183B50E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0448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50608-6668-4138-8062-4DD85AB8FC11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05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1CC4-F46E-4EF9-BD27-0A37064BB6F4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8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838C3-E18E-4510-B264-4D703183B50E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7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q=https://github.com/adashofdata&amp;v=N1vOgolbjSc&amp;event=video_description&amp;redir_token=zZ2Zod04FzMixy1FoHSmM-tCtS18MTUzMDIyOTQzNEAxNTMwMTQzMDM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31.png"/><Relationship Id="rId7" Type="http://schemas.openxmlformats.org/officeDocument/2006/relationships/image" Target="../media/image3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20.png"/><Relationship Id="rId7" Type="http://schemas.openxmlformats.org/officeDocument/2006/relationships/image" Target="../media/image270.png"/><Relationship Id="rId12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0.png"/><Relationship Id="rId11" Type="http://schemas.openxmlformats.org/officeDocument/2006/relationships/image" Target="../media/image200.png"/><Relationship Id="rId5" Type="http://schemas.openxmlformats.org/officeDocument/2006/relationships/image" Target="../media/image140.png"/><Relationship Id="rId10" Type="http://schemas.openxmlformats.org/officeDocument/2006/relationships/image" Target="../media/image190.png"/><Relationship Id="rId4" Type="http://schemas.openxmlformats.org/officeDocument/2006/relationships/image" Target="../media/image130.png"/><Relationship Id="rId9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13" Type="http://schemas.openxmlformats.org/officeDocument/2006/relationships/image" Target="../media/image320.png"/><Relationship Id="rId3" Type="http://schemas.openxmlformats.org/officeDocument/2006/relationships/image" Target="../media/image120.png"/><Relationship Id="rId7" Type="http://schemas.openxmlformats.org/officeDocument/2006/relationships/image" Target="../media/image260.png"/><Relationship Id="rId2" Type="http://schemas.openxmlformats.org/officeDocument/2006/relationships/image" Target="../media/image110.png"/><Relationship Id="rId16" Type="http://schemas.openxmlformats.org/officeDocument/2006/relationships/image" Target="../media/image3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0.png"/><Relationship Id="rId11" Type="http://schemas.openxmlformats.org/officeDocument/2006/relationships/image" Target="../media/image300.png"/><Relationship Id="rId5" Type="http://schemas.openxmlformats.org/officeDocument/2006/relationships/image" Target="../media/image140.png"/><Relationship Id="rId15" Type="http://schemas.openxmlformats.org/officeDocument/2006/relationships/image" Target="../media/image340.png"/><Relationship Id="rId10" Type="http://schemas.openxmlformats.org/officeDocument/2006/relationships/image" Target="../media/image290.png"/><Relationship Id="rId4" Type="http://schemas.openxmlformats.org/officeDocument/2006/relationships/image" Target="../media/image130.png"/><Relationship Id="rId9" Type="http://schemas.openxmlformats.org/officeDocument/2006/relationships/image" Target="../media/image280.png"/><Relationship Id="rId14" Type="http://schemas.openxmlformats.org/officeDocument/2006/relationships/image" Target="../media/image3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257508"/>
            <a:ext cx="6600451" cy="22627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Techniques and Algorithms: Support Vector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89230" y="6155065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majority of this content is taken from Alice Zhao lectures: </a:t>
            </a:r>
            <a:r>
              <a:rPr lang="en-US" sz="1400" dirty="0">
                <a:hlinkClick r:id="rId3"/>
              </a:rPr>
              <a:t>https://github.com/adashofdata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754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905000"/>
            <a:ext cx="6591985" cy="377762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SVM?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classification method.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mean?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have two sets of data (blow dots and cyan dots) and I want to classify them (split them into two sets)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886200"/>
            <a:ext cx="3429000" cy="263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5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SVM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80362" y="1674654"/>
            <a:ext cx="6591985" cy="377762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one is the best way to split the data?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5910"/>
            <a:ext cx="5582523" cy="45119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6136"/>
            <a:ext cx="5582523" cy="4531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54" y="2115910"/>
            <a:ext cx="5659613" cy="4586968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238438" y="2438400"/>
            <a:ext cx="2676962" cy="3810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these splitting are fine but what if we seek the best split?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8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SVM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46482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claim this is the best line (SVM)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2252"/>
            <a:ext cx="7359786" cy="41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13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this the best?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57" y="1600200"/>
            <a:ext cx="8268243" cy="45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7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other ones?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600200"/>
            <a:ext cx="6019800" cy="48069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813" y="1568449"/>
            <a:ext cx="6010087" cy="4872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6050" y="175260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They both have narrower roads</a:t>
            </a:r>
          </a:p>
        </p:txBody>
      </p:sp>
    </p:spTree>
    <p:extLst>
      <p:ext uri="{BB962C8B-B14F-4D97-AF65-F5344CB8AC3E}">
        <p14:creationId xmlns:p14="http://schemas.microsoft.com/office/powerpoint/2010/main" val="333679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5725"/>
            <a:ext cx="8229600" cy="4648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93" y="1394146"/>
            <a:ext cx="6753225" cy="5273402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5514470" y="2057400"/>
            <a:ext cx="3383753" cy="1143000"/>
            <a:chOff x="6172200" y="2582827"/>
            <a:chExt cx="2557462" cy="1143000"/>
          </a:xfrm>
        </p:grpSpPr>
        <p:sp>
          <p:nvSpPr>
            <p:cNvPr id="9" name="Rounded Rectangular Callout 8"/>
            <p:cNvSpPr/>
            <p:nvPr/>
          </p:nvSpPr>
          <p:spPr>
            <a:xfrm>
              <a:off x="6172200" y="2582827"/>
              <a:ext cx="2514600" cy="1143000"/>
            </a:xfrm>
            <a:prstGeom prst="wedgeRoundRectCallout">
              <a:avLst>
                <a:gd name="adj1" fmla="val -72366"/>
                <a:gd name="adj2" fmla="val 8750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91262" y="2679096"/>
              <a:ext cx="2438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This is the widest road that separates two groups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672964" y="2158552"/>
            <a:ext cx="954885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Margin</a:t>
            </a:r>
          </a:p>
        </p:txBody>
      </p:sp>
    </p:spTree>
    <p:extLst>
      <p:ext uri="{BB962C8B-B14F-4D97-AF65-F5344CB8AC3E}">
        <p14:creationId xmlns:p14="http://schemas.microsoft.com/office/powerpoint/2010/main" val="246060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6525"/>
            <a:ext cx="6318027" cy="5038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11126"/>
            <a:ext cx="5943600" cy="1219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terms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8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817272" y="2590800"/>
            <a:ext cx="4298153" cy="1295400"/>
            <a:chOff x="6172200" y="2582827"/>
            <a:chExt cx="2557462" cy="1143000"/>
          </a:xfrm>
        </p:grpSpPr>
        <p:sp>
          <p:nvSpPr>
            <p:cNvPr id="9" name="Rounded Rectangular Callout 8"/>
            <p:cNvSpPr/>
            <p:nvPr/>
          </p:nvSpPr>
          <p:spPr>
            <a:xfrm>
              <a:off x="6172200" y="2582827"/>
              <a:ext cx="2514600" cy="1143000"/>
            </a:xfrm>
            <a:prstGeom prst="wedgeRoundRectCallout">
              <a:avLst>
                <a:gd name="adj1" fmla="val -58167"/>
                <a:gd name="adj2" fmla="val 81985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91262" y="2679096"/>
              <a:ext cx="2438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distance between the points and the line are as far as possible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26797" y="2590800"/>
            <a:ext cx="4298153" cy="1295400"/>
            <a:chOff x="6172200" y="2582827"/>
            <a:chExt cx="2557462" cy="1143000"/>
          </a:xfrm>
        </p:grpSpPr>
        <p:sp>
          <p:nvSpPr>
            <p:cNvPr id="13" name="Rounded Rectangular Callout 12"/>
            <p:cNvSpPr/>
            <p:nvPr/>
          </p:nvSpPr>
          <p:spPr>
            <a:xfrm>
              <a:off x="6172200" y="2582827"/>
              <a:ext cx="2514600" cy="1143000"/>
            </a:xfrm>
            <a:prstGeom prst="wedgeRoundRectCallout">
              <a:avLst>
                <a:gd name="adj1" fmla="val -58167"/>
                <a:gd name="adj2" fmla="val 81985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91262" y="2679096"/>
              <a:ext cx="2438400" cy="814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distance between the </a:t>
              </a:r>
              <a:r>
                <a:rPr lang="en-US" dirty="0">
                  <a:solidFill>
                    <a:srgbClr val="FF0000"/>
                  </a:solidFill>
                </a:rPr>
                <a:t>support vectors</a:t>
              </a:r>
              <a:r>
                <a:rPr lang="en-US" dirty="0">
                  <a:solidFill>
                    <a:schemeClr val="bg1"/>
                  </a:solidFill>
                </a:rPr>
                <a:t> and the line are as far as possible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826797" y="2575425"/>
            <a:ext cx="4226118" cy="1295400"/>
            <a:chOff x="6081520" y="2434791"/>
            <a:chExt cx="2514600" cy="1143000"/>
          </a:xfrm>
        </p:grpSpPr>
        <p:sp>
          <p:nvSpPr>
            <p:cNvPr id="16" name="Rounded Rectangular Callout 15"/>
            <p:cNvSpPr/>
            <p:nvPr/>
          </p:nvSpPr>
          <p:spPr>
            <a:xfrm>
              <a:off x="6081520" y="2434791"/>
              <a:ext cx="2514600" cy="1143000"/>
            </a:xfrm>
            <a:prstGeom prst="wedgeRoundRectCallout">
              <a:avLst>
                <a:gd name="adj1" fmla="val -58167"/>
                <a:gd name="adj2" fmla="val 81985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57720" y="2606327"/>
              <a:ext cx="2438400" cy="814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distance between the </a:t>
              </a:r>
              <a:r>
                <a:rPr lang="en-US" dirty="0">
                  <a:solidFill>
                    <a:srgbClr val="FF0000"/>
                  </a:solidFill>
                </a:rPr>
                <a:t>support vectors</a:t>
              </a:r>
              <a:r>
                <a:rPr lang="en-US" dirty="0">
                  <a:solidFill>
                    <a:schemeClr val="bg1"/>
                  </a:solidFill>
                </a:rPr>
                <a:t> and the </a:t>
              </a:r>
              <a:r>
                <a:rPr lang="en-US" dirty="0">
                  <a:solidFill>
                    <a:srgbClr val="FF0000"/>
                  </a:solidFill>
                </a:rPr>
                <a:t>hyperplane</a:t>
              </a:r>
              <a:r>
                <a:rPr lang="en-US" dirty="0">
                  <a:solidFill>
                    <a:schemeClr val="bg1"/>
                  </a:solidFill>
                </a:rPr>
                <a:t> are as far as possible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42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774293" y="1219200"/>
            <a:ext cx="8229600" cy="4648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found a hyperplane that best splits the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as far as possible from vector machines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 can say I maximized the margins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498666"/>
            <a:ext cx="5848350" cy="411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3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6589199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6591985" cy="37776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have a review on optimization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decision variables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objective function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all appropriate constraints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objective function and constraints as mathematical 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25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back to our problem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571500" y="1371600"/>
            <a:ext cx="8229600" cy="464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optimization problem because I want to maximize the margins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The observations cannot be on the margins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994179"/>
            <a:ext cx="4495800" cy="358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9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3054"/>
            <a:ext cx="7391400" cy="12192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it work for more than two classes?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4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Yes! Just we have to use more hyperplanes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penalize our model using C parameter (next week)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3" y="2923651"/>
            <a:ext cx="8281987" cy="370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4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Trick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13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our observation data is nonlinear?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I want to find hyperplane for this data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99" y="2743199"/>
            <a:ext cx="4158651" cy="367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97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54526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Trick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14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Kernel trick does is adding a new dimension to our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you can linearly separate the data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97" y="3198813"/>
            <a:ext cx="8420100" cy="2895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198813"/>
            <a:ext cx="839330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4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54526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Trick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15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split these point?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971800" y="5251552"/>
            <a:ext cx="158648" cy="158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362200" y="4191000"/>
            <a:ext cx="158840" cy="158840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1828800" y="1981200"/>
            <a:ext cx="762000" cy="4075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96206" y="2552700"/>
            <a:ext cx="2408994" cy="274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524000" y="2209800"/>
            <a:ext cx="1066800" cy="373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857250" y="5295900"/>
            <a:ext cx="4019550" cy="44348"/>
          </a:xfrm>
          <a:prstGeom prst="straightConnector1">
            <a:avLst/>
          </a:prstGeom>
          <a:ln w="3175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0601" y="1770516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600" y="5264187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095801" y="3021143"/>
            <a:ext cx="16764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521040" y="2676516"/>
            <a:ext cx="248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it in a 3d space</a:t>
            </a:r>
          </a:p>
        </p:txBody>
      </p:sp>
      <p:sp>
        <p:nvSpPr>
          <p:cNvPr id="31" name="Diamond 30"/>
          <p:cNvSpPr/>
          <p:nvPr/>
        </p:nvSpPr>
        <p:spPr>
          <a:xfrm rot="4577267">
            <a:off x="6596040" y="3096023"/>
            <a:ext cx="1001294" cy="3970438"/>
          </a:xfrm>
          <a:prstGeom prst="diamond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5008350" y="5448853"/>
            <a:ext cx="4019550" cy="443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181600" y="3924300"/>
            <a:ext cx="3086101" cy="171417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93631" y="3587234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8763" y="5471027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8" name="Oval 37"/>
          <p:cNvSpPr/>
          <p:nvPr/>
        </p:nvSpPr>
        <p:spPr>
          <a:xfrm>
            <a:off x="1809690" y="3557604"/>
            <a:ext cx="158840" cy="158840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1330376" y="2372986"/>
            <a:ext cx="158648" cy="158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409700" y="1905000"/>
            <a:ext cx="0" cy="373380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641354" y="4989673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6499863" y="4816732"/>
            <a:ext cx="125617" cy="1380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6781799" y="5177192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6971070" y="5379844"/>
            <a:ext cx="125617" cy="1380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 flipH="1" flipV="1">
            <a:off x="5447407" y="2208221"/>
            <a:ext cx="19383" cy="34335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 rot="4577267">
            <a:off x="6499667" y="1144294"/>
            <a:ext cx="1001294" cy="3970438"/>
          </a:xfrm>
          <a:prstGeom prst="diamond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108124" y="2134749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51" name="Oval 50"/>
          <p:cNvSpPr/>
          <p:nvPr/>
        </p:nvSpPr>
        <p:spPr>
          <a:xfrm>
            <a:off x="6294082" y="3076155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19543" y="3233976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4876800" y="2116917"/>
            <a:ext cx="3086101" cy="171417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692679" y="3491145"/>
            <a:ext cx="4019550" cy="443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Diamond 54"/>
          <p:cNvSpPr/>
          <p:nvPr/>
        </p:nvSpPr>
        <p:spPr>
          <a:xfrm rot="4577267">
            <a:off x="6352323" y="2136218"/>
            <a:ext cx="1001294" cy="3970438"/>
          </a:xfrm>
          <a:prstGeom prst="diamond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eft-Right Arrow 55"/>
          <p:cNvSpPr/>
          <p:nvPr/>
        </p:nvSpPr>
        <p:spPr>
          <a:xfrm>
            <a:off x="3429000" y="4419600"/>
            <a:ext cx="1447800" cy="1524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618177" y="4126382"/>
            <a:ext cx="980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Same!!</a:t>
            </a:r>
          </a:p>
        </p:txBody>
      </p:sp>
      <p:sp>
        <p:nvSpPr>
          <p:cNvPr id="58" name="Freeform 57"/>
          <p:cNvSpPr/>
          <p:nvPr/>
        </p:nvSpPr>
        <p:spPr>
          <a:xfrm rot="1631856">
            <a:off x="728365" y="2777704"/>
            <a:ext cx="4178927" cy="2286143"/>
          </a:xfrm>
          <a:custGeom>
            <a:avLst/>
            <a:gdLst>
              <a:gd name="connsiteX0" fmla="*/ 0 w 3657996"/>
              <a:gd name="connsiteY0" fmla="*/ 138158 h 3397514"/>
              <a:gd name="connsiteX1" fmla="*/ 1466662 w 3657996"/>
              <a:gd name="connsiteY1" fmla="*/ 3397405 h 3397514"/>
              <a:gd name="connsiteX2" fmla="*/ 3530852 w 3657996"/>
              <a:gd name="connsiteY2" fmla="*/ 255853 h 3397514"/>
              <a:gd name="connsiteX3" fmla="*/ 3431264 w 3657996"/>
              <a:gd name="connsiteY3" fmla="*/ 120051 h 3397514"/>
              <a:gd name="connsiteX0" fmla="*/ 0 w 3726990"/>
              <a:gd name="connsiteY0" fmla="*/ 204568 h 3463926"/>
              <a:gd name="connsiteX1" fmla="*/ 1466662 w 3726990"/>
              <a:gd name="connsiteY1" fmla="*/ 3463815 h 3463926"/>
              <a:gd name="connsiteX2" fmla="*/ 3530852 w 3726990"/>
              <a:gd name="connsiteY2" fmla="*/ 322263 h 3463926"/>
              <a:gd name="connsiteX3" fmla="*/ 3627898 w 3726990"/>
              <a:gd name="connsiteY3" fmla="*/ 31971 h 3463926"/>
              <a:gd name="connsiteX0" fmla="*/ 0 w 3530852"/>
              <a:gd name="connsiteY0" fmla="*/ 0 h 3259356"/>
              <a:gd name="connsiteX1" fmla="*/ 1466662 w 3530852"/>
              <a:gd name="connsiteY1" fmla="*/ 3259247 h 3259356"/>
              <a:gd name="connsiteX2" fmla="*/ 3530852 w 3530852"/>
              <a:gd name="connsiteY2" fmla="*/ 117695 h 3259356"/>
              <a:gd name="connsiteX0" fmla="*/ 0 w 3619531"/>
              <a:gd name="connsiteY0" fmla="*/ -1 h 6029321"/>
              <a:gd name="connsiteX1" fmla="*/ 1555341 w 3619531"/>
              <a:gd name="connsiteY1" fmla="*/ 5979592 h 6029321"/>
              <a:gd name="connsiteX2" fmla="*/ 3619531 w 3619531"/>
              <a:gd name="connsiteY2" fmla="*/ 2838040 h 6029321"/>
              <a:gd name="connsiteX0" fmla="*/ 0 w 3661239"/>
              <a:gd name="connsiteY0" fmla="*/ -1 h 6042430"/>
              <a:gd name="connsiteX1" fmla="*/ 1555341 w 3661239"/>
              <a:gd name="connsiteY1" fmla="*/ 5979592 h 6042430"/>
              <a:gd name="connsiteX2" fmla="*/ 3661239 w 3661239"/>
              <a:gd name="connsiteY2" fmla="*/ 3100688 h 6042430"/>
              <a:gd name="connsiteX0" fmla="*/ 0 w 3661239"/>
              <a:gd name="connsiteY0" fmla="*/ -1 h 5080938"/>
              <a:gd name="connsiteX1" fmla="*/ 1461834 w 3661239"/>
              <a:gd name="connsiteY1" fmla="*/ 4990212 h 5080938"/>
              <a:gd name="connsiteX2" fmla="*/ 3661239 w 3661239"/>
              <a:gd name="connsiteY2" fmla="*/ 3100688 h 5080938"/>
              <a:gd name="connsiteX0" fmla="*/ 0 w 3743087"/>
              <a:gd name="connsiteY0" fmla="*/ -1 h 5095491"/>
              <a:gd name="connsiteX1" fmla="*/ 1461834 w 3743087"/>
              <a:gd name="connsiteY1" fmla="*/ 4990212 h 5095491"/>
              <a:gd name="connsiteX2" fmla="*/ 3743087 w 3743087"/>
              <a:gd name="connsiteY2" fmla="*/ 3256649 h 5095491"/>
              <a:gd name="connsiteX0" fmla="*/ 0 w 3899161"/>
              <a:gd name="connsiteY0" fmla="*/ 0 h 5545809"/>
              <a:gd name="connsiteX1" fmla="*/ 1617908 w 3899161"/>
              <a:gd name="connsiteY1" fmla="*/ 5418438 h 5545809"/>
              <a:gd name="connsiteX2" fmla="*/ 3899161 w 3899161"/>
              <a:gd name="connsiteY2" fmla="*/ 3684875 h 5545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99161" h="5545809">
                <a:moveTo>
                  <a:pt x="0" y="0"/>
                </a:moveTo>
                <a:cubicBezTo>
                  <a:pt x="439093" y="1619815"/>
                  <a:pt x="968048" y="4804292"/>
                  <a:pt x="1617908" y="5418438"/>
                </a:cubicBezTo>
                <a:cubicBezTo>
                  <a:pt x="2267768" y="6032584"/>
                  <a:pt x="3538955" y="4256849"/>
                  <a:pt x="3899161" y="36848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5108124" y="6370101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Friendly Introduction to Machine Learning. By: Luis Serrano</a:t>
            </a:r>
          </a:p>
        </p:txBody>
      </p:sp>
    </p:spTree>
    <p:extLst>
      <p:ext uri="{BB962C8B-B14F-4D97-AF65-F5344CB8AC3E}">
        <p14:creationId xmlns:p14="http://schemas.microsoft.com/office/powerpoint/2010/main" val="357233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5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0" grpId="0"/>
      <p:bldP spid="31" grpId="0" animBg="1"/>
      <p:bldP spid="36" grpId="0"/>
      <p:bldP spid="37" grpId="0"/>
      <p:bldP spid="42" grpId="0" animBg="1"/>
      <p:bldP spid="43" grpId="0" animBg="1"/>
      <p:bldP spid="44" grpId="0" animBg="1"/>
      <p:bldP spid="45" grpId="0" animBg="1"/>
      <p:bldP spid="49" grpId="0" animBg="1"/>
      <p:bldP spid="50" grpId="0"/>
      <p:bldP spid="51" grpId="0" animBg="1"/>
      <p:bldP spid="52" grpId="0" animBg="1"/>
      <p:bldP spid="55" grpId="0" animBg="1"/>
      <p:bldP spid="56" grpId="0" animBg="1"/>
      <p:bldP spid="57" grpId="0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54526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Trick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16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How can we split red and green?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971800" y="5251552"/>
            <a:ext cx="158648" cy="158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362200" y="4191000"/>
            <a:ext cx="158840" cy="158840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857250" y="5295900"/>
            <a:ext cx="4019550" cy="44348"/>
          </a:xfrm>
          <a:prstGeom prst="straightConnector1">
            <a:avLst/>
          </a:prstGeom>
          <a:ln w="3175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0601" y="1770516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600" y="5264187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8" name="Oval 37"/>
          <p:cNvSpPr/>
          <p:nvPr/>
        </p:nvSpPr>
        <p:spPr>
          <a:xfrm>
            <a:off x="1809690" y="3557604"/>
            <a:ext cx="158840" cy="158840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1330376" y="2372986"/>
            <a:ext cx="158648" cy="158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409700" y="1905000"/>
            <a:ext cx="0" cy="373380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46667" y="2139848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86990" y="3267692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1620" y="3952174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5272" y="4798966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(3,0)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9528" y="1880057"/>
            <a:ext cx="4266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Possible solution: Find an equation that has one output for red and different output for green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86391" y="2837178"/>
            <a:ext cx="426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approach but how? Let’s try some equations…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822188"/>
                  </p:ext>
                </p:extLst>
              </p:nvPr>
            </p:nvGraphicFramePr>
            <p:xfrm>
              <a:off x="4329686" y="4668520"/>
              <a:ext cx="422535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1113">
                      <a:extLst>
                        <a:ext uri="{9D8B030D-6E8A-4147-A177-3AD203B41FA5}">
                          <a16:colId xmlns:a16="http://schemas.microsoft.com/office/drawing/2014/main" val="311301485"/>
                        </a:ext>
                      </a:extLst>
                    </a:gridCol>
                    <a:gridCol w="741680">
                      <a:extLst>
                        <a:ext uri="{9D8B030D-6E8A-4147-A177-3AD203B41FA5}">
                          <a16:colId xmlns:a16="http://schemas.microsoft.com/office/drawing/2014/main" val="3838758165"/>
                        </a:ext>
                      </a:extLst>
                    </a:gridCol>
                    <a:gridCol w="741680">
                      <a:extLst>
                        <a:ext uri="{9D8B030D-6E8A-4147-A177-3AD203B41FA5}">
                          <a16:colId xmlns:a16="http://schemas.microsoft.com/office/drawing/2014/main" val="839117141"/>
                        </a:ext>
                      </a:extLst>
                    </a:gridCol>
                    <a:gridCol w="741680">
                      <a:extLst>
                        <a:ext uri="{9D8B030D-6E8A-4147-A177-3AD203B41FA5}">
                          <a16:colId xmlns:a16="http://schemas.microsoft.com/office/drawing/2014/main" val="2754505923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42916702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(0,3)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(1,2)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(2,1)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(3,0)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2297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7313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463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51499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3822188"/>
                  </p:ext>
                </p:extLst>
              </p:nvPr>
            </p:nvGraphicFramePr>
            <p:xfrm>
              <a:off x="4329686" y="4668520"/>
              <a:ext cx="422535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1113">
                      <a:extLst>
                        <a:ext uri="{9D8B030D-6E8A-4147-A177-3AD203B41FA5}">
                          <a16:colId xmlns:a16="http://schemas.microsoft.com/office/drawing/2014/main" val="311301485"/>
                        </a:ext>
                      </a:extLst>
                    </a:gridCol>
                    <a:gridCol w="741680">
                      <a:extLst>
                        <a:ext uri="{9D8B030D-6E8A-4147-A177-3AD203B41FA5}">
                          <a16:colId xmlns:a16="http://schemas.microsoft.com/office/drawing/2014/main" val="3838758165"/>
                        </a:ext>
                      </a:extLst>
                    </a:gridCol>
                    <a:gridCol w="741680">
                      <a:extLst>
                        <a:ext uri="{9D8B030D-6E8A-4147-A177-3AD203B41FA5}">
                          <a16:colId xmlns:a16="http://schemas.microsoft.com/office/drawing/2014/main" val="839117141"/>
                        </a:ext>
                      </a:extLst>
                    </a:gridCol>
                    <a:gridCol w="741680">
                      <a:extLst>
                        <a:ext uri="{9D8B030D-6E8A-4147-A177-3AD203B41FA5}">
                          <a16:colId xmlns:a16="http://schemas.microsoft.com/office/drawing/2014/main" val="2754505923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42916702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(0,3)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(1,2)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(2,1)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(3,0)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2297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1" t="-106452" r="-445313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7313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1" t="-209836" r="-44531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463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1" t="-309836" r="-44531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51499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980404" y="3544669"/>
                <a:ext cx="17927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404" y="3544669"/>
                <a:ext cx="1792791" cy="646331"/>
              </a:xfrm>
              <a:prstGeom prst="rect">
                <a:avLst/>
              </a:prstGeom>
              <a:blipFill>
                <a:blip r:embed="rId3"/>
                <a:stretch>
                  <a:fillRect t="-4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5-Point Star 4"/>
          <p:cNvSpPr/>
          <p:nvPr/>
        </p:nvSpPr>
        <p:spPr>
          <a:xfrm>
            <a:off x="3886200" y="54102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5108124" y="6370101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Friendly Introduction to Machine Learning. By: Luis Serrano</a:t>
            </a:r>
          </a:p>
        </p:txBody>
      </p:sp>
    </p:spTree>
    <p:extLst>
      <p:ext uri="{BB962C8B-B14F-4D97-AF65-F5344CB8AC3E}">
        <p14:creationId xmlns:p14="http://schemas.microsoft.com/office/powerpoint/2010/main" val="283217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7" grpId="0"/>
      <p:bldP spid="48" grpId="0"/>
      <p:bldP spid="58" grpId="0"/>
      <p:bldP spid="59" grpId="0"/>
      <p:bldP spid="60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54526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Trick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17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How can we split red and green?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971800" y="5251552"/>
            <a:ext cx="158648" cy="158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362200" y="4191000"/>
            <a:ext cx="158840" cy="158840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857250" y="5295900"/>
            <a:ext cx="4019550" cy="44348"/>
          </a:xfrm>
          <a:prstGeom prst="straightConnector1">
            <a:avLst/>
          </a:prstGeom>
          <a:ln w="3175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0601" y="1770516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600" y="5264187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8" name="Oval 37"/>
          <p:cNvSpPr/>
          <p:nvPr/>
        </p:nvSpPr>
        <p:spPr>
          <a:xfrm>
            <a:off x="1809690" y="3557604"/>
            <a:ext cx="158840" cy="158840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1330376" y="2372986"/>
            <a:ext cx="158648" cy="158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409700" y="1905000"/>
            <a:ext cx="0" cy="373380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46667" y="2139848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86990" y="3267692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1620" y="3952174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5272" y="4798966"/>
            <a:ext cx="68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43397" y="2398544"/>
                <a:ext cx="898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3=</a:t>
                </a:r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97" y="2398544"/>
                <a:ext cx="898223" cy="369332"/>
              </a:xfrm>
              <a:prstGeom prst="rect">
                <a:avLst/>
              </a:prstGeom>
              <a:blipFill>
                <a:blip r:embed="rId2"/>
                <a:stretch>
                  <a:fillRect l="-5405" t="-8197" r="-27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589488" y="4904394"/>
                <a:ext cx="898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0=</a:t>
                </a:r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488" y="4904394"/>
                <a:ext cx="898223" cy="369332"/>
              </a:xfrm>
              <a:prstGeom prst="rect">
                <a:avLst/>
              </a:prstGeom>
              <a:blipFill>
                <a:blip r:embed="rId3"/>
                <a:stretch>
                  <a:fillRect l="-6122" t="-10000" r="-272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890985" y="3569243"/>
                <a:ext cx="898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2=</a:t>
                </a:r>
                <a:r>
                  <a:rPr lang="en-US" dirty="0">
                    <a:solidFill>
                      <a:srgbClr val="00B05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985" y="3569243"/>
                <a:ext cx="898223" cy="369332"/>
              </a:xfrm>
              <a:prstGeom prst="rect">
                <a:avLst/>
              </a:prstGeom>
              <a:blipFill>
                <a:blip r:embed="rId4"/>
                <a:stretch>
                  <a:fillRect l="-5405" t="-10000" r="-270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465539" y="4246349"/>
                <a:ext cx="898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1=</a:t>
                </a:r>
                <a:r>
                  <a:rPr lang="en-US" dirty="0">
                    <a:solidFill>
                      <a:srgbClr val="00B05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539" y="4246349"/>
                <a:ext cx="898223" cy="369332"/>
              </a:xfrm>
              <a:prstGeom prst="rect">
                <a:avLst/>
              </a:prstGeom>
              <a:blipFill>
                <a:blip r:embed="rId5"/>
                <a:stretch>
                  <a:fillRect l="-5405" t="-10000" r="-270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09575" y="2189797"/>
                <a:ext cx="9356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575" y="2189797"/>
                <a:ext cx="935641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705600" y="2189797"/>
                <a:ext cx="9356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189797"/>
                <a:ext cx="935641" cy="369332"/>
              </a:xfrm>
              <a:prstGeom prst="rect">
                <a:avLst/>
              </a:prstGeom>
              <a:blipFill>
                <a:blip r:embed="rId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5228998" y="3124200"/>
                <a:ext cx="9356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98" y="3124200"/>
                <a:ext cx="935641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/>
          <p:cNvSpPr/>
          <p:nvPr/>
        </p:nvSpPr>
        <p:spPr>
          <a:xfrm>
            <a:off x="5544948" y="3640619"/>
            <a:ext cx="303740" cy="3417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334000" y="3980729"/>
                <a:ext cx="814390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3980729"/>
                <a:ext cx="814390" cy="6127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703256" y="2113911"/>
            <a:ext cx="1970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separates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2</a:t>
            </a:r>
            <a:r>
              <a:rPr lang="en-US" dirty="0"/>
              <a:t>?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544948" y="2782416"/>
            <a:ext cx="303740" cy="3417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 rot="1631856">
            <a:off x="728365" y="2777704"/>
            <a:ext cx="4178927" cy="2286143"/>
          </a:xfrm>
          <a:custGeom>
            <a:avLst/>
            <a:gdLst>
              <a:gd name="connsiteX0" fmla="*/ 0 w 3657996"/>
              <a:gd name="connsiteY0" fmla="*/ 138158 h 3397514"/>
              <a:gd name="connsiteX1" fmla="*/ 1466662 w 3657996"/>
              <a:gd name="connsiteY1" fmla="*/ 3397405 h 3397514"/>
              <a:gd name="connsiteX2" fmla="*/ 3530852 w 3657996"/>
              <a:gd name="connsiteY2" fmla="*/ 255853 h 3397514"/>
              <a:gd name="connsiteX3" fmla="*/ 3431264 w 3657996"/>
              <a:gd name="connsiteY3" fmla="*/ 120051 h 3397514"/>
              <a:gd name="connsiteX0" fmla="*/ 0 w 3726990"/>
              <a:gd name="connsiteY0" fmla="*/ 204568 h 3463926"/>
              <a:gd name="connsiteX1" fmla="*/ 1466662 w 3726990"/>
              <a:gd name="connsiteY1" fmla="*/ 3463815 h 3463926"/>
              <a:gd name="connsiteX2" fmla="*/ 3530852 w 3726990"/>
              <a:gd name="connsiteY2" fmla="*/ 322263 h 3463926"/>
              <a:gd name="connsiteX3" fmla="*/ 3627898 w 3726990"/>
              <a:gd name="connsiteY3" fmla="*/ 31971 h 3463926"/>
              <a:gd name="connsiteX0" fmla="*/ 0 w 3530852"/>
              <a:gd name="connsiteY0" fmla="*/ 0 h 3259356"/>
              <a:gd name="connsiteX1" fmla="*/ 1466662 w 3530852"/>
              <a:gd name="connsiteY1" fmla="*/ 3259247 h 3259356"/>
              <a:gd name="connsiteX2" fmla="*/ 3530852 w 3530852"/>
              <a:gd name="connsiteY2" fmla="*/ 117695 h 3259356"/>
              <a:gd name="connsiteX0" fmla="*/ 0 w 3619531"/>
              <a:gd name="connsiteY0" fmla="*/ -1 h 6029321"/>
              <a:gd name="connsiteX1" fmla="*/ 1555341 w 3619531"/>
              <a:gd name="connsiteY1" fmla="*/ 5979592 h 6029321"/>
              <a:gd name="connsiteX2" fmla="*/ 3619531 w 3619531"/>
              <a:gd name="connsiteY2" fmla="*/ 2838040 h 6029321"/>
              <a:gd name="connsiteX0" fmla="*/ 0 w 3661239"/>
              <a:gd name="connsiteY0" fmla="*/ -1 h 6042430"/>
              <a:gd name="connsiteX1" fmla="*/ 1555341 w 3661239"/>
              <a:gd name="connsiteY1" fmla="*/ 5979592 h 6042430"/>
              <a:gd name="connsiteX2" fmla="*/ 3661239 w 3661239"/>
              <a:gd name="connsiteY2" fmla="*/ 3100688 h 6042430"/>
              <a:gd name="connsiteX0" fmla="*/ 0 w 3661239"/>
              <a:gd name="connsiteY0" fmla="*/ -1 h 5080938"/>
              <a:gd name="connsiteX1" fmla="*/ 1461834 w 3661239"/>
              <a:gd name="connsiteY1" fmla="*/ 4990212 h 5080938"/>
              <a:gd name="connsiteX2" fmla="*/ 3661239 w 3661239"/>
              <a:gd name="connsiteY2" fmla="*/ 3100688 h 5080938"/>
              <a:gd name="connsiteX0" fmla="*/ 0 w 3743087"/>
              <a:gd name="connsiteY0" fmla="*/ -1 h 5095491"/>
              <a:gd name="connsiteX1" fmla="*/ 1461834 w 3743087"/>
              <a:gd name="connsiteY1" fmla="*/ 4990212 h 5095491"/>
              <a:gd name="connsiteX2" fmla="*/ 3743087 w 3743087"/>
              <a:gd name="connsiteY2" fmla="*/ 3256649 h 5095491"/>
              <a:gd name="connsiteX0" fmla="*/ 0 w 3899161"/>
              <a:gd name="connsiteY0" fmla="*/ 0 h 5545809"/>
              <a:gd name="connsiteX1" fmla="*/ 1617908 w 3899161"/>
              <a:gd name="connsiteY1" fmla="*/ 5418438 h 5545809"/>
              <a:gd name="connsiteX2" fmla="*/ 3899161 w 3899161"/>
              <a:gd name="connsiteY2" fmla="*/ 3684875 h 5545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99161" h="5545809">
                <a:moveTo>
                  <a:pt x="0" y="0"/>
                </a:moveTo>
                <a:cubicBezTo>
                  <a:pt x="439093" y="1619815"/>
                  <a:pt x="968048" y="4804292"/>
                  <a:pt x="1617908" y="5418438"/>
                </a:cubicBezTo>
                <a:cubicBezTo>
                  <a:pt x="2267768" y="6032584"/>
                  <a:pt x="3538955" y="4256849"/>
                  <a:pt x="3899161" y="36848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5108124" y="6370101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Friendly Introduction to Machine Learning. By: Luis Serrano</a:t>
            </a:r>
          </a:p>
        </p:txBody>
      </p:sp>
    </p:spTree>
    <p:extLst>
      <p:ext uri="{BB962C8B-B14F-4D97-AF65-F5344CB8AC3E}">
        <p14:creationId xmlns:p14="http://schemas.microsoft.com/office/powerpoint/2010/main" val="144782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7" grpId="0" animBg="1"/>
      <p:bldP spid="32" grpId="0"/>
      <p:bldP spid="9" grpId="0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54526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Trick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18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Diamond 30"/>
          <p:cNvSpPr/>
          <p:nvPr/>
        </p:nvSpPr>
        <p:spPr>
          <a:xfrm rot="4577267">
            <a:off x="6596040" y="3096023"/>
            <a:ext cx="1001294" cy="3970438"/>
          </a:xfrm>
          <a:prstGeom prst="diamond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5008350" y="5448853"/>
            <a:ext cx="4019550" cy="443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181600" y="3924300"/>
            <a:ext cx="3086101" cy="171417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93631" y="3587234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8763" y="5471027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3" name="Oval 42"/>
          <p:cNvSpPr/>
          <p:nvPr/>
        </p:nvSpPr>
        <p:spPr>
          <a:xfrm>
            <a:off x="6499863" y="4816732"/>
            <a:ext cx="125617" cy="1380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6971070" y="5379844"/>
            <a:ext cx="125617" cy="1380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 flipH="1" flipV="1">
            <a:off x="5447407" y="2208221"/>
            <a:ext cx="19383" cy="34335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 rot="4577267">
            <a:off x="6499667" y="1144294"/>
            <a:ext cx="1001294" cy="3970438"/>
          </a:xfrm>
          <a:prstGeom prst="diamond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108124" y="2134749"/>
            <a:ext cx="33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51" name="Oval 50"/>
          <p:cNvSpPr/>
          <p:nvPr/>
        </p:nvSpPr>
        <p:spPr>
          <a:xfrm>
            <a:off x="6294082" y="3076155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19543" y="3233976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4876800" y="2116917"/>
            <a:ext cx="3086101" cy="171417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692679" y="3491145"/>
            <a:ext cx="4019550" cy="443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Diamond 54"/>
          <p:cNvSpPr/>
          <p:nvPr/>
        </p:nvSpPr>
        <p:spPr>
          <a:xfrm rot="4577267">
            <a:off x="6352323" y="2136218"/>
            <a:ext cx="1001294" cy="3970438"/>
          </a:xfrm>
          <a:prstGeom prst="diamond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iamond 39"/>
          <p:cNvSpPr/>
          <p:nvPr/>
        </p:nvSpPr>
        <p:spPr>
          <a:xfrm rot="4577267">
            <a:off x="2264347" y="3240981"/>
            <a:ext cx="1001294" cy="3970438"/>
          </a:xfrm>
          <a:prstGeom prst="diamond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676657" y="5593811"/>
            <a:ext cx="4019550" cy="443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309661" y="5134631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2168170" y="4961690"/>
            <a:ext cx="125617" cy="1380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2450106" y="5322150"/>
            <a:ext cx="140445" cy="140445"/>
          </a:xfrm>
          <a:prstGeom prst="ellipse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2639377" y="5524802"/>
            <a:ext cx="125617" cy="1380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517206" y="4856868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(0,3)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30042" y="5065112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(1,2)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70611" y="5010721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(2,1)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49620" y="5481405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(3,0)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 flipV="1">
            <a:off x="774534" y="4126547"/>
            <a:ext cx="3086101" cy="171417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53652" y="1814088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(0,3)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652" y="2119840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(1,2)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3652" y="2445864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(2,1)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3652" y="2819605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(3,0)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3652" y="1494910"/>
            <a:ext cx="68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</a:t>
            </a:r>
            <a:r>
              <a:rPr lang="en-US" sz="1600" dirty="0" err="1"/>
              <a:t>x,y</a:t>
            </a:r>
            <a:r>
              <a:rPr lang="en-US" sz="1600" dirty="0"/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28057" y="1814088"/>
            <a:ext cx="919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(0,3,0)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28057" y="2119840"/>
            <a:ext cx="919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(1,2,2)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28057" y="2445864"/>
            <a:ext cx="823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(2,1,2)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28057" y="2819605"/>
            <a:ext cx="919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(3,0,0)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28057" y="1494910"/>
            <a:ext cx="919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</a:t>
            </a:r>
            <a:r>
              <a:rPr lang="en-US" sz="1600" dirty="0" err="1"/>
              <a:t>x,y,xy</a:t>
            </a:r>
            <a:r>
              <a:rPr lang="en-US" sz="1600" dirty="0"/>
              <a:t>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438759" y="1664187"/>
            <a:ext cx="689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1438759" y="1981200"/>
            <a:ext cx="689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1438759" y="2298213"/>
            <a:ext cx="689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1438759" y="2615226"/>
            <a:ext cx="689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1438759" y="2895600"/>
            <a:ext cx="689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108124" y="6370101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Friendly Introduction to Machine Learning. By: Luis Serrano</a:t>
            </a:r>
          </a:p>
        </p:txBody>
      </p:sp>
    </p:spTree>
    <p:extLst>
      <p:ext uri="{BB962C8B-B14F-4D97-AF65-F5344CB8AC3E}">
        <p14:creationId xmlns:p14="http://schemas.microsoft.com/office/powerpoint/2010/main" val="41870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/>
      <p:bldP spid="37" grpId="0"/>
      <p:bldP spid="43" grpId="0" animBg="1"/>
      <p:bldP spid="45" grpId="0" animBg="1"/>
      <p:bldP spid="49" grpId="0" animBg="1"/>
      <p:bldP spid="50" grpId="0"/>
      <p:bldP spid="51" grpId="0" animBg="1"/>
      <p:bldP spid="52" grpId="0" animBg="1"/>
      <p:bldP spid="55" grpId="0" animBg="1"/>
      <p:bldP spid="71" grpId="0"/>
      <p:bldP spid="72" grpId="0"/>
      <p:bldP spid="73" grpId="0"/>
      <p:bldP spid="74" grpId="0"/>
      <p:bldP spid="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7492" y="278261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Kernels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19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8113"/>
            <a:ext cx="3381375" cy="3086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92" y="1417638"/>
            <a:ext cx="3503708" cy="31354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90712" y="454353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2600" y="4562693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Radial basis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5304522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methods: Polynomial, sigmoid</a:t>
            </a:r>
          </a:p>
        </p:txBody>
      </p:sp>
    </p:spTree>
    <p:extLst>
      <p:ext uri="{BB962C8B-B14F-4D97-AF65-F5344CB8AC3E}">
        <p14:creationId xmlns:p14="http://schemas.microsoft.com/office/powerpoint/2010/main" val="2304753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861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Kernels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20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703388"/>
            <a:ext cx="688657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67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55616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Kernel Trick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31610" y="4268297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Originally from Support Vector Machines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475" y="2286000"/>
            <a:ext cx="381952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00400" y="4904424"/>
                <a:ext cx="5685430" cy="15623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𝑃𝑟𝑒𝑑𝑖𝑐𝑡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r>
                        <a:rPr lang="en-US" i="1" smtClean="0">
                          <a:latin typeface="Cambria Math"/>
                        </a:rPr>
                        <m:t>𝑦</m:t>
                      </m:r>
                      <m:r>
                        <a:rPr lang="en-US" i="1" smtClean="0">
                          <a:latin typeface="Cambria Math"/>
                        </a:rPr>
                        <m:t>=1 </m:t>
                      </m:r>
                      <m:r>
                        <a:rPr lang="en-US" i="1" smtClean="0">
                          <a:latin typeface="Cambria Math"/>
                        </a:rPr>
                        <m:t>𝑖𝑓</m:t>
                      </m:r>
                    </m:oMath>
                  </m:oMathPara>
                </a14:m>
                <a:endParaRPr lang="en-US" dirty="0"/>
              </a:p>
              <a:p>
                <a:endParaRPr lang="en-US" sz="9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+… ≥0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1     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+… ≥0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0    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904424"/>
                <a:ext cx="5685430" cy="15623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10" y="1502877"/>
            <a:ext cx="350520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 3"/>
          <p:cNvSpPr/>
          <p:nvPr/>
        </p:nvSpPr>
        <p:spPr>
          <a:xfrm>
            <a:off x="4152615" y="5434382"/>
            <a:ext cx="254190" cy="2168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87542" y="5126605"/>
                <a:ext cx="38433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542" y="5126605"/>
                <a:ext cx="384336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4920105" y="5434382"/>
            <a:ext cx="254190" cy="2168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855032" y="5117555"/>
                <a:ext cx="3885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032" y="5117555"/>
                <a:ext cx="388503" cy="307777"/>
              </a:xfrm>
              <a:prstGeom prst="rect">
                <a:avLst/>
              </a:prstGeom>
              <a:blipFill>
                <a:blip r:embed="rId6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724126" y="5153120"/>
                <a:ext cx="3885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6" y="5153120"/>
                <a:ext cx="388503" cy="307777"/>
              </a:xfrm>
              <a:prstGeom prst="rect">
                <a:avLst/>
              </a:prstGeom>
              <a:blipFill>
                <a:blip r:embed="rId7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5687594" y="5434382"/>
            <a:ext cx="484605" cy="2752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695296" y="5355100"/>
            <a:ext cx="315104" cy="3544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781800" y="5067814"/>
                <a:ext cx="3885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5067814"/>
                <a:ext cx="388503" cy="307777"/>
              </a:xfrm>
              <a:prstGeom prst="rect">
                <a:avLst/>
              </a:prstGeom>
              <a:blipFill>
                <a:blip r:embed="rId8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445312" y="5045647"/>
                <a:ext cx="38850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312" y="5045647"/>
                <a:ext cx="388503" cy="307777"/>
              </a:xfrm>
              <a:prstGeom prst="rect">
                <a:avLst/>
              </a:prstGeom>
              <a:blipFill>
                <a:blip r:embed="rId9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7463509" y="5376058"/>
            <a:ext cx="385091" cy="3335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4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25267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New Features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22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01838" y="2058352"/>
            <a:ext cx="3366448" cy="2898275"/>
            <a:chOff x="672152" y="1981200"/>
            <a:chExt cx="3366448" cy="2898275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1295400" y="1981200"/>
              <a:ext cx="0" cy="25146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1143000" y="4343400"/>
              <a:ext cx="28956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72152" y="3327632"/>
                  <a:ext cx="492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52" y="3327632"/>
                  <a:ext cx="492378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344611" y="4510143"/>
                  <a:ext cx="492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4611" y="4510143"/>
                  <a:ext cx="492378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/>
            <p:cNvSpPr/>
            <p:nvPr/>
          </p:nvSpPr>
          <p:spPr>
            <a:xfrm>
              <a:off x="2514600" y="2590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386137" y="3148012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157411" y="347419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514600" y="2209990"/>
                  <a:ext cx="585352" cy="380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𝒍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209990"/>
                  <a:ext cx="585352" cy="3808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386137" y="2767202"/>
                  <a:ext cx="585353" cy="380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𝒍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6137" y="2767202"/>
                  <a:ext cx="585353" cy="3808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152891" y="3518365"/>
                  <a:ext cx="585353" cy="380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𝒍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2891" y="3518365"/>
                  <a:ext cx="585353" cy="3808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68286" y="1696562"/>
                <a:ext cx="4096763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 a set of “landmarks”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create new features,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Want to get equation with new features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𝑃𝑟𝑒𝑑𝑖𝑐𝑡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𝑤h𝑒𝑛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≥0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286" y="1696562"/>
                <a:ext cx="4096763" cy="2031325"/>
              </a:xfrm>
              <a:prstGeom prst="rect">
                <a:avLst/>
              </a:prstGeom>
              <a:blipFill>
                <a:blip r:embed="rId7"/>
                <a:stretch>
                  <a:fillRect l="-1339"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818964" y="4363309"/>
                <a:ext cx="6096000" cy="755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𝐺𝑖𝑣𝑒𝑛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𝑠𝑖𝑚𝑖𝑙𝑎𝑟𝑖𝑡𝑦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𝑙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964" y="4363309"/>
                <a:ext cx="6096000" cy="75572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705600" y="3726061"/>
                <a:ext cx="1257973" cy="434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3726061"/>
                <a:ext cx="1257973" cy="43499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6" idx="2"/>
          </p:cNvCxnSpPr>
          <p:nvPr/>
        </p:nvCxnSpPr>
        <p:spPr>
          <a:xfrm>
            <a:off x="7334587" y="4161052"/>
            <a:ext cx="437813" cy="420746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818964" y="5045029"/>
                <a:ext cx="6096000" cy="755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𝐺𝑖𝑣𝑒𝑛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𝑠𝑖𝑚𝑖𝑙𝑎𝑟𝑖𝑡𝑦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𝑙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964" y="5045029"/>
                <a:ext cx="6096000" cy="75572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818964" y="5726749"/>
                <a:ext cx="6096000" cy="755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𝐺𝑖𝑣𝑒𝑛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𝑠𝑖𝑚𝑖𝑙𝑎𝑟𝑖𝑡𝑦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𝑙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3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964" y="5726749"/>
                <a:ext cx="6096000" cy="75572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657600" y="969729"/>
                <a:ext cx="35666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this hypothesis: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≥0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969729"/>
                <a:ext cx="3566617" cy="646331"/>
              </a:xfrm>
              <a:prstGeom prst="rect">
                <a:avLst/>
              </a:prstGeom>
              <a:blipFill>
                <a:blip r:embed="rId12"/>
                <a:stretch>
                  <a:fillRect l="-1368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229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80342"/>
            <a:ext cx="6589200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Feature Values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8600" y="2129921"/>
                <a:ext cx="6019800" cy="755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𝐺𝑖𝑣𝑒𝑛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𝑠𝑖𝑚𝑖𝑙𝑎𝑟𝑖𝑡𝑦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𝑙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29921"/>
                <a:ext cx="6019800" cy="7557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477000" y="2323115"/>
                <a:ext cx="2340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𝒙</m:t>
                      </m:r>
                      <m:r>
                        <a:rPr lang="en-US" i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323115"/>
                <a:ext cx="2340448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30282" y="2915725"/>
                <a:ext cx="8382000" cy="762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𝐺𝑖𝑣𝑒𝑛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𝑠𝑖𝑚𝑖𝑙𝑎𝑟𝑖𝑡𝑦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𝑙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82" y="2915725"/>
                <a:ext cx="8382000" cy="7621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937881" y="4346610"/>
                <a:ext cx="3844899" cy="746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𝐼𝑓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 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i="1">
                          <a:latin typeface="Cambria Math"/>
                        </a:rPr>
                        <m:t>: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≈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/>
                        </a:rPr>
                        <m:t> ≈1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881" y="4346610"/>
                <a:ext cx="3844899" cy="74667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930933" y="5093289"/>
                <a:ext cx="572533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𝐼𝑓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r>
                        <a:rPr lang="en-US" i="1" smtClean="0">
                          <a:latin typeface="Cambria Math"/>
                        </a:rPr>
                        <m:t>𝑥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r>
                        <a:rPr lang="en-US" i="1" smtClean="0">
                          <a:latin typeface="Cambria Math"/>
                        </a:rPr>
                        <m:t>𝑓𝑎𝑟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r>
                        <a:rPr lang="en-US" i="1" smtClean="0">
                          <a:latin typeface="Cambria Math"/>
                        </a:rPr>
                        <m:t>𝑓𝑟𝑜𝑚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i="1">
                          <a:latin typeface="Cambria Math"/>
                        </a:rPr>
                        <m:t>: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≈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𝑙𝑎𝑟𝑔𝑒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𝑣𝑎𝑙𝑢𝑒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/>
                        </a:rPr>
                        <m:t> ≈0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933" y="5093289"/>
                <a:ext cx="5725332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844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242" y="217844"/>
            <a:ext cx="6589200" cy="128089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Decision Boundary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24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01838" y="2058352"/>
            <a:ext cx="3366448" cy="2898275"/>
            <a:chOff x="672152" y="1981200"/>
            <a:chExt cx="3366448" cy="2898275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1295400" y="1981200"/>
              <a:ext cx="0" cy="25146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1143000" y="4343400"/>
              <a:ext cx="28956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72152" y="3327632"/>
                  <a:ext cx="492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52" y="3327632"/>
                  <a:ext cx="492378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344611" y="4510143"/>
                  <a:ext cx="492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4611" y="4510143"/>
                  <a:ext cx="492378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/>
            <p:cNvSpPr/>
            <p:nvPr/>
          </p:nvSpPr>
          <p:spPr>
            <a:xfrm>
              <a:off x="2514600" y="2590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386137" y="3148012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157411" y="347419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514600" y="2209990"/>
                  <a:ext cx="585352" cy="380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𝒍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209990"/>
                  <a:ext cx="585352" cy="3808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386137" y="2767202"/>
                  <a:ext cx="585353" cy="380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𝒍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6137" y="2767202"/>
                  <a:ext cx="585353" cy="3808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152891" y="3518365"/>
                  <a:ext cx="585353" cy="3808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𝒍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2891" y="3518365"/>
                  <a:ext cx="585353" cy="3808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Oval 13"/>
          <p:cNvSpPr/>
          <p:nvPr/>
        </p:nvSpPr>
        <p:spPr>
          <a:xfrm>
            <a:off x="2496686" y="2820352"/>
            <a:ext cx="76200" cy="76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4" idx="7"/>
          </p:cNvCxnSpPr>
          <p:nvPr/>
        </p:nvCxnSpPr>
        <p:spPr>
          <a:xfrm flipH="1">
            <a:off x="2561727" y="2287142"/>
            <a:ext cx="946772" cy="544369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481594" y="2045861"/>
                <a:ext cx="4331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94" y="2045861"/>
                <a:ext cx="433132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269666" y="1550520"/>
                <a:ext cx="4572000" cy="10156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</a:rPr>
                        <m:t>𝑃𝑟𝑒𝑑𝑖𝑐𝑡</m:t>
                      </m:r>
                      <m:r>
                        <a:rPr lang="en-US" sz="2000" i="1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>
                          <a:latin typeface="Cambria Math"/>
                        </a:rPr>
                        <m:t>1</m:t>
                      </m:r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𝑤h𝑒𝑛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666" y="1550520"/>
                <a:ext cx="4572000" cy="1015663"/>
              </a:xfrm>
              <a:prstGeom prst="rect">
                <a:avLst/>
              </a:prstGeom>
              <a:blipFill>
                <a:blip r:embed="rId8"/>
                <a:stretch>
                  <a:fillRect b="-5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648304" y="2631456"/>
                <a:ext cx="39033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 −0.5,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=1,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=1,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304" y="2631456"/>
                <a:ext cx="3903376" cy="400110"/>
              </a:xfrm>
              <a:prstGeom prst="rect">
                <a:avLst/>
              </a:prstGeom>
              <a:blipFill rotWithShape="1">
                <a:blip r:embed="rId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439291" y="3072033"/>
                <a:ext cx="314361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: </m:t>
                          </m:r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≈1,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≈0,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≈0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291" y="3072033"/>
                <a:ext cx="3143616" cy="400110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470695" y="3594823"/>
                <a:ext cx="4572000" cy="10156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∗1+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∗0+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∗0 ≥0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−0.5+ 1=0.5 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95" y="3594823"/>
                <a:ext cx="4572000" cy="1015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39339" y="4993842"/>
                <a:ext cx="8801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339" y="4993842"/>
                <a:ext cx="880176" cy="400110"/>
              </a:xfrm>
              <a:prstGeom prst="rect">
                <a:avLst/>
              </a:prstGeom>
              <a:blipFill rotWithShape="1">
                <a:blip r:embed="rId1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3139623" y="4114800"/>
            <a:ext cx="76200" cy="762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5" idx="1"/>
          </p:cNvCxnSpPr>
          <p:nvPr/>
        </p:nvCxnSpPr>
        <p:spPr>
          <a:xfrm flipH="1">
            <a:off x="3210685" y="4045249"/>
            <a:ext cx="730206" cy="88570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940891" y="3845194"/>
                <a:ext cx="4523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891" y="3845194"/>
                <a:ext cx="452367" cy="40011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661174" y="3660438"/>
                <a:ext cx="9871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174" y="3660438"/>
                <a:ext cx="987130" cy="400110"/>
              </a:xfrm>
              <a:prstGeom prst="rect">
                <a:avLst/>
              </a:prstGeom>
              <a:blipFill rotWithShape="1">
                <a:blip r:embed="rId1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508499" y="2276028"/>
                <a:ext cx="8801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499" y="2276028"/>
                <a:ext cx="880176" cy="400110"/>
              </a:xfrm>
              <a:prstGeom prst="rect">
                <a:avLst/>
              </a:prstGeom>
              <a:blipFill rotWithShape="1">
                <a:blip r:embed="rId1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 27"/>
          <p:cNvSpPr/>
          <p:nvPr/>
        </p:nvSpPr>
        <p:spPr>
          <a:xfrm>
            <a:off x="1469877" y="2297252"/>
            <a:ext cx="2668170" cy="1763304"/>
          </a:xfrm>
          <a:custGeom>
            <a:avLst/>
            <a:gdLst>
              <a:gd name="connsiteX0" fmla="*/ 963357 w 2668170"/>
              <a:gd name="connsiteY0" fmla="*/ 11995 h 1763304"/>
              <a:gd name="connsiteX1" fmla="*/ 467411 w 2668170"/>
              <a:gd name="connsiteY1" fmla="*/ 11995 h 1763304"/>
              <a:gd name="connsiteX2" fmla="*/ 420916 w 2668170"/>
              <a:gd name="connsiteY2" fmla="*/ 27494 h 1763304"/>
              <a:gd name="connsiteX3" fmla="*/ 327926 w 2668170"/>
              <a:gd name="connsiteY3" fmla="*/ 104985 h 1763304"/>
              <a:gd name="connsiteX4" fmla="*/ 296930 w 2668170"/>
              <a:gd name="connsiteY4" fmla="*/ 151480 h 1763304"/>
              <a:gd name="connsiteX5" fmla="*/ 265933 w 2668170"/>
              <a:gd name="connsiteY5" fmla="*/ 244470 h 1763304"/>
              <a:gd name="connsiteX6" fmla="*/ 250435 w 2668170"/>
              <a:gd name="connsiteY6" fmla="*/ 569934 h 1763304"/>
              <a:gd name="connsiteX7" fmla="*/ 234937 w 2668170"/>
              <a:gd name="connsiteY7" fmla="*/ 616429 h 1763304"/>
              <a:gd name="connsiteX8" fmla="*/ 203940 w 2668170"/>
              <a:gd name="connsiteY8" fmla="*/ 662924 h 1763304"/>
              <a:gd name="connsiteX9" fmla="*/ 110950 w 2668170"/>
              <a:gd name="connsiteY9" fmla="*/ 724917 h 1763304"/>
              <a:gd name="connsiteX10" fmla="*/ 95452 w 2668170"/>
              <a:gd name="connsiteY10" fmla="*/ 771412 h 1763304"/>
              <a:gd name="connsiteX11" fmla="*/ 64455 w 2668170"/>
              <a:gd name="connsiteY11" fmla="*/ 817907 h 1763304"/>
              <a:gd name="connsiteX12" fmla="*/ 33459 w 2668170"/>
              <a:gd name="connsiteY12" fmla="*/ 910897 h 1763304"/>
              <a:gd name="connsiteX13" fmla="*/ 17960 w 2668170"/>
              <a:gd name="connsiteY13" fmla="*/ 957392 h 1763304"/>
              <a:gd name="connsiteX14" fmla="*/ 17960 w 2668170"/>
              <a:gd name="connsiteY14" fmla="*/ 1406843 h 1763304"/>
              <a:gd name="connsiteX15" fmla="*/ 48957 w 2668170"/>
              <a:gd name="connsiteY15" fmla="*/ 1453338 h 1763304"/>
              <a:gd name="connsiteX16" fmla="*/ 95452 w 2668170"/>
              <a:gd name="connsiteY16" fmla="*/ 1546328 h 1763304"/>
              <a:gd name="connsiteX17" fmla="*/ 141947 w 2668170"/>
              <a:gd name="connsiteY17" fmla="*/ 1577324 h 1763304"/>
              <a:gd name="connsiteX18" fmla="*/ 219438 w 2668170"/>
              <a:gd name="connsiteY18" fmla="*/ 1639317 h 1763304"/>
              <a:gd name="connsiteX19" fmla="*/ 343425 w 2668170"/>
              <a:gd name="connsiteY19" fmla="*/ 1716809 h 1763304"/>
              <a:gd name="connsiteX20" fmla="*/ 467411 w 2668170"/>
              <a:gd name="connsiteY20" fmla="*/ 1747806 h 1763304"/>
              <a:gd name="connsiteX21" fmla="*/ 529404 w 2668170"/>
              <a:gd name="connsiteY21" fmla="*/ 1763304 h 1763304"/>
              <a:gd name="connsiteX22" fmla="*/ 1288821 w 2668170"/>
              <a:gd name="connsiteY22" fmla="*/ 1747806 h 1763304"/>
              <a:gd name="connsiteX23" fmla="*/ 1335316 w 2668170"/>
              <a:gd name="connsiteY23" fmla="*/ 1732307 h 1763304"/>
              <a:gd name="connsiteX24" fmla="*/ 1412808 w 2668170"/>
              <a:gd name="connsiteY24" fmla="*/ 1654816 h 1763304"/>
              <a:gd name="connsiteX25" fmla="*/ 1474801 w 2668170"/>
              <a:gd name="connsiteY25" fmla="*/ 1561826 h 1763304"/>
              <a:gd name="connsiteX26" fmla="*/ 1552292 w 2668170"/>
              <a:gd name="connsiteY26" fmla="*/ 1468836 h 1763304"/>
              <a:gd name="connsiteX27" fmla="*/ 1629784 w 2668170"/>
              <a:gd name="connsiteY27" fmla="*/ 1329351 h 1763304"/>
              <a:gd name="connsiteX28" fmla="*/ 1676279 w 2668170"/>
              <a:gd name="connsiteY28" fmla="*/ 1313853 h 1763304"/>
              <a:gd name="connsiteX29" fmla="*/ 1939750 w 2668170"/>
              <a:gd name="connsiteY29" fmla="*/ 1329351 h 1763304"/>
              <a:gd name="connsiteX30" fmla="*/ 1986245 w 2668170"/>
              <a:gd name="connsiteY30" fmla="*/ 1344850 h 1763304"/>
              <a:gd name="connsiteX31" fmla="*/ 2404699 w 2668170"/>
              <a:gd name="connsiteY31" fmla="*/ 1329351 h 1763304"/>
              <a:gd name="connsiteX32" fmla="*/ 2559682 w 2668170"/>
              <a:gd name="connsiteY32" fmla="*/ 1189867 h 1763304"/>
              <a:gd name="connsiteX33" fmla="*/ 2621676 w 2668170"/>
              <a:gd name="connsiteY33" fmla="*/ 1096877 h 1763304"/>
              <a:gd name="connsiteX34" fmla="*/ 2652672 w 2668170"/>
              <a:gd name="connsiteY34" fmla="*/ 1003887 h 1763304"/>
              <a:gd name="connsiteX35" fmla="*/ 2668170 w 2668170"/>
              <a:gd name="connsiteY35" fmla="*/ 957392 h 1763304"/>
              <a:gd name="connsiteX36" fmla="*/ 2652672 w 2668170"/>
              <a:gd name="connsiteY36" fmla="*/ 771412 h 1763304"/>
              <a:gd name="connsiteX37" fmla="*/ 2637174 w 2668170"/>
              <a:gd name="connsiteY37" fmla="*/ 724917 h 1763304"/>
              <a:gd name="connsiteX38" fmla="*/ 2590679 w 2668170"/>
              <a:gd name="connsiteY38" fmla="*/ 678423 h 1763304"/>
              <a:gd name="connsiteX39" fmla="*/ 2559682 w 2668170"/>
              <a:gd name="connsiteY39" fmla="*/ 631928 h 1763304"/>
              <a:gd name="connsiteX40" fmla="*/ 2513187 w 2668170"/>
              <a:gd name="connsiteY40" fmla="*/ 600931 h 1763304"/>
              <a:gd name="connsiteX41" fmla="*/ 2420198 w 2668170"/>
              <a:gd name="connsiteY41" fmla="*/ 538938 h 1763304"/>
              <a:gd name="connsiteX42" fmla="*/ 2327208 w 2668170"/>
              <a:gd name="connsiteY42" fmla="*/ 476945 h 1763304"/>
              <a:gd name="connsiteX43" fmla="*/ 2280713 w 2668170"/>
              <a:gd name="connsiteY43" fmla="*/ 461446 h 1763304"/>
              <a:gd name="connsiteX44" fmla="*/ 2234218 w 2668170"/>
              <a:gd name="connsiteY44" fmla="*/ 430450 h 1763304"/>
              <a:gd name="connsiteX45" fmla="*/ 2125730 w 2668170"/>
              <a:gd name="connsiteY45" fmla="*/ 383955 h 1763304"/>
              <a:gd name="connsiteX46" fmla="*/ 2079235 w 2668170"/>
              <a:gd name="connsiteY46" fmla="*/ 352958 h 1763304"/>
              <a:gd name="connsiteX47" fmla="*/ 1986245 w 2668170"/>
              <a:gd name="connsiteY47" fmla="*/ 321962 h 1763304"/>
              <a:gd name="connsiteX48" fmla="*/ 1877757 w 2668170"/>
              <a:gd name="connsiteY48" fmla="*/ 275467 h 1763304"/>
              <a:gd name="connsiteX49" fmla="*/ 1831262 w 2668170"/>
              <a:gd name="connsiteY49" fmla="*/ 244470 h 1763304"/>
              <a:gd name="connsiteX50" fmla="*/ 1784767 w 2668170"/>
              <a:gd name="connsiteY50" fmla="*/ 228972 h 1763304"/>
              <a:gd name="connsiteX51" fmla="*/ 1645282 w 2668170"/>
              <a:gd name="connsiteY51" fmla="*/ 166979 h 1763304"/>
              <a:gd name="connsiteX52" fmla="*/ 1598787 w 2668170"/>
              <a:gd name="connsiteY52" fmla="*/ 151480 h 1763304"/>
              <a:gd name="connsiteX53" fmla="*/ 1552292 w 2668170"/>
              <a:gd name="connsiteY53" fmla="*/ 120484 h 1763304"/>
              <a:gd name="connsiteX54" fmla="*/ 1490299 w 2668170"/>
              <a:gd name="connsiteY54" fmla="*/ 104985 h 1763304"/>
              <a:gd name="connsiteX55" fmla="*/ 1397309 w 2668170"/>
              <a:gd name="connsiteY55" fmla="*/ 73989 h 1763304"/>
              <a:gd name="connsiteX56" fmla="*/ 1304320 w 2668170"/>
              <a:gd name="connsiteY56" fmla="*/ 42992 h 1763304"/>
              <a:gd name="connsiteX57" fmla="*/ 1257825 w 2668170"/>
              <a:gd name="connsiteY57" fmla="*/ 27494 h 1763304"/>
              <a:gd name="connsiteX58" fmla="*/ 963357 w 2668170"/>
              <a:gd name="connsiteY58" fmla="*/ 11995 h 176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2668170" h="1763304">
                <a:moveTo>
                  <a:pt x="963357" y="11995"/>
                </a:moveTo>
                <a:cubicBezTo>
                  <a:pt x="831621" y="9412"/>
                  <a:pt x="813654" y="-13653"/>
                  <a:pt x="467411" y="11995"/>
                </a:cubicBezTo>
                <a:cubicBezTo>
                  <a:pt x="451119" y="13202"/>
                  <a:pt x="435528" y="20188"/>
                  <a:pt x="420916" y="27494"/>
                </a:cubicBezTo>
                <a:cubicBezTo>
                  <a:pt x="386083" y="44911"/>
                  <a:pt x="352410" y="75604"/>
                  <a:pt x="327926" y="104985"/>
                </a:cubicBezTo>
                <a:cubicBezTo>
                  <a:pt x="316002" y="119294"/>
                  <a:pt x="304495" y="134459"/>
                  <a:pt x="296930" y="151480"/>
                </a:cubicBezTo>
                <a:cubicBezTo>
                  <a:pt x="283660" y="181337"/>
                  <a:pt x="265933" y="244470"/>
                  <a:pt x="265933" y="244470"/>
                </a:cubicBezTo>
                <a:cubicBezTo>
                  <a:pt x="260767" y="352958"/>
                  <a:pt x="259454" y="461698"/>
                  <a:pt x="250435" y="569934"/>
                </a:cubicBezTo>
                <a:cubicBezTo>
                  <a:pt x="249078" y="586214"/>
                  <a:pt x="242243" y="601817"/>
                  <a:pt x="234937" y="616429"/>
                </a:cubicBezTo>
                <a:cubicBezTo>
                  <a:pt x="226607" y="633089"/>
                  <a:pt x="217958" y="650658"/>
                  <a:pt x="203940" y="662924"/>
                </a:cubicBezTo>
                <a:cubicBezTo>
                  <a:pt x="175904" y="687455"/>
                  <a:pt x="110950" y="724917"/>
                  <a:pt x="110950" y="724917"/>
                </a:cubicBezTo>
                <a:cubicBezTo>
                  <a:pt x="105784" y="740415"/>
                  <a:pt x="102758" y="756800"/>
                  <a:pt x="95452" y="771412"/>
                </a:cubicBezTo>
                <a:cubicBezTo>
                  <a:pt x="87122" y="788072"/>
                  <a:pt x="72020" y="800886"/>
                  <a:pt x="64455" y="817907"/>
                </a:cubicBezTo>
                <a:cubicBezTo>
                  <a:pt x="51185" y="847764"/>
                  <a:pt x="43791" y="879900"/>
                  <a:pt x="33459" y="910897"/>
                </a:cubicBezTo>
                <a:lnTo>
                  <a:pt x="17960" y="957392"/>
                </a:lnTo>
                <a:cubicBezTo>
                  <a:pt x="1018" y="1143755"/>
                  <a:pt x="-12109" y="1196362"/>
                  <a:pt x="17960" y="1406843"/>
                </a:cubicBezTo>
                <a:cubicBezTo>
                  <a:pt x="20594" y="1425283"/>
                  <a:pt x="38625" y="1437840"/>
                  <a:pt x="48957" y="1453338"/>
                </a:cubicBezTo>
                <a:cubicBezTo>
                  <a:pt x="61562" y="1491154"/>
                  <a:pt x="65407" y="1516284"/>
                  <a:pt x="95452" y="1546328"/>
                </a:cubicBezTo>
                <a:cubicBezTo>
                  <a:pt x="108623" y="1559499"/>
                  <a:pt x="126449" y="1566992"/>
                  <a:pt x="141947" y="1577324"/>
                </a:cubicBezTo>
                <a:cubicBezTo>
                  <a:pt x="230775" y="1710569"/>
                  <a:pt x="112498" y="1553766"/>
                  <a:pt x="219438" y="1639317"/>
                </a:cubicBezTo>
                <a:cubicBezTo>
                  <a:pt x="321519" y="1720981"/>
                  <a:pt x="139867" y="1665919"/>
                  <a:pt x="343425" y="1716809"/>
                </a:cubicBezTo>
                <a:lnTo>
                  <a:pt x="467411" y="1747806"/>
                </a:lnTo>
                <a:lnTo>
                  <a:pt x="529404" y="1763304"/>
                </a:lnTo>
                <a:lnTo>
                  <a:pt x="1288821" y="1747806"/>
                </a:lnTo>
                <a:cubicBezTo>
                  <a:pt x="1305146" y="1747178"/>
                  <a:pt x="1322559" y="1742513"/>
                  <a:pt x="1335316" y="1732307"/>
                </a:cubicBezTo>
                <a:cubicBezTo>
                  <a:pt x="1593585" y="1525690"/>
                  <a:pt x="1133877" y="1840766"/>
                  <a:pt x="1412808" y="1654816"/>
                </a:cubicBezTo>
                <a:cubicBezTo>
                  <a:pt x="1433472" y="1623819"/>
                  <a:pt x="1448459" y="1588168"/>
                  <a:pt x="1474801" y="1561826"/>
                </a:cubicBezTo>
                <a:cubicBezTo>
                  <a:pt x="1504001" y="1532626"/>
                  <a:pt x="1535030" y="1507677"/>
                  <a:pt x="1552292" y="1468836"/>
                </a:cubicBezTo>
                <a:cubicBezTo>
                  <a:pt x="1586342" y="1392222"/>
                  <a:pt x="1562787" y="1374016"/>
                  <a:pt x="1629784" y="1329351"/>
                </a:cubicBezTo>
                <a:cubicBezTo>
                  <a:pt x="1643377" y="1320289"/>
                  <a:pt x="1660781" y="1319019"/>
                  <a:pt x="1676279" y="1313853"/>
                </a:cubicBezTo>
                <a:cubicBezTo>
                  <a:pt x="1764103" y="1319019"/>
                  <a:pt x="1852211" y="1320597"/>
                  <a:pt x="1939750" y="1329351"/>
                </a:cubicBezTo>
                <a:cubicBezTo>
                  <a:pt x="1956006" y="1330977"/>
                  <a:pt x="1969908" y="1344850"/>
                  <a:pt x="1986245" y="1344850"/>
                </a:cubicBezTo>
                <a:cubicBezTo>
                  <a:pt x="2125825" y="1344850"/>
                  <a:pt x="2265214" y="1334517"/>
                  <a:pt x="2404699" y="1329351"/>
                </a:cubicBezTo>
                <a:cubicBezTo>
                  <a:pt x="2467162" y="1287710"/>
                  <a:pt x="2511016" y="1262865"/>
                  <a:pt x="2559682" y="1189867"/>
                </a:cubicBezTo>
                <a:lnTo>
                  <a:pt x="2621676" y="1096877"/>
                </a:lnTo>
                <a:lnTo>
                  <a:pt x="2652672" y="1003887"/>
                </a:lnTo>
                <a:lnTo>
                  <a:pt x="2668170" y="957392"/>
                </a:lnTo>
                <a:cubicBezTo>
                  <a:pt x="2663004" y="895399"/>
                  <a:pt x="2660893" y="833075"/>
                  <a:pt x="2652672" y="771412"/>
                </a:cubicBezTo>
                <a:cubicBezTo>
                  <a:pt x="2650513" y="755219"/>
                  <a:pt x="2646236" y="738510"/>
                  <a:pt x="2637174" y="724917"/>
                </a:cubicBezTo>
                <a:cubicBezTo>
                  <a:pt x="2625016" y="706680"/>
                  <a:pt x="2604711" y="695261"/>
                  <a:pt x="2590679" y="678423"/>
                </a:cubicBezTo>
                <a:cubicBezTo>
                  <a:pt x="2578754" y="664114"/>
                  <a:pt x="2572853" y="645099"/>
                  <a:pt x="2559682" y="631928"/>
                </a:cubicBezTo>
                <a:cubicBezTo>
                  <a:pt x="2546511" y="618757"/>
                  <a:pt x="2527496" y="612856"/>
                  <a:pt x="2513187" y="600931"/>
                </a:cubicBezTo>
                <a:cubicBezTo>
                  <a:pt x="2435792" y="536435"/>
                  <a:pt x="2501906" y="566174"/>
                  <a:pt x="2420198" y="538938"/>
                </a:cubicBezTo>
                <a:cubicBezTo>
                  <a:pt x="2389201" y="518274"/>
                  <a:pt x="2362549" y="488726"/>
                  <a:pt x="2327208" y="476945"/>
                </a:cubicBezTo>
                <a:cubicBezTo>
                  <a:pt x="2311710" y="471779"/>
                  <a:pt x="2295325" y="468752"/>
                  <a:pt x="2280713" y="461446"/>
                </a:cubicBezTo>
                <a:cubicBezTo>
                  <a:pt x="2264053" y="453116"/>
                  <a:pt x="2250390" y="439691"/>
                  <a:pt x="2234218" y="430450"/>
                </a:cubicBezTo>
                <a:cubicBezTo>
                  <a:pt x="2180591" y="399806"/>
                  <a:pt x="2177895" y="401343"/>
                  <a:pt x="2125730" y="383955"/>
                </a:cubicBezTo>
                <a:cubicBezTo>
                  <a:pt x="2110232" y="373623"/>
                  <a:pt x="2096256" y="360523"/>
                  <a:pt x="2079235" y="352958"/>
                </a:cubicBezTo>
                <a:cubicBezTo>
                  <a:pt x="2049378" y="339688"/>
                  <a:pt x="1986245" y="321962"/>
                  <a:pt x="1986245" y="321962"/>
                </a:cubicBezTo>
                <a:cubicBezTo>
                  <a:pt x="1869516" y="244142"/>
                  <a:pt x="2017869" y="335515"/>
                  <a:pt x="1877757" y="275467"/>
                </a:cubicBezTo>
                <a:cubicBezTo>
                  <a:pt x="1860636" y="268130"/>
                  <a:pt x="1847922" y="252800"/>
                  <a:pt x="1831262" y="244470"/>
                </a:cubicBezTo>
                <a:cubicBezTo>
                  <a:pt x="1816650" y="237164"/>
                  <a:pt x="1800265" y="234138"/>
                  <a:pt x="1784767" y="228972"/>
                </a:cubicBezTo>
                <a:cubicBezTo>
                  <a:pt x="1711085" y="179850"/>
                  <a:pt x="1755945" y="203867"/>
                  <a:pt x="1645282" y="166979"/>
                </a:cubicBezTo>
                <a:cubicBezTo>
                  <a:pt x="1629784" y="161813"/>
                  <a:pt x="1612380" y="160542"/>
                  <a:pt x="1598787" y="151480"/>
                </a:cubicBezTo>
                <a:cubicBezTo>
                  <a:pt x="1583289" y="141148"/>
                  <a:pt x="1569412" y="127821"/>
                  <a:pt x="1552292" y="120484"/>
                </a:cubicBezTo>
                <a:cubicBezTo>
                  <a:pt x="1532714" y="112093"/>
                  <a:pt x="1510701" y="111106"/>
                  <a:pt x="1490299" y="104985"/>
                </a:cubicBezTo>
                <a:cubicBezTo>
                  <a:pt x="1459004" y="95596"/>
                  <a:pt x="1428306" y="84321"/>
                  <a:pt x="1397309" y="73989"/>
                </a:cubicBezTo>
                <a:lnTo>
                  <a:pt x="1304320" y="42992"/>
                </a:lnTo>
                <a:cubicBezTo>
                  <a:pt x="1288822" y="37826"/>
                  <a:pt x="1274120" y="28658"/>
                  <a:pt x="1257825" y="27494"/>
                </a:cubicBezTo>
                <a:cubicBezTo>
                  <a:pt x="999624" y="9050"/>
                  <a:pt x="1095093" y="14578"/>
                  <a:pt x="963357" y="11995"/>
                </a:cubicBezTo>
                <a:close/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128150" y="3075305"/>
            <a:ext cx="173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x close to</a:t>
            </a:r>
          </a:p>
        </p:txBody>
      </p:sp>
    </p:spTree>
    <p:extLst>
      <p:ext uri="{BB962C8B-B14F-4D97-AF65-F5344CB8AC3E}">
        <p14:creationId xmlns:p14="http://schemas.microsoft.com/office/powerpoint/2010/main" val="178261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47338"/>
            <a:ext cx="6589199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25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07810" y="1408113"/>
            <a:ext cx="8229600" cy="4648200"/>
          </a:xfrm>
          <a:prstGeom prst="rect">
            <a:avLst/>
          </a:prstGeom>
        </p:spPr>
        <p:txBody>
          <a:bodyPr/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works very well for large data sets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works well for small data sets too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Picking the right kernel is challenging</a:t>
            </a:r>
          </a:p>
        </p:txBody>
      </p:sp>
    </p:spTree>
    <p:extLst>
      <p:ext uri="{BB962C8B-B14F-4D97-AF65-F5344CB8AC3E}">
        <p14:creationId xmlns:p14="http://schemas.microsoft.com/office/powerpoint/2010/main" val="2920731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classes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26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part, let’s load the Iris dataset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3717" y="2083475"/>
            <a:ext cx="75060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datasets </a:t>
            </a: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np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datasets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load_iris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Sepal and pedal </a:t>
            </a:r>
            <a:r>
              <a:rPr lang="en-US" sz="1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negth</a:t>
            </a: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 and width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DataFrame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({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Species'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})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4335200"/>
            <a:ext cx="4105275" cy="2047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51" y="4335200"/>
            <a:ext cx="3752850" cy="2076450"/>
          </a:xfrm>
          <a:prstGeom prst="rect">
            <a:avLst/>
          </a:prstGeom>
        </p:spPr>
      </p:pic>
      <p:pic>
        <p:nvPicPr>
          <p:cNvPr id="1026" name="Picture 2" descr="Image result for setosa virginica and versi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00" y="1666953"/>
            <a:ext cx="7397644" cy="23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53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to train and test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27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same methodology as before to split data to train and test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70% of data for training and the rest for testing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490" y="2139843"/>
            <a:ext cx="78830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model_selection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test_size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0.30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52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751082"/>
            <a:ext cx="4056645" cy="277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71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28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start with a very simple SVM model with no kernel (linear)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see the number of support vectors and their values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490" y="2139843"/>
            <a:ext cx="78830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Linear model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svm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SVC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kernel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'linear'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Test result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)*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100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17" y="3958138"/>
            <a:ext cx="2314575" cy="6000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75998" y="5061281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get number of support vectors for each class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n_support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_ </a:t>
            </a:r>
          </a:p>
          <a:p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get indices of support vectors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support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_ </a:t>
            </a:r>
            <a:endParaRPr lang="en-US" sz="1600" dirty="0">
              <a:effectLst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5513450"/>
            <a:ext cx="1123950" cy="2095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362" y="3439310"/>
            <a:ext cx="120967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models- Review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29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this binary classification problem</a:t>
            </a:r>
          </a:p>
          <a:p>
            <a:pPr fontAlgn="base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example represented by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feature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lvl="1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linear separator exists for this data</a:t>
            </a:r>
          </a:p>
          <a:p>
            <a:pPr fontAlgn="base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map each example as x → {x, x 2} </a:t>
            </a:r>
          </a:p>
          <a:p>
            <a:pPr lvl="1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example now has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features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(“derived” from the old representation) </a:t>
            </a:r>
          </a:p>
          <a:p>
            <a:pPr fontAlgn="base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now becomes linearly separable in the new representation 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052638"/>
            <a:ext cx="2714625" cy="314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765" y="5088684"/>
            <a:ext cx="29051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87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kernel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30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is the polynomial kernel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490" y="2139843"/>
            <a:ext cx="78830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Polynomial model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svm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SVC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kernel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'poly'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degree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Test result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)*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100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07" y="3895693"/>
            <a:ext cx="1257484" cy="219107"/>
          </a:xfrm>
          <a:prstGeom prst="rect">
            <a:avLst/>
          </a:prstGeom>
        </p:spPr>
      </p:pic>
      <p:pic>
        <p:nvPicPr>
          <p:cNvPr id="1026" name="Picture 2" descr="Image result for draw a 3 degree polynomial pyth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582" y="2743200"/>
            <a:ext cx="2600325" cy="387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55993"/>
            <a:ext cx="15240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09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Radial Base Function kernel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31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RBF is one the most famous kernels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gamma to 0.3 and see the result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490" y="2139843"/>
            <a:ext cx="78830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Polynomial model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svm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SVC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kernel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rbf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gamma=0.7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Test result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)*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100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296" y="2109979"/>
            <a:ext cx="2238375" cy="400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523" y="3493822"/>
            <a:ext cx="1209675" cy="19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5198737"/>
            <a:ext cx="131445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0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parameters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32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methods to find the best parameters of the model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Writing loop</a:t>
            </a:r>
          </a:p>
          <a:p>
            <a:pPr lvl="1" fontAlgn="base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is provided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on Canvas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52800"/>
            <a:ext cx="4648200" cy="286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7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parameters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33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Grid search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9464" y="2321153"/>
            <a:ext cx="85946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from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sklearn.model_selection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import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GridSearchCV</a:t>
            </a:r>
            <a:endParaRPr lang="en-US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parameters = {'kernel':('linear', '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rbf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', 'poly'), 'C':[0.1, 0.5, 1, 10], 'degree':[2,3,4]}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svc =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svm.SVC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GridSearchCV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(svc, parameters, cv=5</a:t>
            </a:r>
            <a:r>
              <a:rPr lang="en-US" sz="120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200">
                <a:solidFill>
                  <a:srgbClr val="000000"/>
                </a:solidFill>
                <a:latin typeface="Courier New" panose="02070309020205020404" pitchFamily="49" charset="0"/>
              </a:rPr>
              <a:t>clf.fit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iris.data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iris.target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clf.best_params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endParaRPr lang="en-US" sz="12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63625"/>
            <a:ext cx="31146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29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34</a:t>
            </a:fld>
            <a:endParaRPr lang="en-US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0C004F-BF44-0DB4-03EF-3769CA67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14399"/>
            <a:ext cx="4648200" cy="58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69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35</a:t>
            </a:fld>
            <a:endParaRPr lang="en-US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271D4-CB86-22B1-EC58-35B335078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5204"/>
            <a:ext cx="5705702" cy="743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AD7E8-FAF9-809E-B2F9-1734FCCC6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360257"/>
            <a:ext cx="5781902" cy="815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8C5B31-E752-EEC1-877B-7D59F4F5E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28" y="3292023"/>
            <a:ext cx="6458176" cy="338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08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36</a:t>
            </a:fld>
            <a:endParaRPr lang="en-US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EB442-EBF8-9FA4-620F-1DDF2E35B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45" y="1295400"/>
            <a:ext cx="5218821" cy="5400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2426A8-A9B3-C330-3188-8BE237EE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328" y="2667000"/>
            <a:ext cx="4289654" cy="314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76BFFEBE008478A0EC19FFC5CAE25" ma:contentTypeVersion="2" ma:contentTypeDescription="Create a new document." ma:contentTypeScope="" ma:versionID="222da272828c52aae3aea7aac679f7eb">
  <xsd:schema xmlns:xsd="http://www.w3.org/2001/XMLSchema" xmlns:xs="http://www.w3.org/2001/XMLSchema" xmlns:p="http://schemas.microsoft.com/office/2006/metadata/properties" xmlns:ns2="54f0c67b-9c4f-47ec-b2e9-282ef016d26c" targetNamespace="http://schemas.microsoft.com/office/2006/metadata/properties" ma:root="true" ma:fieldsID="9c3027e3c2b9147528be8a0aa63380b9" ns2:_="">
    <xsd:import namespace="54f0c67b-9c4f-47ec-b2e9-282ef016d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f0c67b-9c4f-47ec-b2e9-282ef016d2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E680D0-24F8-476B-9F2B-770B7934109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9112926-04BA-44D5-AEF4-1147B9FC80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A350B7-7935-4D49-B6CD-FF85BEBDF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f0c67b-9c4f-47ec-b2e9-282ef016d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7585</TotalTime>
  <Words>1585</Words>
  <Application>Microsoft Office PowerPoint</Application>
  <PresentationFormat>On-screen Show (4:3)</PresentationFormat>
  <Paragraphs>353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Cambria Math</vt:lpstr>
      <vt:lpstr>Century Gothic</vt:lpstr>
      <vt:lpstr>Courier New</vt:lpstr>
      <vt:lpstr>Times New Roman</vt:lpstr>
      <vt:lpstr>Wingdings 2</vt:lpstr>
      <vt:lpstr>Wingdings 3</vt:lpstr>
      <vt:lpstr>Wisp</vt:lpstr>
      <vt:lpstr>Machine Learning</vt:lpstr>
      <vt:lpstr>What is SVM</vt:lpstr>
      <vt:lpstr>What is SVM</vt:lpstr>
      <vt:lpstr>What is SVM</vt:lpstr>
      <vt:lpstr>Why is this the best?</vt:lpstr>
      <vt:lpstr>How about other ones?</vt:lpstr>
      <vt:lpstr>Technical terms</vt:lpstr>
      <vt:lpstr>Technical terms</vt:lpstr>
      <vt:lpstr>In conclusion</vt:lpstr>
      <vt:lpstr>Linear Optimization</vt:lpstr>
      <vt:lpstr>Get back to our problem</vt:lpstr>
      <vt:lpstr>Does it work for more than two classes?</vt:lpstr>
      <vt:lpstr>The Kernel Trick</vt:lpstr>
      <vt:lpstr>The Kernel Trick</vt:lpstr>
      <vt:lpstr>The Kernel Trick</vt:lpstr>
      <vt:lpstr>The Kernel Trick</vt:lpstr>
      <vt:lpstr>The Kernel Trick</vt:lpstr>
      <vt:lpstr>The Kernel Trick</vt:lpstr>
      <vt:lpstr>Different Kernels</vt:lpstr>
      <vt:lpstr>Different Kernels</vt:lpstr>
      <vt:lpstr>The Kernel Trick</vt:lpstr>
      <vt:lpstr>Define New Features</vt:lpstr>
      <vt:lpstr>Compute Feature Values</vt:lpstr>
      <vt:lpstr>Generate the Decision Boundary</vt:lpstr>
      <vt:lpstr>Pros and cons</vt:lpstr>
      <vt:lpstr>Multiple classes example</vt:lpstr>
      <vt:lpstr>Split data to train and test</vt:lpstr>
      <vt:lpstr>Linear model</vt:lpstr>
      <vt:lpstr>Nonlinear models- Review</vt:lpstr>
      <vt:lpstr>Polynomial kernel</vt:lpstr>
      <vt:lpstr>Radial Base Function kernel</vt:lpstr>
      <vt:lpstr>Tuning parameters</vt:lpstr>
      <vt:lpstr>Tuning parameters</vt:lpstr>
      <vt:lpstr>R</vt:lpstr>
      <vt:lpstr>R</vt:lpstr>
      <vt:lpstr>R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</dc:title>
  <dc:creator>Marvine</dc:creator>
  <cp:lastModifiedBy>Roozbeh Sadeghian</cp:lastModifiedBy>
  <cp:revision>637</cp:revision>
  <dcterms:created xsi:type="dcterms:W3CDTF">2016-06-23T19:27:44Z</dcterms:created>
  <dcterms:modified xsi:type="dcterms:W3CDTF">2023-06-15T12:14:02Z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0x010100FF376BFFEBE008478A0EC19FFC5CAE25</vt:lpwstr>
  </property>
</Properties>
</file>