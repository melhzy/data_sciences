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8"/>
  </p:notesMasterIdLst>
  <p:sldIdLst>
    <p:sldId id="256" r:id="rId5"/>
    <p:sldId id="283" r:id="rId6"/>
    <p:sldId id="277" r:id="rId7"/>
    <p:sldId id="284" r:id="rId8"/>
    <p:sldId id="285" r:id="rId9"/>
    <p:sldId id="278" r:id="rId10"/>
    <p:sldId id="279" r:id="rId11"/>
    <p:sldId id="280" r:id="rId12"/>
    <p:sldId id="281" r:id="rId13"/>
    <p:sldId id="282" r:id="rId14"/>
    <p:sldId id="293" r:id="rId15"/>
    <p:sldId id="257" r:id="rId16"/>
    <p:sldId id="287" r:id="rId17"/>
    <p:sldId id="288" r:id="rId18"/>
    <p:sldId id="260" r:id="rId19"/>
    <p:sldId id="289" r:id="rId20"/>
    <p:sldId id="262" r:id="rId21"/>
    <p:sldId id="290" r:id="rId22"/>
    <p:sldId id="264" r:id="rId23"/>
    <p:sldId id="259" r:id="rId24"/>
    <p:sldId id="291" r:id="rId25"/>
    <p:sldId id="292" r:id="rId26"/>
    <p:sldId id="261"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9" d="100"/>
          <a:sy n="99" d="100"/>
        </p:scale>
        <p:origin x="588" y="7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7" d="100"/>
          <a:sy n="57" d="100"/>
        </p:scale>
        <p:origin x="-13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E5594D-6174-453E-9820-14C30685C5C7}" type="datetimeFigureOut">
              <a:rPr lang="en-US" smtClean="0"/>
              <a:t>8/30/2023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4C6CD-949A-441E-9AE4-96D0CA63E7FD}" type="slidenum">
              <a:rPr lang="en-US" smtClean="0"/>
              <a:t>‹#›</a:t>
            </a:fld>
            <a:endParaRPr lang="en-US"/>
          </a:p>
        </p:txBody>
      </p:sp>
    </p:spTree>
    <p:extLst>
      <p:ext uri="{BB962C8B-B14F-4D97-AF65-F5344CB8AC3E}">
        <p14:creationId xmlns:p14="http://schemas.microsoft.com/office/powerpoint/2010/main" val="3072869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5C4C6CD-949A-441E-9AE4-96D0CA63E7FD}" type="slidenum">
              <a:rPr lang="en-US" smtClean="0"/>
              <a:t>1</a:t>
            </a:fld>
            <a:endParaRPr lang="en-US"/>
          </a:p>
        </p:txBody>
      </p:sp>
    </p:spTree>
    <p:extLst>
      <p:ext uri="{BB962C8B-B14F-4D97-AF65-F5344CB8AC3E}">
        <p14:creationId xmlns:p14="http://schemas.microsoft.com/office/powerpoint/2010/main" val="1694078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A supervised learning algorithm analyzes the training data and produces an inferred function, which can be used for mapping new examples. An optimal scenario will allow for the algorithm to correctly determine the class labels for unseen instances. This requires the learning algorithm to generalize from the training data to unseen situations in a "reasonable" way.</a:t>
            </a:r>
          </a:p>
        </p:txBody>
      </p:sp>
      <p:sp>
        <p:nvSpPr>
          <p:cNvPr id="4" name="Slide Number Placeholder 3"/>
          <p:cNvSpPr>
            <a:spLocks noGrp="1"/>
          </p:cNvSpPr>
          <p:nvPr>
            <p:ph type="sldNum" sz="quarter" idx="10"/>
          </p:nvPr>
        </p:nvSpPr>
        <p:spPr/>
        <p:txBody>
          <a:bodyPr/>
          <a:lstStyle/>
          <a:p>
            <a:fld id="{D47D53DA-1487-4CF8-8586-8555DE6E5262}" type="slidenum">
              <a:rPr lang="en-US" smtClean="0"/>
              <a:t>6</a:t>
            </a:fld>
            <a:endParaRPr lang="en-US"/>
          </a:p>
        </p:txBody>
      </p:sp>
    </p:spTree>
    <p:extLst>
      <p:ext uri="{BB962C8B-B14F-4D97-AF65-F5344CB8AC3E}">
        <p14:creationId xmlns:p14="http://schemas.microsoft.com/office/powerpoint/2010/main" val="2594085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A supervised learning algorithm analyzes the training data and produces an inferred function, which can be used for mapping new examples. An optimal scenario will allow for the algorithm to correctly determine the class labels for unseen instances. This requires the learning algorithm to generalize from the training data to unseen situations in a "reasonable" way.</a:t>
            </a:r>
          </a:p>
        </p:txBody>
      </p:sp>
      <p:sp>
        <p:nvSpPr>
          <p:cNvPr id="4" name="Slide Number Placeholder 3"/>
          <p:cNvSpPr>
            <a:spLocks noGrp="1"/>
          </p:cNvSpPr>
          <p:nvPr>
            <p:ph type="sldNum" sz="quarter" idx="10"/>
          </p:nvPr>
        </p:nvSpPr>
        <p:spPr/>
        <p:txBody>
          <a:bodyPr/>
          <a:lstStyle/>
          <a:p>
            <a:fld id="{D47D53DA-1487-4CF8-8586-8555DE6E5262}" type="slidenum">
              <a:rPr lang="en-US" smtClean="0"/>
              <a:t>10</a:t>
            </a:fld>
            <a:endParaRPr lang="en-US"/>
          </a:p>
        </p:txBody>
      </p:sp>
    </p:spTree>
    <p:extLst>
      <p:ext uri="{BB962C8B-B14F-4D97-AF65-F5344CB8AC3E}">
        <p14:creationId xmlns:p14="http://schemas.microsoft.com/office/powerpoint/2010/main" val="2429658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C4C6CD-949A-441E-9AE4-96D0CA63E7FD}" type="slidenum">
              <a:rPr lang="en-US" smtClean="0"/>
              <a:t>11</a:t>
            </a:fld>
            <a:endParaRPr lang="en-US"/>
          </a:p>
        </p:txBody>
      </p:sp>
    </p:spTree>
    <p:extLst>
      <p:ext uri="{BB962C8B-B14F-4D97-AF65-F5344CB8AC3E}">
        <p14:creationId xmlns:p14="http://schemas.microsoft.com/office/powerpoint/2010/main" val="277869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nSpc>
                    <a:spcPct val="115000"/>
                  </a:lnSpc>
                  <a:spcAft>
                    <a:spcPts val="1000"/>
                  </a:spcAft>
                </a:pPr>
                <a:r>
                  <a:rPr lang="en-US" dirty="0">
                    <a:ea typeface="Calibri"/>
                    <a:cs typeface="Times New Roman"/>
                  </a:rPr>
                  <a:t>There is a strong relationship between algebra, geometry and statistical concepts.  So, one of the things we’ll try to accomplish is a reading knowledge of matrix expressions to aid in understanding statistical concepts.  </a:t>
                </a:r>
                <a:endParaRPr lang="en-US" sz="1100" dirty="0">
                  <a:ea typeface="Calibri"/>
                  <a:cs typeface="Times New Roman"/>
                </a:endParaRPr>
              </a:p>
              <a:p>
                <a:pPr>
                  <a:lnSpc>
                    <a:spcPct val="115000"/>
                  </a:lnSpc>
                  <a:spcAft>
                    <a:spcPts val="1000"/>
                  </a:spcAft>
                </a:pPr>
                <a:r>
                  <a:rPr lang="en-US" b="1" dirty="0">
                    <a:solidFill>
                      <a:srgbClr val="FF0000"/>
                    </a:solidFill>
                    <a:ea typeface="Calibri"/>
                    <a:cs typeface="Times New Roman"/>
                  </a:rPr>
                  <a:t>Consider the vector </a:t>
                </a:r>
                <a14:m>
                  <m:oMath xmlns:m="http://schemas.openxmlformats.org/officeDocument/2006/math">
                    <m:r>
                      <a:rPr lang="en-US" b="1" i="1">
                        <a:solidFill>
                          <a:srgbClr val="FF0000"/>
                        </a:solidFill>
                        <a:latin typeface="Cambria Math"/>
                        <a:ea typeface="Calibri"/>
                        <a:cs typeface="Times New Roman"/>
                      </a:rPr>
                      <m:t>𝒂</m:t>
                    </m:r>
                    <m:r>
                      <a:rPr lang="en-US" b="1" i="1">
                        <a:solidFill>
                          <a:srgbClr val="FF0000"/>
                        </a:solidFill>
                        <a:latin typeface="Cambria Math"/>
                        <a:ea typeface="Calibri"/>
                        <a:cs typeface="Times New Roman"/>
                      </a:rPr>
                      <m:t>= </m:t>
                    </m:r>
                    <m:d>
                      <m:dPr>
                        <m:begChr m:val="["/>
                        <m:endChr m:val="]"/>
                        <m:ctrlPr>
                          <a:rPr lang="en-US" b="1" i="1">
                            <a:solidFill>
                              <a:srgbClr val="FF0000"/>
                            </a:solidFill>
                            <a:latin typeface="Cambria Math" panose="02040503050406030204" pitchFamily="18" charset="0"/>
                            <a:ea typeface="Calibri"/>
                            <a:cs typeface="Times New Roman"/>
                          </a:rPr>
                        </m:ctrlPr>
                      </m:dPr>
                      <m:e>
                        <m:m>
                          <m:mPr>
                            <m:mcs>
                              <m:mc>
                                <m:mcPr>
                                  <m:count m:val="1"/>
                                  <m:mcJc m:val="center"/>
                                </m:mcPr>
                              </m:mc>
                            </m:mcs>
                            <m:ctrlPr>
                              <a:rPr lang="en-US" b="1" i="1">
                                <a:solidFill>
                                  <a:srgbClr val="FF0000"/>
                                </a:solidFill>
                                <a:latin typeface="Cambria Math" panose="02040503050406030204" pitchFamily="18" charset="0"/>
                                <a:ea typeface="Calibri"/>
                                <a:cs typeface="Times New Roman"/>
                              </a:rPr>
                            </m:ctrlPr>
                          </m:mPr>
                          <m:mr>
                            <m:e>
                              <m:r>
                                <a:rPr lang="en-US" b="1" i="1">
                                  <a:solidFill>
                                    <a:srgbClr val="FF0000"/>
                                  </a:solidFill>
                                  <a:latin typeface="Cambria Math"/>
                                  <a:ea typeface="Calibri"/>
                                  <a:cs typeface="Times New Roman"/>
                                </a:rPr>
                                <m:t>𝟐</m:t>
                              </m:r>
                            </m:e>
                          </m:mr>
                          <m:mr>
                            <m:e>
                              <m:r>
                                <a:rPr lang="en-US" b="1" i="1">
                                  <a:solidFill>
                                    <a:srgbClr val="FF0000"/>
                                  </a:solidFill>
                                  <a:latin typeface="Cambria Math"/>
                                  <a:ea typeface="Calibri"/>
                                  <a:cs typeface="Times New Roman"/>
                                </a:rPr>
                                <m:t>𝟏</m:t>
                              </m:r>
                            </m:e>
                          </m:mr>
                          <m:mr>
                            <m:e>
                              <m:r>
                                <a:rPr lang="en-US" b="1" i="1">
                                  <a:solidFill>
                                    <a:srgbClr val="FF0000"/>
                                  </a:solidFill>
                                  <a:latin typeface="Cambria Math"/>
                                  <a:ea typeface="Calibri"/>
                                  <a:cs typeface="Times New Roman"/>
                                </a:rPr>
                                <m:t>𝟑</m:t>
                              </m:r>
                            </m:e>
                          </m:mr>
                        </m:m>
                      </m:e>
                    </m:d>
                  </m:oMath>
                </a14:m>
                <a:r>
                  <a:rPr lang="en-US" b="1" dirty="0">
                    <a:solidFill>
                      <a:srgbClr val="FF0000"/>
                    </a:solidFill>
                    <a:ea typeface="Times New Roman"/>
                    <a:cs typeface="Times New Roman"/>
                  </a:rPr>
                  <a:t> </a:t>
                </a:r>
                <a:endParaRPr lang="en-US" sz="1100" dirty="0">
                  <a:ea typeface="Calibri"/>
                  <a:cs typeface="Times New Roman"/>
                </a:endParaRPr>
              </a:p>
              <a:p>
                <a:endParaRPr lang="en-US" dirty="0"/>
              </a:p>
            </p:txBody>
          </p:sp>
        </mc:Choice>
        <mc:Fallback xmlns="">
          <p:sp>
            <p:nvSpPr>
              <p:cNvPr id="3" name="Notes Placeholder 2"/>
              <p:cNvSpPr>
                <a:spLocks noGrp="1"/>
              </p:cNvSpPr>
              <p:nvPr>
                <p:ph type="body" idx="1"/>
              </p:nvPr>
            </p:nvSpPr>
            <p:spPr/>
            <p:txBody>
              <a:bodyPr/>
              <a:lstStyle/>
              <a:p>
                <a:pPr>
                  <a:lnSpc>
                    <a:spcPct val="115000"/>
                  </a:lnSpc>
                  <a:spcAft>
                    <a:spcPts val="1000"/>
                  </a:spcAft>
                </a:pPr>
                <a:r>
                  <a:rPr lang="en-US" dirty="0">
                    <a:ea typeface="Calibri"/>
                    <a:cs typeface="Times New Roman"/>
                  </a:rPr>
                  <a:t>There is a strong relationship between algebra, geometry and statistical concepts.  So, one of the things we’ll try to accomplish is a reading knowledge of matrix expressions to aid in understanding statistical concepts.  </a:t>
                </a:r>
                <a:endParaRPr lang="en-US" sz="1100" dirty="0">
                  <a:ea typeface="Calibri"/>
                  <a:cs typeface="Times New Roman"/>
                </a:endParaRPr>
              </a:p>
              <a:p>
                <a:pPr>
                  <a:lnSpc>
                    <a:spcPct val="115000"/>
                  </a:lnSpc>
                  <a:spcAft>
                    <a:spcPts val="1000"/>
                  </a:spcAft>
                </a:pPr>
                <a:r>
                  <a:rPr lang="en-US" b="1" dirty="0">
                    <a:solidFill>
                      <a:srgbClr val="FF0000"/>
                    </a:solidFill>
                    <a:ea typeface="Calibri"/>
                    <a:cs typeface="Times New Roman"/>
                  </a:rPr>
                  <a:t>Consider the vector </a:t>
                </a:r>
                <a:r>
                  <a:rPr lang="en-US" b="1" i="0">
                    <a:solidFill>
                      <a:srgbClr val="FF0000"/>
                    </a:solidFill>
                    <a:latin typeface="Cambria Math"/>
                    <a:ea typeface="Calibri"/>
                    <a:cs typeface="Times New Roman"/>
                  </a:rPr>
                  <a:t>𝒂= </a:t>
                </a:r>
                <a:r>
                  <a:rPr lang="en-US" b="1" i="0">
                    <a:solidFill>
                      <a:srgbClr val="FF0000"/>
                    </a:solidFill>
                    <a:latin typeface="Cambria Math"/>
                    <a:cs typeface="Times New Roman"/>
                  </a:rPr>
                  <a:t>[■8(</a:t>
                </a:r>
                <a:r>
                  <a:rPr lang="en-US" b="1" i="0">
                    <a:solidFill>
                      <a:srgbClr val="FF0000"/>
                    </a:solidFill>
                    <a:latin typeface="Cambria Math"/>
                    <a:ea typeface="Calibri"/>
                    <a:cs typeface="Times New Roman"/>
                  </a:rPr>
                  <a:t>𝟐@𝟏@𝟑)]</a:t>
                </a:r>
                <a:r>
                  <a:rPr lang="en-US" b="1" dirty="0">
                    <a:solidFill>
                      <a:srgbClr val="FF0000"/>
                    </a:solidFill>
                    <a:ea typeface="Times New Roman"/>
                    <a:cs typeface="Times New Roman"/>
                  </a:rPr>
                  <a:t> </a:t>
                </a:r>
                <a:endParaRPr lang="en-US" sz="1100" dirty="0">
                  <a:ea typeface="Calibri"/>
                  <a:cs typeface="Times New Roman"/>
                </a:endParaRPr>
              </a:p>
              <a:p>
                <a:endParaRPr lang="en-US" dirty="0"/>
              </a:p>
            </p:txBody>
          </p:sp>
        </mc:Fallback>
      </mc:AlternateContent>
      <p:sp>
        <p:nvSpPr>
          <p:cNvPr id="4" name="Slide Number Placeholder 3"/>
          <p:cNvSpPr>
            <a:spLocks noGrp="1"/>
          </p:cNvSpPr>
          <p:nvPr>
            <p:ph type="sldNum" sz="quarter" idx="10"/>
          </p:nvPr>
        </p:nvSpPr>
        <p:spPr/>
        <p:txBody>
          <a:bodyPr/>
          <a:lstStyle/>
          <a:p>
            <a:fld id="{D5C4C6CD-949A-441E-9AE4-96D0CA63E7FD}" type="slidenum">
              <a:rPr lang="en-US" smtClean="0"/>
              <a:t>12</a:t>
            </a:fld>
            <a:endParaRPr lang="en-US"/>
          </a:p>
        </p:txBody>
      </p:sp>
    </p:spTree>
    <p:extLst>
      <p:ext uri="{BB962C8B-B14F-4D97-AF65-F5344CB8AC3E}">
        <p14:creationId xmlns:p14="http://schemas.microsoft.com/office/powerpoint/2010/main" val="1932273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nSpc>
                    <a:spcPct val="115000"/>
                  </a:lnSpc>
                  <a:spcAft>
                    <a:spcPts val="1000"/>
                  </a:spcAft>
                </a:pPr>
                <a:r>
                  <a:rPr lang="en-US" dirty="0">
                    <a:ea typeface="Calibri"/>
                    <a:cs typeface="Times New Roman"/>
                  </a:rPr>
                  <a:t>There is a strong relationship between algebra, geometry and statistical concepts.  So, one of the things we’ll try to accomplish is a reading knowledge of matrix expressions to aid in understanding statistical concepts.  </a:t>
                </a:r>
                <a:endParaRPr lang="en-US" sz="1100" dirty="0">
                  <a:ea typeface="Calibri"/>
                  <a:cs typeface="Times New Roman"/>
                </a:endParaRPr>
              </a:p>
              <a:p>
                <a:pPr>
                  <a:lnSpc>
                    <a:spcPct val="115000"/>
                  </a:lnSpc>
                  <a:spcAft>
                    <a:spcPts val="1000"/>
                  </a:spcAft>
                </a:pPr>
                <a:r>
                  <a:rPr lang="en-US" b="1" dirty="0">
                    <a:solidFill>
                      <a:srgbClr val="FF0000"/>
                    </a:solidFill>
                    <a:ea typeface="Calibri"/>
                    <a:cs typeface="Times New Roman"/>
                  </a:rPr>
                  <a:t>Consider the vector </a:t>
                </a:r>
                <a14:m>
                  <m:oMath xmlns:m="http://schemas.openxmlformats.org/officeDocument/2006/math">
                    <m:r>
                      <a:rPr lang="en-US" b="1" i="1">
                        <a:solidFill>
                          <a:srgbClr val="FF0000"/>
                        </a:solidFill>
                        <a:latin typeface="Cambria Math"/>
                        <a:ea typeface="Calibri"/>
                        <a:cs typeface="Times New Roman"/>
                      </a:rPr>
                      <m:t>𝒂</m:t>
                    </m:r>
                    <m:r>
                      <a:rPr lang="en-US" b="1" i="1">
                        <a:solidFill>
                          <a:srgbClr val="FF0000"/>
                        </a:solidFill>
                        <a:latin typeface="Cambria Math"/>
                        <a:ea typeface="Calibri"/>
                        <a:cs typeface="Times New Roman"/>
                      </a:rPr>
                      <m:t>= </m:t>
                    </m:r>
                    <m:d>
                      <m:dPr>
                        <m:begChr m:val="["/>
                        <m:endChr m:val="]"/>
                        <m:ctrlPr>
                          <a:rPr lang="en-US" b="1" i="1">
                            <a:solidFill>
                              <a:srgbClr val="FF0000"/>
                            </a:solidFill>
                            <a:latin typeface="Cambria Math" panose="02040503050406030204" pitchFamily="18" charset="0"/>
                            <a:ea typeface="Calibri"/>
                            <a:cs typeface="Times New Roman"/>
                          </a:rPr>
                        </m:ctrlPr>
                      </m:dPr>
                      <m:e>
                        <m:m>
                          <m:mPr>
                            <m:mcs>
                              <m:mc>
                                <m:mcPr>
                                  <m:count m:val="1"/>
                                  <m:mcJc m:val="center"/>
                                </m:mcPr>
                              </m:mc>
                            </m:mcs>
                            <m:ctrlPr>
                              <a:rPr lang="en-US" b="1" i="1">
                                <a:solidFill>
                                  <a:srgbClr val="FF0000"/>
                                </a:solidFill>
                                <a:latin typeface="Cambria Math" panose="02040503050406030204" pitchFamily="18" charset="0"/>
                                <a:ea typeface="Calibri"/>
                                <a:cs typeface="Times New Roman"/>
                              </a:rPr>
                            </m:ctrlPr>
                          </m:mPr>
                          <m:mr>
                            <m:e>
                              <m:r>
                                <a:rPr lang="en-US" b="1" i="1">
                                  <a:solidFill>
                                    <a:srgbClr val="FF0000"/>
                                  </a:solidFill>
                                  <a:latin typeface="Cambria Math"/>
                                  <a:ea typeface="Calibri"/>
                                  <a:cs typeface="Times New Roman"/>
                                </a:rPr>
                                <m:t>𝟐</m:t>
                              </m:r>
                            </m:e>
                          </m:mr>
                          <m:mr>
                            <m:e>
                              <m:r>
                                <a:rPr lang="en-US" b="1" i="1">
                                  <a:solidFill>
                                    <a:srgbClr val="FF0000"/>
                                  </a:solidFill>
                                  <a:latin typeface="Cambria Math"/>
                                  <a:ea typeface="Calibri"/>
                                  <a:cs typeface="Times New Roman"/>
                                </a:rPr>
                                <m:t>𝟏</m:t>
                              </m:r>
                            </m:e>
                          </m:mr>
                          <m:mr>
                            <m:e>
                              <m:r>
                                <a:rPr lang="en-US" b="1" i="1">
                                  <a:solidFill>
                                    <a:srgbClr val="FF0000"/>
                                  </a:solidFill>
                                  <a:latin typeface="Cambria Math"/>
                                  <a:ea typeface="Calibri"/>
                                  <a:cs typeface="Times New Roman"/>
                                </a:rPr>
                                <m:t>𝟑</m:t>
                              </m:r>
                            </m:e>
                          </m:mr>
                        </m:m>
                      </m:e>
                    </m:d>
                  </m:oMath>
                </a14:m>
                <a:r>
                  <a:rPr lang="en-US" b="1" dirty="0">
                    <a:solidFill>
                      <a:srgbClr val="FF0000"/>
                    </a:solidFill>
                    <a:ea typeface="Times New Roman"/>
                    <a:cs typeface="Times New Roman"/>
                  </a:rPr>
                  <a:t> </a:t>
                </a:r>
                <a:endParaRPr lang="en-US" sz="1100" dirty="0">
                  <a:ea typeface="Calibri"/>
                  <a:cs typeface="Times New Roman"/>
                </a:endParaRPr>
              </a:p>
              <a:p>
                <a:endParaRPr lang="en-US" dirty="0"/>
              </a:p>
            </p:txBody>
          </p:sp>
        </mc:Choice>
        <mc:Fallback xmlns="">
          <p:sp>
            <p:nvSpPr>
              <p:cNvPr id="3" name="Notes Placeholder 2"/>
              <p:cNvSpPr>
                <a:spLocks noGrp="1"/>
              </p:cNvSpPr>
              <p:nvPr>
                <p:ph type="body" idx="1"/>
              </p:nvPr>
            </p:nvSpPr>
            <p:spPr/>
            <p:txBody>
              <a:bodyPr/>
              <a:lstStyle/>
              <a:p>
                <a:pPr>
                  <a:lnSpc>
                    <a:spcPct val="115000"/>
                  </a:lnSpc>
                  <a:spcAft>
                    <a:spcPts val="1000"/>
                  </a:spcAft>
                </a:pPr>
                <a:r>
                  <a:rPr lang="en-US" dirty="0">
                    <a:ea typeface="Calibri"/>
                    <a:cs typeface="Times New Roman"/>
                  </a:rPr>
                  <a:t>There is a strong relationship between algebra, geometry and statistical concepts.  So, one of the things we’ll try to accomplish is a reading knowledge of matrix expressions to aid in understanding statistical concepts.  </a:t>
                </a:r>
                <a:endParaRPr lang="en-US" sz="1100" dirty="0">
                  <a:ea typeface="Calibri"/>
                  <a:cs typeface="Times New Roman"/>
                </a:endParaRPr>
              </a:p>
              <a:p>
                <a:pPr>
                  <a:lnSpc>
                    <a:spcPct val="115000"/>
                  </a:lnSpc>
                  <a:spcAft>
                    <a:spcPts val="1000"/>
                  </a:spcAft>
                </a:pPr>
                <a:r>
                  <a:rPr lang="en-US" b="1" dirty="0">
                    <a:solidFill>
                      <a:srgbClr val="FF0000"/>
                    </a:solidFill>
                    <a:ea typeface="Calibri"/>
                    <a:cs typeface="Times New Roman"/>
                  </a:rPr>
                  <a:t>Consider the vector </a:t>
                </a:r>
                <a:r>
                  <a:rPr lang="en-US" b="1" i="0">
                    <a:solidFill>
                      <a:srgbClr val="FF0000"/>
                    </a:solidFill>
                    <a:latin typeface="Cambria Math"/>
                    <a:ea typeface="Calibri"/>
                    <a:cs typeface="Times New Roman"/>
                  </a:rPr>
                  <a:t>𝒂= </a:t>
                </a:r>
                <a:r>
                  <a:rPr lang="en-US" b="1" i="0">
                    <a:solidFill>
                      <a:srgbClr val="FF0000"/>
                    </a:solidFill>
                    <a:latin typeface="Cambria Math"/>
                    <a:cs typeface="Times New Roman"/>
                  </a:rPr>
                  <a:t>[■8(</a:t>
                </a:r>
                <a:r>
                  <a:rPr lang="en-US" b="1" i="0">
                    <a:solidFill>
                      <a:srgbClr val="FF0000"/>
                    </a:solidFill>
                    <a:latin typeface="Cambria Math"/>
                    <a:ea typeface="Calibri"/>
                    <a:cs typeface="Times New Roman"/>
                  </a:rPr>
                  <a:t>𝟐@𝟏@𝟑)]</a:t>
                </a:r>
                <a:r>
                  <a:rPr lang="en-US" b="1" dirty="0">
                    <a:solidFill>
                      <a:srgbClr val="FF0000"/>
                    </a:solidFill>
                    <a:ea typeface="Times New Roman"/>
                    <a:cs typeface="Times New Roman"/>
                  </a:rPr>
                  <a:t> </a:t>
                </a:r>
                <a:endParaRPr lang="en-US" sz="1100" dirty="0">
                  <a:ea typeface="Calibri"/>
                  <a:cs typeface="Times New Roman"/>
                </a:endParaRPr>
              </a:p>
              <a:p>
                <a:endParaRPr lang="en-US" dirty="0"/>
              </a:p>
            </p:txBody>
          </p:sp>
        </mc:Fallback>
      </mc:AlternateContent>
      <p:sp>
        <p:nvSpPr>
          <p:cNvPr id="4" name="Slide Number Placeholder 3"/>
          <p:cNvSpPr>
            <a:spLocks noGrp="1"/>
          </p:cNvSpPr>
          <p:nvPr>
            <p:ph type="sldNum" sz="quarter" idx="10"/>
          </p:nvPr>
        </p:nvSpPr>
        <p:spPr/>
        <p:txBody>
          <a:bodyPr/>
          <a:lstStyle/>
          <a:p>
            <a:fld id="{D5C4C6CD-949A-441E-9AE4-96D0CA63E7FD}" type="slidenum">
              <a:rPr lang="en-US" smtClean="0"/>
              <a:t>13</a:t>
            </a:fld>
            <a:endParaRPr lang="en-US"/>
          </a:p>
        </p:txBody>
      </p:sp>
    </p:spTree>
    <p:extLst>
      <p:ext uri="{BB962C8B-B14F-4D97-AF65-F5344CB8AC3E}">
        <p14:creationId xmlns:p14="http://schemas.microsoft.com/office/powerpoint/2010/main" val="3613364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pPr>
                  <a:lnSpc>
                    <a:spcPct val="115000"/>
                  </a:lnSpc>
                  <a:spcAft>
                    <a:spcPts val="1000"/>
                  </a:spcAft>
                </a:pPr>
                <a:r>
                  <a:rPr lang="en-US" dirty="0">
                    <a:ea typeface="Calibri"/>
                    <a:cs typeface="Times New Roman"/>
                  </a:rPr>
                  <a:t>You can do all sorts of things with vectors, e.g. you can add 2 vectors together.  Slide 4 shows how this looks in R.  What does it look like in 3-D space?  </a:t>
                </a:r>
                <a:endParaRPr lang="en-US" sz="1100" dirty="0">
                  <a:ea typeface="Calibri"/>
                  <a:cs typeface="Times New Roman"/>
                </a:endParaRPr>
              </a:p>
              <a:p>
                <a:pPr>
                  <a:lnSpc>
                    <a:spcPct val="115000"/>
                  </a:lnSpc>
                  <a:spcAft>
                    <a:spcPts val="1000"/>
                  </a:spcAft>
                </a:pPr>
                <a:r>
                  <a:rPr lang="en-US" b="1" dirty="0">
                    <a:solidFill>
                      <a:srgbClr val="FF0000"/>
                    </a:solidFill>
                    <a:ea typeface="Calibri"/>
                    <a:cs typeface="Times New Roman"/>
                  </a:rPr>
                  <a:t>Remember how we drew the 2 vectors and their resultant vector on the board.  </a:t>
                </a:r>
                <a:endParaRPr lang="en-US" sz="1100" dirty="0">
                  <a:ea typeface="Calibri"/>
                  <a:cs typeface="Times New Roman"/>
                </a:endParaRPr>
              </a:p>
              <a:p>
                <a:pPr>
                  <a:lnSpc>
                    <a:spcPct val="115000"/>
                  </a:lnSpc>
                  <a:spcAft>
                    <a:spcPts val="1000"/>
                  </a:spcAft>
                </a:pPr>
                <a:r>
                  <a:rPr lang="en-US" dirty="0">
                    <a:ea typeface="Calibri"/>
                    <a:cs typeface="Times New Roman"/>
                  </a:rPr>
                  <a:t>You can multiply them by a constant aka scalar multiplication…</a:t>
                </a:r>
                <a:endParaRPr lang="en-US" sz="1100" dirty="0">
                  <a:ea typeface="Calibri"/>
                  <a:cs typeface="Times New Roman"/>
                </a:endParaRPr>
              </a:p>
              <a:p>
                <a:pPr>
                  <a:lnSpc>
                    <a:spcPct val="115000"/>
                  </a:lnSpc>
                  <a:spcAft>
                    <a:spcPts val="1000"/>
                  </a:spcAft>
                </a:pPr>
                <a:r>
                  <a:rPr lang="en-US" dirty="0">
                    <a:ea typeface="Calibri"/>
                    <a:cs typeface="Times New Roman"/>
                  </a:rPr>
                  <a:t>Let’s just check this orthogonality thing…  Let’s consider our vector a and another vector b where </a:t>
                </a:r>
                <a:endParaRPr lang="en-US" sz="1100" dirty="0">
                  <a:ea typeface="Calibri"/>
                  <a:cs typeface="Times New Roman"/>
                </a:endParaRPr>
              </a:p>
              <a:p>
                <a:pPr>
                  <a:lnSpc>
                    <a:spcPct val="115000"/>
                  </a:lnSpc>
                  <a:spcAft>
                    <a:spcPts val="1000"/>
                  </a:spcAft>
                </a:pPr>
                <a:r>
                  <a:rPr lang="en-US" i="0">
                    <a:latin typeface="Cambria Math"/>
                    <a:ea typeface="Calibri"/>
                    <a:cs typeface="Times New Roman"/>
                  </a:rPr>
                  <a:t>2𝑥+1𝑦+3𝑧=0</a:t>
                </a:r>
                <a:endParaRPr lang="en-US" sz="1100" dirty="0">
                  <a:ea typeface="Calibri"/>
                  <a:cs typeface="Times New Roman"/>
                </a:endParaRPr>
              </a:p>
              <a:p>
                <a:pPr>
                  <a:lnSpc>
                    <a:spcPct val="115000"/>
                  </a:lnSpc>
                  <a:spcAft>
                    <a:spcPts val="1000"/>
                  </a:spcAft>
                </a:pPr>
                <a:r>
                  <a:rPr lang="en-US" i="0">
                    <a:latin typeface="Cambria Math"/>
                    <a:ea typeface="Times New Roman"/>
                    <a:cs typeface="Times New Roman"/>
                  </a:rPr>
                  <a:t>0=2𝑥+3𝑧</a:t>
                </a:r>
                <a:endParaRPr lang="en-US" sz="1100" dirty="0">
                  <a:ea typeface="Calibri"/>
                  <a:cs typeface="Times New Roman"/>
                </a:endParaRPr>
              </a:p>
              <a:p>
                <a:pPr>
                  <a:lnSpc>
                    <a:spcPct val="115000"/>
                  </a:lnSpc>
                  <a:spcAft>
                    <a:spcPts val="1000"/>
                  </a:spcAft>
                </a:pPr>
                <a:r>
                  <a:rPr lang="en-US" i="0">
                    <a:latin typeface="Cambria Math"/>
                    <a:ea typeface="Times New Roman"/>
                    <a:cs typeface="Times New Roman"/>
                  </a:rPr>
                  <a:t>𝑥= −3 𝑎𝑛𝑑 𝑧=2</a:t>
                </a:r>
                <a:endParaRPr lang="en-US" sz="1100" dirty="0">
                  <a:ea typeface="Calibri"/>
                  <a:cs typeface="Times New Roman"/>
                </a:endParaRPr>
              </a:p>
              <a:p>
                <a:pPr>
                  <a:lnSpc>
                    <a:spcPct val="115000"/>
                  </a:lnSpc>
                  <a:spcAft>
                    <a:spcPts val="1000"/>
                  </a:spcAft>
                </a:pPr>
                <a:r>
                  <a:rPr lang="en-US" i="0">
                    <a:latin typeface="Cambria Math"/>
                    <a:ea typeface="Calibri"/>
                    <a:cs typeface="Times New Roman"/>
                  </a:rPr>
                  <a:t>𝑏= </a:t>
                </a:r>
                <a:r>
                  <a:rPr lang="en-US" i="0">
                    <a:latin typeface="Cambria Math"/>
                    <a:cs typeface="Times New Roman"/>
                  </a:rPr>
                  <a:t>[■8(</a:t>
                </a:r>
                <a:r>
                  <a:rPr lang="en-US" i="0">
                    <a:latin typeface="Cambria Math"/>
                    <a:ea typeface="Calibri"/>
                    <a:cs typeface="Times New Roman"/>
                  </a:rPr>
                  <a:t>−3@0@2)]</a:t>
                </a:r>
                <a:endParaRPr lang="en-US" sz="1100" dirty="0">
                  <a:ea typeface="Calibri"/>
                  <a:cs typeface="Times New Roman"/>
                </a:endParaRPr>
              </a:p>
              <a:p>
                <a:pPr algn="ctr">
                  <a:lnSpc>
                    <a:spcPct val="115000"/>
                  </a:lnSpc>
                  <a:spcAft>
                    <a:spcPts val="1000"/>
                  </a:spcAft>
                </a:pPr>
                <a:r>
                  <a:rPr lang="en-US" i="0">
                    <a:latin typeface="Cambria Math"/>
                    <a:ea typeface="Calibri"/>
                    <a:cs typeface="Times New Roman"/>
                  </a:rPr>
                  <a:t>𝑎∙𝑏= </a:t>
                </a:r>
                <a:r>
                  <a:rPr lang="en-US" i="0">
                    <a:latin typeface="Cambria Math"/>
                    <a:cs typeface="Times New Roman"/>
                  </a:rPr>
                  <a:t>[■8(</a:t>
                </a:r>
                <a:r>
                  <a:rPr lang="en-US" i="0">
                    <a:latin typeface="Cambria Math"/>
                    <a:ea typeface="Calibri"/>
                    <a:cs typeface="Times New Roman"/>
                  </a:rPr>
                  <a:t>2@1@3)]</a:t>
                </a:r>
                <a:r>
                  <a:rPr lang="en-US" i="0">
                    <a:latin typeface="Cambria Math"/>
                    <a:cs typeface="Times New Roman"/>
                  </a:rPr>
                  <a:t>[■8(</a:t>
                </a:r>
                <a:r>
                  <a:rPr lang="en-US" i="0">
                    <a:latin typeface="Cambria Math"/>
                    <a:ea typeface="Calibri"/>
                    <a:cs typeface="Times New Roman"/>
                  </a:rPr>
                  <a:t>−3@0@2)]= 2</a:t>
                </a:r>
                <a:r>
                  <a:rPr lang="en-US" i="0">
                    <a:latin typeface="Cambria Math"/>
                    <a:cs typeface="Times New Roman"/>
                  </a:rPr>
                  <a:t>(</a:t>
                </a:r>
                <a:r>
                  <a:rPr lang="en-US" i="0">
                    <a:latin typeface="Cambria Math"/>
                    <a:ea typeface="Calibri"/>
                    <a:cs typeface="Times New Roman"/>
                  </a:rPr>
                  <a:t>−3)+1</a:t>
                </a:r>
                <a:r>
                  <a:rPr lang="en-US" i="0">
                    <a:latin typeface="Cambria Math"/>
                    <a:cs typeface="Times New Roman"/>
                  </a:rPr>
                  <a:t>(</a:t>
                </a:r>
                <a:r>
                  <a:rPr lang="en-US" i="0">
                    <a:latin typeface="Cambria Math"/>
                    <a:ea typeface="Calibri"/>
                    <a:cs typeface="Times New Roman"/>
                  </a:rPr>
                  <a:t>0)+ </a:t>
                </a:r>
                <a:r>
                  <a:rPr lang="en-US" dirty="0">
                    <a:ea typeface="Times New Roman"/>
                    <a:cs typeface="Times New Roman"/>
                  </a:rPr>
                  <a:t>3(2) = 0</a:t>
                </a:r>
                <a:endParaRPr lang="en-US" sz="1100" dirty="0">
                  <a:ea typeface="Calibri"/>
                  <a:cs typeface="Times New Roman"/>
                </a:endParaRPr>
              </a:p>
              <a:p>
                <a:endParaRPr lang="en-US" dirty="0"/>
              </a:p>
            </p:txBody>
          </p:sp>
        </mc:Fallback>
      </mc:AlternateContent>
      <p:sp>
        <p:nvSpPr>
          <p:cNvPr id="4" name="Slide Number Placeholder 3"/>
          <p:cNvSpPr>
            <a:spLocks noGrp="1"/>
          </p:cNvSpPr>
          <p:nvPr>
            <p:ph type="sldNum" sz="quarter" idx="10"/>
          </p:nvPr>
        </p:nvSpPr>
        <p:spPr/>
        <p:txBody>
          <a:bodyPr/>
          <a:lstStyle/>
          <a:p>
            <a:fld id="{D5C4C6CD-949A-441E-9AE4-96D0CA63E7FD}" type="slidenum">
              <a:rPr lang="en-US" smtClean="0"/>
              <a:t>14</a:t>
            </a:fld>
            <a:endParaRPr lang="en-US"/>
          </a:p>
        </p:txBody>
      </p:sp>
    </p:spTree>
    <p:extLst>
      <p:ext uri="{BB962C8B-B14F-4D97-AF65-F5344CB8AC3E}">
        <p14:creationId xmlns:p14="http://schemas.microsoft.com/office/powerpoint/2010/main" val="731790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Times New Roman"/>
              </a:rPr>
              <a:t>Now let’s start looking at matrices and arrays.  Slide 5 has a simple 2x2 matrix and shows how one is constructed in R.  Note that in R when you construct a matrix using a list of numbers the numbers are read into the matrix column-by-column. </a:t>
            </a:r>
            <a:endParaRPr lang="en-US" dirty="0"/>
          </a:p>
        </p:txBody>
      </p:sp>
      <p:sp>
        <p:nvSpPr>
          <p:cNvPr id="4" name="Slide Number Placeholder 3"/>
          <p:cNvSpPr>
            <a:spLocks noGrp="1"/>
          </p:cNvSpPr>
          <p:nvPr>
            <p:ph type="sldNum" sz="quarter" idx="10"/>
          </p:nvPr>
        </p:nvSpPr>
        <p:spPr/>
        <p:txBody>
          <a:bodyPr/>
          <a:lstStyle/>
          <a:p>
            <a:fld id="{D5C4C6CD-949A-441E-9AE4-96D0CA63E7FD}" type="slidenum">
              <a:rPr lang="en-US" smtClean="0"/>
              <a:t>15</a:t>
            </a:fld>
            <a:endParaRPr lang="en-US"/>
          </a:p>
        </p:txBody>
      </p:sp>
    </p:spTree>
    <p:extLst>
      <p:ext uri="{BB962C8B-B14F-4D97-AF65-F5344CB8AC3E}">
        <p14:creationId xmlns:p14="http://schemas.microsoft.com/office/powerpoint/2010/main" val="3539248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Times New Roman"/>
              </a:rPr>
              <a:t>Now let’s start looking at matrices and arrays.  Slide 5 has a simple 2x2 matrix and shows how one is constructed in R.  Note that in R when you construct a matrix using a list of numbers the numbers are read into the matrix column-by-column. </a:t>
            </a:r>
            <a:endParaRPr lang="en-US" dirty="0"/>
          </a:p>
        </p:txBody>
      </p:sp>
      <p:sp>
        <p:nvSpPr>
          <p:cNvPr id="4" name="Slide Number Placeholder 3"/>
          <p:cNvSpPr>
            <a:spLocks noGrp="1"/>
          </p:cNvSpPr>
          <p:nvPr>
            <p:ph type="sldNum" sz="quarter" idx="10"/>
          </p:nvPr>
        </p:nvSpPr>
        <p:spPr/>
        <p:txBody>
          <a:bodyPr/>
          <a:lstStyle/>
          <a:p>
            <a:fld id="{D5C4C6CD-949A-441E-9AE4-96D0CA63E7FD}" type="slidenum">
              <a:rPr lang="en-US" smtClean="0"/>
              <a:t>16</a:t>
            </a:fld>
            <a:endParaRPr lang="en-US"/>
          </a:p>
        </p:txBody>
      </p:sp>
    </p:spTree>
    <p:extLst>
      <p:ext uri="{BB962C8B-B14F-4D97-AF65-F5344CB8AC3E}">
        <p14:creationId xmlns:p14="http://schemas.microsoft.com/office/powerpoint/2010/main" val="1130256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nSpc>
                    <a:spcPct val="115000"/>
                  </a:lnSpc>
                  <a:spcAft>
                    <a:spcPts val="1000"/>
                  </a:spcAft>
                </a:pPr>
                <a:endParaRPr lang="en-US" dirty="0"/>
              </a:p>
            </p:txBody>
          </p:sp>
        </mc:Choice>
        <mc:Fallback xmlns="">
          <p:sp>
            <p:nvSpPr>
              <p:cNvPr id="3" name="Notes Placeholder 2"/>
              <p:cNvSpPr>
                <a:spLocks noGrp="1"/>
              </p:cNvSpPr>
              <p:nvPr>
                <p:ph type="body" idx="1"/>
              </p:nvPr>
            </p:nvSpPr>
            <p:spPr/>
            <p:txBody>
              <a:bodyPr/>
              <a:lstStyle/>
              <a:p>
                <a:pPr>
                  <a:lnSpc>
                    <a:spcPct val="115000"/>
                  </a:lnSpc>
                  <a:spcAft>
                    <a:spcPts val="1000"/>
                  </a:spcAft>
                </a:pPr>
                <a:r>
                  <a:rPr lang="en-US" dirty="0">
                    <a:ea typeface="Calibri"/>
                    <a:cs typeface="Times New Roman"/>
                  </a:rPr>
                  <a:t>One last exercise… a determinant is a function of a square matrix that reduces it to a single number.  If A consists of one component or element, a, then |A| = a.  For example, if A = [6] then |A| = 6.  </a:t>
                </a:r>
                <a:endParaRPr lang="en-US" sz="1100" dirty="0">
                  <a:ea typeface="Calibri"/>
                  <a:cs typeface="Times New Roman"/>
                </a:endParaRPr>
              </a:p>
              <a:p>
                <a:pPr>
                  <a:lnSpc>
                    <a:spcPct val="115000"/>
                  </a:lnSpc>
                  <a:spcAft>
                    <a:spcPts val="1000"/>
                  </a:spcAft>
                </a:pPr>
                <a:r>
                  <a:rPr lang="en-US" dirty="0">
                    <a:ea typeface="Calibri"/>
                    <a:cs typeface="Times New Roman"/>
                  </a:rPr>
                  <a:t>If A is a 2x2 matrix…  </a:t>
                </a:r>
                <a:r>
                  <a:rPr lang="en-US" i="0">
                    <a:latin typeface="Cambria Math"/>
                    <a:ea typeface="Calibri"/>
                    <a:cs typeface="Times New Roman"/>
                  </a:rPr>
                  <a:t>𝐴= </a:t>
                </a:r>
                <a:r>
                  <a:rPr lang="en-US" i="0">
                    <a:latin typeface="Cambria Math"/>
                    <a:cs typeface="Times New Roman"/>
                  </a:rPr>
                  <a:t>[■8(</a:t>
                </a:r>
                <a:r>
                  <a:rPr lang="en-US" i="0">
                    <a:latin typeface="Cambria Math"/>
                    <a:ea typeface="Calibri"/>
                    <a:cs typeface="Times New Roman"/>
                  </a:rPr>
                  <a:t>4&amp;1@1&amp;2)]   </a:t>
                </a:r>
                <a:r>
                  <a:rPr lang="en-US" i="0">
                    <a:latin typeface="Cambria Math"/>
                    <a:cs typeface="Times New Roman"/>
                  </a:rPr>
                  <a:t>|</a:t>
                </a:r>
                <a:r>
                  <a:rPr lang="en-US" i="0">
                    <a:latin typeface="Cambria Math"/>
                    <a:ea typeface="Calibri"/>
                    <a:cs typeface="Times New Roman"/>
                  </a:rPr>
                  <a:t>𝐴|=4</a:t>
                </a:r>
                <a:r>
                  <a:rPr lang="en-US" i="0">
                    <a:latin typeface="Cambria Math"/>
                    <a:cs typeface="Times New Roman"/>
                  </a:rPr>
                  <a:t>(</a:t>
                </a:r>
                <a:r>
                  <a:rPr lang="en-US" i="0">
                    <a:latin typeface="Cambria Math"/>
                    <a:ea typeface="Calibri"/>
                    <a:cs typeface="Times New Roman"/>
                  </a:rPr>
                  <a:t>2)−1</a:t>
                </a:r>
                <a:r>
                  <a:rPr lang="en-US" i="0">
                    <a:latin typeface="Cambria Math"/>
                    <a:cs typeface="Times New Roman"/>
                  </a:rPr>
                  <a:t>(</a:t>
                </a:r>
                <a:r>
                  <a:rPr lang="en-US" i="0">
                    <a:latin typeface="Cambria Math"/>
                    <a:ea typeface="Calibri"/>
                    <a:cs typeface="Times New Roman"/>
                  </a:rPr>
                  <a:t>1)=7</a:t>
                </a:r>
                <a:endParaRPr lang="en-US" sz="1100" dirty="0">
                  <a:ea typeface="Calibri"/>
                  <a:cs typeface="Times New Roman"/>
                </a:endParaRPr>
              </a:p>
              <a:p>
                <a:pPr>
                  <a:lnSpc>
                    <a:spcPct val="115000"/>
                  </a:lnSpc>
                  <a:spcAft>
                    <a:spcPts val="1000"/>
                  </a:spcAft>
                </a:pPr>
                <a:r>
                  <a:rPr lang="en-US" dirty="0">
                    <a:ea typeface="Times New Roman"/>
                    <a:cs typeface="Times New Roman"/>
                  </a:rPr>
                  <a:t>But what is n &gt; 2?</a:t>
                </a:r>
                <a:endParaRPr lang="en-US" sz="1100" dirty="0">
                  <a:ea typeface="Calibri"/>
                  <a:cs typeface="Times New Roman"/>
                </a:endParaRPr>
              </a:p>
              <a:p>
                <a:pPr>
                  <a:lnSpc>
                    <a:spcPct val="115000"/>
                  </a:lnSpc>
                  <a:spcAft>
                    <a:spcPts val="1000"/>
                  </a:spcAft>
                </a:pPr>
                <a:r>
                  <a:rPr lang="en-US" i="0">
                    <a:latin typeface="Cambria Math"/>
                    <a:cs typeface="Times New Roman"/>
                  </a:rPr>
                  <a:t>|■8(</a:t>
                </a:r>
                <a:r>
                  <a:rPr lang="en-US" i="0">
                    <a:latin typeface="Cambria Math"/>
                    <a:ea typeface="Calibri"/>
                    <a:cs typeface="Times New Roman"/>
                  </a:rPr>
                  <a:t>−1&amp;4&amp;3@2&amp;6&amp;4@3&amp;−2&amp;8)|=</a:t>
                </a:r>
                <a:r>
                  <a:rPr lang="en-US" i="0">
                    <a:latin typeface="Cambria Math"/>
                    <a:cs typeface="Times New Roman"/>
                  </a:rPr>
                  <a:t>(</a:t>
                </a:r>
                <a:r>
                  <a:rPr lang="en-US" i="0">
                    <a:latin typeface="Cambria Math"/>
                    <a:ea typeface="Calibri"/>
                    <a:cs typeface="Times New Roman"/>
                  </a:rPr>
                  <a:t>−1)</a:t>
                </a:r>
                <a:r>
                  <a:rPr lang="en-US" i="0">
                    <a:latin typeface="Cambria Math"/>
                    <a:cs typeface="Times New Roman"/>
                  </a:rPr>
                  <a:t>|■8(</a:t>
                </a:r>
                <a:r>
                  <a:rPr lang="en-US" i="0">
                    <a:latin typeface="Cambria Math"/>
                    <a:ea typeface="Calibri"/>
                    <a:cs typeface="Times New Roman"/>
                  </a:rPr>
                  <a:t>6&amp;4@−2&amp;8)|−</a:t>
                </a:r>
                <a:r>
                  <a:rPr lang="en-US" i="0">
                    <a:latin typeface="Cambria Math"/>
                    <a:cs typeface="Times New Roman"/>
                  </a:rPr>
                  <a:t>(</a:t>
                </a:r>
                <a:r>
                  <a:rPr lang="en-US" i="0">
                    <a:latin typeface="Cambria Math"/>
                    <a:ea typeface="Calibri"/>
                    <a:cs typeface="Times New Roman"/>
                  </a:rPr>
                  <a:t>4)</a:t>
                </a:r>
                <a:r>
                  <a:rPr lang="en-US" i="0">
                    <a:latin typeface="Cambria Math"/>
                    <a:cs typeface="Times New Roman"/>
                  </a:rPr>
                  <a:t>|■8(</a:t>
                </a:r>
                <a:r>
                  <a:rPr lang="en-US" i="0">
                    <a:latin typeface="Cambria Math"/>
                    <a:ea typeface="Calibri"/>
                    <a:cs typeface="Times New Roman"/>
                  </a:rPr>
                  <a:t>2&amp;4@3&amp;8)|+</a:t>
                </a:r>
                <a:r>
                  <a:rPr lang="en-US" i="0">
                    <a:latin typeface="Cambria Math"/>
                    <a:cs typeface="Times New Roman"/>
                  </a:rPr>
                  <a:t>(</a:t>
                </a:r>
                <a:r>
                  <a:rPr lang="en-US" i="0">
                    <a:latin typeface="Cambria Math"/>
                    <a:ea typeface="Calibri"/>
                    <a:cs typeface="Times New Roman"/>
                  </a:rPr>
                  <a:t>3)</a:t>
                </a:r>
                <a:r>
                  <a:rPr lang="en-US" i="0">
                    <a:latin typeface="Cambria Math"/>
                    <a:cs typeface="Times New Roman"/>
                  </a:rPr>
                  <a:t>|■8(</a:t>
                </a:r>
                <a:r>
                  <a:rPr lang="en-US" i="0">
                    <a:latin typeface="Cambria Math"/>
                    <a:ea typeface="Calibri"/>
                    <a:cs typeface="Times New Roman"/>
                  </a:rPr>
                  <a:t>2&amp;6@3&amp;−2)|= −1</a:t>
                </a:r>
                <a:r>
                  <a:rPr lang="en-US" i="0">
                    <a:latin typeface="Cambria Math"/>
                    <a:cs typeface="Times New Roman"/>
                  </a:rPr>
                  <a:t>(</a:t>
                </a:r>
                <a:r>
                  <a:rPr lang="en-US" i="0">
                    <a:latin typeface="Cambria Math"/>
                    <a:ea typeface="Calibri"/>
                    <a:cs typeface="Times New Roman"/>
                  </a:rPr>
                  <a:t>6∗8−4∗2)−4</a:t>
                </a:r>
                <a:r>
                  <a:rPr lang="en-US" i="0">
                    <a:latin typeface="Cambria Math"/>
                    <a:cs typeface="Times New Roman"/>
                  </a:rPr>
                  <a:t>(</a:t>
                </a:r>
                <a:r>
                  <a:rPr lang="en-US" i="0">
                    <a:latin typeface="Cambria Math"/>
                    <a:ea typeface="Calibri"/>
                    <a:cs typeface="Times New Roman"/>
                  </a:rPr>
                  <a:t>2∗8−4∗3)+3</a:t>
                </a:r>
                <a:r>
                  <a:rPr lang="en-US" i="0">
                    <a:latin typeface="Cambria Math"/>
                    <a:cs typeface="Times New Roman"/>
                  </a:rPr>
                  <a:t>(</a:t>
                </a:r>
                <a:r>
                  <a:rPr lang="en-US" i="0">
                    <a:latin typeface="Cambria Math"/>
                    <a:ea typeface="Calibri"/>
                    <a:cs typeface="Times New Roman"/>
                  </a:rPr>
                  <a:t>2∗−2−3∗6)&amp;= −56−16−66= −138</a:t>
                </a:r>
                <a:endParaRPr lang="en-US" sz="1100" dirty="0">
                  <a:ea typeface="Calibri"/>
                  <a:cs typeface="Times New Roman"/>
                </a:endParaRPr>
              </a:p>
              <a:p>
                <a:endParaRPr lang="en-US" dirty="0"/>
              </a:p>
            </p:txBody>
          </p:sp>
        </mc:Fallback>
      </mc:AlternateContent>
      <p:sp>
        <p:nvSpPr>
          <p:cNvPr id="4" name="Slide Number Placeholder 3"/>
          <p:cNvSpPr>
            <a:spLocks noGrp="1"/>
          </p:cNvSpPr>
          <p:nvPr>
            <p:ph type="sldNum" sz="quarter" idx="10"/>
          </p:nvPr>
        </p:nvSpPr>
        <p:spPr/>
        <p:txBody>
          <a:bodyPr/>
          <a:lstStyle/>
          <a:p>
            <a:fld id="{D5C4C6CD-949A-441E-9AE4-96D0CA63E7FD}" type="slidenum">
              <a:rPr lang="en-US" smtClean="0"/>
              <a:t>17</a:t>
            </a:fld>
            <a:endParaRPr lang="en-US"/>
          </a:p>
        </p:txBody>
      </p:sp>
    </p:spTree>
    <p:extLst>
      <p:ext uri="{BB962C8B-B14F-4D97-AF65-F5344CB8AC3E}">
        <p14:creationId xmlns:p14="http://schemas.microsoft.com/office/powerpoint/2010/main" val="13145645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pPr>
                  <a:lnSpc>
                    <a:spcPct val="115000"/>
                  </a:lnSpc>
                  <a:spcAft>
                    <a:spcPts val="1000"/>
                  </a:spcAft>
                </a:pPr>
                <a:r>
                  <a:rPr lang="en-US" dirty="0">
                    <a:ea typeface="Calibri"/>
                    <a:cs typeface="Times New Roman"/>
                  </a:rPr>
                  <a:t>One last exercise… a determinant is a function of a square matrix that reduces it to a single number.  If A consists of one component or element, a, then |A| = a.  For example, if A = [6] then |A| = 6.  </a:t>
                </a:r>
                <a:endParaRPr lang="en-US" sz="1100" dirty="0">
                  <a:ea typeface="Calibri"/>
                  <a:cs typeface="Times New Roman"/>
                </a:endParaRPr>
              </a:p>
              <a:p>
                <a:pPr>
                  <a:lnSpc>
                    <a:spcPct val="115000"/>
                  </a:lnSpc>
                  <a:spcAft>
                    <a:spcPts val="1000"/>
                  </a:spcAft>
                </a:pPr>
                <a:r>
                  <a:rPr lang="en-US" dirty="0">
                    <a:ea typeface="Calibri"/>
                    <a:cs typeface="Times New Roman"/>
                  </a:rPr>
                  <a:t>If A is a 2x2 matrix…  </a:t>
                </a:r>
                <a:r>
                  <a:rPr lang="en-US" i="0">
                    <a:latin typeface="Cambria Math"/>
                    <a:ea typeface="Calibri"/>
                    <a:cs typeface="Times New Roman"/>
                  </a:rPr>
                  <a:t>𝐴= </a:t>
                </a:r>
                <a:r>
                  <a:rPr lang="en-US" i="0">
                    <a:latin typeface="Cambria Math"/>
                    <a:cs typeface="Times New Roman"/>
                  </a:rPr>
                  <a:t>[■8(</a:t>
                </a:r>
                <a:r>
                  <a:rPr lang="en-US" i="0">
                    <a:latin typeface="Cambria Math"/>
                    <a:ea typeface="Calibri"/>
                    <a:cs typeface="Times New Roman"/>
                  </a:rPr>
                  <a:t>4&amp;1@1&amp;2)]   </a:t>
                </a:r>
                <a:r>
                  <a:rPr lang="en-US" i="0">
                    <a:latin typeface="Cambria Math"/>
                    <a:cs typeface="Times New Roman"/>
                  </a:rPr>
                  <a:t>|</a:t>
                </a:r>
                <a:r>
                  <a:rPr lang="en-US" i="0">
                    <a:latin typeface="Cambria Math"/>
                    <a:ea typeface="Calibri"/>
                    <a:cs typeface="Times New Roman"/>
                  </a:rPr>
                  <a:t>𝐴|=4</a:t>
                </a:r>
                <a:r>
                  <a:rPr lang="en-US" i="0">
                    <a:latin typeface="Cambria Math"/>
                    <a:cs typeface="Times New Roman"/>
                  </a:rPr>
                  <a:t>(</a:t>
                </a:r>
                <a:r>
                  <a:rPr lang="en-US" i="0">
                    <a:latin typeface="Cambria Math"/>
                    <a:ea typeface="Calibri"/>
                    <a:cs typeface="Times New Roman"/>
                  </a:rPr>
                  <a:t>2)−1</a:t>
                </a:r>
                <a:r>
                  <a:rPr lang="en-US" i="0">
                    <a:latin typeface="Cambria Math"/>
                    <a:cs typeface="Times New Roman"/>
                  </a:rPr>
                  <a:t>(</a:t>
                </a:r>
                <a:r>
                  <a:rPr lang="en-US" i="0">
                    <a:latin typeface="Cambria Math"/>
                    <a:ea typeface="Calibri"/>
                    <a:cs typeface="Times New Roman"/>
                  </a:rPr>
                  <a:t>1)=7</a:t>
                </a:r>
                <a:endParaRPr lang="en-US" sz="1100" dirty="0">
                  <a:ea typeface="Calibri"/>
                  <a:cs typeface="Times New Roman"/>
                </a:endParaRPr>
              </a:p>
              <a:p>
                <a:pPr>
                  <a:lnSpc>
                    <a:spcPct val="115000"/>
                  </a:lnSpc>
                  <a:spcAft>
                    <a:spcPts val="1000"/>
                  </a:spcAft>
                </a:pPr>
                <a:r>
                  <a:rPr lang="en-US" dirty="0">
                    <a:ea typeface="Times New Roman"/>
                    <a:cs typeface="Times New Roman"/>
                  </a:rPr>
                  <a:t>But what is n &gt; 2?</a:t>
                </a:r>
                <a:endParaRPr lang="en-US" sz="1100" dirty="0">
                  <a:ea typeface="Calibri"/>
                  <a:cs typeface="Times New Roman"/>
                </a:endParaRPr>
              </a:p>
              <a:p>
                <a:pPr>
                  <a:lnSpc>
                    <a:spcPct val="115000"/>
                  </a:lnSpc>
                  <a:spcAft>
                    <a:spcPts val="1000"/>
                  </a:spcAft>
                </a:pPr>
                <a:r>
                  <a:rPr lang="en-US" i="0">
                    <a:latin typeface="Cambria Math"/>
                    <a:cs typeface="Times New Roman"/>
                  </a:rPr>
                  <a:t>|■8(</a:t>
                </a:r>
                <a:r>
                  <a:rPr lang="en-US" i="0">
                    <a:latin typeface="Cambria Math"/>
                    <a:ea typeface="Calibri"/>
                    <a:cs typeface="Times New Roman"/>
                  </a:rPr>
                  <a:t>−1&amp;4&amp;3@2&amp;6&amp;4@3&amp;−2&amp;8)|=</a:t>
                </a:r>
                <a:r>
                  <a:rPr lang="en-US" i="0">
                    <a:latin typeface="Cambria Math"/>
                    <a:cs typeface="Times New Roman"/>
                  </a:rPr>
                  <a:t>(</a:t>
                </a:r>
                <a:r>
                  <a:rPr lang="en-US" i="0">
                    <a:latin typeface="Cambria Math"/>
                    <a:ea typeface="Calibri"/>
                    <a:cs typeface="Times New Roman"/>
                  </a:rPr>
                  <a:t>−1)</a:t>
                </a:r>
                <a:r>
                  <a:rPr lang="en-US" i="0">
                    <a:latin typeface="Cambria Math"/>
                    <a:cs typeface="Times New Roman"/>
                  </a:rPr>
                  <a:t>|■8(</a:t>
                </a:r>
                <a:r>
                  <a:rPr lang="en-US" i="0">
                    <a:latin typeface="Cambria Math"/>
                    <a:ea typeface="Calibri"/>
                    <a:cs typeface="Times New Roman"/>
                  </a:rPr>
                  <a:t>6&amp;4@−2&amp;8)|−</a:t>
                </a:r>
                <a:r>
                  <a:rPr lang="en-US" i="0">
                    <a:latin typeface="Cambria Math"/>
                    <a:cs typeface="Times New Roman"/>
                  </a:rPr>
                  <a:t>(</a:t>
                </a:r>
                <a:r>
                  <a:rPr lang="en-US" i="0">
                    <a:latin typeface="Cambria Math"/>
                    <a:ea typeface="Calibri"/>
                    <a:cs typeface="Times New Roman"/>
                  </a:rPr>
                  <a:t>4)</a:t>
                </a:r>
                <a:r>
                  <a:rPr lang="en-US" i="0">
                    <a:latin typeface="Cambria Math"/>
                    <a:cs typeface="Times New Roman"/>
                  </a:rPr>
                  <a:t>|■8(</a:t>
                </a:r>
                <a:r>
                  <a:rPr lang="en-US" i="0">
                    <a:latin typeface="Cambria Math"/>
                    <a:ea typeface="Calibri"/>
                    <a:cs typeface="Times New Roman"/>
                  </a:rPr>
                  <a:t>2&amp;4@3&amp;8)|+</a:t>
                </a:r>
                <a:r>
                  <a:rPr lang="en-US" i="0">
                    <a:latin typeface="Cambria Math"/>
                    <a:cs typeface="Times New Roman"/>
                  </a:rPr>
                  <a:t>(</a:t>
                </a:r>
                <a:r>
                  <a:rPr lang="en-US" i="0">
                    <a:latin typeface="Cambria Math"/>
                    <a:ea typeface="Calibri"/>
                    <a:cs typeface="Times New Roman"/>
                  </a:rPr>
                  <a:t>3)</a:t>
                </a:r>
                <a:r>
                  <a:rPr lang="en-US" i="0">
                    <a:latin typeface="Cambria Math"/>
                    <a:cs typeface="Times New Roman"/>
                  </a:rPr>
                  <a:t>|■8(</a:t>
                </a:r>
                <a:r>
                  <a:rPr lang="en-US" i="0">
                    <a:latin typeface="Cambria Math"/>
                    <a:ea typeface="Calibri"/>
                    <a:cs typeface="Times New Roman"/>
                  </a:rPr>
                  <a:t>2&amp;6@3&amp;−2)|= −1</a:t>
                </a:r>
                <a:r>
                  <a:rPr lang="en-US" i="0">
                    <a:latin typeface="Cambria Math"/>
                    <a:cs typeface="Times New Roman"/>
                  </a:rPr>
                  <a:t>(</a:t>
                </a:r>
                <a:r>
                  <a:rPr lang="en-US" i="0">
                    <a:latin typeface="Cambria Math"/>
                    <a:ea typeface="Calibri"/>
                    <a:cs typeface="Times New Roman"/>
                  </a:rPr>
                  <a:t>6∗8−4∗2)−4</a:t>
                </a:r>
                <a:r>
                  <a:rPr lang="en-US" i="0">
                    <a:latin typeface="Cambria Math"/>
                    <a:cs typeface="Times New Roman"/>
                  </a:rPr>
                  <a:t>(</a:t>
                </a:r>
                <a:r>
                  <a:rPr lang="en-US" i="0">
                    <a:latin typeface="Cambria Math"/>
                    <a:ea typeface="Calibri"/>
                    <a:cs typeface="Times New Roman"/>
                  </a:rPr>
                  <a:t>2∗8−4∗3)+3</a:t>
                </a:r>
                <a:r>
                  <a:rPr lang="en-US" i="0">
                    <a:latin typeface="Cambria Math"/>
                    <a:cs typeface="Times New Roman"/>
                  </a:rPr>
                  <a:t>(</a:t>
                </a:r>
                <a:r>
                  <a:rPr lang="en-US" i="0">
                    <a:latin typeface="Cambria Math"/>
                    <a:ea typeface="Calibri"/>
                    <a:cs typeface="Times New Roman"/>
                  </a:rPr>
                  <a:t>2∗−2−3∗6)&amp;= −56−16−66= −138</a:t>
                </a:r>
                <a:endParaRPr lang="en-US" sz="1100" dirty="0">
                  <a:ea typeface="Calibri"/>
                  <a:cs typeface="Times New Roman"/>
                </a:endParaRPr>
              </a:p>
              <a:p>
                <a:endParaRPr lang="en-US" dirty="0"/>
              </a:p>
            </p:txBody>
          </p:sp>
        </mc:Fallback>
      </mc:AlternateContent>
      <p:sp>
        <p:nvSpPr>
          <p:cNvPr id="4" name="Slide Number Placeholder 3"/>
          <p:cNvSpPr>
            <a:spLocks noGrp="1"/>
          </p:cNvSpPr>
          <p:nvPr>
            <p:ph type="sldNum" sz="quarter" idx="10"/>
          </p:nvPr>
        </p:nvSpPr>
        <p:spPr/>
        <p:txBody>
          <a:bodyPr/>
          <a:lstStyle/>
          <a:p>
            <a:fld id="{D5C4C6CD-949A-441E-9AE4-96D0CA63E7FD}" type="slidenum">
              <a:rPr lang="en-US" smtClean="0"/>
              <a:t>18</a:t>
            </a:fld>
            <a:endParaRPr lang="en-US"/>
          </a:p>
        </p:txBody>
      </p:sp>
    </p:spTree>
    <p:extLst>
      <p:ext uri="{BB962C8B-B14F-4D97-AF65-F5344CB8AC3E}">
        <p14:creationId xmlns:p14="http://schemas.microsoft.com/office/powerpoint/2010/main" val="42520461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nSpc>
                    <a:spcPct val="115000"/>
                  </a:lnSpc>
                  <a:spcAft>
                    <a:spcPts val="1000"/>
                  </a:spcAft>
                </a:pPr>
                <a:endParaRPr lang="en-US" dirty="0">
                  <a:ea typeface="Calibri"/>
                  <a:cs typeface="Times New Roman"/>
                </a:endParaRPr>
              </a:p>
            </p:txBody>
          </p:sp>
        </mc:Choice>
        <mc:Fallback xmlns="">
          <p:sp>
            <p:nvSpPr>
              <p:cNvPr id="3" name="Notes Placeholder 2"/>
              <p:cNvSpPr>
                <a:spLocks noGrp="1"/>
              </p:cNvSpPr>
              <p:nvPr>
                <p:ph type="body" idx="1"/>
              </p:nvPr>
            </p:nvSpPr>
            <p:spPr/>
            <p:txBody>
              <a:bodyPr/>
              <a:lstStyle/>
              <a:p>
                <a:pPr>
                  <a:lnSpc>
                    <a:spcPct val="115000"/>
                  </a:lnSpc>
                  <a:spcAft>
                    <a:spcPts val="1000"/>
                  </a:spcAft>
                </a:pPr>
                <a:r>
                  <a:rPr lang="en-US" dirty="0">
                    <a:ea typeface="Calibri"/>
                    <a:cs typeface="Times New Roman"/>
                  </a:rPr>
                  <a:t>Now that we’ve looked at vectors and matrices let’s start using what we know to solve systems of linear equations.  </a:t>
                </a:r>
              </a:p>
              <a:p>
                <a:pPr algn="ctr">
                  <a:lnSpc>
                    <a:spcPct val="115000"/>
                  </a:lnSpc>
                  <a:spcAft>
                    <a:spcPts val="1000"/>
                  </a:spcAft>
                </a:pPr>
                <a:r>
                  <a:rPr lang="en-US" i="0">
                    <a:effectLst/>
                    <a:latin typeface="Cambria Math"/>
                    <a:ea typeface="Calibri"/>
                    <a:cs typeface="Times New Roman"/>
                  </a:rPr>
                  <a:t>𝐴= </a:t>
                </a:r>
                <a:r>
                  <a:rPr lang="en-US" i="0">
                    <a:effectLst/>
                    <a:latin typeface="Cambria Math"/>
                    <a:cs typeface="Times New Roman"/>
                  </a:rPr>
                  <a:t>[■8(</a:t>
                </a:r>
                <a:r>
                  <a:rPr lang="en-US" i="0">
                    <a:effectLst/>
                    <a:latin typeface="Cambria Math"/>
                    <a:ea typeface="Calibri"/>
                    <a:cs typeface="Times New Roman"/>
                  </a:rPr>
                  <a:t>5&amp;3@4&amp;2)]</a:t>
                </a:r>
                <a:r>
                  <a:rPr lang="en-US" dirty="0">
                    <a:ea typeface="Calibri"/>
                    <a:cs typeface="Times New Roman"/>
                  </a:rPr>
                  <a:t>, </a:t>
                </a:r>
                <a:r>
                  <a:rPr lang="en-US" i="0">
                    <a:effectLst/>
                    <a:latin typeface="Cambria Math"/>
                    <a:ea typeface="Calibri"/>
                    <a:cs typeface="Times New Roman"/>
                  </a:rPr>
                  <a:t>𝑥= </a:t>
                </a:r>
                <a:r>
                  <a:rPr lang="en-US" i="0">
                    <a:effectLst/>
                    <a:latin typeface="Cambria Math"/>
                    <a:cs typeface="Times New Roman"/>
                  </a:rPr>
                  <a:t>[■8(</a:t>
                </a:r>
                <a:r>
                  <a:rPr lang="en-US" i="0">
                    <a:effectLst/>
                    <a:latin typeface="Cambria Math"/>
                    <a:ea typeface="Calibri"/>
                    <a:cs typeface="Times New Roman"/>
                  </a:rPr>
                  <a:t>𝑥_1@𝑥_2 )]</a:t>
                </a:r>
                <a:r>
                  <a:rPr lang="en-US" dirty="0">
                    <a:ea typeface="Calibri"/>
                    <a:cs typeface="Times New Roman"/>
                  </a:rPr>
                  <a:t>, </a:t>
                </a:r>
                <a:r>
                  <a:rPr lang="en-US" i="0">
                    <a:effectLst/>
                    <a:latin typeface="Cambria Math"/>
                    <a:ea typeface="Calibri"/>
                    <a:cs typeface="Times New Roman"/>
                  </a:rPr>
                  <a:t>𝑏= </a:t>
                </a:r>
                <a:r>
                  <a:rPr lang="en-US" i="0">
                    <a:effectLst/>
                    <a:latin typeface="Cambria Math"/>
                    <a:cs typeface="Times New Roman"/>
                  </a:rPr>
                  <a:t>[■8(</a:t>
                </a:r>
                <a:r>
                  <a:rPr lang="en-US" i="0">
                    <a:effectLst/>
                    <a:latin typeface="Cambria Math"/>
                    <a:ea typeface="Calibri"/>
                    <a:cs typeface="Times New Roman"/>
                  </a:rPr>
                  <a:t>19@14)]</a:t>
                </a:r>
                <a:endParaRPr lang="en-US" dirty="0">
                  <a:ea typeface="Calibri"/>
                  <a:cs typeface="Times New Roman"/>
                </a:endParaRPr>
              </a:p>
              <a:p>
                <a:pPr>
                  <a:lnSpc>
                    <a:spcPct val="115000"/>
                  </a:lnSpc>
                  <a:spcAft>
                    <a:spcPts val="1000"/>
                  </a:spcAft>
                </a:pPr>
                <a:r>
                  <a:rPr lang="en-US" i="0">
                    <a:effectLst/>
                    <a:latin typeface="Cambria Math"/>
                    <a:ea typeface="Calibri"/>
                    <a:cs typeface="Times New Roman"/>
                  </a:rPr>
                  <a:t>𝐴𝑥=𝑏</a:t>
                </a:r>
                <a:endParaRPr lang="en-US" dirty="0">
                  <a:ea typeface="Calibri"/>
                  <a:cs typeface="Times New Roman"/>
                </a:endParaRPr>
              </a:p>
              <a:p>
                <a:pPr>
                  <a:lnSpc>
                    <a:spcPct val="115000"/>
                  </a:lnSpc>
                  <a:spcAft>
                    <a:spcPts val="1000"/>
                  </a:spcAft>
                </a:pPr>
                <a:r>
                  <a:rPr lang="en-US" sz="1400" i="0">
                    <a:effectLst/>
                    <a:latin typeface="Cambria Math"/>
                    <a:ea typeface="Calibri"/>
                    <a:cs typeface="Times New Roman"/>
                  </a:rPr>
                  <a:t>5𝑥_1+3𝑥_2&amp;=19 </a:t>
                </a:r>
                <a:endParaRPr lang="en-US" dirty="0">
                  <a:ea typeface="Calibri"/>
                  <a:cs typeface="Times New Roman"/>
                </a:endParaRPr>
              </a:p>
              <a:p>
                <a:pPr>
                  <a:lnSpc>
                    <a:spcPct val="115000"/>
                  </a:lnSpc>
                  <a:spcAft>
                    <a:spcPts val="1000"/>
                  </a:spcAft>
                </a:pPr>
                <a:r>
                  <a:rPr lang="en-US" sz="1400" i="0">
                    <a:effectLst/>
                    <a:latin typeface="Cambria Math"/>
                    <a:ea typeface="Calibri"/>
                    <a:cs typeface="Times New Roman"/>
                  </a:rPr>
                  <a:t>4𝑥_1+2𝑥_2=14</a:t>
                </a:r>
                <a:endParaRPr lang="en-US" dirty="0">
                  <a:ea typeface="Calibri"/>
                  <a:cs typeface="Times New Roman"/>
                </a:endParaRPr>
              </a:p>
              <a:p>
                <a:pPr>
                  <a:lnSpc>
                    <a:spcPct val="115000"/>
                  </a:lnSpc>
                  <a:spcAft>
                    <a:spcPts val="1000"/>
                  </a:spcAft>
                </a:pPr>
                <a:r>
                  <a:rPr lang="en-US" sz="1400" dirty="0">
                    <a:ea typeface="Times New Roman"/>
                    <a:cs typeface="Times New Roman"/>
                  </a:rPr>
                  <a:t>The matrix solution for this set of linear equations is </a:t>
                </a:r>
                <a:r>
                  <a:rPr lang="en-US" sz="1400" i="0">
                    <a:effectLst/>
                    <a:latin typeface="Cambria Math"/>
                    <a:ea typeface="Times New Roman"/>
                    <a:cs typeface="Times New Roman"/>
                  </a:rPr>
                  <a:t>𝑥= 𝐴^(−1) 𝑏</a:t>
                </a:r>
                <a:endParaRPr lang="en-US" dirty="0">
                  <a:ea typeface="Calibri"/>
                  <a:cs typeface="Times New Roman"/>
                </a:endParaRPr>
              </a:p>
              <a:p>
                <a:pPr>
                  <a:lnSpc>
                    <a:spcPct val="115000"/>
                  </a:lnSpc>
                  <a:spcAft>
                    <a:spcPts val="1000"/>
                  </a:spcAft>
                </a:pPr>
                <a:r>
                  <a:rPr lang="en-US" sz="1400" dirty="0">
                    <a:ea typeface="Times New Roman"/>
                    <a:cs typeface="Times New Roman"/>
                  </a:rPr>
                  <a:t>Review all the rules and conventions we’ve not mentioned here</a:t>
                </a:r>
                <a:r>
                  <a:rPr lang="en-US" sz="1400" dirty="0" smtClean="0">
                    <a:ea typeface="Times New Roman"/>
                    <a:cs typeface="Times New Roman"/>
                  </a:rPr>
                  <a:t>!</a:t>
                </a:r>
                <a:endParaRPr lang="en-US" dirty="0">
                  <a:ea typeface="Calibri"/>
                  <a:cs typeface="Times New Roman"/>
                </a:endParaRPr>
              </a:p>
            </p:txBody>
          </p:sp>
        </mc:Fallback>
      </mc:AlternateContent>
      <p:sp>
        <p:nvSpPr>
          <p:cNvPr id="4" name="Slide Number Placeholder 3"/>
          <p:cNvSpPr>
            <a:spLocks noGrp="1"/>
          </p:cNvSpPr>
          <p:nvPr>
            <p:ph type="sldNum" sz="quarter" idx="10"/>
          </p:nvPr>
        </p:nvSpPr>
        <p:spPr/>
        <p:txBody>
          <a:bodyPr/>
          <a:lstStyle/>
          <a:p>
            <a:fld id="{D5C4C6CD-949A-441E-9AE4-96D0CA63E7FD}" type="slidenum">
              <a:rPr lang="en-US" smtClean="0"/>
              <a:t>19</a:t>
            </a:fld>
            <a:endParaRPr lang="en-US"/>
          </a:p>
        </p:txBody>
      </p:sp>
    </p:spTree>
    <p:extLst>
      <p:ext uri="{BB962C8B-B14F-4D97-AF65-F5344CB8AC3E}">
        <p14:creationId xmlns:p14="http://schemas.microsoft.com/office/powerpoint/2010/main" val="2342555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C4C6CD-949A-441E-9AE4-96D0CA63E7FD}"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2510610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C4C6CD-949A-441E-9AE4-96D0CA63E7FD}"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376261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C4C6CD-949A-441E-9AE4-96D0CA63E7FD}" type="slidenum">
              <a:rPr 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2214718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Times New Roman"/>
            </a:endParaRPr>
          </a:p>
        </p:txBody>
      </p:sp>
      <p:sp>
        <p:nvSpPr>
          <p:cNvPr id="4" name="Slide Number Placeholder 3"/>
          <p:cNvSpPr>
            <a:spLocks noGrp="1"/>
          </p:cNvSpPr>
          <p:nvPr>
            <p:ph type="sldNum" sz="quarter" idx="10"/>
          </p:nvPr>
        </p:nvSpPr>
        <p:spPr/>
        <p:txBody>
          <a:bodyPr/>
          <a:lstStyle/>
          <a:p>
            <a:fld id="{D5C4C6CD-949A-441E-9AE4-96D0CA63E7FD}" type="slidenum">
              <a:rPr lang="en-US" smtClean="0">
                <a:solidFill>
                  <a:prstClr val="black"/>
                </a:solidFill>
              </a:rPr>
              <a:pPr/>
              <a:t>23</a:t>
            </a:fld>
            <a:endParaRPr lang="en-US">
              <a:solidFill>
                <a:prstClr val="black"/>
              </a:solidFill>
            </a:endParaRPr>
          </a:p>
        </p:txBody>
      </p:sp>
    </p:spTree>
    <p:extLst>
      <p:ext uri="{BB962C8B-B14F-4D97-AF65-F5344CB8AC3E}">
        <p14:creationId xmlns:p14="http://schemas.microsoft.com/office/powerpoint/2010/main" val="2704933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86705E-BE18-422A-A5BD-5289EE215E84}" type="datetime1">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694624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3FF2CA-4080-49F4-BF9D-336E92C284F9}" type="datetime1">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779920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1A5A08-ECFF-464F-BDE4-0FB6EA926ABC}" type="datetime1">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96813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83D5EA-AEA8-4BCB-BAA2-AA6858F20762}" type="datetime1">
              <a:rPr lang="en-US" smtClean="0"/>
              <a:t>8/30/2023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584286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72EF81-14E3-40A5-BCBB-E1BBAC050FE3}" type="datetime1">
              <a:rPr lang="en-US" smtClean="0"/>
              <a:t>8/30/2023</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120545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EB5D85-0565-4025-8E12-247A37CFD056}" type="datetime1">
              <a:rPr lang="en-US" smtClean="0"/>
              <a:t>8/30/2023</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4016931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80717B-621A-4D1B-A857-E026A23F85A2}" type="datetime1">
              <a:rPr lang="en-US" smtClean="0"/>
              <a:t>8/30/2023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86320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B7880C-A35E-4D2A-930F-ADBA94276D75}" type="datetime1">
              <a:rPr lang="en-US" smtClean="0"/>
              <a:t>8/30/2023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1727848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BFEF176-9373-49A2-B067-ADCF0A264FD7}" type="datetime1">
              <a:rPr lang="en-US" smtClean="0"/>
              <a:t>8/30/2023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60697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D81FCC7-5312-45B0-952D-F59C8D5F022B}" type="datetime1">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290017207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D81FCC7-5312-45B0-952D-F59C8D5F022B}" type="datetime1">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76F96C40-0356-46F5-90E5-FF57DE76D9A0}"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6142542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2D81FCC7-5312-45B0-952D-F59C8D5F022B}" type="datetime1">
              <a:rPr lang="en-US" smtClean="0"/>
              <a:t>8/30/2023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233030966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2D81FCC7-5312-45B0-952D-F59C8D5F022B}" type="datetime1">
              <a:rPr lang="en-US" smtClean="0"/>
              <a:t>8/30/2023</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8242432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2D81FCC7-5312-45B0-952D-F59C8D5F022B}" type="datetime1">
              <a:rPr lang="en-US" smtClean="0"/>
              <a:t>8/30/2023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314175051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219B9-3173-4904-AB8D-E5CFFD3B1860}" type="datetime1">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2875122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58112C-999E-45A5-82F4-9FFCD45E4460}" type="datetime1">
              <a:rPr lang="en-US" smtClean="0"/>
              <a:t>8/30/2023</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6F96C40-0356-46F5-90E5-FF57DE76D9A0}" type="slidenum">
              <a:rPr lang="en-US" smtClean="0"/>
              <a:t>‹#›</a:t>
            </a:fld>
            <a:endParaRPr lang="en-US"/>
          </a:p>
        </p:txBody>
      </p:sp>
    </p:spTree>
    <p:extLst>
      <p:ext uri="{BB962C8B-B14F-4D97-AF65-F5344CB8AC3E}">
        <p14:creationId xmlns:p14="http://schemas.microsoft.com/office/powerpoint/2010/main" val="29778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2D81FCC7-5312-45B0-952D-F59C8D5F022B}" type="datetime1">
              <a:rPr lang="en-US" smtClean="0"/>
              <a:t>8/30/2023</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76F96C40-0356-46F5-90E5-FF57DE76D9A0}" type="slidenum">
              <a:rPr lang="en-US" smtClean="0"/>
              <a:t>‹#›</a:t>
            </a:fld>
            <a:endParaRPr lang="en-US"/>
          </a:p>
        </p:txBody>
      </p:sp>
    </p:spTree>
    <p:extLst>
      <p:ext uri="{BB962C8B-B14F-4D97-AF65-F5344CB8AC3E}">
        <p14:creationId xmlns:p14="http://schemas.microsoft.com/office/powerpoint/2010/main" val="53887065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24.gif"/><Relationship Id="rId3" Type="http://schemas.openxmlformats.org/officeDocument/2006/relationships/image" Target="../media/image19.gif"/><Relationship Id="rId7" Type="http://schemas.openxmlformats.org/officeDocument/2006/relationships/image" Target="../media/image23.gif"/><Relationship Id="rId12"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2.gif"/><Relationship Id="rId11" Type="http://schemas.openxmlformats.org/officeDocument/2006/relationships/image" Target="../media/image27.gif"/><Relationship Id="rId5" Type="http://schemas.openxmlformats.org/officeDocument/2006/relationships/image" Target="../media/image21.gif"/><Relationship Id="rId10" Type="http://schemas.openxmlformats.org/officeDocument/2006/relationships/image" Target="../media/image26.gif"/><Relationship Id="rId4" Type="http://schemas.openxmlformats.org/officeDocument/2006/relationships/image" Target="../media/image20.gif"/><Relationship Id="rId9" Type="http://schemas.openxmlformats.org/officeDocument/2006/relationships/image" Target="../media/image25.gif"/></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290.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atin typeface="Times New Roman" panose="02020603050405020304" pitchFamily="18" charset="0"/>
                <a:cs typeface="Times New Roman" panose="02020603050405020304" pitchFamily="18" charset="0"/>
              </a:rPr>
              <a:t>Machine Learning</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Lecture 1- Introduction to machine learning</a:t>
            </a:r>
          </a:p>
        </p:txBody>
      </p:sp>
      <p:sp>
        <p:nvSpPr>
          <p:cNvPr id="4" name="Slide Number Placeholder 3"/>
          <p:cNvSpPr>
            <a:spLocks noGrp="1"/>
          </p:cNvSpPr>
          <p:nvPr>
            <p:ph type="sldNum" sz="quarter" idx="12"/>
          </p:nvPr>
        </p:nvSpPr>
        <p:spPr/>
        <p:txBody>
          <a:bodyPr/>
          <a:lstStyle/>
          <a:p>
            <a:fld id="{76F96C40-0356-46F5-90E5-FF57DE76D9A0}" type="slidenum">
              <a:rPr lang="en-US" smtClean="0"/>
              <a:t>1</a:t>
            </a:fld>
            <a:endParaRPr lang="en-US"/>
          </a:p>
        </p:txBody>
      </p:sp>
    </p:spTree>
    <p:extLst>
      <p:ext uri="{BB962C8B-B14F-4D97-AF65-F5344CB8AC3E}">
        <p14:creationId xmlns:p14="http://schemas.microsoft.com/office/powerpoint/2010/main" val="137754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00461"/>
            <a:ext cx="6589199" cy="1280890"/>
          </a:xfrm>
        </p:spPr>
        <p:txBody>
          <a:bodyPr/>
          <a:lstStyle/>
          <a:p>
            <a:r>
              <a:rPr lang="en-US" dirty="0">
                <a:latin typeface="Times New Roman" panose="02020603050405020304" pitchFamily="18" charset="0"/>
                <a:cs typeface="Times New Roman" panose="02020603050405020304" pitchFamily="18" charset="0"/>
              </a:rPr>
              <a:t>What is learning?</a:t>
            </a:r>
          </a:p>
        </p:txBody>
      </p:sp>
      <p:sp>
        <p:nvSpPr>
          <p:cNvPr id="3" name="Content Placeholder 2"/>
          <p:cNvSpPr>
            <a:spLocks noGrp="1"/>
          </p:cNvSpPr>
          <p:nvPr>
            <p:ph idx="1"/>
          </p:nvPr>
        </p:nvSpPr>
        <p:spPr>
          <a:xfrm>
            <a:off x="1016467" y="1475183"/>
            <a:ext cx="6591985" cy="3777622"/>
          </a:xfrm>
        </p:spPr>
        <p:txBody>
          <a:bodyPr>
            <a:normAutofit fontScale="92500"/>
          </a:bodyPr>
          <a:lstStyle/>
          <a:p>
            <a:r>
              <a:rPr lang="en-US" dirty="0">
                <a:latin typeface="Times New Roman" panose="02020603050405020304" pitchFamily="18" charset="0"/>
                <a:cs typeface="Times New Roman" panose="02020603050405020304" pitchFamily="18" charset="0"/>
              </a:rPr>
              <a:t>One Definition:  Learning is optimizing performance (based on some criterion) using example data or past experience.  Then, the goal of machine learning is to build algorithms enabled by constraints exposed by representations that support models targeted at: thinking, perception, and/or action.</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Another Definition: Statistical learning refers to a vast set of tools for understanding data.  These tools can be classified as supervised or unsupervised.  Broadly speaking, supervised statistical learning involves building a statistical model for predicting, or estimating, an output based on one or more inputs.  With unsupervised statistical learning, there are inputs but no supervising output; nevertheless we can learn relationships and structure from such data.</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393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97530"/>
            <a:ext cx="6589199" cy="1280890"/>
          </a:xfrm>
        </p:spPr>
        <p:txBody>
          <a:bodyPr/>
          <a:lstStyle/>
          <a:p>
            <a:r>
              <a:rPr lang="en-US" dirty="0">
                <a:latin typeface="Times New Roman" panose="02020603050405020304" pitchFamily="18" charset="0"/>
                <a:cs typeface="Times New Roman" panose="02020603050405020304" pitchFamily="18" charset="0"/>
              </a:rPr>
              <a:t>Machine learning</a:t>
            </a:r>
          </a:p>
        </p:txBody>
      </p:sp>
      <p:sp>
        <p:nvSpPr>
          <p:cNvPr id="3" name="Content Placeholder 2"/>
          <p:cNvSpPr>
            <a:spLocks noGrp="1"/>
          </p:cNvSpPr>
          <p:nvPr>
            <p:ph idx="1"/>
          </p:nvPr>
        </p:nvSpPr>
        <p:spPr>
          <a:xfrm>
            <a:off x="1016467" y="1475183"/>
            <a:ext cx="6591985" cy="3777622"/>
          </a:xfrm>
        </p:spPr>
        <p:txBody>
          <a:bodyPr/>
          <a:lstStyle/>
          <a:p>
            <a:r>
              <a:rPr lang="en-US" dirty="0">
                <a:latin typeface="Times New Roman" panose="02020603050405020304" pitchFamily="18" charset="0"/>
                <a:cs typeface="Times New Roman" panose="02020603050405020304" pitchFamily="18" charset="0"/>
              </a:rPr>
              <a:t>What is Machine learning? </a:t>
            </a:r>
            <a:endParaRPr lang="en-US" sz="1500" dirty="0">
              <a:latin typeface="Times New Roman" panose="02020603050405020304" pitchFamily="18" charset="0"/>
              <a:cs typeface="Times New Roman" panose="02020603050405020304" pitchFamily="18" charset="0"/>
            </a:endParaRPr>
          </a:p>
          <a:p>
            <a:pPr marL="480060">
              <a:buFontTx/>
              <a:buChar char="-"/>
            </a:pPr>
            <a:r>
              <a:rPr lang="en-US" sz="1500" dirty="0">
                <a:latin typeface="Times New Roman" panose="02020603050405020304" pitchFamily="18" charset="0"/>
                <a:cs typeface="Times New Roman" panose="02020603050405020304" pitchFamily="18" charset="0"/>
              </a:rPr>
              <a:t>“Field of study that gives computers the ability to learn without being explicitly programmed” – Arthur Samuel 1959</a:t>
            </a:r>
          </a:p>
          <a:p>
            <a:pPr marL="480060">
              <a:buFontTx/>
              <a:buChar char="-"/>
            </a:pPr>
            <a:r>
              <a:rPr lang="en-US" sz="1500" dirty="0">
                <a:latin typeface="Times New Roman" panose="02020603050405020304" pitchFamily="18" charset="0"/>
                <a:cs typeface="Times New Roman" panose="02020603050405020304" pitchFamily="18" charset="0"/>
              </a:rPr>
              <a:t>“How to construct programs that automatically learn from experience” – Mitchell 1997</a:t>
            </a: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65584" y="3565442"/>
            <a:ext cx="2311004" cy="2321008"/>
          </a:xfrm>
          <a:prstGeom prst="rect">
            <a:avLst/>
          </a:prstGeom>
        </p:spPr>
      </p:pic>
      <p:pic>
        <p:nvPicPr>
          <p:cNvPr id="5" name="Picture 4"/>
          <p:cNvPicPr>
            <a:picLocks noChangeAspect="1"/>
          </p:cNvPicPr>
          <p:nvPr/>
        </p:nvPicPr>
        <p:blipFill>
          <a:blip r:embed="rId3"/>
          <a:stretch>
            <a:fillRect/>
          </a:stretch>
        </p:blipFill>
        <p:spPr>
          <a:xfrm>
            <a:off x="4102536" y="3363994"/>
            <a:ext cx="3467816" cy="2522456"/>
          </a:xfrm>
          <a:prstGeom prst="rect">
            <a:avLst/>
          </a:prstGeom>
        </p:spPr>
      </p:pic>
    </p:spTree>
    <p:extLst>
      <p:ext uri="{BB962C8B-B14F-4D97-AF65-F5344CB8AC3E}">
        <p14:creationId xmlns:p14="http://schemas.microsoft.com/office/powerpoint/2010/main" val="248933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00461"/>
            <a:ext cx="6589199" cy="1280890"/>
          </a:xfrm>
        </p:spPr>
        <p:txBody>
          <a:bodyPr/>
          <a:lstStyle/>
          <a:p>
            <a:r>
              <a:rPr lang="en-US" dirty="0">
                <a:latin typeface="Times New Roman" panose="02020603050405020304" pitchFamily="18" charset="0"/>
                <a:cs typeface="Times New Roman" panose="02020603050405020304" pitchFamily="18" charset="0"/>
              </a:rPr>
              <a:t>Different types of ML</a:t>
            </a:r>
          </a:p>
        </p:txBody>
      </p:sp>
      <p:sp>
        <p:nvSpPr>
          <p:cNvPr id="3" name="Content Placeholder 2"/>
          <p:cNvSpPr>
            <a:spLocks noGrp="1"/>
          </p:cNvSpPr>
          <p:nvPr>
            <p:ph idx="1"/>
          </p:nvPr>
        </p:nvSpPr>
        <p:spPr>
          <a:xfrm>
            <a:off x="1016467" y="1475182"/>
            <a:ext cx="7594133" cy="4925617"/>
          </a:xfrm>
        </p:spPr>
        <p:txBody>
          <a:bodyPr>
            <a:normAutofit/>
          </a:bodyPr>
          <a:lstStyle/>
          <a:p>
            <a:r>
              <a:rPr lang="en-US" dirty="0">
                <a:latin typeface="Times New Roman" panose="02020603050405020304" pitchFamily="18" charset="0"/>
                <a:cs typeface="Times New Roman" panose="02020603050405020304" pitchFamily="18" charset="0"/>
              </a:rPr>
              <a:t>Supervised Learning:</a:t>
            </a:r>
          </a:p>
          <a:p>
            <a:pPr lvl="1"/>
            <a:r>
              <a:rPr lang="en-US" dirty="0">
                <a:latin typeface="Times New Roman" panose="02020603050405020304" pitchFamily="18" charset="0"/>
                <a:cs typeface="Times New Roman" panose="02020603050405020304" pitchFamily="18" charset="0"/>
              </a:rPr>
              <a:t>Usually means you have access to a training set that includes both input and output data.  The goal is to find that algorithm with which you can infer the given output from the given input.  We’ll talk about supervised learning more than unsupervised learning.  The methods we’ll cover include: classification, decision-trees, Bayesian methods, neural networks and multi-agent based models.</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Unsupervised learning</a:t>
            </a:r>
          </a:p>
          <a:p>
            <a:pPr lvl="1"/>
            <a:r>
              <a:rPr lang="en-US" dirty="0">
                <a:latin typeface="Times New Roman" panose="02020603050405020304" pitchFamily="18" charset="0"/>
                <a:cs typeface="Times New Roman" panose="02020603050405020304" pitchFamily="18" charset="0"/>
              </a:rPr>
              <a:t>Usually means finding an algorithm that can be used to produce output given some un-described input.  For example, given some data we might try to find a way to cluster it in order to formulate an algorithm that describes the data in terms of that clustering.</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18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00461"/>
            <a:ext cx="6589199" cy="1280890"/>
          </a:xfrm>
        </p:spPr>
        <p:txBody>
          <a:bodyPr/>
          <a:lstStyle/>
          <a:p>
            <a:r>
              <a:rPr lang="en-US" dirty="0">
                <a:latin typeface="Times New Roman" panose="02020603050405020304" pitchFamily="18" charset="0"/>
                <a:cs typeface="Times New Roman" panose="02020603050405020304" pitchFamily="18" charset="0"/>
              </a:rPr>
              <a:t>Other ML perspectives</a:t>
            </a:r>
          </a:p>
        </p:txBody>
      </p:sp>
      <p:sp>
        <p:nvSpPr>
          <p:cNvPr id="3" name="Content Placeholder 2"/>
          <p:cNvSpPr>
            <a:spLocks noGrp="1"/>
          </p:cNvSpPr>
          <p:nvPr>
            <p:ph idx="1"/>
          </p:nvPr>
        </p:nvSpPr>
        <p:spPr>
          <a:xfrm>
            <a:off x="1016467" y="1475182"/>
            <a:ext cx="7594133" cy="4925617"/>
          </a:xfrm>
        </p:spPr>
        <p:txBody>
          <a:bodyPr>
            <a:normAutofit/>
          </a:bodyPr>
          <a:lstStyle/>
          <a:p>
            <a:r>
              <a:rPr lang="en-US" dirty="0">
                <a:latin typeface="Times New Roman" panose="02020603050405020304" pitchFamily="18" charset="0"/>
                <a:cs typeface="Times New Roman" panose="02020603050405020304" pitchFamily="18" charset="0"/>
              </a:rPr>
              <a:t>Information-based Learning: </a:t>
            </a:r>
          </a:p>
          <a:p>
            <a:pPr lvl="1"/>
            <a:r>
              <a:rPr lang="en-US" dirty="0">
                <a:latin typeface="Times New Roman" panose="02020603050405020304" pitchFamily="18" charset="0"/>
                <a:cs typeface="Times New Roman" panose="02020603050405020304" pitchFamily="18" charset="0"/>
              </a:rPr>
              <a:t>We use information to guide or inform our decisions or lead us to the next question.  When we automate this we will optimize this by minimizing errors or entropy or some parameter. </a:t>
            </a:r>
            <a:r>
              <a:rPr lang="en-US" i="1" dirty="0">
                <a:latin typeface="Times New Roman" panose="02020603050405020304" pitchFamily="18" charset="0"/>
                <a:cs typeface="Times New Roman" panose="02020603050405020304" pitchFamily="18" charset="0"/>
              </a:rPr>
              <a:t>Example: decision tree</a:t>
            </a:r>
          </a:p>
          <a:p>
            <a:r>
              <a:rPr lang="en-US" dirty="0">
                <a:latin typeface="Times New Roman" panose="02020603050405020304" pitchFamily="18" charset="0"/>
                <a:cs typeface="Times New Roman" panose="02020603050405020304" pitchFamily="18" charset="0"/>
              </a:rPr>
              <a:t>Similarity-based Learning:</a:t>
            </a:r>
          </a:p>
          <a:p>
            <a:pPr lvl="1"/>
            <a:r>
              <a:rPr lang="en-US" dirty="0">
                <a:latin typeface="Times New Roman" panose="02020603050405020304" pitchFamily="18" charset="0"/>
                <a:cs typeface="Times New Roman" panose="02020603050405020304" pitchFamily="18" charset="0"/>
              </a:rPr>
              <a:t>What we are doing is putting together things that are similar. </a:t>
            </a:r>
            <a:r>
              <a:rPr lang="en-US" i="1" dirty="0">
                <a:latin typeface="Times New Roman" panose="02020603050405020304" pitchFamily="18" charset="0"/>
                <a:cs typeface="Times New Roman" panose="02020603050405020304" pitchFamily="18" charset="0"/>
              </a:rPr>
              <a:t>Example: Regression</a:t>
            </a:r>
          </a:p>
          <a:p>
            <a:r>
              <a:rPr lang="en-US" dirty="0">
                <a:latin typeface="Times New Roman" panose="02020603050405020304" pitchFamily="18" charset="0"/>
                <a:cs typeface="Times New Roman" panose="02020603050405020304" pitchFamily="18" charset="0"/>
              </a:rPr>
              <a:t>Probability-based Learning</a:t>
            </a:r>
          </a:p>
          <a:p>
            <a:pPr lvl="1"/>
            <a:r>
              <a:rPr lang="en-US" dirty="0">
                <a:latin typeface="Times New Roman" panose="02020603050405020304" pitchFamily="18" charset="0"/>
                <a:cs typeface="Times New Roman" panose="02020603050405020304" pitchFamily="18" charset="0"/>
              </a:rPr>
              <a:t>Find the probability of belonging to different classes rather than exactly identifying the class. </a:t>
            </a:r>
            <a:r>
              <a:rPr lang="en-US" i="1" dirty="0">
                <a:latin typeface="Times New Roman" panose="02020603050405020304" pitchFamily="18" charset="0"/>
                <a:cs typeface="Times New Roman" panose="02020603050405020304" pitchFamily="18" charset="0"/>
              </a:rPr>
              <a:t>Example: Naïve Bayes</a:t>
            </a:r>
          </a:p>
          <a:p>
            <a:r>
              <a:rPr lang="en-US" dirty="0">
                <a:latin typeface="Times New Roman" panose="02020603050405020304" pitchFamily="18" charset="0"/>
                <a:cs typeface="Times New Roman" panose="02020603050405020304" pitchFamily="18" charset="0"/>
              </a:rPr>
              <a:t>Error-based Learning:</a:t>
            </a:r>
          </a:p>
          <a:p>
            <a:pPr lvl="1"/>
            <a:r>
              <a:rPr lang="en-US" dirty="0">
                <a:latin typeface="Times New Roman" panose="02020603050405020304" pitchFamily="18" charset="0"/>
                <a:cs typeface="Times New Roman" panose="02020603050405020304" pitchFamily="18" charset="0"/>
              </a:rPr>
              <a:t>What we’re doing is developing a model, running it and checking our output against something then tweaking the model to reduce the error we find when we run our check. </a:t>
            </a:r>
            <a:r>
              <a:rPr lang="en-US" i="1" dirty="0">
                <a:latin typeface="Times New Roman" panose="02020603050405020304" pitchFamily="18" charset="0"/>
                <a:cs typeface="Times New Roman" panose="02020603050405020304" pitchFamily="18" charset="0"/>
              </a:rPr>
              <a:t>Example: KNN</a:t>
            </a:r>
          </a:p>
        </p:txBody>
      </p:sp>
    </p:spTree>
    <p:extLst>
      <p:ext uri="{BB962C8B-B14F-4D97-AF65-F5344CB8AC3E}">
        <p14:creationId xmlns:p14="http://schemas.microsoft.com/office/powerpoint/2010/main" val="4068102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What is the supervised learning?</a:t>
            </a:r>
          </a:p>
        </p:txBody>
      </p:sp>
      <p:sp>
        <p:nvSpPr>
          <p:cNvPr id="3" name="Content Placeholder 2"/>
          <p:cNvSpPr>
            <a:spLocks noGrp="1"/>
          </p:cNvSpPr>
          <p:nvPr>
            <p:ph idx="1"/>
          </p:nvPr>
        </p:nvSpPr>
        <p:spPr>
          <a:xfrm>
            <a:off x="628650" y="2125267"/>
            <a:ext cx="8008144" cy="1775222"/>
          </a:xfrm>
        </p:spPr>
        <p:txBody>
          <a:bodyPr>
            <a:normAutofit/>
          </a:bodyPr>
          <a:lstStyle/>
          <a:p>
            <a:pPr algn="just"/>
            <a:r>
              <a:rPr lang="en-US" dirty="0">
                <a:latin typeface="Times New Roman" panose="02020603050405020304" pitchFamily="18" charset="0"/>
                <a:cs typeface="Times New Roman" panose="02020603050405020304" pitchFamily="18" charset="0"/>
              </a:rPr>
              <a:t>“Supervised learning is the machine learning task of inferring a function from labeled training data.” - </a:t>
            </a:r>
            <a:r>
              <a:rPr lang="en-US" dirty="0" err="1">
                <a:latin typeface="Times New Roman" panose="02020603050405020304" pitchFamily="18" charset="0"/>
                <a:cs typeface="Times New Roman" panose="02020603050405020304" pitchFamily="18" charset="0"/>
              </a:rPr>
              <a:t>Mohri</a:t>
            </a:r>
            <a:r>
              <a:rPr lang="en-US" dirty="0">
                <a:latin typeface="Times New Roman" panose="02020603050405020304" pitchFamily="18" charset="0"/>
                <a:cs typeface="Times New Roman" panose="02020603050405020304" pitchFamily="18" charset="0"/>
              </a:rPr>
              <a:t> 2012 </a:t>
            </a:r>
          </a:p>
          <a:p>
            <a:pPr algn="just"/>
            <a:r>
              <a:rPr lang="en-US" dirty="0">
                <a:latin typeface="Times New Roman" panose="02020603050405020304" pitchFamily="18" charset="0"/>
                <a:cs typeface="Times New Roman" panose="02020603050405020304" pitchFamily="18" charset="0"/>
              </a:rPr>
              <a:t>The training data consist of a set of training examples. In supervised learning, each example is a pair consisting of an input object (typically a vector) and a desired output value (also called the supervisory signal). </a:t>
            </a:r>
          </a:p>
        </p:txBody>
      </p:sp>
      <p:pic>
        <p:nvPicPr>
          <p:cNvPr id="5" name="Picture 4"/>
          <p:cNvPicPr>
            <a:picLocks noChangeAspect="1"/>
          </p:cNvPicPr>
          <p:nvPr/>
        </p:nvPicPr>
        <p:blipFill>
          <a:blip r:embed="rId3"/>
          <a:stretch>
            <a:fillRect/>
          </a:stretch>
        </p:blipFill>
        <p:spPr>
          <a:xfrm>
            <a:off x="628650" y="4075894"/>
            <a:ext cx="1895113" cy="1077866"/>
          </a:xfrm>
          <a:prstGeom prst="rect">
            <a:avLst/>
          </a:prstGeom>
        </p:spPr>
      </p:pic>
      <p:pic>
        <p:nvPicPr>
          <p:cNvPr id="6" name="Picture 5"/>
          <p:cNvPicPr>
            <a:picLocks noChangeAspect="1"/>
          </p:cNvPicPr>
          <p:nvPr/>
        </p:nvPicPr>
        <p:blipFill>
          <a:blip r:embed="rId4"/>
          <a:stretch>
            <a:fillRect/>
          </a:stretch>
        </p:blipFill>
        <p:spPr>
          <a:xfrm>
            <a:off x="2808450" y="3695744"/>
            <a:ext cx="555893" cy="584896"/>
          </a:xfrm>
          <a:prstGeom prst="rect">
            <a:avLst/>
          </a:prstGeom>
        </p:spPr>
      </p:pic>
      <p:pic>
        <p:nvPicPr>
          <p:cNvPr id="7" name="Picture 6"/>
          <p:cNvPicPr>
            <a:picLocks noChangeAspect="1"/>
          </p:cNvPicPr>
          <p:nvPr/>
        </p:nvPicPr>
        <p:blipFill>
          <a:blip r:embed="rId5"/>
          <a:stretch>
            <a:fillRect/>
          </a:stretch>
        </p:blipFill>
        <p:spPr>
          <a:xfrm>
            <a:off x="2647227" y="4373005"/>
            <a:ext cx="878341" cy="483644"/>
          </a:xfrm>
          <a:prstGeom prst="rect">
            <a:avLst/>
          </a:prstGeom>
        </p:spPr>
      </p:pic>
      <p:pic>
        <p:nvPicPr>
          <p:cNvPr id="8" name="Picture 7"/>
          <p:cNvPicPr>
            <a:picLocks noChangeAspect="1"/>
          </p:cNvPicPr>
          <p:nvPr/>
        </p:nvPicPr>
        <p:blipFill>
          <a:blip r:embed="rId6"/>
          <a:stretch>
            <a:fillRect/>
          </a:stretch>
        </p:blipFill>
        <p:spPr>
          <a:xfrm>
            <a:off x="2856906" y="5153760"/>
            <a:ext cx="507437" cy="538933"/>
          </a:xfrm>
          <a:prstGeom prst="rect">
            <a:avLst/>
          </a:prstGeom>
        </p:spPr>
      </p:pic>
      <p:cxnSp>
        <p:nvCxnSpPr>
          <p:cNvPr id="10" name="Straight Arrow Connector 9"/>
          <p:cNvCxnSpPr>
            <a:endCxn id="6" idx="1"/>
          </p:cNvCxnSpPr>
          <p:nvPr/>
        </p:nvCxnSpPr>
        <p:spPr>
          <a:xfrm flipV="1">
            <a:off x="2286000" y="3988192"/>
            <a:ext cx="522450" cy="1783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384473" y="4773608"/>
            <a:ext cx="423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8" idx="1"/>
          </p:cNvCxnSpPr>
          <p:nvPr/>
        </p:nvCxnSpPr>
        <p:spPr>
          <a:xfrm>
            <a:off x="2173459" y="5077558"/>
            <a:ext cx="683447" cy="345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7"/>
          <a:stretch>
            <a:fillRect/>
          </a:stretch>
        </p:blipFill>
        <p:spPr>
          <a:xfrm>
            <a:off x="6595330" y="3988191"/>
            <a:ext cx="2161809" cy="1380292"/>
          </a:xfrm>
          <a:prstGeom prst="rect">
            <a:avLst/>
          </a:prstGeom>
        </p:spPr>
      </p:pic>
      <p:pic>
        <p:nvPicPr>
          <p:cNvPr id="16" name="Picture 15"/>
          <p:cNvPicPr>
            <a:picLocks noChangeAspect="1"/>
          </p:cNvPicPr>
          <p:nvPr/>
        </p:nvPicPr>
        <p:blipFill>
          <a:blip r:embed="rId8"/>
          <a:stretch>
            <a:fillRect/>
          </a:stretch>
        </p:blipFill>
        <p:spPr>
          <a:xfrm>
            <a:off x="4136442" y="3816085"/>
            <a:ext cx="1905589" cy="1915046"/>
          </a:xfrm>
          <a:prstGeom prst="rect">
            <a:avLst/>
          </a:prstGeom>
        </p:spPr>
      </p:pic>
    </p:spTree>
    <p:extLst>
      <p:ext uri="{BB962C8B-B14F-4D97-AF65-F5344CB8AC3E}">
        <p14:creationId xmlns:p14="http://schemas.microsoft.com/office/powerpoint/2010/main" val="1814117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many targets do you see here?</a:t>
            </a:r>
          </a:p>
        </p:txBody>
      </p:sp>
      <p:pic>
        <p:nvPicPr>
          <p:cNvPr id="4" name="Content Placeholder 3"/>
          <p:cNvPicPr>
            <a:picLocks noGrp="1" noChangeAspect="1"/>
          </p:cNvPicPr>
          <p:nvPr>
            <p:ph idx="1"/>
          </p:nvPr>
        </p:nvPicPr>
        <p:blipFill>
          <a:blip r:embed="rId2"/>
          <a:stretch>
            <a:fillRect/>
          </a:stretch>
        </p:blipFill>
        <p:spPr>
          <a:xfrm>
            <a:off x="1815875" y="2226469"/>
            <a:ext cx="5512251" cy="3263504"/>
          </a:xfrm>
          <a:prstGeom prst="rect">
            <a:avLst/>
          </a:prstGeom>
        </p:spPr>
      </p:pic>
    </p:spTree>
    <p:extLst>
      <p:ext uri="{BB962C8B-B14F-4D97-AF65-F5344CB8AC3E}">
        <p14:creationId xmlns:p14="http://schemas.microsoft.com/office/powerpoint/2010/main" val="2418430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Unsupervised Learning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 unsupervised learning, we are encountering data which is not labeled like it was in supervised learning. </a:t>
            </a:r>
            <a:endParaRPr lang="en-US" sz="15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2754" y="3042898"/>
            <a:ext cx="6239789" cy="2747345"/>
          </a:xfrm>
          <a:prstGeom prst="rect">
            <a:avLst/>
          </a:prstGeom>
        </p:spPr>
      </p:pic>
    </p:spTree>
    <p:extLst>
      <p:ext uri="{BB962C8B-B14F-4D97-AF65-F5344CB8AC3E}">
        <p14:creationId xmlns:p14="http://schemas.microsoft.com/office/powerpoint/2010/main" val="4245112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Unsupervised Learning</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4106" y="1864361"/>
            <a:ext cx="5195789" cy="3896842"/>
          </a:xfrm>
        </p:spPr>
      </p:pic>
    </p:spTree>
    <p:extLst>
      <p:ext uri="{BB962C8B-B14F-4D97-AF65-F5344CB8AC3E}">
        <p14:creationId xmlns:p14="http://schemas.microsoft.com/office/powerpoint/2010/main" val="379744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To recap…</a:t>
            </a:r>
          </a:p>
        </p:txBody>
      </p:sp>
      <p:sp>
        <p:nvSpPr>
          <p:cNvPr id="3" name="Content Placeholder 2"/>
          <p:cNvSpPr>
            <a:spLocks noGrp="1"/>
          </p:cNvSpPr>
          <p:nvPr>
            <p:ph idx="1"/>
          </p:nvPr>
        </p:nvSpPr>
        <p:spPr>
          <a:xfrm>
            <a:off x="628650" y="2125267"/>
            <a:ext cx="8008144" cy="2994494"/>
          </a:xfrm>
        </p:spPr>
        <p:txBody>
          <a:bodyPr>
            <a:normAutofit/>
          </a:bodyPr>
          <a:lstStyle/>
          <a:p>
            <a:pPr algn="just"/>
            <a:r>
              <a:rPr lang="en-US" dirty="0">
                <a:latin typeface="Times New Roman" panose="02020603050405020304" pitchFamily="18" charset="0"/>
                <a:cs typeface="Times New Roman" panose="02020603050405020304" pitchFamily="18" charset="0"/>
              </a:rPr>
              <a:t>Supervised learning is about approximation while unsupervised learning is about description</a:t>
            </a:r>
          </a:p>
          <a:p>
            <a:pPr algn="just"/>
            <a:r>
              <a:rPr lang="en-US" dirty="0">
                <a:latin typeface="Times New Roman" panose="02020603050405020304" pitchFamily="18" charset="0"/>
                <a:cs typeface="Times New Roman" panose="02020603050405020304" pitchFamily="18" charset="0"/>
              </a:rPr>
              <a:t>In supervised learning, the output datasets are provided which are used to train the machine and get the desired outputs whereas in unsupervised learning no output datasets are provided, instead the data is clustered into different classes .</a:t>
            </a:r>
          </a:p>
          <a:p>
            <a:pPr algn="just"/>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pic>
        <p:nvPicPr>
          <p:cNvPr id="1026" name="Picture 2" descr="https://dataaspirant.files.wordpress.com/2014/09/george-clooney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5556" y="3773110"/>
            <a:ext cx="3369794" cy="209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57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29900"/>
            <a:ext cx="6589199" cy="1280890"/>
          </a:xfrm>
        </p:spPr>
        <p:txBody>
          <a:bodyPr/>
          <a:lstStyle/>
          <a:p>
            <a:r>
              <a:rPr lang="en-US" dirty="0">
                <a:latin typeface="Times New Roman" panose="02020603050405020304" pitchFamily="18" charset="0"/>
                <a:cs typeface="Times New Roman" panose="02020603050405020304" pitchFamily="18" charset="0"/>
              </a:rPr>
              <a:t>Machine Learning from  Problem Perspective</a:t>
            </a:r>
          </a:p>
        </p:txBody>
      </p:sp>
      <p:sp>
        <p:nvSpPr>
          <p:cNvPr id="3" name="Content Placeholder 2"/>
          <p:cNvSpPr>
            <a:spLocks noGrp="1"/>
          </p:cNvSpPr>
          <p:nvPr>
            <p:ph idx="1"/>
          </p:nvPr>
        </p:nvSpPr>
        <p:spPr>
          <a:xfrm>
            <a:off x="457200" y="1447800"/>
            <a:ext cx="8229600" cy="5029200"/>
          </a:xfrm>
        </p:spPr>
        <p:txBody>
          <a:bodyPr>
            <a:normAutofit fontScale="92500"/>
          </a:bodyPr>
          <a:lstStyle/>
          <a:p>
            <a:r>
              <a:rPr lang="en-US" sz="2000" dirty="0">
                <a:latin typeface="Times New Roman" panose="02020603050405020304" pitchFamily="18" charset="0"/>
                <a:cs typeface="Times New Roman" panose="02020603050405020304" pitchFamily="18" charset="0"/>
              </a:rPr>
              <a:t>Classification</a:t>
            </a:r>
          </a:p>
          <a:p>
            <a:pPr lvl="1"/>
            <a:r>
              <a:rPr lang="en-US" sz="1800" dirty="0">
                <a:latin typeface="Times New Roman" panose="02020603050405020304" pitchFamily="18" charset="0"/>
                <a:cs typeface="Times New Roman" panose="02020603050405020304" pitchFamily="18" charset="0"/>
              </a:rPr>
              <a:t>Functions as its name suggests, by classifying data in order to then make predictions.</a:t>
            </a:r>
          </a:p>
          <a:p>
            <a:pPr lvl="1"/>
            <a:r>
              <a:rPr lang="en-US" sz="1800" dirty="0">
                <a:latin typeface="Times New Roman" panose="02020603050405020304" pitchFamily="18" charset="0"/>
                <a:cs typeface="Times New Roman" panose="02020603050405020304" pitchFamily="18" charset="0"/>
              </a:rPr>
              <a:t>Is one of the supervised learning techniques.</a:t>
            </a:r>
          </a:p>
          <a:p>
            <a:r>
              <a:rPr lang="en-US" sz="2000" dirty="0">
                <a:latin typeface="Times New Roman" panose="02020603050405020304" pitchFamily="18" charset="0"/>
                <a:cs typeface="Times New Roman" panose="02020603050405020304" pitchFamily="18" charset="0"/>
              </a:rPr>
              <a:t>Regression</a:t>
            </a:r>
          </a:p>
          <a:p>
            <a:pPr lvl="1"/>
            <a:r>
              <a:rPr lang="en-US" sz="1800" dirty="0">
                <a:latin typeface="Times New Roman" panose="02020603050405020304" pitchFamily="18" charset="0"/>
                <a:cs typeface="Times New Roman" panose="02020603050405020304" pitchFamily="18" charset="0"/>
              </a:rPr>
              <a:t>It consists of mathematical methods that allow data scientists to predict a continuous outcome (y) based on the value of one or more predictor variables (x).</a:t>
            </a:r>
          </a:p>
          <a:p>
            <a:r>
              <a:rPr lang="en-US" sz="2000" dirty="0">
                <a:latin typeface="Times New Roman" panose="02020603050405020304" pitchFamily="18" charset="0"/>
                <a:cs typeface="Times New Roman" panose="02020603050405020304" pitchFamily="18" charset="0"/>
              </a:rPr>
              <a:t>Time Series</a:t>
            </a:r>
          </a:p>
          <a:p>
            <a:pPr lvl="1"/>
            <a:r>
              <a:rPr lang="en-US" sz="1800" dirty="0">
                <a:latin typeface="Times New Roman" panose="02020603050405020304" pitchFamily="18" charset="0"/>
                <a:cs typeface="Times New Roman" panose="02020603050405020304" pitchFamily="18" charset="0"/>
              </a:rPr>
              <a:t>A time series is a sequence of observations taken sequentially in time.</a:t>
            </a:r>
          </a:p>
          <a:p>
            <a:pPr lvl="1"/>
            <a:r>
              <a:rPr lang="en-US" sz="1800" dirty="0">
                <a:latin typeface="Times New Roman" panose="02020603050405020304" pitchFamily="18" charset="0"/>
                <a:cs typeface="Times New Roman" panose="02020603050405020304" pitchFamily="18" charset="0"/>
              </a:rPr>
              <a:t>Time series forecasting involves taking models then fit them on historical data then using them to predict future observations.</a:t>
            </a:r>
          </a:p>
          <a:p>
            <a:r>
              <a:rPr lang="en-US" sz="2000" dirty="0">
                <a:latin typeface="Times New Roman" panose="02020603050405020304" pitchFamily="18" charset="0"/>
                <a:cs typeface="Times New Roman" panose="02020603050405020304" pitchFamily="18" charset="0"/>
              </a:rPr>
              <a:t>Clustering</a:t>
            </a:r>
          </a:p>
          <a:p>
            <a:pPr lvl="1"/>
            <a:r>
              <a:rPr lang="en-US" sz="1800" dirty="0">
                <a:latin typeface="Times New Roman" panose="02020603050405020304" pitchFamily="18" charset="0"/>
                <a:cs typeface="Times New Roman" panose="02020603050405020304" pitchFamily="18" charset="0"/>
              </a:rPr>
              <a:t>An unsupervised process to find meaningful structure, explanatory underlying processes, generative features, and groupings inherent in a set of examples.</a:t>
            </a: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11</a:t>
            </a:fld>
            <a:endParaRPr lang="en-US"/>
          </a:p>
        </p:txBody>
      </p:sp>
    </p:spTree>
    <p:extLst>
      <p:ext uri="{BB962C8B-B14F-4D97-AF65-F5344CB8AC3E}">
        <p14:creationId xmlns:p14="http://schemas.microsoft.com/office/powerpoint/2010/main" val="2152854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29900"/>
            <a:ext cx="6589199" cy="1280890"/>
          </a:xfrm>
        </p:spPr>
        <p:txBody>
          <a:bodyPr/>
          <a:lstStyle/>
          <a:p>
            <a:r>
              <a:rPr lang="en-US" dirty="0">
                <a:latin typeface="Times New Roman" panose="02020603050405020304" pitchFamily="18" charset="0"/>
                <a:cs typeface="Times New Roman" panose="02020603050405020304" pitchFamily="18" charset="0"/>
              </a:rPr>
              <a:t>Linear Algebra</a:t>
            </a:r>
          </a:p>
        </p:txBody>
      </p:sp>
      <p:sp>
        <p:nvSpPr>
          <p:cNvPr id="3" name="Content Placeholder 2"/>
          <p:cNvSpPr>
            <a:spLocks noGrp="1"/>
          </p:cNvSpPr>
          <p:nvPr>
            <p:ph idx="1"/>
          </p:nvPr>
        </p:nvSpPr>
        <p:spPr>
          <a:xfrm>
            <a:off x="457200" y="1447800"/>
            <a:ext cx="8229600" cy="4709160"/>
          </a:xfrm>
        </p:spPr>
        <p:txBody>
          <a:bodyPr>
            <a:normAutofit/>
          </a:bodyPr>
          <a:lstStyle/>
          <a:p>
            <a:r>
              <a:rPr lang="en-US" sz="2000" dirty="0">
                <a:latin typeface="Times New Roman" panose="02020603050405020304" pitchFamily="18" charset="0"/>
                <a:cs typeface="Times New Roman" panose="02020603050405020304" pitchFamily="18" charset="0"/>
              </a:rPr>
              <a:t>Linear Algebra is very useful in ML so we are going to have a brief overview on ML</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 the posted book on Canvas for more information</a:t>
            </a:r>
          </a:p>
        </p:txBody>
      </p:sp>
      <p:sp>
        <p:nvSpPr>
          <p:cNvPr id="4" name="Slide Number Placeholder 3"/>
          <p:cNvSpPr>
            <a:spLocks noGrp="1"/>
          </p:cNvSpPr>
          <p:nvPr>
            <p:ph type="sldNum" sz="quarter" idx="12"/>
          </p:nvPr>
        </p:nvSpPr>
        <p:spPr/>
        <p:txBody>
          <a:bodyPr/>
          <a:lstStyle/>
          <a:p>
            <a:fld id="{76F96C40-0356-46F5-90E5-FF57DE76D9A0}" type="slidenum">
              <a:rPr lang="en-US" smtClean="0"/>
              <a:t>12</a:t>
            </a:fld>
            <a:endParaRPr lang="en-US"/>
          </a:p>
        </p:txBody>
      </p:sp>
    </p:spTree>
    <p:extLst>
      <p:ext uri="{BB962C8B-B14F-4D97-AF65-F5344CB8AC3E}">
        <p14:creationId xmlns:p14="http://schemas.microsoft.com/office/powerpoint/2010/main" val="2959434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29900"/>
            <a:ext cx="6589199" cy="1280890"/>
          </a:xfrm>
        </p:spPr>
        <p:txBody>
          <a:bodyPr/>
          <a:lstStyle/>
          <a:p>
            <a:r>
              <a:rPr lang="en-US" dirty="0">
                <a:latin typeface="Times New Roman" panose="02020603050405020304" pitchFamily="18" charset="0"/>
                <a:cs typeface="Times New Roman" panose="02020603050405020304" pitchFamily="18" charset="0"/>
              </a:rPr>
              <a:t>Vectors and Vector Spaces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447800"/>
                <a:ext cx="8229600" cy="5181600"/>
              </a:xfrm>
            </p:spPr>
            <p:txBody>
              <a:bodyPr>
                <a:normAutofit/>
              </a:bodyPr>
              <a:lstStyle/>
              <a:p>
                <a:r>
                  <a:rPr lang="en-US" sz="2000" dirty="0">
                    <a:latin typeface="Times New Roman" panose="02020603050405020304" pitchFamily="18" charset="0"/>
                    <a:cs typeface="Times New Roman" panose="02020603050405020304" pitchFamily="18" charset="0"/>
                  </a:rPr>
                  <a:t>What’s a vector?</a:t>
                </a:r>
              </a:p>
              <a:p>
                <a:pPr lvl="1"/>
                <a:r>
                  <a:rPr lang="en-US" sz="1700" dirty="0">
                    <a:latin typeface="Times New Roman" panose="02020603050405020304" pitchFamily="18" charset="0"/>
                    <a:cs typeface="Times New Roman" panose="02020603050405020304" pitchFamily="18" charset="0"/>
                  </a:rPr>
                  <a:t>A column or row of numbers, that’s all.  </a:t>
                </a:r>
              </a:p>
              <a:p>
                <a:pPr lvl="2"/>
                <a14:m>
                  <m:oMath xmlns:m="http://schemas.openxmlformats.org/officeDocument/2006/math">
                    <m:r>
                      <a:rPr lang="en-US" sz="1700" b="0" i="1" smtClean="0">
                        <a:latin typeface="Cambria Math"/>
                      </a:rPr>
                      <m:t>𝑎</m:t>
                    </m:r>
                    <m:r>
                      <a:rPr lang="en-US" sz="1700" b="0" i="1" smtClean="0">
                        <a:latin typeface="Cambria Math"/>
                      </a:rPr>
                      <m:t>= </m:t>
                    </m:r>
                    <m:d>
                      <m:dPr>
                        <m:begChr m:val="["/>
                        <m:endChr m:val="]"/>
                        <m:ctrlPr>
                          <a:rPr lang="en-US" sz="1700" b="0" i="1" smtClean="0">
                            <a:latin typeface="Cambria Math" panose="02040503050406030204" pitchFamily="18" charset="0"/>
                          </a:rPr>
                        </m:ctrlPr>
                      </m:dPr>
                      <m:e>
                        <m:m>
                          <m:mPr>
                            <m:mcs>
                              <m:mc>
                                <m:mcPr>
                                  <m:count m:val="1"/>
                                  <m:mcJc m:val="center"/>
                                </m:mcPr>
                              </m:mc>
                            </m:mcs>
                            <m:ctrlPr>
                              <a:rPr lang="en-US" sz="1700" b="0" i="1" smtClean="0">
                                <a:latin typeface="Cambria Math" panose="02040503050406030204" pitchFamily="18" charset="0"/>
                              </a:rPr>
                            </m:ctrlPr>
                          </m:mPr>
                          <m:mr>
                            <m:e>
                              <m:r>
                                <m:rPr>
                                  <m:brk m:alnAt="7"/>
                                </m:rPr>
                                <a:rPr lang="en-US" sz="1700" b="0" i="1" smtClean="0">
                                  <a:latin typeface="Cambria Math"/>
                                </a:rPr>
                                <m:t>2</m:t>
                              </m:r>
                            </m:e>
                          </m:mr>
                          <m:mr>
                            <m:e>
                              <m:r>
                                <a:rPr lang="en-US" sz="1700" b="0" i="1" smtClean="0">
                                  <a:latin typeface="Cambria Math"/>
                                </a:rPr>
                                <m:t>1</m:t>
                              </m:r>
                            </m:e>
                          </m:mr>
                          <m:mr>
                            <m:e>
                              <m:r>
                                <a:rPr lang="en-US" sz="1700" b="0" i="1" smtClean="0">
                                  <a:latin typeface="Cambria Math"/>
                                </a:rPr>
                                <m:t>3</m:t>
                              </m:r>
                            </m:e>
                          </m:mr>
                        </m:m>
                      </m:e>
                    </m:d>
                  </m:oMath>
                </a14:m>
                <a:r>
                  <a:rPr lang="en-US" sz="1700" dirty="0">
                    <a:latin typeface="Times New Roman" panose="02020603050405020304" pitchFamily="18" charset="0"/>
                    <a:cs typeface="Times New Roman" panose="02020603050405020304" pitchFamily="18" charset="0"/>
                  </a:rPr>
                  <a:t> or </a:t>
                </a:r>
                <a14:m>
                  <m:oMath xmlns:m="http://schemas.openxmlformats.org/officeDocument/2006/math">
                    <m:r>
                      <a:rPr lang="en-US" sz="1700" b="0" i="1" smtClean="0">
                        <a:latin typeface="Cambria Math"/>
                      </a:rPr>
                      <m:t>𝑏</m:t>
                    </m:r>
                    <m:r>
                      <a:rPr lang="en-US" sz="1700" b="0" i="1" smtClean="0">
                        <a:latin typeface="Cambria Math"/>
                      </a:rPr>
                      <m:t>= </m:t>
                    </m:r>
                    <m:d>
                      <m:dPr>
                        <m:ctrlPr>
                          <a:rPr lang="en-US" sz="1700" b="0" i="1" smtClean="0">
                            <a:latin typeface="Cambria Math" panose="02040503050406030204" pitchFamily="18" charset="0"/>
                          </a:rPr>
                        </m:ctrlPr>
                      </m:dPr>
                      <m:e>
                        <m:r>
                          <a:rPr lang="en-US" sz="1700" b="0" i="1" smtClean="0">
                            <a:latin typeface="Cambria Math"/>
                          </a:rPr>
                          <m:t>2, 1, 3</m:t>
                        </m:r>
                      </m:e>
                    </m:d>
                  </m:oMath>
                </a14:m>
                <a:r>
                  <a:rPr lang="en-US" sz="1700" dirty="0">
                    <a:latin typeface="Times New Roman" panose="02020603050405020304" pitchFamily="18" charset="0"/>
                    <a:cs typeface="Times New Roman" panose="02020603050405020304" pitchFamily="18" charset="0"/>
                  </a:rPr>
                  <a:t> </a:t>
                </a:r>
              </a:p>
              <a:p>
                <a:pPr lvl="1"/>
                <a:r>
                  <a:rPr lang="en-US" sz="1700" dirty="0">
                    <a:latin typeface="Times New Roman" panose="02020603050405020304" pitchFamily="18" charset="0"/>
                    <a:cs typeface="Times New Roman" panose="02020603050405020304" pitchFamily="18" charset="0"/>
                  </a:rPr>
                  <a:t>But be careful!  </a:t>
                </a:r>
                <a14:m>
                  <m:oMath xmlns:m="http://schemas.openxmlformats.org/officeDocument/2006/math">
                    <m:d>
                      <m:dPr>
                        <m:ctrlPr>
                          <a:rPr lang="en-US" sz="1700" b="0" i="1" smtClean="0">
                            <a:latin typeface="Cambria Math" panose="02040503050406030204" pitchFamily="18" charset="0"/>
                          </a:rPr>
                        </m:ctrlPr>
                      </m:dPr>
                      <m:e>
                        <m:r>
                          <a:rPr lang="en-US" sz="1700" b="0" i="1" smtClean="0">
                            <a:latin typeface="Cambria Math"/>
                          </a:rPr>
                          <m:t>2, 1, 3</m:t>
                        </m:r>
                      </m:e>
                    </m:d>
                    <m:r>
                      <a:rPr lang="en-US" sz="1700" b="0" i="1" smtClean="0">
                        <a:latin typeface="Cambria Math"/>
                        <a:ea typeface="Cambria Math"/>
                      </a:rPr>
                      <m:t>≠(1, 2, 3)</m:t>
                    </m:r>
                  </m:oMath>
                </a14:m>
                <a:endParaRPr lang="en-US" sz="1700" dirty="0">
                  <a:latin typeface="Times New Roman" panose="02020603050405020304" pitchFamily="18" charset="0"/>
                  <a:cs typeface="Times New Roman" panose="02020603050405020304" pitchFamily="18" charset="0"/>
                </a:endParaRPr>
              </a:p>
              <a:p>
                <a:pPr lvl="1"/>
                <a:r>
                  <a:rPr lang="en-US" sz="1700" dirty="0">
                    <a:latin typeface="Times New Roman" panose="02020603050405020304" pitchFamily="18" charset="0"/>
                    <a:cs typeface="Times New Roman" panose="02020603050405020304" pitchFamily="18" charset="0"/>
                  </a:rPr>
                  <a:t>By convention, all vectors are column vectors unless otherwise specified!</a:t>
                </a:r>
              </a:p>
              <a:p>
                <a:pPr lvl="1"/>
                <a:endParaRPr lang="en-US" sz="17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Transpose of a vector</a:t>
                </a:r>
              </a:p>
              <a:p>
                <a:pPr lvl="1"/>
                <a14:m>
                  <m:oMath xmlns:m="http://schemas.openxmlformats.org/officeDocument/2006/math">
                    <m:sSup>
                      <m:sSupPr>
                        <m:ctrlPr>
                          <a:rPr lang="en-US" sz="1800" i="1">
                            <a:latin typeface="Cambria Math" panose="02040503050406030204" pitchFamily="18" charset="0"/>
                          </a:rPr>
                        </m:ctrlPr>
                      </m:sSupPr>
                      <m:e>
                        <m:d>
                          <m:dPr>
                            <m:begChr m:val="["/>
                            <m:endChr m:val="]"/>
                            <m:ctrlPr>
                              <a:rPr lang="en-US" sz="1800" i="1">
                                <a:latin typeface="Cambria Math" panose="02040503050406030204" pitchFamily="18" charset="0"/>
                              </a:rPr>
                            </m:ctrlPr>
                          </m:dPr>
                          <m:e>
                            <m:m>
                              <m:mPr>
                                <m:mcs>
                                  <m:mc>
                                    <m:mcPr>
                                      <m:count m:val="1"/>
                                      <m:mcJc m:val="center"/>
                                    </m:mcPr>
                                  </m:mc>
                                </m:mcs>
                                <m:ctrlPr>
                                  <a:rPr lang="en-US" sz="1800" i="1">
                                    <a:latin typeface="Cambria Math" panose="02040503050406030204" pitchFamily="18" charset="0"/>
                                  </a:rPr>
                                </m:ctrlPr>
                              </m:mPr>
                              <m:mr>
                                <m:e>
                                  <m:r>
                                    <m:rPr>
                                      <m:brk m:alnAt="7"/>
                                    </m:rPr>
                                    <a:rPr lang="en-US" sz="1800" i="1">
                                      <a:latin typeface="Cambria Math"/>
                                    </a:rPr>
                                    <m:t>2</m:t>
                                  </m:r>
                                </m:e>
                              </m:mr>
                              <m:mr>
                                <m:e>
                                  <m:r>
                                    <a:rPr lang="en-US" sz="1800" i="1">
                                      <a:latin typeface="Cambria Math"/>
                                    </a:rPr>
                                    <m:t>1</m:t>
                                  </m:r>
                                </m:e>
                              </m:mr>
                              <m:mr>
                                <m:e>
                                  <m:r>
                                    <a:rPr lang="en-US" sz="1800" i="1">
                                      <a:latin typeface="Cambria Math"/>
                                    </a:rPr>
                                    <m:t>3</m:t>
                                  </m:r>
                                </m:e>
                              </m:mr>
                            </m:m>
                          </m:e>
                        </m:d>
                      </m:e>
                      <m:sup>
                        <m:r>
                          <a:rPr lang="en-US" sz="1800" i="1">
                            <a:latin typeface="Cambria Math"/>
                          </a:rPr>
                          <m:t>𝑇</m:t>
                        </m:r>
                      </m:sup>
                    </m:sSup>
                    <m:r>
                      <a:rPr lang="en-US" sz="1800" i="1">
                        <a:latin typeface="Cambria Math"/>
                      </a:rPr>
                      <m:t>= </m:t>
                    </m:r>
                    <m:d>
                      <m:dPr>
                        <m:begChr m:val="["/>
                        <m:endChr m:val="]"/>
                        <m:ctrlPr>
                          <a:rPr lang="en-US" sz="1800" i="1">
                            <a:latin typeface="Cambria Math" panose="02040503050406030204" pitchFamily="18" charset="0"/>
                          </a:rPr>
                        </m:ctrlPr>
                      </m:dPr>
                      <m:e>
                        <m:r>
                          <a:rPr lang="en-US" sz="1800" i="1">
                            <a:latin typeface="Cambria Math"/>
                          </a:rPr>
                          <m:t>2, 1, 3</m:t>
                        </m:r>
                      </m:e>
                    </m:d>
                  </m:oMath>
                </a14:m>
                <a:endParaRPr lang="en-US" sz="18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447800"/>
                <a:ext cx="8229600" cy="5181600"/>
              </a:xfrm>
              <a:blipFill>
                <a:blip r:embed="rId3"/>
                <a:stretch>
                  <a:fillRect l="-667" t="-70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13</a:t>
            </a:fld>
            <a:endParaRPr lang="en-US"/>
          </a:p>
        </p:txBody>
      </p:sp>
    </p:spTree>
    <p:extLst>
      <p:ext uri="{BB962C8B-B14F-4D97-AF65-F5344CB8AC3E}">
        <p14:creationId xmlns:p14="http://schemas.microsoft.com/office/powerpoint/2010/main" val="4008707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latin typeface="Times New Roman" panose="02020603050405020304" pitchFamily="18" charset="0"/>
                <a:cs typeface="Times New Roman" panose="02020603050405020304" pitchFamily="18" charset="0"/>
              </a:rPr>
              <a:t>Vector Terminology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371600"/>
                <a:ext cx="8229600" cy="4953000"/>
              </a:xfrm>
            </p:spPr>
            <p:txBody>
              <a:bodyPr>
                <a:normAutofit fontScale="92500"/>
              </a:bodyPr>
              <a:lstStyle/>
              <a:p>
                <a:r>
                  <a:rPr lang="en-US" sz="2600" dirty="0">
                    <a:latin typeface="Times New Roman" panose="02020603050405020304" pitchFamily="18" charset="0"/>
                    <a:cs typeface="Times New Roman" panose="02020603050405020304" pitchFamily="18" charset="0"/>
                  </a:rPr>
                  <a:t>Vector Length: square root of the sum of the squares. </a:t>
                </a:r>
              </a:p>
              <a:p>
                <a:r>
                  <a:rPr lang="en-US" sz="2600" dirty="0">
                    <a:latin typeface="Times New Roman" panose="02020603050405020304" pitchFamily="18" charset="0"/>
                    <a:cs typeface="Times New Roman" panose="02020603050405020304" pitchFamily="18" charset="0"/>
                  </a:rPr>
                  <a:t>Vector Addition: Add each component of a vector to its corresponding component in the other vector.  </a:t>
                </a:r>
              </a:p>
              <a:p>
                <a:pPr lvl="1"/>
                <a14:m>
                  <m:oMath xmlns:m="http://schemas.openxmlformats.org/officeDocument/2006/math">
                    <m:d>
                      <m:dPr>
                        <m:begChr m:val="["/>
                        <m:endChr m:val="]"/>
                        <m:ctrlPr>
                          <a:rPr lang="en-US" sz="2600" i="1">
                            <a:latin typeface="Cambria Math" panose="02040503050406030204" pitchFamily="18" charset="0"/>
                          </a:rPr>
                        </m:ctrlPr>
                      </m:dPr>
                      <m:e>
                        <m:m>
                          <m:mPr>
                            <m:mcs>
                              <m:mc>
                                <m:mcPr>
                                  <m:count m:val="1"/>
                                  <m:mcJc m:val="center"/>
                                </m:mcPr>
                              </m:mc>
                            </m:mcs>
                            <m:ctrlPr>
                              <a:rPr lang="en-US" sz="2600" i="1">
                                <a:latin typeface="Cambria Math" panose="02040503050406030204" pitchFamily="18" charset="0"/>
                              </a:rPr>
                            </m:ctrlPr>
                          </m:mPr>
                          <m:mr>
                            <m:e>
                              <m:r>
                                <m:rPr>
                                  <m:brk m:alnAt="7"/>
                                </m:rPr>
                                <a:rPr lang="en-US" sz="2600" i="1">
                                  <a:latin typeface="Cambria Math"/>
                                </a:rPr>
                                <m:t>2</m:t>
                              </m:r>
                            </m:e>
                          </m:mr>
                          <m:mr>
                            <m:e>
                              <m:r>
                                <a:rPr lang="en-US" sz="2600" i="1">
                                  <a:latin typeface="Cambria Math"/>
                                </a:rPr>
                                <m:t>1</m:t>
                              </m:r>
                            </m:e>
                          </m:mr>
                          <m:mr>
                            <m:e>
                              <m:r>
                                <a:rPr lang="en-US" sz="2600" i="1">
                                  <a:latin typeface="Cambria Math"/>
                                </a:rPr>
                                <m:t>3</m:t>
                              </m:r>
                            </m:e>
                          </m:mr>
                        </m:m>
                      </m:e>
                    </m:d>
                    <m:r>
                      <a:rPr lang="en-US" sz="2600" b="0" i="1" smtClean="0">
                        <a:latin typeface="Cambria Math" panose="02040503050406030204" pitchFamily="18" charset="0"/>
                      </a:rPr>
                      <m:t>+</m:t>
                    </m:r>
                    <m:d>
                      <m:dPr>
                        <m:begChr m:val="["/>
                        <m:endChr m:val="]"/>
                        <m:ctrlPr>
                          <a:rPr lang="en-US" sz="2200" i="1">
                            <a:latin typeface="Cambria Math" panose="02040503050406030204" pitchFamily="18" charset="0"/>
                          </a:rPr>
                        </m:ctrlPr>
                      </m:dPr>
                      <m:e>
                        <m:m>
                          <m:mPr>
                            <m:mcs>
                              <m:mc>
                                <m:mcPr>
                                  <m:count m:val="1"/>
                                  <m:mcJc m:val="center"/>
                                </m:mcPr>
                              </m:mc>
                            </m:mcs>
                            <m:ctrlPr>
                              <a:rPr lang="en-US" sz="2200" i="1">
                                <a:latin typeface="Cambria Math" panose="02040503050406030204" pitchFamily="18" charset="0"/>
                              </a:rPr>
                            </m:ctrlPr>
                          </m:mPr>
                          <m:mr>
                            <m:e>
                              <m:r>
                                <m:rPr>
                                  <m:brk m:alnAt="7"/>
                                </m:rPr>
                                <a:rPr lang="en-US" sz="2200" i="1">
                                  <a:latin typeface="Cambria Math"/>
                                </a:rPr>
                                <m:t>2</m:t>
                              </m:r>
                            </m:e>
                          </m:mr>
                          <m:mr>
                            <m:e>
                              <m:r>
                                <a:rPr lang="en-US" sz="2200" b="0" i="1" smtClean="0">
                                  <a:latin typeface="Cambria Math" panose="02040503050406030204" pitchFamily="18" charset="0"/>
                                </a:rPr>
                                <m:t>8</m:t>
                              </m:r>
                            </m:e>
                          </m:mr>
                          <m:mr>
                            <m:e>
                              <m:r>
                                <a:rPr lang="en-US" sz="2200" b="0" i="1" smtClean="0">
                                  <a:latin typeface="Cambria Math" panose="02040503050406030204" pitchFamily="18" charset="0"/>
                                </a:rPr>
                                <m:t>9</m:t>
                              </m:r>
                            </m:e>
                          </m:mr>
                        </m:m>
                      </m:e>
                    </m:d>
                    <m:r>
                      <a:rPr lang="en-US" sz="2200" b="0" i="1" smtClean="0">
                        <a:latin typeface="Cambria Math" panose="02040503050406030204" pitchFamily="18" charset="0"/>
                      </a:rPr>
                      <m:t>=</m:t>
                    </m:r>
                    <m:d>
                      <m:dPr>
                        <m:begChr m:val="["/>
                        <m:endChr m:val="]"/>
                        <m:ctrlPr>
                          <a:rPr lang="en-US" sz="2200" i="1">
                            <a:latin typeface="Cambria Math" panose="02040503050406030204" pitchFamily="18" charset="0"/>
                          </a:rPr>
                        </m:ctrlPr>
                      </m:dPr>
                      <m:e>
                        <m:m>
                          <m:mPr>
                            <m:mcs>
                              <m:mc>
                                <m:mcPr>
                                  <m:count m:val="1"/>
                                  <m:mcJc m:val="center"/>
                                </m:mcPr>
                              </m:mc>
                            </m:mcs>
                            <m:ctrlPr>
                              <a:rPr lang="en-US" sz="2200" i="1">
                                <a:latin typeface="Cambria Math" panose="02040503050406030204" pitchFamily="18" charset="0"/>
                              </a:rPr>
                            </m:ctrlPr>
                          </m:mPr>
                          <m:mr>
                            <m:e>
                              <m:r>
                                <a:rPr lang="en-US" sz="2200" b="0" i="1" smtClean="0">
                                  <a:latin typeface="Cambria Math" panose="02040503050406030204" pitchFamily="18" charset="0"/>
                                </a:rPr>
                                <m:t>4</m:t>
                              </m:r>
                            </m:e>
                          </m:mr>
                          <m:mr>
                            <m:e>
                              <m:r>
                                <a:rPr lang="en-US" sz="2200" b="0" i="1" smtClean="0">
                                  <a:latin typeface="Cambria Math" panose="02040503050406030204" pitchFamily="18" charset="0"/>
                                </a:rPr>
                                <m:t>9</m:t>
                              </m:r>
                            </m:e>
                          </m:mr>
                          <m:mr>
                            <m:e>
                              <m:r>
                                <a:rPr lang="en-US" sz="2200" b="0" i="1" smtClean="0">
                                  <a:latin typeface="Cambria Math" panose="02040503050406030204" pitchFamily="18" charset="0"/>
                                </a:rPr>
                                <m:t>12</m:t>
                              </m:r>
                            </m:e>
                          </m:mr>
                        </m:m>
                      </m:e>
                    </m:d>
                  </m:oMath>
                </a14:m>
                <a:endParaRPr lang="en-US" sz="24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Scalar Multiplication: multiply a vector by a number means to multiple every component of a vector by that number.</a:t>
                </a:r>
              </a:p>
              <a:p>
                <a:pPr lvl="1"/>
                <a14:m>
                  <m:oMath xmlns:m="http://schemas.openxmlformats.org/officeDocument/2006/math">
                    <m:r>
                      <a:rPr lang="en-US" sz="2400" b="0" i="1" smtClean="0">
                        <a:latin typeface="Cambria Math" panose="02040503050406030204" pitchFamily="18" charset="0"/>
                      </a:rPr>
                      <m:t>3.</m:t>
                    </m:r>
                    <m:d>
                      <m:dPr>
                        <m:begChr m:val="["/>
                        <m:endChr m:val="]"/>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a:rPr>
                                <m:t>2</m:t>
                              </m:r>
                            </m:e>
                          </m:mr>
                          <m:mr>
                            <m:e>
                              <m:r>
                                <a:rPr lang="en-US" sz="2400" i="1">
                                  <a:latin typeface="Cambria Math"/>
                                </a:rPr>
                                <m:t>1</m:t>
                              </m:r>
                            </m:e>
                          </m:mr>
                          <m:mr>
                            <m:e>
                              <m:r>
                                <a:rPr lang="en-US" sz="2400" i="1">
                                  <a:latin typeface="Cambria Math"/>
                                </a:rPr>
                                <m:t>3</m:t>
                              </m:r>
                            </m:e>
                          </m:mr>
                        </m:m>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a:rPr lang="en-US" sz="2400" b="0" i="1" smtClean="0">
                                  <a:latin typeface="Cambria Math" panose="02040503050406030204" pitchFamily="18" charset="0"/>
                                </a:rPr>
                                <m:t>6</m:t>
                              </m:r>
                            </m:e>
                          </m:mr>
                          <m:mr>
                            <m:e>
                              <m:r>
                                <a:rPr lang="en-US" sz="2400" b="0" i="1" smtClean="0">
                                  <a:latin typeface="Cambria Math" panose="02040503050406030204" pitchFamily="18" charset="0"/>
                                </a:rPr>
                                <m:t>3</m:t>
                              </m:r>
                            </m:e>
                          </m:mr>
                          <m:mr>
                            <m:e>
                              <m:r>
                                <a:rPr lang="en-US" sz="2400" b="0" i="1" smtClean="0">
                                  <a:latin typeface="Cambria Math" panose="02040503050406030204" pitchFamily="18" charset="0"/>
                                </a:rPr>
                                <m:t>9</m:t>
                              </m:r>
                            </m:e>
                          </m:mr>
                        </m:m>
                      </m:e>
                    </m:d>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371600"/>
                <a:ext cx="8229600" cy="4953000"/>
              </a:xfrm>
              <a:blipFill>
                <a:blip r:embed="rId3"/>
                <a:stretch>
                  <a:fillRect l="-1037" t="-984" r="-51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14</a:t>
            </a:fld>
            <a:endParaRPr lang="en-US"/>
          </a:p>
        </p:txBody>
      </p:sp>
    </p:spTree>
    <p:extLst>
      <p:ext uri="{BB962C8B-B14F-4D97-AF65-F5344CB8AC3E}">
        <p14:creationId xmlns:p14="http://schemas.microsoft.com/office/powerpoint/2010/main" val="2336727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29900"/>
            <a:ext cx="6589199" cy="1280890"/>
          </a:xfrm>
        </p:spPr>
        <p:txBody>
          <a:bodyPr/>
          <a:lstStyle/>
          <a:p>
            <a:r>
              <a:rPr lang="en-US" dirty="0">
                <a:latin typeface="Times New Roman" panose="02020603050405020304" pitchFamily="18" charset="0"/>
                <a:cs typeface="Times New Roman" panose="02020603050405020304" pitchFamily="18" charset="0"/>
              </a:rPr>
              <a:t>Matrices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152908"/>
                <a:ext cx="8458200" cy="5552692"/>
              </a:xfrm>
            </p:spPr>
            <p:txBody>
              <a:bodyPr>
                <a:normAutofit/>
              </a:bodyPr>
              <a:lstStyle/>
              <a:p>
                <a:r>
                  <a:rPr lang="en-US" sz="2000" dirty="0">
                    <a:latin typeface="Times New Roman" panose="02020603050405020304" pitchFamily="18" charset="0"/>
                    <a:cs typeface="Times New Roman" panose="02020603050405020304" pitchFamily="18" charset="0"/>
                  </a:rPr>
                  <a:t>A matrix is just numbers in rows and columns, that’s all.  A square matrix has the same number of rows and columns.  </a:t>
                </a:r>
              </a:p>
              <a:p>
                <a:endParaRPr lang="en-US" sz="2000" dirty="0">
                  <a:latin typeface="Times New Roman" panose="02020603050405020304" pitchFamily="18" charset="0"/>
                  <a:cs typeface="Times New Roman" panose="02020603050405020304" pitchFamily="18" charset="0"/>
                </a:endParaRPr>
              </a:p>
              <a:p>
                <a:pPr marL="137160"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𝐴</m:t>
                      </m:r>
                      <m:r>
                        <a:rPr lang="en-US" sz="2000" b="0" i="1" smtClean="0">
                          <a:latin typeface="Cambria Math"/>
                        </a:rPr>
                        <m:t>= </m:t>
                      </m:r>
                      <m:d>
                        <m:dPr>
                          <m:begChr m:val="["/>
                          <m:endChr m:val="]"/>
                          <m:ctrlPr>
                            <a:rPr lang="en-US" sz="2000" b="0" i="1" smtClean="0">
                              <a:latin typeface="Cambria Math" panose="02040503050406030204" pitchFamily="18" charset="0"/>
                            </a:rPr>
                          </m:ctrlPr>
                        </m:dPr>
                        <m:e>
                          <m:m>
                            <m:mPr>
                              <m:mcs>
                                <m:mc>
                                  <m:mcPr>
                                    <m:count m:val="2"/>
                                    <m:mcJc m:val="center"/>
                                  </m:mcPr>
                                </m:mc>
                              </m:mcs>
                              <m:ctrlPr>
                                <a:rPr lang="en-US" sz="2000" b="0" i="1" smtClean="0">
                                  <a:latin typeface="Cambria Math" panose="02040503050406030204" pitchFamily="18" charset="0"/>
                                </a:rPr>
                              </m:ctrlPr>
                            </m:mPr>
                            <m:mr>
                              <m:e>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11</m:t>
                                    </m:r>
                                  </m:sub>
                                </m:sSub>
                              </m:e>
                              <m:e>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12</m:t>
                                    </m:r>
                                  </m:sub>
                                </m:sSub>
                              </m:e>
                            </m:mr>
                            <m:mr>
                              <m:e>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21</m:t>
                                    </m:r>
                                  </m:sub>
                                </m:sSub>
                              </m:e>
                              <m:e>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22</m:t>
                                    </m:r>
                                  </m:sub>
                                </m:sSub>
                              </m:e>
                            </m:mr>
                          </m:m>
                        </m:e>
                      </m:d>
                    </m:oMath>
                  </m:oMathPara>
                </a14:m>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Summation</a:t>
                </a:r>
              </a:p>
              <a:p>
                <a:pPr lvl="1"/>
                <a14:m>
                  <m:oMath xmlns:m="http://schemas.openxmlformats.org/officeDocument/2006/math">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b="0" i="1" smtClean="0">
                                  <a:latin typeface="Cambria Math" panose="02040503050406030204" pitchFamily="18" charset="0"/>
                                </a:rPr>
                                <m:t>2</m:t>
                              </m:r>
                            </m:e>
                            <m:e>
                              <m:r>
                                <a:rPr lang="en-US" sz="1800" b="0" i="1" smtClean="0">
                                  <a:latin typeface="Cambria Math" panose="02040503050406030204" pitchFamily="18" charset="0"/>
                                </a:rPr>
                                <m:t>1</m:t>
                              </m:r>
                            </m:e>
                          </m:mr>
                          <m:mr>
                            <m:e>
                              <m:r>
                                <a:rPr lang="en-US" sz="1800" b="0" i="1" smtClean="0">
                                  <a:latin typeface="Cambria Math" panose="02040503050406030204" pitchFamily="18" charset="0"/>
                                </a:rPr>
                                <m:t>1</m:t>
                              </m:r>
                            </m:e>
                            <m:e>
                              <m:r>
                                <a:rPr lang="en-US" sz="1800" b="0" i="1" smtClean="0">
                                  <a:latin typeface="Cambria Math" panose="02040503050406030204" pitchFamily="18" charset="0"/>
                                </a:rPr>
                                <m:t>3</m:t>
                              </m:r>
                            </m:e>
                          </m:mr>
                        </m:m>
                      </m:e>
                    </m:d>
                  </m:oMath>
                </a14:m>
                <a:r>
                  <a:rPr lang="en-US" sz="1800" dirty="0">
                    <a:latin typeface="Times New Roman" panose="02020603050405020304" pitchFamily="18" charset="0"/>
                    <a:cs typeface="Times New Roman" panose="02020603050405020304" pitchFamily="18" charset="0"/>
                  </a:rPr>
                  <a:t> </a:t>
                </a:r>
                <a14:m>
                  <m:oMath xmlns:m="http://schemas.openxmlformats.org/officeDocument/2006/math">
                    <m:r>
                      <a:rPr lang="en-US" sz="1800" b="0" i="1" smtClean="0">
                        <a:latin typeface="Cambria Math" panose="02040503050406030204" pitchFamily="18" charset="0"/>
                      </a:rPr>
                      <m:t>+</m:t>
                    </m:r>
                    <m:r>
                      <a:rPr lang="en-US" sz="1800" i="1">
                        <a:latin typeface="Cambria Math"/>
                      </a:rPr>
                      <m:t> </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b="0" i="1" smtClean="0">
                                  <a:latin typeface="Cambria Math" panose="02040503050406030204" pitchFamily="18" charset="0"/>
                                </a:rPr>
                                <m:t>0</m:t>
                              </m:r>
                            </m:e>
                            <m:e>
                              <m:r>
                                <a:rPr lang="en-US" sz="1800" b="0" i="1" smtClean="0">
                                  <a:latin typeface="Cambria Math" panose="02040503050406030204" pitchFamily="18" charset="0"/>
                                </a:rPr>
                                <m:t>2</m:t>
                              </m:r>
                            </m:e>
                          </m:mr>
                          <m:mr>
                            <m:e>
                              <m:r>
                                <a:rPr lang="en-US" sz="1800" b="0" i="1" smtClean="0">
                                  <a:latin typeface="Cambria Math" panose="02040503050406030204" pitchFamily="18" charset="0"/>
                                </a:rPr>
                                <m:t>4</m:t>
                              </m:r>
                            </m:e>
                            <m:e>
                              <m:r>
                                <a:rPr lang="en-US" sz="1800" b="0" i="1" smtClean="0">
                                  <a:latin typeface="Cambria Math" panose="02040503050406030204" pitchFamily="18" charset="0"/>
                                </a:rPr>
                                <m:t>1</m:t>
                              </m:r>
                            </m:e>
                          </m:mr>
                        </m:m>
                      </m:e>
                    </m:d>
                    <m:r>
                      <a:rPr lang="en-US" sz="1800" b="0" i="1" smtClean="0">
                        <a:latin typeface="Cambria Math" panose="02040503050406030204" pitchFamily="18" charset="0"/>
                      </a:rPr>
                      <m:t>=</m:t>
                    </m:r>
                    <m:r>
                      <a:rPr lang="en-US" sz="1800" i="1">
                        <a:latin typeface="Cambria Math"/>
                      </a:rPr>
                      <m:t> </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2</m:t>
                              </m:r>
                              <m:r>
                                <a:rPr lang="en-US" sz="1800" b="0" i="1" smtClean="0">
                                  <a:latin typeface="Cambria Math" panose="02040503050406030204" pitchFamily="18" charset="0"/>
                                </a:rPr>
                                <m:t>+0</m:t>
                              </m:r>
                            </m:e>
                            <m:e>
                              <m:r>
                                <a:rPr lang="en-US" sz="1800" i="1">
                                  <a:latin typeface="Cambria Math" panose="02040503050406030204" pitchFamily="18" charset="0"/>
                                </a:rPr>
                                <m:t>1</m:t>
                              </m:r>
                              <m:r>
                                <a:rPr lang="en-US" sz="1800" b="0" i="1" smtClean="0">
                                  <a:latin typeface="Cambria Math" panose="02040503050406030204" pitchFamily="18" charset="0"/>
                                </a:rPr>
                                <m:t>+2</m:t>
                              </m:r>
                            </m:e>
                          </m:mr>
                          <m:mr>
                            <m:e>
                              <m:r>
                                <a:rPr lang="en-US" sz="1800" i="1">
                                  <a:latin typeface="Cambria Math" panose="02040503050406030204" pitchFamily="18" charset="0"/>
                                </a:rPr>
                                <m:t>1</m:t>
                              </m:r>
                              <m:r>
                                <a:rPr lang="en-US" sz="1800" b="0" i="1" smtClean="0">
                                  <a:latin typeface="Cambria Math" panose="02040503050406030204" pitchFamily="18" charset="0"/>
                                </a:rPr>
                                <m:t>+4</m:t>
                              </m:r>
                            </m:e>
                            <m:e>
                              <m:r>
                                <a:rPr lang="en-US" sz="1800" i="1">
                                  <a:latin typeface="Cambria Math" panose="02040503050406030204" pitchFamily="18" charset="0"/>
                                </a:rPr>
                                <m:t>3</m:t>
                              </m:r>
                              <m:r>
                                <a:rPr lang="en-US" sz="1800" b="0" i="1" smtClean="0">
                                  <a:latin typeface="Cambria Math" panose="02040503050406030204" pitchFamily="18" charset="0"/>
                                </a:rPr>
                                <m:t>+1</m:t>
                              </m:r>
                            </m:e>
                          </m:mr>
                        </m:m>
                      </m:e>
                    </m:d>
                    <m:r>
                      <a:rPr lang="en-US" sz="1800" b="0" i="1" smtClean="0">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2</m:t>
                              </m:r>
                            </m:e>
                            <m:e>
                              <m:r>
                                <a:rPr lang="en-US" sz="1800" b="0" i="1" smtClean="0">
                                  <a:latin typeface="Cambria Math" panose="02040503050406030204" pitchFamily="18" charset="0"/>
                                </a:rPr>
                                <m:t>3</m:t>
                              </m:r>
                            </m:e>
                          </m:mr>
                          <m:mr>
                            <m:e>
                              <m:r>
                                <a:rPr lang="en-US" sz="1800" b="0" i="1" smtClean="0">
                                  <a:latin typeface="Cambria Math" panose="02040503050406030204" pitchFamily="18" charset="0"/>
                                </a:rPr>
                                <m:t>5</m:t>
                              </m:r>
                            </m:e>
                            <m:e>
                              <m:r>
                                <a:rPr lang="en-US" sz="1800" b="0" i="1" smtClean="0">
                                  <a:latin typeface="Cambria Math" panose="02040503050406030204" pitchFamily="18" charset="0"/>
                                </a:rPr>
                                <m:t>4</m:t>
                              </m:r>
                            </m:e>
                          </m:mr>
                        </m:m>
                      </m:e>
                    </m:d>
                  </m:oMath>
                </a14:m>
                <a:endParaRPr lang="en-US" sz="18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Note that for summation the dimension of both matrices should be the same</a:t>
                </a:r>
              </a:p>
              <a:p>
                <a:r>
                  <a:rPr lang="en-US" sz="2000" dirty="0">
                    <a:latin typeface="Times New Roman" panose="02020603050405020304" pitchFamily="18" charset="0"/>
                    <a:cs typeface="Times New Roman" panose="02020603050405020304" pitchFamily="18" charset="0"/>
                  </a:rPr>
                  <a:t>Multiplication</a:t>
                </a:r>
              </a:p>
              <a:p>
                <a:pPr lvl="1"/>
                <a14:m>
                  <m:oMath xmlns:m="http://schemas.openxmlformats.org/officeDocument/2006/math">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2</m:t>
                              </m:r>
                            </m:e>
                            <m:e>
                              <m:r>
                                <a:rPr lang="en-US" sz="1800" i="1">
                                  <a:latin typeface="Cambria Math" panose="02040503050406030204" pitchFamily="18" charset="0"/>
                                </a:rPr>
                                <m:t>1</m:t>
                              </m:r>
                            </m:e>
                          </m:mr>
                          <m:mr>
                            <m:e>
                              <m:r>
                                <a:rPr lang="en-US" sz="1800" i="1">
                                  <a:latin typeface="Cambria Math" panose="02040503050406030204" pitchFamily="18" charset="0"/>
                                </a:rPr>
                                <m:t>1</m:t>
                              </m:r>
                            </m:e>
                            <m:e>
                              <m:r>
                                <a:rPr lang="en-US" sz="1800" i="1">
                                  <a:latin typeface="Cambria Math" panose="02040503050406030204" pitchFamily="18" charset="0"/>
                                </a:rPr>
                                <m:t>3</m:t>
                              </m:r>
                            </m:e>
                          </m:mr>
                        </m:m>
                      </m:e>
                    </m:d>
                  </m:oMath>
                </a14:m>
                <a:r>
                  <a:rPr lang="en-US" sz="1800" dirty="0">
                    <a:latin typeface="Times New Roman" panose="02020603050405020304" pitchFamily="18" charset="0"/>
                    <a:cs typeface="Times New Roman" panose="02020603050405020304" pitchFamily="18" charset="0"/>
                  </a:rPr>
                  <a:t> </a:t>
                </a:r>
                <a14:m>
                  <m:oMath xmlns:m="http://schemas.openxmlformats.org/officeDocument/2006/math">
                    <m:r>
                      <a:rPr lang="en-US" sz="1800" b="0" i="1" smtClean="0">
                        <a:latin typeface="Cambria Math" panose="02040503050406030204" pitchFamily="18" charset="0"/>
                      </a:rPr>
                      <m:t>∗</m:t>
                    </m:r>
                    <m:r>
                      <a:rPr lang="en-US" sz="1800" i="1">
                        <a:latin typeface="Cambria Math"/>
                      </a:rPr>
                      <m:t> </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0</m:t>
                              </m:r>
                            </m:e>
                            <m:e>
                              <m:r>
                                <a:rPr lang="en-US" sz="1800" i="1">
                                  <a:latin typeface="Cambria Math" panose="02040503050406030204" pitchFamily="18" charset="0"/>
                                </a:rPr>
                                <m:t>2</m:t>
                              </m:r>
                            </m:e>
                          </m:mr>
                          <m:mr>
                            <m:e>
                              <m:r>
                                <a:rPr lang="en-US" sz="1800" i="1">
                                  <a:latin typeface="Cambria Math" panose="02040503050406030204" pitchFamily="18" charset="0"/>
                                </a:rPr>
                                <m:t>4</m:t>
                              </m:r>
                            </m:e>
                            <m:e>
                              <m:r>
                                <a:rPr lang="en-US" sz="1800" i="1">
                                  <a:latin typeface="Cambria Math" panose="02040503050406030204" pitchFamily="18" charset="0"/>
                                </a:rPr>
                                <m:t>1</m:t>
                              </m:r>
                            </m:e>
                          </m:mr>
                        </m:m>
                      </m:e>
                    </m:d>
                    <m:r>
                      <a:rPr lang="en-US" sz="1800" i="1">
                        <a:latin typeface="Cambria Math" panose="02040503050406030204" pitchFamily="18" charset="0"/>
                      </a:rPr>
                      <m:t>=</m:t>
                    </m:r>
                    <m:r>
                      <a:rPr lang="en-US" sz="1800" i="1">
                        <a:latin typeface="Cambria Math"/>
                      </a:rPr>
                      <m:t> </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2</m:t>
                              </m:r>
                              <m:r>
                                <a:rPr lang="en-US" sz="1800" b="0" i="1" smtClean="0">
                                  <a:latin typeface="Cambria Math" panose="02040503050406030204" pitchFamily="18" charset="0"/>
                                </a:rPr>
                                <m:t>∗</m:t>
                              </m:r>
                              <m:r>
                                <a:rPr lang="en-US" sz="1800" i="1">
                                  <a:latin typeface="Cambria Math" panose="02040503050406030204" pitchFamily="18" charset="0"/>
                                </a:rPr>
                                <m:t>0</m:t>
                              </m:r>
                              <m:r>
                                <a:rPr lang="en-US" sz="1800" b="0" i="1" smtClean="0">
                                  <a:latin typeface="Cambria Math" panose="02040503050406030204" pitchFamily="18" charset="0"/>
                                </a:rPr>
                                <m:t>+1∗4</m:t>
                              </m:r>
                            </m:e>
                            <m:e>
                              <m:r>
                                <a:rPr lang="en-US" sz="1800" b="0" i="1" smtClean="0">
                                  <a:latin typeface="Cambria Math" panose="02040503050406030204" pitchFamily="18" charset="0"/>
                                </a:rPr>
                                <m:t>2∗2+1∗1</m:t>
                              </m:r>
                            </m:e>
                          </m:mr>
                          <m:mr>
                            <m:e>
                              <m:r>
                                <a:rPr lang="en-US" sz="1800" b="0" i="1" smtClean="0">
                                  <a:latin typeface="Cambria Math" panose="02040503050406030204" pitchFamily="18" charset="0"/>
                                </a:rPr>
                                <m:t>1∗0+3∗4</m:t>
                              </m:r>
                            </m:e>
                            <m:e>
                              <m:r>
                                <a:rPr lang="en-US" sz="1800" b="0" i="1" smtClean="0">
                                  <a:latin typeface="Cambria Math" panose="02040503050406030204" pitchFamily="18" charset="0"/>
                                </a:rPr>
                                <m:t>1∗2+3∗1</m:t>
                              </m:r>
                            </m:e>
                          </m:mr>
                        </m:m>
                      </m:e>
                    </m:d>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b="0" i="1" smtClean="0">
                                  <a:latin typeface="Cambria Math" panose="02040503050406030204" pitchFamily="18" charset="0"/>
                                </a:rPr>
                                <m:t>4</m:t>
                              </m:r>
                            </m:e>
                            <m:e>
                              <m:r>
                                <a:rPr lang="en-US" sz="1800" b="0" i="1" smtClean="0">
                                  <a:latin typeface="Cambria Math" panose="02040503050406030204" pitchFamily="18" charset="0"/>
                                </a:rPr>
                                <m:t>5</m:t>
                              </m:r>
                            </m:e>
                          </m:mr>
                          <m:mr>
                            <m:e>
                              <m:r>
                                <a:rPr lang="en-US" sz="1800" b="0" i="1" smtClean="0">
                                  <a:latin typeface="Cambria Math" panose="02040503050406030204" pitchFamily="18" charset="0"/>
                                </a:rPr>
                                <m:t>12</m:t>
                              </m:r>
                            </m:e>
                            <m:e>
                              <m:r>
                                <a:rPr lang="en-US" sz="1800" b="0" i="1" smtClean="0">
                                  <a:latin typeface="Cambria Math" panose="02040503050406030204" pitchFamily="18" charset="0"/>
                                </a:rPr>
                                <m:t>5</m:t>
                              </m:r>
                            </m:e>
                          </m:mr>
                        </m:m>
                      </m:e>
                    </m:d>
                  </m:oMath>
                </a14:m>
                <a:endParaRPr lang="en-US" sz="1800" dirty="0">
                  <a:latin typeface="Times New Roman" panose="02020603050405020304" pitchFamily="18" charset="0"/>
                  <a:cs typeface="Times New Roman" panose="02020603050405020304" pitchFamily="18" charset="0"/>
                </a:endParaRPr>
              </a:p>
              <a:p>
                <a:pPr lvl="1"/>
                <a:endParaRPr lang="en-US" sz="18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Note that for multiplication, number of columns of first matrix should be equal to number of rows of second matrix</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152908"/>
                <a:ext cx="8458200" cy="5552692"/>
              </a:xfrm>
              <a:blipFill>
                <a:blip r:embed="rId3"/>
                <a:stretch>
                  <a:fillRect l="-648" t="-549" r="-43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15</a:t>
            </a:fld>
            <a:endParaRPr lang="en-US"/>
          </a:p>
        </p:txBody>
      </p:sp>
    </p:spTree>
    <p:extLst>
      <p:ext uri="{BB962C8B-B14F-4D97-AF65-F5344CB8AC3E}">
        <p14:creationId xmlns:p14="http://schemas.microsoft.com/office/powerpoint/2010/main" val="250229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29900"/>
            <a:ext cx="6589199" cy="1280890"/>
          </a:xfrm>
        </p:spPr>
        <p:txBody>
          <a:bodyPr/>
          <a:lstStyle/>
          <a:p>
            <a:r>
              <a:rPr lang="en-US" dirty="0">
                <a:latin typeface="Times New Roman" panose="02020603050405020304" pitchFamily="18" charset="0"/>
                <a:cs typeface="Times New Roman" panose="02020603050405020304" pitchFamily="18" charset="0"/>
              </a:rPr>
              <a:t>Matrices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152908"/>
                <a:ext cx="8458200" cy="5552692"/>
              </a:xfrm>
            </p:spPr>
            <p:txBody>
              <a:bodyPr>
                <a:normAutofit/>
              </a:bodyPr>
              <a:lstStyle/>
              <a:p>
                <a:r>
                  <a:rPr lang="en-US" sz="2000" dirty="0">
                    <a:latin typeface="Times New Roman" panose="02020603050405020304" pitchFamily="18" charset="0"/>
                    <a:cs typeface="Times New Roman" panose="02020603050405020304" pitchFamily="18" charset="0"/>
                  </a:rPr>
                  <a:t>Question: Which multiplication is NOT correct?</a:t>
                </a:r>
              </a:p>
              <a:p>
                <a:endParaRPr lang="en-US" sz="2000" dirty="0">
                  <a:latin typeface="Times New Roman" panose="02020603050405020304" pitchFamily="18" charset="0"/>
                  <a:cs typeface="Times New Roman" panose="02020603050405020304" pitchFamily="18" charset="0"/>
                </a:endParaRPr>
              </a:p>
              <a:p>
                <a:pPr marL="800100" lvl="1" indent="-342900">
                  <a:buFont typeface="+mj-lt"/>
                  <a:buAutoNum type="alphaUcPeriod"/>
                </a:pPr>
                <a14:m>
                  <m:oMath xmlns:m="http://schemas.openxmlformats.org/officeDocument/2006/math">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b="0" i="1" smtClean="0">
                                  <a:latin typeface="Cambria Math" panose="02040503050406030204" pitchFamily="18" charset="0"/>
                                </a:rPr>
                                <m:t>2</m:t>
                              </m:r>
                            </m:e>
                            <m:e>
                              <m:r>
                                <a:rPr lang="en-US" sz="1800" b="0" i="1" smtClean="0">
                                  <a:latin typeface="Cambria Math" panose="02040503050406030204" pitchFamily="18" charset="0"/>
                                </a:rPr>
                                <m:t>1</m:t>
                              </m:r>
                            </m:e>
                          </m:mr>
                          <m:mr>
                            <m:e>
                              <m:r>
                                <a:rPr lang="en-US" sz="1800" b="0" i="1" smtClean="0">
                                  <a:latin typeface="Cambria Math" panose="02040503050406030204" pitchFamily="18" charset="0"/>
                                </a:rPr>
                                <m:t>1</m:t>
                              </m:r>
                            </m:e>
                            <m:e>
                              <m:r>
                                <a:rPr lang="en-US" sz="1800" b="0" i="1" smtClean="0">
                                  <a:latin typeface="Cambria Math" panose="02040503050406030204" pitchFamily="18" charset="0"/>
                                </a:rPr>
                                <m:t>3</m:t>
                              </m:r>
                            </m:e>
                          </m:mr>
                        </m:m>
                      </m:e>
                    </m:d>
                  </m:oMath>
                </a14:m>
                <a:r>
                  <a:rPr lang="en-US" sz="1800" dirty="0">
                    <a:latin typeface="Times New Roman" panose="02020603050405020304" pitchFamily="18" charset="0"/>
                    <a:cs typeface="Times New Roman" panose="02020603050405020304" pitchFamily="18" charset="0"/>
                  </a:rPr>
                  <a:t> </a:t>
                </a:r>
                <a14:m>
                  <m:oMath xmlns:m="http://schemas.openxmlformats.org/officeDocument/2006/math">
                    <m:r>
                      <a:rPr lang="en-US" sz="1800" b="0" i="1" smtClean="0">
                        <a:latin typeface="Cambria Math" panose="02040503050406030204" pitchFamily="18" charset="0"/>
                      </a:rPr>
                      <m:t>∗</m:t>
                    </m:r>
                    <m:r>
                      <a:rPr lang="en-US" sz="1800" i="1">
                        <a:latin typeface="Cambria Math"/>
                      </a:rPr>
                      <m:t> </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b="0" i="1" smtClean="0">
                                  <a:latin typeface="Cambria Math" panose="02040503050406030204" pitchFamily="18" charset="0"/>
                                </a:rPr>
                                <m:t>0</m:t>
                              </m:r>
                            </m:e>
                            <m:e>
                              <m:r>
                                <a:rPr lang="en-US" sz="1800" b="0" i="1" smtClean="0">
                                  <a:latin typeface="Cambria Math" panose="02040503050406030204" pitchFamily="18" charset="0"/>
                                </a:rPr>
                                <m:t>2</m:t>
                              </m:r>
                            </m:e>
                          </m:mr>
                          <m:mr>
                            <m:e>
                              <m:r>
                                <a:rPr lang="en-US" sz="1800" b="0" i="1" smtClean="0">
                                  <a:latin typeface="Cambria Math" panose="02040503050406030204" pitchFamily="18" charset="0"/>
                                </a:rPr>
                                <m:t>4</m:t>
                              </m:r>
                            </m:e>
                            <m:e>
                              <m:r>
                                <a:rPr lang="en-US" sz="1800" b="0" i="1" smtClean="0">
                                  <a:latin typeface="Cambria Math" panose="02040503050406030204" pitchFamily="18" charset="0"/>
                                </a:rPr>
                                <m:t>1</m:t>
                              </m:r>
                            </m:e>
                          </m:mr>
                        </m:m>
                      </m:e>
                    </m:d>
                  </m:oMath>
                </a14:m>
                <a:endParaRPr lang="en-US" sz="1800" dirty="0">
                  <a:latin typeface="Times New Roman" panose="02020603050405020304" pitchFamily="18" charset="0"/>
                  <a:cs typeface="Times New Roman" panose="02020603050405020304" pitchFamily="18" charset="0"/>
                </a:endParaRPr>
              </a:p>
              <a:p>
                <a:pPr marL="800100" lvl="1" indent="-342900">
                  <a:buFont typeface="+mj-lt"/>
                  <a:buAutoNum type="alphaUcPeriod"/>
                </a:pPr>
                <a14:m>
                  <m:oMath xmlns:m="http://schemas.openxmlformats.org/officeDocument/2006/math">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2</m:t>
                              </m:r>
                            </m:e>
                            <m:e>
                              <m:r>
                                <a:rPr lang="en-US" sz="1800" i="1">
                                  <a:latin typeface="Cambria Math" panose="02040503050406030204" pitchFamily="18" charset="0"/>
                                </a:rPr>
                                <m:t>1</m:t>
                              </m:r>
                            </m:e>
                          </m:mr>
                          <m:mr>
                            <m:e>
                              <m:m>
                                <m:mPr>
                                  <m:mcs>
                                    <m:mc>
                                      <m:mcPr>
                                        <m:count m:val="1"/>
                                        <m:mcJc m:val="center"/>
                                      </m:mcPr>
                                    </m:mc>
                                  </m:mcs>
                                  <m:ctrlPr>
                                    <a:rPr lang="en-US" sz="1800" i="1" smtClean="0">
                                      <a:latin typeface="Cambria Math" panose="02040503050406030204" pitchFamily="18" charset="0"/>
                                    </a:rPr>
                                  </m:ctrlPr>
                                </m:mPr>
                                <m:mr>
                                  <m:e>
                                    <m:r>
                                      <m:rPr>
                                        <m:brk m:alnAt="7"/>
                                      </m:rPr>
                                      <a:rPr lang="en-US" sz="1800" b="0" i="1" smtClean="0">
                                        <a:latin typeface="Cambria Math" panose="02040503050406030204" pitchFamily="18" charset="0"/>
                                      </a:rPr>
                                      <m:t>2</m:t>
                                    </m:r>
                                  </m:e>
                                </m:mr>
                                <m:mr>
                                  <m:e>
                                    <m:r>
                                      <a:rPr lang="en-US" sz="1800" b="0" i="1" smtClean="0">
                                        <a:latin typeface="Cambria Math" panose="02040503050406030204" pitchFamily="18" charset="0"/>
                                      </a:rPr>
                                      <m:t>1</m:t>
                                    </m:r>
                                  </m:e>
                                </m:mr>
                                <m:mr>
                                  <m:e>
                                    <m:r>
                                      <a:rPr lang="en-US" sz="1800" b="0" i="1" smtClean="0">
                                        <a:latin typeface="Cambria Math" panose="02040503050406030204" pitchFamily="18" charset="0"/>
                                      </a:rPr>
                                      <m:t>4</m:t>
                                    </m:r>
                                  </m:e>
                                </m:mr>
                              </m:m>
                            </m:e>
                            <m:e>
                              <m:m>
                                <m:mPr>
                                  <m:mcs>
                                    <m:mc>
                                      <m:mcPr>
                                        <m:count m:val="1"/>
                                        <m:mcJc m:val="center"/>
                                      </m:mcPr>
                                    </m:mc>
                                  </m:mcs>
                                  <m:ctrlPr>
                                    <a:rPr lang="en-US" sz="1800" i="1" smtClean="0">
                                      <a:latin typeface="Cambria Math" panose="02040503050406030204" pitchFamily="18" charset="0"/>
                                    </a:rPr>
                                  </m:ctrlPr>
                                </m:mPr>
                                <m:mr>
                                  <m:e>
                                    <m:r>
                                      <m:rPr>
                                        <m:brk m:alnAt="7"/>
                                      </m:rPr>
                                      <a:rPr lang="en-US" sz="1800" b="0" i="1" smtClean="0">
                                        <a:latin typeface="Cambria Math" panose="02040503050406030204" pitchFamily="18" charset="0"/>
                                      </a:rPr>
                                      <m:t>2</m:t>
                                    </m:r>
                                  </m:e>
                                </m:mr>
                                <m:mr>
                                  <m:e>
                                    <m:r>
                                      <a:rPr lang="en-US" sz="1800" b="0" i="1" smtClean="0">
                                        <a:latin typeface="Cambria Math" panose="02040503050406030204" pitchFamily="18" charset="0"/>
                                      </a:rPr>
                                      <m:t>0</m:t>
                                    </m:r>
                                  </m:e>
                                </m:mr>
                                <m:mr>
                                  <m:e>
                                    <m:r>
                                      <a:rPr lang="en-US" sz="1800" b="0" i="1" smtClean="0">
                                        <a:latin typeface="Cambria Math" panose="02040503050406030204" pitchFamily="18" charset="0"/>
                                      </a:rPr>
                                      <m:t>4</m:t>
                                    </m:r>
                                  </m:e>
                                </m:mr>
                              </m:m>
                            </m:e>
                          </m:mr>
                        </m:m>
                      </m:e>
                    </m:d>
                  </m:oMath>
                </a14:m>
                <a:r>
                  <a:rPr lang="en-US" sz="1800" dirty="0">
                    <a:latin typeface="Times New Roman" panose="02020603050405020304" pitchFamily="18" charset="0"/>
                    <a:cs typeface="Times New Roman" panose="02020603050405020304" pitchFamily="18" charset="0"/>
                  </a:rPr>
                  <a:t> </a:t>
                </a:r>
                <a14:m>
                  <m:oMath xmlns:m="http://schemas.openxmlformats.org/officeDocument/2006/math">
                    <m:r>
                      <a:rPr lang="en-US" sz="1800" i="1">
                        <a:latin typeface="Cambria Math" panose="02040503050406030204" pitchFamily="18" charset="0"/>
                      </a:rPr>
                      <m:t>∗</m:t>
                    </m:r>
                    <m:r>
                      <a:rPr lang="en-US" sz="1800" i="1">
                        <a:latin typeface="Cambria Math"/>
                      </a:rPr>
                      <m:t> </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0</m:t>
                              </m:r>
                            </m:e>
                            <m:e>
                              <m:r>
                                <a:rPr lang="en-US" sz="1800" i="1">
                                  <a:latin typeface="Cambria Math" panose="02040503050406030204" pitchFamily="18" charset="0"/>
                                </a:rPr>
                                <m:t>2</m:t>
                              </m:r>
                            </m:e>
                          </m:mr>
                          <m:mr>
                            <m:e>
                              <m:r>
                                <a:rPr lang="en-US" sz="1800" i="1">
                                  <a:latin typeface="Cambria Math" panose="02040503050406030204" pitchFamily="18" charset="0"/>
                                </a:rPr>
                                <m:t>4</m:t>
                              </m:r>
                            </m:e>
                            <m:e>
                              <m:r>
                                <a:rPr lang="en-US" sz="1800" i="1">
                                  <a:latin typeface="Cambria Math" panose="02040503050406030204" pitchFamily="18" charset="0"/>
                                </a:rPr>
                                <m:t>1</m:t>
                              </m:r>
                            </m:e>
                          </m:mr>
                        </m:m>
                      </m:e>
                    </m:d>
                  </m:oMath>
                </a14:m>
                <a:endParaRPr lang="en-US" sz="1800" dirty="0">
                  <a:latin typeface="Times New Roman" panose="02020603050405020304" pitchFamily="18" charset="0"/>
                  <a:cs typeface="Times New Roman" panose="02020603050405020304" pitchFamily="18" charset="0"/>
                </a:endParaRPr>
              </a:p>
              <a:p>
                <a:pPr marL="800100" lvl="1" indent="-342900">
                  <a:buFont typeface="+mj-lt"/>
                  <a:buAutoNum type="alphaUcPeriod"/>
                </a:pPr>
                <a14:m>
                  <m:oMath xmlns:m="http://schemas.openxmlformats.org/officeDocument/2006/math">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0</m:t>
                              </m:r>
                            </m:e>
                            <m:e>
                              <m:r>
                                <a:rPr lang="en-US" sz="1800" i="1">
                                  <a:latin typeface="Cambria Math" panose="02040503050406030204" pitchFamily="18" charset="0"/>
                                </a:rPr>
                                <m:t>2</m:t>
                              </m:r>
                            </m:e>
                          </m:mr>
                          <m:mr>
                            <m:e>
                              <m:r>
                                <a:rPr lang="en-US" sz="1800" i="1">
                                  <a:latin typeface="Cambria Math" panose="02040503050406030204" pitchFamily="18" charset="0"/>
                                </a:rPr>
                                <m:t>4</m:t>
                              </m:r>
                            </m:e>
                            <m:e>
                              <m:r>
                                <a:rPr lang="en-US" sz="1800" i="1">
                                  <a:latin typeface="Cambria Math" panose="02040503050406030204" pitchFamily="18" charset="0"/>
                                </a:rPr>
                                <m:t>1</m:t>
                              </m:r>
                            </m:e>
                          </m:mr>
                        </m:m>
                      </m:e>
                    </m:d>
                    <m:r>
                      <a:rPr lang="en-US" sz="1800" b="0" i="1" smtClean="0">
                        <a:latin typeface="Cambria Math" panose="02040503050406030204" pitchFamily="18" charset="0"/>
                      </a:rPr>
                      <m:t>∗</m:t>
                    </m:r>
                    <m:d>
                      <m:dPr>
                        <m:begChr m:val="["/>
                        <m:endChr m:val="]"/>
                        <m:ctrlPr>
                          <a:rPr lang="en-US" sz="1800" i="1">
                            <a:latin typeface="Cambria Math" panose="02040503050406030204" pitchFamily="18" charset="0"/>
                          </a:rPr>
                        </m:ctrlPr>
                      </m:dPr>
                      <m:e>
                        <m:m>
                          <m:mPr>
                            <m:mcs>
                              <m:mc>
                                <m:mcPr>
                                  <m:count m:val="2"/>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2</m:t>
                              </m:r>
                            </m:e>
                            <m:e>
                              <m:r>
                                <a:rPr lang="en-US" sz="1800" i="1">
                                  <a:latin typeface="Cambria Math" panose="02040503050406030204" pitchFamily="18" charset="0"/>
                                </a:rPr>
                                <m:t>1</m:t>
                              </m:r>
                            </m:e>
                          </m:mr>
                          <m:mr>
                            <m:e>
                              <m:m>
                                <m:mPr>
                                  <m:mcs>
                                    <m:mc>
                                      <m:mcPr>
                                        <m:count m:val="1"/>
                                        <m:mcJc m:val="center"/>
                                      </m:mcPr>
                                    </m:mc>
                                  </m:mcs>
                                  <m:ctrlPr>
                                    <a:rPr lang="en-US" sz="1800" i="1">
                                      <a:latin typeface="Cambria Math" panose="02040503050406030204" pitchFamily="18" charset="0"/>
                                    </a:rPr>
                                  </m:ctrlPr>
                                </m:mPr>
                                <m:mr>
                                  <m:e>
                                    <m:r>
                                      <m:rPr>
                                        <m:brk m:alnAt="7"/>
                                      </m:rPr>
                                      <a:rPr lang="en-US" sz="1800" i="1">
                                        <a:latin typeface="Cambria Math" panose="02040503050406030204" pitchFamily="18" charset="0"/>
                                      </a:rPr>
                                      <m:t>2</m:t>
                                    </m:r>
                                  </m:e>
                                </m:mr>
                                <m:mr>
                                  <m:e>
                                    <m:r>
                                      <a:rPr lang="en-US" sz="1800" i="1">
                                        <a:latin typeface="Cambria Math" panose="02040503050406030204" pitchFamily="18" charset="0"/>
                                      </a:rPr>
                                      <m:t>1</m:t>
                                    </m:r>
                                  </m:e>
                                </m:mr>
                                <m:mr>
                                  <m:e>
                                    <m:r>
                                      <a:rPr lang="en-US" sz="1800" i="1">
                                        <a:latin typeface="Cambria Math" panose="02040503050406030204" pitchFamily="18" charset="0"/>
                                      </a:rPr>
                                      <m:t>4</m:t>
                                    </m:r>
                                  </m:e>
                                </m:mr>
                              </m:m>
                            </m:e>
                            <m:e>
                              <m:m>
                                <m:mPr>
                                  <m:mcs>
                                    <m:mc>
                                      <m:mcPr>
                                        <m:count m:val="1"/>
                                        <m:mcJc m:val="center"/>
                                      </m:mcPr>
                                    </m:mc>
                                  </m:mcs>
                                  <m:ctrlPr>
                                    <a:rPr lang="en-US" sz="1800" i="1">
                                      <a:latin typeface="Cambria Math" panose="02040503050406030204" pitchFamily="18" charset="0"/>
                                    </a:rPr>
                                  </m:ctrlPr>
                                </m:mPr>
                                <m:mr>
                                  <m:e>
                                    <m:r>
                                      <m:rPr>
                                        <m:brk m:alnAt="7"/>
                                      </m:rPr>
                                      <a:rPr lang="en-US" sz="1800" i="1">
                                        <a:latin typeface="Cambria Math" panose="02040503050406030204" pitchFamily="18" charset="0"/>
                                      </a:rPr>
                                      <m:t>2</m:t>
                                    </m:r>
                                  </m:e>
                                </m:mr>
                                <m:mr>
                                  <m:e>
                                    <m:r>
                                      <a:rPr lang="en-US" sz="1800" i="1">
                                        <a:latin typeface="Cambria Math" panose="02040503050406030204" pitchFamily="18" charset="0"/>
                                      </a:rPr>
                                      <m:t>0</m:t>
                                    </m:r>
                                  </m:e>
                                </m:mr>
                                <m:mr>
                                  <m:e>
                                    <m:r>
                                      <a:rPr lang="en-US" sz="1800" i="1">
                                        <a:latin typeface="Cambria Math" panose="02040503050406030204" pitchFamily="18" charset="0"/>
                                      </a:rPr>
                                      <m:t>4</m:t>
                                    </m:r>
                                  </m:e>
                                </m:mr>
                              </m:m>
                            </m:e>
                          </m:mr>
                        </m:m>
                      </m:e>
                    </m:d>
                  </m:oMath>
                </a14:m>
                <a:endParaRPr lang="en-US" sz="1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152908"/>
                <a:ext cx="8458200" cy="5552692"/>
              </a:xfrm>
              <a:blipFill>
                <a:blip r:embed="rId3"/>
                <a:stretch>
                  <a:fillRect l="-648" t="-54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16</a:t>
            </a:fld>
            <a:endParaRPr lang="en-US"/>
          </a:p>
        </p:txBody>
      </p:sp>
    </p:spTree>
    <p:extLst>
      <p:ext uri="{BB962C8B-B14F-4D97-AF65-F5344CB8AC3E}">
        <p14:creationId xmlns:p14="http://schemas.microsoft.com/office/powerpoint/2010/main" val="4254455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28600"/>
            <a:ext cx="6589199" cy="1280890"/>
          </a:xfrm>
        </p:spPr>
        <p:txBody>
          <a:bodyPr/>
          <a:lstStyle/>
          <a:p>
            <a:r>
              <a:rPr lang="en-US" dirty="0">
                <a:latin typeface="Times New Roman" panose="02020603050405020304" pitchFamily="18" charset="0"/>
                <a:cs typeface="Times New Roman" panose="02020603050405020304" pitchFamily="18" charset="0"/>
              </a:rPr>
              <a:t>Matrix determinant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509490"/>
                <a:ext cx="7924800" cy="5043710"/>
              </a:xfrm>
            </p:spPr>
            <p:txBody>
              <a:bodyPr>
                <a:normAutofit/>
              </a:bodyPr>
              <a:lstStyle/>
              <a:p>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a:rPr>
                          <m:t>det</m:t>
                        </m:r>
                      </m:fName>
                      <m:e>
                        <m:d>
                          <m:dPr>
                            <m:ctrlPr>
                              <a:rPr lang="en-US" sz="2000" b="0" i="1" smtClean="0">
                                <a:latin typeface="Cambria Math" panose="02040503050406030204" pitchFamily="18" charset="0"/>
                              </a:rPr>
                            </m:ctrlPr>
                          </m:dPr>
                          <m:e>
                            <m:r>
                              <a:rPr lang="en-US" sz="2000" b="0" i="1" smtClean="0">
                                <a:latin typeface="Cambria Math"/>
                              </a:rPr>
                              <m:t>𝐴</m:t>
                            </m:r>
                          </m:e>
                        </m:d>
                      </m:e>
                    </m:func>
                    <m:r>
                      <a:rPr lang="en-US" sz="2000" b="0" i="1" smtClean="0">
                        <a:latin typeface="Cambria Math"/>
                      </a:rPr>
                      <m:t>𝑜𝑟</m:t>
                    </m:r>
                    <m:r>
                      <a:rPr lang="en-US" sz="2000" b="0" i="1" smtClean="0">
                        <a:latin typeface="Cambria Math"/>
                      </a:rPr>
                      <m:t> |</m:t>
                    </m:r>
                    <m:r>
                      <a:rPr lang="en-US" sz="2000" b="0" i="1" smtClean="0">
                        <a:latin typeface="Cambria Math"/>
                      </a:rPr>
                      <m:t>𝐴</m:t>
                    </m:r>
                    <m:r>
                      <a:rPr lang="en-US" sz="2000" b="0" i="1" smtClean="0">
                        <a:latin typeface="Cambria Math"/>
                      </a:rPr>
                      <m:t>|</m:t>
                    </m:r>
                  </m:oMath>
                </a14:m>
                <a:r>
                  <a:rPr lang="en-US" sz="2000" dirty="0">
                    <a:latin typeface="Times New Roman" panose="02020603050405020304" pitchFamily="18" charset="0"/>
                    <a:cs typeface="Times New Roman" panose="02020603050405020304" pitchFamily="18" charset="0"/>
                  </a:rPr>
                  <a:t> is a scalar value</a:t>
                </a:r>
              </a:p>
              <a:p>
                <a:r>
                  <a:rPr lang="en-US" sz="2000" dirty="0">
                    <a:latin typeface="Times New Roman" panose="02020603050405020304" pitchFamily="18" charset="0"/>
                    <a:cs typeface="Times New Roman" panose="02020603050405020304" pitchFamily="18" charset="0"/>
                  </a:rPr>
                  <a:t>If </a:t>
                </a:r>
                <a14:m>
                  <m:oMath xmlns:m="http://schemas.openxmlformats.org/officeDocument/2006/math">
                    <m:r>
                      <a:rPr lang="en-US" sz="2000" b="0" i="1" smtClean="0">
                        <a:latin typeface="Cambria Math"/>
                      </a:rPr>
                      <m:t>𝐴</m:t>
                    </m:r>
                    <m:r>
                      <a:rPr lang="en-US" sz="2000" b="0" i="1" smtClean="0">
                        <a:latin typeface="Cambria Math"/>
                      </a:rPr>
                      <m:t>= </m:t>
                    </m:r>
                    <m:d>
                      <m:dPr>
                        <m:begChr m:val="["/>
                        <m:endChr m:val="]"/>
                        <m:ctrlPr>
                          <a:rPr lang="en-US" sz="2000" b="0" i="1" smtClean="0">
                            <a:latin typeface="Cambria Math" panose="02040503050406030204" pitchFamily="18" charset="0"/>
                          </a:rPr>
                        </m:ctrlPr>
                      </m:dPr>
                      <m:e>
                        <m:m>
                          <m:mPr>
                            <m:mcs>
                              <m:mc>
                                <m:mcPr>
                                  <m:count m:val="2"/>
                                  <m:mcJc m:val="center"/>
                                </m:mcPr>
                              </m:mc>
                            </m:mcs>
                            <m:ctrlPr>
                              <a:rPr lang="en-US" sz="2000" b="0" i="1" smtClean="0">
                                <a:latin typeface="Cambria Math" panose="02040503050406030204" pitchFamily="18" charset="0"/>
                              </a:rPr>
                            </m:ctrlPr>
                          </m:mPr>
                          <m:mr>
                            <m:e>
                              <m:r>
                                <m:rPr>
                                  <m:brk m:alnAt="7"/>
                                </m:rPr>
                                <a:rPr lang="en-US" sz="2000" b="0" i="1" smtClean="0">
                                  <a:latin typeface="Cambria Math"/>
                                </a:rPr>
                                <m:t>𝑎</m:t>
                              </m:r>
                            </m:e>
                            <m:e>
                              <m:r>
                                <a:rPr lang="en-US" sz="2000" b="0" i="1" smtClean="0">
                                  <a:latin typeface="Cambria Math"/>
                                </a:rPr>
                                <m:t>𝑏</m:t>
                              </m:r>
                            </m:e>
                          </m:mr>
                          <m:mr>
                            <m:e>
                              <m:r>
                                <a:rPr lang="en-US" sz="2000" b="0" i="1" smtClean="0">
                                  <a:latin typeface="Cambria Math"/>
                                </a:rPr>
                                <m:t>𝑐</m:t>
                              </m:r>
                            </m:e>
                            <m:e>
                              <m:r>
                                <a:rPr lang="en-US" sz="2000" b="0" i="1" smtClean="0">
                                  <a:latin typeface="Cambria Math"/>
                                </a:rPr>
                                <m:t>𝑑</m:t>
                              </m:r>
                            </m:e>
                          </m:mr>
                        </m:m>
                      </m:e>
                    </m:d>
                  </m:oMath>
                </a14:m>
                <a:r>
                  <a:rPr lang="en-US" sz="2000" dirty="0">
                    <a:latin typeface="Times New Roman" panose="02020603050405020304" pitchFamily="18" charset="0"/>
                    <a:cs typeface="Times New Roman" panose="02020603050405020304" pitchFamily="18" charset="0"/>
                  </a:rPr>
                  <a:t> then </a:t>
                </a:r>
                <a14:m>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a:rPr>
                          <m:t>𝐴</m:t>
                        </m:r>
                      </m:e>
                    </m:d>
                    <m:r>
                      <a:rPr lang="en-US" sz="2000" b="0" i="1" smtClean="0">
                        <a:latin typeface="Cambria Math"/>
                      </a:rPr>
                      <m:t>=</m:t>
                    </m:r>
                    <m:r>
                      <a:rPr lang="en-US" sz="2000" b="0" i="1" smtClean="0">
                        <a:latin typeface="Cambria Math"/>
                      </a:rPr>
                      <m:t>𝑎𝑑</m:t>
                    </m:r>
                    <m:r>
                      <a:rPr lang="en-US" sz="2000" b="0" i="1" smtClean="0">
                        <a:latin typeface="Cambria Math"/>
                      </a:rPr>
                      <m:t> −</m:t>
                    </m:r>
                    <m:r>
                      <a:rPr lang="en-US" sz="2000" b="0" i="1" smtClean="0">
                        <a:latin typeface="Cambria Math"/>
                      </a:rPr>
                      <m:t>𝑏𝑐</m:t>
                    </m:r>
                  </m:oMath>
                </a14:m>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Similarly, for a 3 × 3 matrix A, its determinant is:</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Identity matrix</a:t>
                </a:r>
              </a:p>
              <a:p>
                <a:pPr lvl="1"/>
                <a14:m>
                  <m:oMath xmlns:m="http://schemas.openxmlformats.org/officeDocument/2006/math">
                    <m:r>
                      <a:rPr lang="en-US" sz="1800" b="0" i="1" smtClean="0">
                        <a:latin typeface="Cambria Math" panose="02040503050406030204" pitchFamily="18" charset="0"/>
                      </a:rPr>
                      <m:t>𝐼</m:t>
                    </m:r>
                    <m:r>
                      <a:rPr lang="en-US" sz="1800" i="1">
                        <a:latin typeface="Cambria Math"/>
                      </a:rPr>
                      <m:t>= </m:t>
                    </m:r>
                    <m:d>
                      <m:dPr>
                        <m:begChr m:val="["/>
                        <m:endChr m:val="]"/>
                        <m:ctrlPr>
                          <a:rPr lang="en-US" sz="1800" i="1">
                            <a:latin typeface="Cambria Math" panose="02040503050406030204" pitchFamily="18" charset="0"/>
                          </a:rPr>
                        </m:ctrlPr>
                      </m:dPr>
                      <m:e>
                        <m:m>
                          <m:mPr>
                            <m:mcs>
                              <m:mc>
                                <m:mcPr>
                                  <m:count m:val="3"/>
                                  <m:mcJc m:val="center"/>
                                </m:mcPr>
                              </m:mc>
                            </m:mcs>
                            <m:ctrlPr>
                              <a:rPr lang="en-US" sz="1800" i="1" smtClean="0">
                                <a:latin typeface="Cambria Math" panose="02040503050406030204" pitchFamily="18" charset="0"/>
                              </a:rPr>
                            </m:ctrlPr>
                          </m:mPr>
                          <m:mr>
                            <m:e>
                              <m:r>
                                <m:rPr>
                                  <m:brk m:alnAt="7"/>
                                </m:rPr>
                                <a:rPr lang="en-US" sz="1800" b="0" i="1" smtClean="0">
                                  <a:latin typeface="Cambria Math" panose="02040503050406030204" pitchFamily="18" charset="0"/>
                                </a:rPr>
                                <m:t>1</m:t>
                              </m:r>
                            </m:e>
                            <m:e>
                              <m:r>
                                <a:rPr lang="en-US" sz="1800" b="0" i="1" smtClean="0">
                                  <a:latin typeface="Cambria Math" panose="02040503050406030204" pitchFamily="18" charset="0"/>
                                </a:rPr>
                                <m:t>0</m:t>
                              </m:r>
                            </m:e>
                            <m:e>
                              <m:r>
                                <a:rPr lang="en-US" sz="1800" b="0" i="1" smtClean="0">
                                  <a:latin typeface="Cambria Math" panose="02040503050406030204" pitchFamily="18" charset="0"/>
                                </a:rPr>
                                <m:t>0</m:t>
                              </m:r>
                            </m:e>
                          </m:mr>
                          <m:mr>
                            <m:e>
                              <m:r>
                                <a:rPr lang="en-US" sz="1800" b="0" i="1" smtClean="0">
                                  <a:latin typeface="Cambria Math" panose="02040503050406030204" pitchFamily="18" charset="0"/>
                                </a:rPr>
                                <m:t>0</m:t>
                              </m:r>
                            </m:e>
                            <m:e>
                              <m:r>
                                <a:rPr lang="en-US" sz="1800" b="0" i="1" smtClean="0">
                                  <a:latin typeface="Cambria Math" panose="02040503050406030204" pitchFamily="18" charset="0"/>
                                </a:rPr>
                                <m:t>1</m:t>
                              </m:r>
                            </m:e>
                            <m:e>
                              <m:r>
                                <a:rPr lang="en-US" sz="1800" b="0" i="1" smtClean="0">
                                  <a:latin typeface="Cambria Math" panose="02040503050406030204" pitchFamily="18" charset="0"/>
                                </a:rPr>
                                <m:t>0</m:t>
                              </m:r>
                            </m:e>
                          </m:mr>
                          <m:mr>
                            <m:e>
                              <m:r>
                                <a:rPr lang="en-US" sz="1800" b="0" i="1" smtClean="0">
                                  <a:latin typeface="Cambria Math" panose="02040503050406030204" pitchFamily="18" charset="0"/>
                                </a:rPr>
                                <m:t>0</m:t>
                              </m:r>
                            </m:e>
                            <m:e>
                              <m:r>
                                <a:rPr lang="en-US" sz="1800" b="0" i="1" smtClean="0">
                                  <a:latin typeface="Cambria Math" panose="02040503050406030204" pitchFamily="18" charset="0"/>
                                </a:rPr>
                                <m:t>0</m:t>
                              </m:r>
                            </m:e>
                            <m:e>
                              <m:r>
                                <a:rPr lang="en-US" sz="1800" b="0" i="1" smtClean="0">
                                  <a:latin typeface="Cambria Math" panose="02040503050406030204" pitchFamily="18" charset="0"/>
                                </a:rPr>
                                <m:t>1</m:t>
                              </m:r>
                            </m:e>
                          </m:mr>
                        </m:m>
                      </m:e>
                    </m:d>
                  </m:oMath>
                </a14:m>
                <a:endParaRPr lang="en-US" sz="18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509490"/>
                <a:ext cx="7924800" cy="5043710"/>
              </a:xfrm>
              <a:blipFill>
                <a:blip r:embed="rId3"/>
                <a:stretch>
                  <a:fillRect l="-769" t="-72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17</a:t>
            </a:fld>
            <a:endParaRPr lang="en-US"/>
          </a:p>
        </p:txBody>
      </p:sp>
      <p:pic>
        <p:nvPicPr>
          <p:cNvPr id="8" name="Picture 7"/>
          <p:cNvPicPr>
            <a:picLocks noChangeAspect="1"/>
          </p:cNvPicPr>
          <p:nvPr/>
        </p:nvPicPr>
        <p:blipFill>
          <a:blip r:embed="rId4"/>
          <a:stretch>
            <a:fillRect/>
          </a:stretch>
        </p:blipFill>
        <p:spPr>
          <a:xfrm>
            <a:off x="1371600" y="3124200"/>
            <a:ext cx="4743450" cy="1504950"/>
          </a:xfrm>
          <a:prstGeom prst="rect">
            <a:avLst/>
          </a:prstGeom>
        </p:spPr>
      </p:pic>
    </p:spTree>
    <p:extLst>
      <p:ext uri="{BB962C8B-B14F-4D97-AF65-F5344CB8AC3E}">
        <p14:creationId xmlns:p14="http://schemas.microsoft.com/office/powerpoint/2010/main" val="1545439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28600"/>
            <a:ext cx="6589199" cy="1280890"/>
          </a:xfrm>
        </p:spPr>
        <p:txBody>
          <a:bodyPr/>
          <a:lstStyle/>
          <a:p>
            <a:r>
              <a:rPr lang="en-US" dirty="0">
                <a:latin typeface="Times New Roman" panose="02020603050405020304" pitchFamily="18" charset="0"/>
                <a:cs typeface="Times New Roman" panose="02020603050405020304" pitchFamily="18" charset="0"/>
              </a:rPr>
              <a:t>Matrix inverse</a:t>
            </a:r>
          </a:p>
        </p:txBody>
      </p:sp>
      <p:sp>
        <p:nvSpPr>
          <p:cNvPr id="3" name="Content Placeholder 2"/>
          <p:cNvSpPr>
            <a:spLocks noGrp="1"/>
          </p:cNvSpPr>
          <p:nvPr>
            <p:ph idx="1"/>
          </p:nvPr>
        </p:nvSpPr>
        <p:spPr>
          <a:xfrm>
            <a:off x="2121980" y="2141035"/>
            <a:ext cx="7924800" cy="5043710"/>
          </a:xfrm>
        </p:spPr>
        <p:txBody>
          <a:bodyPr>
            <a:normAutofit/>
          </a:bodyPr>
          <a:lstStyle/>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6F96C40-0356-46F5-90E5-FF57DE76D9A0}" type="slidenum">
              <a:rPr lang="en-US" smtClean="0"/>
              <a:t>18</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745690045"/>
              </p:ext>
            </p:extLst>
          </p:nvPr>
        </p:nvGraphicFramePr>
        <p:xfrm>
          <a:off x="800100" y="2048922"/>
          <a:ext cx="6591300" cy="274320"/>
        </p:xfrm>
        <a:graphic>
          <a:graphicData uri="http://schemas.openxmlformats.org/drawingml/2006/table">
            <a:tbl>
              <a:tblPr/>
              <a:tblGrid>
                <a:gridCol w="6591300">
                  <a:extLst>
                    <a:ext uri="{9D8B030D-6E8A-4147-A177-3AD203B41FA5}">
                      <a16:colId xmlns:a16="http://schemas.microsoft.com/office/drawing/2014/main" val="3097689108"/>
                    </a:ext>
                  </a:extLst>
                </a:gridCol>
              </a:tblGrid>
              <a:tr h="0">
                <a:tc>
                  <a:txBody>
                    <a:bodyPr/>
                    <a:lstStyle/>
                    <a:p>
                      <a:pPr algn="l" fontAlgn="ctr"/>
                      <a:endParaRPr lang="en-US" dirty="0">
                        <a:effectLst/>
                      </a:endParaRPr>
                    </a:p>
                  </a:txBody>
                  <a:tcPr marL="476250" marR="0" marT="0" marB="0" anchor="ctr">
                    <a:lnL>
                      <a:noFill/>
                    </a:lnL>
                    <a:lnR>
                      <a:noFill/>
                    </a:lnR>
                    <a:lnT>
                      <a:noFill/>
                    </a:lnT>
                    <a:lnB>
                      <a:noFill/>
                    </a:lnB>
                  </a:tcPr>
                </a:tc>
                <a:extLst>
                  <a:ext uri="{0D108BD9-81ED-4DB2-BD59-A6C34878D82A}">
                    <a16:rowId xmlns:a16="http://schemas.microsoft.com/office/drawing/2014/main" val="279534452"/>
                  </a:ext>
                </a:extLst>
              </a:tr>
            </a:tbl>
          </a:graphicData>
        </a:graphic>
      </p:graphicFrame>
      <p:pic>
        <p:nvPicPr>
          <p:cNvPr id="2050" name="Picture 2" descr="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9761" y="1408849"/>
            <a:ext cx="257175" cy="13335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 A=[a b; c d],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7600" y="1720945"/>
            <a:ext cx="647700" cy="3429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8348" y="2304493"/>
            <a:ext cx="200025" cy="161925"/>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6765" y="2298470"/>
            <a:ext cx="85725" cy="1333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1/(|A|)[d -b; -c a]"/>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3959" y="2197099"/>
            <a:ext cx="74295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http://mathworld.wolfram.com/images/equations/MatrixInverse/Inline12.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7488" y="1730470"/>
            <a:ext cx="114300" cy="13335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7488" y="2250645"/>
            <a:ext cx="85725" cy="133350"/>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9" descr="1/(ad-bc)[d -b; -c a]."/>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82087" y="2120994"/>
            <a:ext cx="1095375" cy="381000"/>
          </a:xfrm>
          <a:prstGeom prst="rect">
            <a:avLst/>
          </a:prstGeom>
          <a:noFill/>
          <a:extLst>
            <a:ext uri="{909E8E84-426E-40DD-AFC4-6F175D3DCCD1}">
              <a14:hiddenFill xmlns:a14="http://schemas.microsoft.com/office/drawing/2010/main">
                <a:solidFill>
                  <a:srgbClr val="FFFFFF"/>
                </a:solidFill>
              </a14:hiddenFill>
            </a:ext>
          </a:extLst>
        </p:spPr>
      </p:pic>
      <p:pic>
        <p:nvPicPr>
          <p:cNvPr id="2059" name="Picture 11" descr=" A=[a_(11) a_(12) a_(13); a_(21) a_(22) a_(23); a_(31) a_(32) a_(33)], "/>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76857" y="3167814"/>
            <a:ext cx="1123950" cy="51435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 A^(-1)=1/(|A|)[|a_(22) a_(23); a_(32) a_(33)| |a_(13) a_(12); a_(33) a_(32)| |a_(12) a_(13); a_(22) a_(23)|;   ; |a_(23) a_(21); a_(33) a_(31)| |a_(11) a_(13); a_(31) a_(33)| |a_(13) a_(11); a_(23) a_(21)|;   ; |a_(21) a_(22); a_(31) a_(32)| |a_(12) a_(11); a_(32) a_(31)| |a_(11) a_(12); a_(21) a_(22)|]. "/>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2370" y="3837246"/>
            <a:ext cx="2486025" cy="15811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914400" y="1252285"/>
            <a:ext cx="1524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For </a:t>
            </a:r>
          </a:p>
        </p:txBody>
      </p:sp>
      <p:sp>
        <p:nvSpPr>
          <p:cNvPr id="23" name="TextBox 22"/>
          <p:cNvSpPr txBox="1"/>
          <p:nvPr/>
        </p:nvSpPr>
        <p:spPr>
          <a:xfrm>
            <a:off x="941610" y="2768149"/>
            <a:ext cx="15240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For 3x3 </a:t>
            </a:r>
          </a:p>
        </p:txBody>
      </p:sp>
      <mc:AlternateContent xmlns:mc="http://schemas.openxmlformats.org/markup-compatibility/2006" xmlns:a14="http://schemas.microsoft.com/office/drawing/2010/main">
        <mc:Choice Requires="a14">
          <p:sp>
            <p:nvSpPr>
              <p:cNvPr id="12" name="TextBox 11"/>
              <p:cNvSpPr txBox="1"/>
              <p:nvPr/>
            </p:nvSpPr>
            <p:spPr>
              <a:xfrm>
                <a:off x="3586526" y="5715000"/>
                <a:ext cx="9818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𝐴</m:t>
                      </m:r>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−1</m:t>
                          </m:r>
                        </m:sup>
                      </m:sSup>
                      <m:r>
                        <a:rPr lang="en-US" b="0" i="1" smtClean="0">
                          <a:latin typeface="Cambria Math" panose="02040503050406030204" pitchFamily="18" charset="0"/>
                        </a:rPr>
                        <m:t>=</m:t>
                      </m:r>
                      <m:r>
                        <a:rPr lang="en-US" b="0" i="1" smtClean="0">
                          <a:latin typeface="Cambria Math" panose="02040503050406030204" pitchFamily="18" charset="0"/>
                        </a:rPr>
                        <m:t>𝐼</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3586526" y="5715000"/>
                <a:ext cx="981872" cy="276999"/>
              </a:xfrm>
              <a:prstGeom prst="rect">
                <a:avLst/>
              </a:prstGeom>
              <a:blipFill>
                <a:blip r:embed="rId12"/>
                <a:stretch>
                  <a:fillRect l="-4348" r="-4348" b="-11111"/>
                </a:stretch>
              </a:blipFill>
            </p:spPr>
            <p:txBody>
              <a:bodyPr/>
              <a:lstStyle/>
              <a:p>
                <a:r>
                  <a:rPr lang="en-US">
                    <a:noFill/>
                  </a:rPr>
                  <a:t> </a:t>
                </a:r>
              </a:p>
            </p:txBody>
          </p:sp>
        </mc:Fallback>
      </mc:AlternateContent>
    </p:spTree>
    <p:extLst>
      <p:ext uri="{BB962C8B-B14F-4D97-AF65-F5344CB8AC3E}">
        <p14:creationId xmlns:p14="http://schemas.microsoft.com/office/powerpoint/2010/main" val="2451574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8229600" cy="1143000"/>
          </a:xfrm>
        </p:spPr>
        <p:txBody>
          <a:bodyPr>
            <a:normAutofit/>
          </a:bodyPr>
          <a:lstStyle/>
          <a:p>
            <a:r>
              <a:rPr lang="en-US" dirty="0">
                <a:latin typeface="Times New Roman" panose="02020603050405020304" pitchFamily="18" charset="0"/>
                <a:cs typeface="Times New Roman" panose="02020603050405020304" pitchFamily="18" charset="0"/>
              </a:rPr>
              <a:t>Solving a set of Linear Equations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219200"/>
                <a:ext cx="7924800" cy="4735978"/>
              </a:xfrm>
            </p:spPr>
            <p:txBody>
              <a:bodyPr>
                <a:normAutofit/>
              </a:bodyPr>
              <a:lstStyle/>
              <a:p>
                <a:r>
                  <a:rPr lang="en-US" sz="2000" dirty="0">
                    <a:latin typeface="Times New Roman" panose="02020603050405020304" pitchFamily="18" charset="0"/>
                    <a:cs typeface="Times New Roman" panose="02020603050405020304" pitchFamily="18" charset="0"/>
                  </a:rPr>
                  <a:t>How can I solve this equation?</a:t>
                </a:r>
              </a:p>
              <a:p>
                <a:pPr marL="137160" indent="0" algn="ctr">
                  <a:buNone/>
                </a:pPr>
                <a14:m>
                  <m:oMathPara xmlns:m="http://schemas.openxmlformats.org/officeDocument/2006/math">
                    <m:oMathParaPr>
                      <m:jc m:val="centerGroup"/>
                    </m:oMathParaPr>
                    <m:oMath xmlns:m="http://schemas.openxmlformats.org/officeDocument/2006/math">
                      <m:r>
                        <a:rPr lang="en-US" sz="2000" i="1">
                          <a:latin typeface="Cambria Math"/>
                        </a:rPr>
                        <m:t>5</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1</m:t>
                          </m:r>
                        </m:sub>
                      </m:sSub>
                      <m:r>
                        <a:rPr lang="en-US" sz="2000" i="1">
                          <a:latin typeface="Cambria Math"/>
                        </a:rPr>
                        <m:t>+3</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2</m:t>
                          </m:r>
                        </m:sub>
                      </m:sSub>
                      <m:r>
                        <a:rPr lang="en-US" sz="2000" i="1">
                          <a:latin typeface="Cambria Math"/>
                        </a:rPr>
                        <m:t>=19 </m:t>
                      </m:r>
                    </m:oMath>
                  </m:oMathPara>
                </a14:m>
                <a:endParaRPr lang="en-US" sz="2000" i="1" dirty="0">
                  <a:latin typeface="Times New Roman" panose="02020603050405020304" pitchFamily="18" charset="0"/>
                  <a:cs typeface="Times New Roman" panose="02020603050405020304" pitchFamily="18" charset="0"/>
                </a:endParaRPr>
              </a:p>
              <a:p>
                <a:pPr marL="137160" indent="0" algn="ctr">
                  <a:buNone/>
                </a:pPr>
                <a14:m>
                  <m:oMathPara xmlns:m="http://schemas.openxmlformats.org/officeDocument/2006/math">
                    <m:oMathParaPr>
                      <m:jc m:val="centerGroup"/>
                    </m:oMathParaPr>
                    <m:oMath xmlns:m="http://schemas.openxmlformats.org/officeDocument/2006/math">
                      <m:r>
                        <a:rPr lang="en-US" sz="2000" i="1">
                          <a:latin typeface="Cambria Math"/>
                        </a:rPr>
                        <m:t>4</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1</m:t>
                          </m:r>
                        </m:sub>
                      </m:sSub>
                      <m:r>
                        <a:rPr lang="en-US" sz="2000" i="1">
                          <a:latin typeface="Cambria Math"/>
                        </a:rPr>
                        <m:t>+2</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2</m:t>
                          </m:r>
                        </m:sub>
                      </m:sSub>
                      <m:r>
                        <a:rPr lang="en-US" sz="2000" i="1">
                          <a:latin typeface="Cambria Math"/>
                        </a:rPr>
                        <m:t>=14</m:t>
                      </m:r>
                    </m:oMath>
                  </m:oMathPara>
                </a14:m>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We can write equations in form of matrices</a:t>
                </a:r>
              </a:p>
              <a:p>
                <a:pPr marL="137160" indent="0" algn="ctr">
                  <a:spcAft>
                    <a:spcPts val="1200"/>
                  </a:spcAft>
                  <a:buNone/>
                </a:pPr>
                <a14:m>
                  <m:oMath xmlns:m="http://schemas.openxmlformats.org/officeDocument/2006/math">
                    <m:r>
                      <a:rPr lang="en-US" sz="2000" i="1">
                        <a:latin typeface="Cambria Math"/>
                      </a:rPr>
                      <m:t>𝐴</m:t>
                    </m:r>
                    <m:r>
                      <a:rPr lang="en-US" sz="2000" i="1">
                        <a:latin typeface="Cambria Math"/>
                      </a:rPr>
                      <m:t>= </m:t>
                    </m:r>
                    <m:d>
                      <m:dPr>
                        <m:begChr m:val="["/>
                        <m:endChr m:val="]"/>
                        <m:ctrlPr>
                          <a:rPr lang="en-US" sz="2000" i="1">
                            <a:latin typeface="Cambria Math" panose="02040503050406030204" pitchFamily="18" charset="0"/>
                          </a:rPr>
                        </m:ctrlPr>
                      </m:dPr>
                      <m:e>
                        <m:m>
                          <m:mPr>
                            <m:mcs>
                              <m:mc>
                                <m:mcPr>
                                  <m:count m:val="2"/>
                                  <m:mcJc m:val="center"/>
                                </m:mcPr>
                              </m:mc>
                            </m:mcs>
                            <m:ctrlPr>
                              <a:rPr lang="en-US" sz="2000" i="1">
                                <a:latin typeface="Cambria Math" panose="02040503050406030204" pitchFamily="18" charset="0"/>
                              </a:rPr>
                            </m:ctrlPr>
                          </m:mPr>
                          <m:mr>
                            <m:e>
                              <m:r>
                                <m:rPr>
                                  <m:brk m:alnAt="7"/>
                                </m:rPr>
                                <a:rPr lang="en-US" sz="2000" i="1">
                                  <a:latin typeface="Cambria Math"/>
                                </a:rPr>
                                <m:t>5</m:t>
                              </m:r>
                            </m:e>
                            <m:e>
                              <m:r>
                                <a:rPr lang="en-US" sz="2000" i="1">
                                  <a:latin typeface="Cambria Math"/>
                                </a:rPr>
                                <m:t>3</m:t>
                              </m:r>
                            </m:e>
                          </m:mr>
                          <m:mr>
                            <m:e>
                              <m:r>
                                <a:rPr lang="en-US" sz="2000" i="1">
                                  <a:latin typeface="Cambria Math"/>
                                </a:rPr>
                                <m:t>4</m:t>
                              </m:r>
                            </m:e>
                            <m:e>
                              <m:r>
                                <a:rPr lang="en-US" sz="2000" i="1">
                                  <a:latin typeface="Cambria Math"/>
                                </a:rPr>
                                <m:t>2</m:t>
                              </m:r>
                            </m:e>
                          </m:mr>
                        </m:m>
                      </m:e>
                    </m:d>
                  </m:oMath>
                </a14:m>
                <a:r>
                  <a:rPr 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a:rPr>
                      <m:t>𝑥</m:t>
                    </m:r>
                    <m:r>
                      <a:rPr lang="en-US" sz="2000" i="1" dirty="0">
                        <a:latin typeface="Cambria Math"/>
                      </a:rPr>
                      <m:t>= </m:t>
                    </m:r>
                    <m:d>
                      <m:dPr>
                        <m:begChr m:val="["/>
                        <m:endChr m:val="]"/>
                        <m:ctrlPr>
                          <a:rPr lang="en-US" sz="2000" i="1" dirty="0">
                            <a:latin typeface="Cambria Math" panose="02040503050406030204" pitchFamily="18" charset="0"/>
                          </a:rPr>
                        </m:ctrlPr>
                      </m:dPr>
                      <m:e>
                        <m:m>
                          <m:mPr>
                            <m:mcs>
                              <m:mc>
                                <m:mcPr>
                                  <m:count m:val="1"/>
                                  <m:mcJc m:val="center"/>
                                </m:mcPr>
                              </m:mc>
                            </m:mcs>
                            <m:ctrlPr>
                              <a:rPr lang="en-US" sz="2000" i="1" dirty="0">
                                <a:latin typeface="Cambria Math" panose="02040503050406030204" pitchFamily="18" charset="0"/>
                              </a:rPr>
                            </m:ctrlPr>
                          </m:mPr>
                          <m:mr>
                            <m:e>
                              <m:sSub>
                                <m:sSubPr>
                                  <m:ctrlPr>
                                    <a:rPr lang="en-US" sz="2000" i="1" dirty="0">
                                      <a:latin typeface="Cambria Math" panose="02040503050406030204" pitchFamily="18" charset="0"/>
                                    </a:rPr>
                                  </m:ctrlPr>
                                </m:sSubPr>
                                <m:e>
                                  <m:r>
                                    <a:rPr lang="en-US" sz="2000" i="1" dirty="0">
                                      <a:latin typeface="Cambria Math"/>
                                    </a:rPr>
                                    <m:t>𝑥</m:t>
                                  </m:r>
                                </m:e>
                                <m:sub>
                                  <m:r>
                                    <a:rPr lang="en-US" sz="2000" i="1" dirty="0">
                                      <a:latin typeface="Cambria Math"/>
                                    </a:rPr>
                                    <m:t>1</m:t>
                                  </m:r>
                                </m:sub>
                              </m:sSub>
                            </m:e>
                          </m:mr>
                          <m:mr>
                            <m:e>
                              <m:sSub>
                                <m:sSubPr>
                                  <m:ctrlPr>
                                    <a:rPr lang="en-US" sz="2000" i="1" dirty="0">
                                      <a:latin typeface="Cambria Math" panose="02040503050406030204" pitchFamily="18" charset="0"/>
                                    </a:rPr>
                                  </m:ctrlPr>
                                </m:sSubPr>
                                <m:e>
                                  <m:r>
                                    <a:rPr lang="en-US" sz="2000" i="1" dirty="0">
                                      <a:latin typeface="Cambria Math"/>
                                    </a:rPr>
                                    <m:t>𝑥</m:t>
                                  </m:r>
                                </m:e>
                                <m:sub>
                                  <m:r>
                                    <a:rPr lang="en-US" sz="2000" i="1" dirty="0">
                                      <a:latin typeface="Cambria Math"/>
                                    </a:rPr>
                                    <m:t>2</m:t>
                                  </m:r>
                                </m:sub>
                              </m:sSub>
                            </m:e>
                          </m:mr>
                        </m:m>
                      </m:e>
                    </m:d>
                  </m:oMath>
                </a14:m>
                <a:r>
                  <a:rPr 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a:rPr>
                      <m:t>𝑏</m:t>
                    </m:r>
                    <m:r>
                      <a:rPr lang="en-US" sz="2000" i="1" dirty="0">
                        <a:latin typeface="Cambria Math"/>
                      </a:rPr>
                      <m:t>= </m:t>
                    </m:r>
                    <m:d>
                      <m:dPr>
                        <m:begChr m:val="["/>
                        <m:endChr m:val="]"/>
                        <m:ctrlPr>
                          <a:rPr lang="en-US" sz="2000" i="1" dirty="0">
                            <a:latin typeface="Cambria Math" panose="02040503050406030204" pitchFamily="18" charset="0"/>
                          </a:rPr>
                        </m:ctrlPr>
                      </m:dPr>
                      <m:e>
                        <m:m>
                          <m:mPr>
                            <m:mcs>
                              <m:mc>
                                <m:mcPr>
                                  <m:count m:val="1"/>
                                  <m:mcJc m:val="center"/>
                                </m:mcPr>
                              </m:mc>
                            </m:mcs>
                            <m:ctrlPr>
                              <a:rPr lang="en-US" sz="2000" i="1" dirty="0">
                                <a:latin typeface="Cambria Math" panose="02040503050406030204" pitchFamily="18" charset="0"/>
                              </a:rPr>
                            </m:ctrlPr>
                          </m:mPr>
                          <m:mr>
                            <m:e>
                              <m:r>
                                <m:rPr>
                                  <m:brk m:alnAt="7"/>
                                </m:rPr>
                                <a:rPr lang="en-US" sz="2000" i="1" dirty="0">
                                  <a:latin typeface="Cambria Math"/>
                                </a:rPr>
                                <m:t>1</m:t>
                              </m:r>
                              <m:r>
                                <a:rPr lang="en-US" sz="2000" i="1" dirty="0">
                                  <a:latin typeface="Cambria Math"/>
                                </a:rPr>
                                <m:t>9</m:t>
                              </m:r>
                            </m:e>
                          </m:mr>
                          <m:mr>
                            <m:e>
                              <m:r>
                                <a:rPr lang="en-US" sz="2000" i="1" dirty="0">
                                  <a:latin typeface="Cambria Math"/>
                                </a:rPr>
                                <m:t>14</m:t>
                              </m:r>
                            </m:e>
                          </m:mr>
                        </m:m>
                      </m:e>
                    </m:d>
                  </m:oMath>
                </a14:m>
                <a:endParaRPr lang="en-US" sz="2000" dirty="0">
                  <a:latin typeface="Times New Roman" panose="02020603050405020304" pitchFamily="18" charset="0"/>
                  <a:cs typeface="Times New Roman" panose="02020603050405020304" pitchFamily="18" charset="0"/>
                </a:endParaRPr>
              </a:p>
              <a:p>
                <a:pPr marL="137160" indent="0" algn="ctr">
                  <a:spcBef>
                    <a:spcPts val="1200"/>
                  </a:spcBef>
                  <a:spcAft>
                    <a:spcPts val="1200"/>
                  </a:spcAft>
                  <a:buNone/>
                </a:pPr>
                <a14:m>
                  <m:oMathPara xmlns:m="http://schemas.openxmlformats.org/officeDocument/2006/math">
                    <m:oMathParaPr>
                      <m:jc m:val="centerGroup"/>
                    </m:oMathParaPr>
                    <m:oMath xmlns:m="http://schemas.openxmlformats.org/officeDocument/2006/math">
                      <m:r>
                        <a:rPr lang="en-US" sz="2000" i="1">
                          <a:latin typeface="Cambria Math"/>
                        </a:rPr>
                        <m:t>𝐴𝑥</m:t>
                      </m:r>
                      <m:r>
                        <a:rPr lang="en-US" sz="2000" i="1">
                          <a:latin typeface="Cambria Math"/>
                        </a:rPr>
                        <m:t>=</m:t>
                      </m:r>
                      <m:r>
                        <a:rPr lang="en-US" sz="2000" i="1">
                          <a:latin typeface="Cambria Math"/>
                        </a:rPr>
                        <m:t>𝑏</m:t>
                      </m:r>
                    </m:oMath>
                  </m:oMathPara>
                </a14:m>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matrix solution for this set of linear equations is </a:t>
                </a:r>
                <a14:m>
                  <m:oMath xmlns:m="http://schemas.openxmlformats.org/officeDocument/2006/math">
                    <m:r>
                      <a:rPr lang="en-US" sz="2000" i="1">
                        <a:latin typeface="Cambria Math"/>
                      </a:rPr>
                      <m:t>𝑥</m:t>
                    </m:r>
                    <m:r>
                      <a:rPr lang="en-US" sz="2000" i="1">
                        <a:latin typeface="Cambria Math"/>
                      </a:rPr>
                      <m:t>= </m:t>
                    </m:r>
                    <m:sSup>
                      <m:sSupPr>
                        <m:ctrlPr>
                          <a:rPr lang="en-US" sz="2000" i="1">
                            <a:latin typeface="Cambria Math" panose="02040503050406030204" pitchFamily="18" charset="0"/>
                          </a:rPr>
                        </m:ctrlPr>
                      </m:sSupPr>
                      <m:e>
                        <m:r>
                          <a:rPr lang="en-US" sz="2000" i="1">
                            <a:latin typeface="Cambria Math"/>
                          </a:rPr>
                          <m:t>𝐴</m:t>
                        </m:r>
                      </m:e>
                      <m:sup>
                        <m:r>
                          <a:rPr lang="en-US" sz="2000" i="1">
                            <a:latin typeface="Cambria Math"/>
                          </a:rPr>
                          <m:t>−1</m:t>
                        </m:r>
                      </m:sup>
                    </m:sSup>
                    <m:r>
                      <a:rPr lang="en-US" sz="2000" i="1">
                        <a:latin typeface="Cambria Math"/>
                      </a:rPr>
                      <m:t>𝑏</m:t>
                    </m:r>
                  </m:oMath>
                </a14:m>
                <a:endParaRPr lang="en-US" sz="20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219200"/>
                <a:ext cx="7924800" cy="4735978"/>
              </a:xfrm>
              <a:blipFill>
                <a:blip r:embed="rId3"/>
                <a:stretch>
                  <a:fillRect l="-769" t="-64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19</a:t>
            </a:fld>
            <a:endParaRPr lang="en-US"/>
          </a:p>
        </p:txBody>
      </p:sp>
      <mc:AlternateContent xmlns:mc="http://schemas.openxmlformats.org/markup-compatibility/2006" xmlns:a14="http://schemas.microsoft.com/office/drawing/2010/main">
        <mc:Choice Requires="a14">
          <p:sp>
            <p:nvSpPr>
              <p:cNvPr id="12" name="TextBox 11"/>
              <p:cNvSpPr txBox="1"/>
              <p:nvPr/>
            </p:nvSpPr>
            <p:spPr>
              <a:xfrm>
                <a:off x="2438400" y="5180283"/>
                <a:ext cx="3545779" cy="467564"/>
              </a:xfrm>
              <a:prstGeom prst="rect">
                <a:avLst/>
              </a:prstGeom>
              <a:noFill/>
            </p:spPr>
            <p:txBody>
              <a:bodyPr wrap="none" lIns="0" tIns="0" rIns="0" bIns="0" rtlCol="0">
                <a:spAutoFit/>
              </a:bodyPr>
              <a:lstStyle/>
              <a:p>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−1</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10−12</m:t>
                        </m:r>
                      </m:den>
                    </m:f>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e>
                              <m:r>
                                <a:rPr lang="en-US" b="0" i="1" smtClean="0">
                                  <a:latin typeface="Cambria Math" panose="02040503050406030204" pitchFamily="18" charset="0"/>
                                </a:rPr>
                                <m:t>−3</m:t>
                              </m:r>
                            </m:e>
                          </m:mr>
                          <m:mr>
                            <m:e>
                              <m:r>
                                <a:rPr lang="en-US" b="0" i="1" smtClean="0">
                                  <a:latin typeface="Cambria Math" panose="02040503050406030204" pitchFamily="18" charset="0"/>
                                </a:rPr>
                                <m:t>−4</m:t>
                              </m:r>
                            </m:e>
                            <m:e>
                              <m:r>
                                <a:rPr lang="en-US" b="0" i="1" smtClean="0">
                                  <a:latin typeface="Cambria Math" panose="02040503050406030204" pitchFamily="18" charset="0"/>
                                </a:rPr>
                                <m:t>5</m:t>
                              </m:r>
                            </m:e>
                          </m:mr>
                        </m:m>
                      </m:e>
                    </m:d>
                  </m:oMath>
                </a14:m>
                <a:r>
                  <a:rPr lang="en-US" dirty="0"/>
                  <a:t>=</a:t>
                </a:r>
                <a14:m>
                  <m:oMath xmlns:m="http://schemas.openxmlformats.org/officeDocument/2006/math">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n-US" b="0" i="1" smtClean="0">
                                  <a:latin typeface="Cambria Math" panose="02040503050406030204" pitchFamily="18" charset="0"/>
                                </a:rPr>
                                <m:t>−1</m:t>
                              </m:r>
                            </m:e>
                            <m:e>
                              <m:r>
                                <a:rPr lang="en-US" b="0" i="1" smtClean="0">
                                  <a:latin typeface="Cambria Math" panose="02040503050406030204" pitchFamily="18" charset="0"/>
                                </a:rPr>
                                <m:t>1.5</m:t>
                              </m:r>
                            </m:e>
                          </m:mr>
                          <m:mr>
                            <m:e>
                              <m:r>
                                <a:rPr lang="en-US" b="0" i="1" smtClean="0">
                                  <a:latin typeface="Cambria Math" panose="02040503050406030204" pitchFamily="18" charset="0"/>
                                </a:rPr>
                                <m:t>2</m:t>
                              </m:r>
                            </m:e>
                            <m:e>
                              <m:r>
                                <a:rPr lang="en-US" b="0" i="1" smtClean="0">
                                  <a:latin typeface="Cambria Math" panose="02040503050406030204" pitchFamily="18" charset="0"/>
                                </a:rPr>
                                <m:t>−2.</m:t>
                              </m:r>
                              <m:r>
                                <a:rPr lang="en-US" i="1">
                                  <a:latin typeface="Cambria Math" panose="02040503050406030204" pitchFamily="18" charset="0"/>
                                </a:rPr>
                                <m:t>5</m:t>
                              </m:r>
                            </m:e>
                          </m:mr>
                        </m:m>
                      </m:e>
                    </m:d>
                  </m:oMath>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2438400" y="5180283"/>
                <a:ext cx="3545779" cy="467564"/>
              </a:xfrm>
              <a:prstGeom prst="rect">
                <a:avLst/>
              </a:prstGeom>
              <a:blipFill>
                <a:blip r:embed="rId4"/>
                <a:stretch>
                  <a:fillRect l="-172"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2667000" y="5914775"/>
                <a:ext cx="3442737" cy="467564"/>
              </a:xfrm>
              <a:prstGeom prst="rect">
                <a:avLst/>
              </a:prstGeom>
              <a:noFill/>
            </p:spPr>
            <p:txBody>
              <a:bodyPr wrap="none" lIns="0" tIns="0" rIns="0" bIns="0" rtlCol="0">
                <a:spAutoFit/>
              </a:bodyPr>
              <a:lstStyle/>
              <a:p>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m:t>
                        </m:r>
                      </m:e>
                      <m:sup>
                        <m:r>
                          <a:rPr lang="en-US" b="0" i="1" smtClean="0">
                            <a:latin typeface="Cambria Math" panose="02040503050406030204" pitchFamily="18" charset="0"/>
                          </a:rPr>
                          <m:t>−1</m:t>
                        </m:r>
                      </m:sup>
                    </m:sSup>
                    <m:r>
                      <a:rPr lang="en-US" b="0" i="1" smtClean="0">
                        <a:latin typeface="Cambria Math" panose="02040503050406030204" pitchFamily="18" charset="0"/>
                      </a:rPr>
                      <m:t>𝑏</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r>
                                <a:rPr lang="en-US" b="0" i="1" smtClean="0">
                                  <a:latin typeface="Cambria Math" panose="02040503050406030204" pitchFamily="18" charset="0"/>
                                </a:rPr>
                                <m:t>−1</m:t>
                              </m:r>
                            </m:e>
                            <m:e>
                              <m:r>
                                <a:rPr lang="en-US" b="0" i="1" smtClean="0">
                                  <a:latin typeface="Cambria Math" panose="02040503050406030204" pitchFamily="18" charset="0"/>
                                </a:rPr>
                                <m:t>1.5</m:t>
                              </m:r>
                            </m:e>
                          </m:mr>
                          <m:mr>
                            <m:e>
                              <m:r>
                                <a:rPr lang="en-US" b="0" i="1" smtClean="0">
                                  <a:latin typeface="Cambria Math" panose="02040503050406030204" pitchFamily="18" charset="0"/>
                                </a:rPr>
                                <m:t>2</m:t>
                              </m:r>
                            </m:e>
                            <m:e>
                              <m:r>
                                <a:rPr lang="en-US" b="0" i="1" smtClean="0">
                                  <a:latin typeface="Cambria Math" panose="02040503050406030204" pitchFamily="18" charset="0"/>
                                </a:rPr>
                                <m:t>−2.</m:t>
                              </m:r>
                              <m:r>
                                <a:rPr lang="en-US" i="1">
                                  <a:latin typeface="Cambria Math" panose="02040503050406030204" pitchFamily="18" charset="0"/>
                                </a:rPr>
                                <m:t>5</m:t>
                              </m:r>
                            </m:e>
                          </m:mr>
                        </m:m>
                      </m:e>
                    </m:d>
                    <m:d>
                      <m:dPr>
                        <m:begChr m:val="["/>
                        <m:endChr m:val="]"/>
                        <m:ctrlPr>
                          <a:rPr lang="en-US" i="1" dirty="0">
                            <a:latin typeface="Cambria Math" panose="02040503050406030204" pitchFamily="18" charset="0"/>
                          </a:rPr>
                        </m:ctrlPr>
                      </m:dPr>
                      <m:e>
                        <m:m>
                          <m:mPr>
                            <m:mcs>
                              <m:mc>
                                <m:mcPr>
                                  <m:count m:val="1"/>
                                  <m:mcJc m:val="center"/>
                                </m:mcPr>
                              </m:mc>
                            </m:mcs>
                            <m:ctrlPr>
                              <a:rPr lang="en-US" i="1" dirty="0">
                                <a:latin typeface="Cambria Math" panose="02040503050406030204" pitchFamily="18" charset="0"/>
                              </a:rPr>
                            </m:ctrlPr>
                          </m:mPr>
                          <m:mr>
                            <m:e>
                              <m:r>
                                <m:rPr>
                                  <m:brk m:alnAt="7"/>
                                </m:rPr>
                                <a:rPr lang="en-US" i="1" dirty="0">
                                  <a:latin typeface="Cambria Math"/>
                                </a:rPr>
                                <m:t>1</m:t>
                              </m:r>
                              <m:r>
                                <a:rPr lang="en-US" i="1" dirty="0">
                                  <a:latin typeface="Cambria Math"/>
                                </a:rPr>
                                <m:t>9</m:t>
                              </m:r>
                            </m:e>
                          </m:mr>
                          <m:mr>
                            <m:e>
                              <m:r>
                                <a:rPr lang="en-US" i="1" dirty="0">
                                  <a:latin typeface="Cambria Math"/>
                                </a:rPr>
                                <m:t>14</m:t>
                              </m:r>
                            </m:e>
                          </m:mr>
                        </m:m>
                      </m:e>
                    </m:d>
                  </m:oMath>
                </a14:m>
                <a:r>
                  <a:rPr lang="en-US" dirty="0"/>
                  <a:t>=</a:t>
                </a:r>
                <a14:m>
                  <m:oMath xmlns:m="http://schemas.openxmlformats.org/officeDocument/2006/math">
                    <m:d>
                      <m:dPr>
                        <m:begChr m:val="["/>
                        <m:endChr m:val="]"/>
                        <m:ctrlPr>
                          <a:rPr lang="en-US" i="1" dirty="0">
                            <a:latin typeface="Cambria Math" panose="02040503050406030204" pitchFamily="18" charset="0"/>
                          </a:rPr>
                        </m:ctrlPr>
                      </m:dPr>
                      <m:e>
                        <m:m>
                          <m:mPr>
                            <m:mcs>
                              <m:mc>
                                <m:mcPr>
                                  <m:count m:val="1"/>
                                  <m:mcJc m:val="center"/>
                                </m:mcPr>
                              </m:mc>
                            </m:mcs>
                            <m:ctrlPr>
                              <a:rPr lang="en-US" i="1" dirty="0">
                                <a:latin typeface="Cambria Math" panose="02040503050406030204" pitchFamily="18" charset="0"/>
                              </a:rPr>
                            </m:ctrlPr>
                          </m:mPr>
                          <m:mr>
                            <m:e>
                              <m:r>
                                <a:rPr lang="en-US" b="0" i="1" dirty="0" smtClean="0">
                                  <a:latin typeface="Cambria Math" panose="02040503050406030204" pitchFamily="18" charset="0"/>
                                </a:rPr>
                                <m:t>2</m:t>
                              </m:r>
                            </m:e>
                          </m:mr>
                          <m:mr>
                            <m:e>
                              <m:r>
                                <a:rPr lang="en-US" b="0" i="1" dirty="0" smtClean="0">
                                  <a:latin typeface="Cambria Math" panose="02040503050406030204" pitchFamily="18" charset="0"/>
                                </a:rPr>
                                <m:t>3</m:t>
                              </m:r>
                            </m:e>
                          </m:mr>
                        </m:m>
                      </m:e>
                    </m:d>
                  </m:oMath>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2667000" y="5914775"/>
                <a:ext cx="3442737" cy="467564"/>
              </a:xfrm>
              <a:prstGeom prst="rect">
                <a:avLst/>
              </a:prstGeom>
              <a:blipFill>
                <a:blip r:embed="rId5"/>
                <a:stretch>
                  <a:fillRect b="-77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819400" y="4371556"/>
                <a:ext cx="2548133"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−1</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𝑎𝑑</m:t>
                          </m:r>
                          <m:r>
                            <a:rPr lang="en-US" b="0" i="1" smtClean="0">
                              <a:latin typeface="Cambria Math" panose="02040503050406030204" pitchFamily="18" charset="0"/>
                            </a:rPr>
                            <m:t>−</m:t>
                          </m:r>
                          <m:r>
                            <a:rPr lang="en-US" b="0" i="1" smtClean="0">
                              <a:latin typeface="Cambria Math" panose="02040503050406030204" pitchFamily="18" charset="0"/>
                            </a:rPr>
                            <m:t>𝑏𝑐</m:t>
                          </m:r>
                        </m:den>
                      </m:f>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𝑑</m:t>
                                </m:r>
                              </m:e>
                              <m:e>
                                <m:r>
                                  <a:rPr lang="en-US" b="0" i="1" smtClean="0">
                                    <a:latin typeface="Cambria Math" panose="02040503050406030204" pitchFamily="18" charset="0"/>
                                  </a:rPr>
                                  <m:t>−</m:t>
                                </m:r>
                                <m:r>
                                  <a:rPr lang="en-US" b="0" i="1" smtClean="0">
                                    <a:latin typeface="Cambria Math" panose="02040503050406030204" pitchFamily="18" charset="0"/>
                                  </a:rPr>
                                  <m:t>𝑏</m:t>
                                </m:r>
                              </m:e>
                            </m:mr>
                            <m:mr>
                              <m:e>
                                <m:r>
                                  <a:rPr lang="en-US" b="0" i="1" smtClean="0">
                                    <a:latin typeface="Cambria Math" panose="02040503050406030204" pitchFamily="18" charset="0"/>
                                  </a:rPr>
                                  <m:t>−</m:t>
                                </m:r>
                                <m:r>
                                  <a:rPr lang="en-US" b="0" i="1" smtClean="0">
                                    <a:latin typeface="Cambria Math" panose="02040503050406030204" pitchFamily="18" charset="0"/>
                                  </a:rPr>
                                  <m:t>𝑐</m:t>
                                </m:r>
                              </m:e>
                              <m:e>
                                <m:r>
                                  <a:rPr lang="en-US" b="0" i="1" smtClean="0">
                                    <a:latin typeface="Cambria Math" panose="02040503050406030204" pitchFamily="18" charset="0"/>
                                  </a:rPr>
                                  <m:t>𝑎</m:t>
                                </m:r>
                              </m:e>
                            </m:mr>
                          </m:m>
                        </m:e>
                      </m:d>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2819400" y="4371556"/>
                <a:ext cx="2548133" cy="520463"/>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9377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37"/>
            <a:ext cx="8229600" cy="1065663"/>
          </a:xfrm>
        </p:spPr>
        <p:txBody>
          <a:bodyPr/>
          <a:lstStyle/>
          <a:p>
            <a:r>
              <a:rPr lang="en-US" dirty="0">
                <a:latin typeface="Times New Roman" panose="02020603050405020304" pitchFamily="18" charset="0"/>
                <a:cs typeface="Times New Roman" panose="02020603050405020304" pitchFamily="18" charset="0"/>
              </a:rPr>
              <a:t>Eigenvectors and Eigenvalues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14400"/>
                <a:ext cx="8229600" cy="5715000"/>
              </a:xfrm>
            </p:spPr>
            <p:txBody>
              <a:bodyPr>
                <a:normAutofit fontScale="92500" lnSpcReduction="20000"/>
              </a:bodyPr>
              <a:lstStyle/>
              <a:p>
                <a:pPr marL="137160" indent="0">
                  <a:buNone/>
                </a:pPr>
                <a14:m>
                  <m:oMathPara xmlns:m="http://schemas.openxmlformats.org/officeDocument/2006/math">
                    <m:oMathParaPr>
                      <m:jc m:val="centerGroup"/>
                    </m:oMathParaPr>
                    <m:oMath xmlns:m="http://schemas.openxmlformats.org/officeDocument/2006/math">
                      <m:r>
                        <a:rPr lang="en-US" sz="3400" b="1" i="1" smtClean="0">
                          <a:latin typeface="Cambria Math"/>
                          <a:ea typeface="Calibri"/>
                          <a:cs typeface="Times New Roman"/>
                        </a:rPr>
                        <m:t>𝑨</m:t>
                      </m:r>
                      <m:acc>
                        <m:accPr>
                          <m:chr m:val="⃗"/>
                          <m:ctrlPr>
                            <a:rPr lang="en-US" sz="3400" b="1" i="1">
                              <a:effectLst/>
                              <a:latin typeface="Cambria Math" panose="02040503050406030204" pitchFamily="18" charset="0"/>
                            </a:rPr>
                          </m:ctrlPr>
                        </m:accPr>
                        <m:e>
                          <m:r>
                            <a:rPr lang="en-US" sz="3400" b="1" i="1">
                              <a:effectLst/>
                              <a:latin typeface="Cambria Math"/>
                              <a:ea typeface="Calibri"/>
                              <a:cs typeface="Times New Roman"/>
                            </a:rPr>
                            <m:t>𝒗</m:t>
                          </m:r>
                        </m:e>
                      </m:acc>
                      <m:r>
                        <a:rPr lang="en-US" sz="3400" b="1" i="1">
                          <a:effectLst/>
                          <a:latin typeface="Cambria Math"/>
                          <a:ea typeface="Calibri"/>
                          <a:cs typeface="Times New Roman"/>
                        </a:rPr>
                        <m:t>=</m:t>
                      </m:r>
                      <m:r>
                        <a:rPr lang="en-US" sz="3400" b="1" i="1">
                          <a:effectLst/>
                          <a:latin typeface="Cambria Math"/>
                          <a:ea typeface="Calibri"/>
                          <a:cs typeface="Times New Roman"/>
                        </a:rPr>
                        <m:t>𝝀</m:t>
                      </m:r>
                      <m:r>
                        <a:rPr lang="en-US" sz="3400" b="1" i="1">
                          <a:effectLst/>
                          <a:latin typeface="Cambria Math"/>
                          <a:ea typeface="Calibri"/>
                          <a:cs typeface="Times New Roman"/>
                        </a:rPr>
                        <m:t> </m:t>
                      </m:r>
                      <m:acc>
                        <m:accPr>
                          <m:chr m:val="⃗"/>
                          <m:ctrlPr>
                            <a:rPr lang="en-US" sz="3400" b="1" i="1">
                              <a:effectLst/>
                              <a:latin typeface="Cambria Math" panose="02040503050406030204" pitchFamily="18" charset="0"/>
                            </a:rPr>
                          </m:ctrlPr>
                        </m:accPr>
                        <m:e>
                          <m:r>
                            <a:rPr lang="en-US" sz="3400" b="1" i="1">
                              <a:effectLst/>
                              <a:latin typeface="Cambria Math"/>
                              <a:ea typeface="Calibri"/>
                              <a:cs typeface="Times New Roman"/>
                            </a:rPr>
                            <m:t>𝒗</m:t>
                          </m:r>
                        </m:e>
                      </m:acc>
                    </m:oMath>
                  </m:oMathPara>
                </a14:m>
                <a:endParaRPr lang="en-US" sz="3400" b="1" dirty="0">
                  <a:latin typeface="Times New Roman" panose="02020603050405020304" pitchFamily="18" charset="0"/>
                  <a:cs typeface="Times New Roman" panose="02020603050405020304" pitchFamily="18" charset="0"/>
                </a:endParaRPr>
              </a:p>
              <a:p>
                <a:pPr marL="137160" indent="0">
                  <a:buNone/>
                </a:pPr>
                <a:endParaRPr lang="en-US" dirty="0">
                  <a:latin typeface="Times New Roman" panose="02020603050405020304" pitchFamily="18" charset="0"/>
                  <a:cs typeface="Times New Roman" panose="02020603050405020304" pitchFamily="18" charset="0"/>
                </a:endParaRPr>
              </a:p>
              <a:p>
                <a:pPr marL="137160" indent="0">
                  <a:buNone/>
                </a:pPr>
                <a:r>
                  <a:rPr lang="en-US" dirty="0">
                    <a:latin typeface="Times New Roman" panose="02020603050405020304" pitchFamily="18" charset="0"/>
                    <a:cs typeface="Times New Roman" panose="02020603050405020304" pitchFamily="18" charset="0"/>
                  </a:rPr>
                  <a:t>Where A is a square matrix, λ is a scalar, and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𝑣</m:t>
                        </m:r>
                      </m:e>
                    </m:acc>
                  </m:oMath>
                </a14:m>
                <a:r>
                  <a:rPr lang="en-US" dirty="0">
                    <a:latin typeface="Times New Roman" panose="02020603050405020304" pitchFamily="18" charset="0"/>
                    <a:cs typeface="Times New Roman" panose="02020603050405020304" pitchFamily="18" charset="0"/>
                  </a:rPr>
                  <a:t> is the eigenvector. </a:t>
                </a:r>
              </a:p>
              <a:p>
                <a:pPr marL="137160" indent="0">
                  <a:buNone/>
                </a:pPr>
                <a14:m>
                  <m:oMathPara xmlns:m="http://schemas.openxmlformats.org/officeDocument/2006/math">
                    <m:oMathParaPr>
                      <m:jc m:val="centerGroup"/>
                    </m:oMathParaPr>
                    <m:oMath xmlns:m="http://schemas.openxmlformats.org/officeDocument/2006/math">
                      <m:r>
                        <a:rPr lang="en-US" b="0" i="1" smtClean="0">
                          <a:latin typeface="Cambria Math"/>
                          <a:ea typeface="Calibri"/>
                          <a:cs typeface="Times New Roman"/>
                        </a:rPr>
                        <m:t>𝐴</m:t>
                      </m:r>
                      <m:r>
                        <a:rPr lang="en-US" b="0" i="1" smtClean="0">
                          <a:latin typeface="Cambria Math"/>
                          <a:ea typeface="Calibri"/>
                          <a:cs typeface="Times New Roman"/>
                        </a:rPr>
                        <m:t>= </m:t>
                      </m:r>
                      <m:d>
                        <m:dPr>
                          <m:begChr m:val="["/>
                          <m:endChr m:val="]"/>
                          <m:ctrlPr>
                            <a:rPr lang="en-US" b="0" i="1" smtClean="0">
                              <a:latin typeface="Cambria Math" panose="02040503050406030204" pitchFamily="18" charset="0"/>
                              <a:cs typeface="Times New Roman"/>
                            </a:rPr>
                          </m:ctrlPr>
                        </m:dPr>
                        <m:e>
                          <m:m>
                            <m:mPr>
                              <m:mcs>
                                <m:mc>
                                  <m:mcPr>
                                    <m:count m:val="2"/>
                                    <m:mcJc m:val="center"/>
                                  </m:mcPr>
                                </m:mc>
                              </m:mcs>
                              <m:ctrlPr>
                                <a:rPr lang="en-US" b="0" i="1" smtClean="0">
                                  <a:latin typeface="Cambria Math" panose="02040503050406030204" pitchFamily="18" charset="0"/>
                                  <a:cs typeface="Times New Roman"/>
                                </a:rPr>
                              </m:ctrlPr>
                            </m:mPr>
                            <m:mr>
                              <m:e>
                                <m:r>
                                  <m:rPr>
                                    <m:brk m:alnAt="7"/>
                                  </m:rPr>
                                  <a:rPr lang="en-US" b="0" i="1" smtClean="0">
                                    <a:latin typeface="Cambria Math"/>
                                    <a:cs typeface="Times New Roman"/>
                                  </a:rPr>
                                  <m:t>2</m:t>
                                </m:r>
                              </m:e>
                              <m:e>
                                <m:r>
                                  <a:rPr lang="en-US" b="0" i="1" smtClean="0">
                                    <a:latin typeface="Cambria Math"/>
                                    <a:cs typeface="Times New Roman"/>
                                  </a:rPr>
                                  <m:t>1</m:t>
                                </m:r>
                              </m:e>
                            </m:mr>
                            <m:mr>
                              <m:e>
                                <m:r>
                                  <a:rPr lang="en-US" b="0" i="1" smtClean="0">
                                    <a:latin typeface="Cambria Math"/>
                                    <a:cs typeface="Times New Roman"/>
                                  </a:rPr>
                                  <m:t>1</m:t>
                                </m:r>
                              </m:e>
                              <m:e>
                                <m:r>
                                  <a:rPr lang="en-US" b="0" i="1" smtClean="0">
                                    <a:latin typeface="Cambria Math"/>
                                    <a:cs typeface="Times New Roman"/>
                                  </a:rPr>
                                  <m:t>2</m:t>
                                </m:r>
                              </m:e>
                            </m:mr>
                          </m:m>
                        </m:e>
                      </m:d>
                    </m:oMath>
                  </m:oMathPara>
                </a14:m>
                <a:endParaRPr lang="en-US" dirty="0">
                  <a:latin typeface="Times New Roman" panose="02020603050405020304" pitchFamily="18" charset="0"/>
                  <a:cs typeface="Times New Roman" panose="02020603050405020304" pitchFamily="18" charset="0"/>
                </a:endParaRPr>
              </a:p>
              <a:p>
                <a:pPr marL="137160" indent="0">
                  <a:buNone/>
                </a:pPr>
                <a:endParaRPr lang="en-US" dirty="0">
                  <a:latin typeface="Times New Roman" panose="02020603050405020304" pitchFamily="18" charset="0"/>
                  <a:cs typeface="Times New Roman" panose="02020603050405020304" pitchFamily="18" charset="0"/>
                </a:endParaRPr>
              </a:p>
              <a:p>
                <a:pPr marL="13716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a:rPr>
                                  <m:t>2</m:t>
                                </m:r>
                              </m:e>
                              <m:e>
                                <m:r>
                                  <a:rPr lang="en-US" b="0" i="1" smtClean="0">
                                    <a:latin typeface="Cambria Math"/>
                                  </a:rPr>
                                  <m:t>1</m:t>
                                </m:r>
                              </m:e>
                            </m:mr>
                            <m:mr>
                              <m:e>
                                <m:r>
                                  <a:rPr lang="en-US" b="0" i="1" smtClean="0">
                                    <a:latin typeface="Cambria Math"/>
                                  </a:rPr>
                                  <m:t>1</m:t>
                                </m:r>
                              </m:e>
                              <m:e>
                                <m:r>
                                  <a:rPr lang="en-US" b="0" i="1" smtClean="0">
                                    <a:latin typeface="Cambria Math"/>
                                  </a:rPr>
                                  <m:t>2</m:t>
                                </m:r>
                              </m:e>
                            </m:mr>
                          </m:m>
                        </m:e>
                      </m:d>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sSub>
                                  <m:sSubPr>
                                    <m:ctrlPr>
                                      <a:rPr lang="en-US"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e>
                            </m:mr>
                            <m:mr>
                              <m:e>
                                <m:sSub>
                                  <m:sSubPr>
                                    <m:ctrlPr>
                                      <a:rPr lang="en-US"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e>
                            </m:mr>
                          </m:m>
                        </m:e>
                      </m:d>
                      <m:r>
                        <a:rPr lang="en-US" b="0" i="1" smtClean="0">
                          <a:latin typeface="Cambria Math"/>
                        </a:rPr>
                        <m:t>= </m:t>
                      </m:r>
                      <m:r>
                        <m:rPr>
                          <m:sty m:val="p"/>
                        </m:rPr>
                        <a:rPr lang="el-GR" b="0" i="1" smtClean="0">
                          <a:latin typeface="Cambria Math"/>
                        </a:rPr>
                        <m:t>λ</m:t>
                      </m:r>
                      <m:d>
                        <m:dPr>
                          <m:begChr m:val="["/>
                          <m:endChr m:val="]"/>
                          <m:ctrlPr>
                            <a:rPr lang="el-GR" b="0" i="1" smtClean="0">
                              <a:latin typeface="Cambria Math" panose="02040503050406030204" pitchFamily="18" charset="0"/>
                            </a:rPr>
                          </m:ctrlPr>
                        </m:dPr>
                        <m:e>
                          <m:m>
                            <m:mPr>
                              <m:mcs>
                                <m:mc>
                                  <m:mcPr>
                                    <m:count m:val="1"/>
                                    <m:mcJc m:val="center"/>
                                  </m:mcPr>
                                </m:mc>
                              </m:mcs>
                              <m:ctrlPr>
                                <a:rPr lang="el-GR" b="0" i="1" smtClean="0">
                                  <a:latin typeface="Cambria Math" panose="02040503050406030204" pitchFamily="18" charset="0"/>
                                </a:rPr>
                              </m:ctrlPr>
                            </m:mPr>
                            <m:mr>
                              <m:e>
                                <m:sSub>
                                  <m:sSubPr>
                                    <m:ctrlPr>
                                      <a:rPr lang="el-GR"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e>
                            </m:mr>
                            <m:mr>
                              <m:e>
                                <m:sSub>
                                  <m:sSubPr>
                                    <m:ctrlPr>
                                      <a:rPr lang="el-GR"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e>
                            </m:mr>
                          </m:m>
                        </m:e>
                      </m:d>
                    </m:oMath>
                  </m:oMathPara>
                </a14:m>
                <a:endParaRPr lang="en-US" dirty="0">
                  <a:latin typeface="Times New Roman" panose="02020603050405020304" pitchFamily="18" charset="0"/>
                  <a:cs typeface="Times New Roman" panose="02020603050405020304" pitchFamily="18" charset="0"/>
                </a:endParaRPr>
              </a:p>
              <a:p>
                <a:pPr marL="137160" indent="0">
                  <a:buNone/>
                </a:pPr>
                <a:r>
                  <a:rPr lang="en-US" dirty="0">
                    <a:latin typeface="Times New Roman" panose="02020603050405020304" pitchFamily="18" charset="0"/>
                    <a:cs typeface="Times New Roman" panose="02020603050405020304" pitchFamily="18" charset="0"/>
                  </a:rPr>
                  <a:t>This is the same as:</a:t>
                </a:r>
              </a:p>
              <a:p>
                <a:pPr marL="137160" indent="0">
                  <a:buNone/>
                </a:pPr>
                <a14:m>
                  <m:oMathPara xmlns:m="http://schemas.openxmlformats.org/officeDocument/2006/math">
                    <m:oMathParaPr>
                      <m:jc m:val="centerGroup"/>
                    </m:oMathParaPr>
                    <m:oMath xmlns:m="http://schemas.openxmlformats.org/officeDocument/2006/math">
                      <m:r>
                        <a:rPr lang="en-US" b="0" i="1" smtClean="0">
                          <a:latin typeface="Cambria Math"/>
                        </a:rPr>
                        <m:t>2</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 </m:t>
                      </m:r>
                      <m:r>
                        <m:rPr>
                          <m:sty m:val="p"/>
                        </m:rPr>
                        <a:rPr lang="el-GR" b="0" i="1" smtClean="0">
                          <a:latin typeface="Cambria Math"/>
                        </a:rPr>
                        <m:t>λ</m:t>
                      </m:r>
                      <m:sSub>
                        <m:sSubPr>
                          <m:ctrlPr>
                            <a:rPr lang="el-GR"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oMath>
                  </m:oMathPara>
                </a14:m>
                <a:endParaRPr lang="en-US" dirty="0">
                  <a:latin typeface="Times New Roman" panose="02020603050405020304" pitchFamily="18" charset="0"/>
                  <a:cs typeface="Times New Roman" panose="02020603050405020304" pitchFamily="18" charset="0"/>
                </a:endParaRPr>
              </a:p>
              <a:p>
                <a:pPr marL="13716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+2</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 </m:t>
                      </m:r>
                      <m:r>
                        <m:rPr>
                          <m:sty m:val="p"/>
                        </m:rPr>
                        <a:rPr lang="el-GR" b="0" i="1" smtClean="0">
                          <a:latin typeface="Cambria Math"/>
                        </a:rPr>
                        <m:t>λ</m:t>
                      </m:r>
                      <m:sSub>
                        <m:sSubPr>
                          <m:ctrlPr>
                            <a:rPr lang="el-GR"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oMath>
                  </m:oMathPara>
                </a14:m>
                <a:endParaRPr lang="en-US" dirty="0">
                  <a:latin typeface="Times New Roman" panose="02020603050405020304" pitchFamily="18" charset="0"/>
                  <a:cs typeface="Times New Roman" panose="02020603050405020304" pitchFamily="18" charset="0"/>
                </a:endParaRPr>
              </a:p>
              <a:p>
                <a:pPr marL="137160" indent="0">
                  <a:buNone/>
                </a:pPr>
                <a:endParaRPr lang="en-US" dirty="0">
                  <a:latin typeface="Times New Roman" panose="02020603050405020304" pitchFamily="18" charset="0"/>
                  <a:cs typeface="Times New Roman" panose="02020603050405020304" pitchFamily="18" charset="0"/>
                </a:endParaRPr>
              </a:p>
              <a:p>
                <a:pPr marL="137160" indent="0">
                  <a:buNone/>
                </a:pPr>
                <a:r>
                  <a:rPr lang="en-US" dirty="0">
                    <a:latin typeface="Times New Roman" panose="02020603050405020304" pitchFamily="18" charset="0"/>
                    <a:cs typeface="Times New Roman" panose="02020603050405020304" pitchFamily="18" charset="0"/>
                  </a:rPr>
                  <a:t>Now do some algebra and solve for </a:t>
                </a:r>
                <a:r>
                  <a:rPr lang="el-GR" dirty="0">
                    <a:latin typeface="Times New Roman" panose="02020603050405020304" pitchFamily="18" charset="0"/>
                    <a:cs typeface="Times New Roman" panose="02020603050405020304" pitchFamily="18" charset="0"/>
                  </a:rPr>
                  <a:t>λ</a:t>
                </a:r>
                <a:r>
                  <a:rPr 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oMath>
                </a14:m>
                <a:r>
                  <a:rPr lang="en-US"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oMath>
                </a14:m>
                <a:r>
                  <a:rPr lang="en-US" dirty="0">
                    <a:latin typeface="Times New Roman" panose="02020603050405020304" pitchFamily="18" charset="0"/>
                    <a:cs typeface="Times New Roman" panose="02020603050405020304" pitchFamily="18" charset="0"/>
                  </a:rPr>
                  <a:t>.  </a:t>
                </a:r>
              </a:p>
              <a:p>
                <a:pPr marL="137160" indent="0">
                  <a:buNone/>
                </a:pPr>
                <a:endParaRPr lang="en-US" dirty="0">
                  <a:latin typeface="Times New Roman" panose="02020603050405020304" pitchFamily="18" charset="0"/>
                  <a:cs typeface="Times New Roman" panose="02020603050405020304" pitchFamily="18" charset="0"/>
                </a:endParaRPr>
              </a:p>
              <a:p>
                <a:pPr marL="13716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a:rPr>
                            <m:t>2−</m:t>
                          </m:r>
                          <m:r>
                            <m:rPr>
                              <m:sty m:val="p"/>
                            </m:rPr>
                            <a:rPr lang="el-GR" b="0" i="1" smtClean="0">
                              <a:latin typeface="Cambria Math"/>
                            </a:rPr>
                            <m:t>λ</m:t>
                          </m:r>
                        </m:e>
                      </m:d>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=0</m:t>
                      </m:r>
                    </m:oMath>
                  </m:oMathPara>
                </a14:m>
                <a:endParaRPr lang="en-US" b="0" dirty="0">
                  <a:latin typeface="Times New Roman" panose="02020603050405020304" pitchFamily="18" charset="0"/>
                  <a:cs typeface="Times New Roman" panose="02020603050405020304" pitchFamily="18" charset="0"/>
                </a:endParaRPr>
              </a:p>
              <a:p>
                <a:pPr marL="13716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m:t>
                      </m:r>
                      <m:d>
                        <m:dPr>
                          <m:ctrlPr>
                            <a:rPr lang="en-US" b="0" i="1" smtClean="0">
                              <a:latin typeface="Cambria Math" panose="02040503050406030204" pitchFamily="18" charset="0"/>
                            </a:rPr>
                          </m:ctrlPr>
                        </m:dPr>
                        <m:e>
                          <m:r>
                            <a:rPr lang="en-US" b="0" i="1" smtClean="0">
                              <a:latin typeface="Cambria Math"/>
                            </a:rPr>
                            <m:t>2 − </m:t>
                          </m:r>
                          <m:r>
                            <m:rPr>
                              <m:sty m:val="p"/>
                            </m:rPr>
                            <a:rPr lang="el-GR" b="0" i="1" smtClean="0">
                              <a:latin typeface="Cambria Math"/>
                            </a:rPr>
                            <m:t>λ</m:t>
                          </m:r>
                        </m:e>
                      </m:d>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=0</m:t>
                      </m:r>
                    </m:oMath>
                  </m:oMathPara>
                </a14:m>
                <a:endParaRPr lang="en-US" dirty="0">
                  <a:latin typeface="Times New Roman" panose="02020603050405020304" pitchFamily="18" charset="0"/>
                  <a:cs typeface="Times New Roman" panose="02020603050405020304" pitchFamily="18" charset="0"/>
                </a:endParaRPr>
              </a:p>
              <a:p>
                <a:pPr marL="137160" indent="0">
                  <a:buNone/>
                </a:pPr>
                <a:endParaRPr lang="en-US" dirty="0">
                  <a:latin typeface="Times New Roman" panose="02020603050405020304" pitchFamily="18" charset="0"/>
                  <a:cs typeface="Times New Roman" panose="02020603050405020304" pitchFamily="18" charset="0"/>
                </a:endParaRPr>
              </a:p>
              <a:p>
                <a:pPr marL="137160" indent="0">
                  <a:buNone/>
                </a:pPr>
                <a:r>
                  <a:rPr lang="en-US" dirty="0">
                    <a:latin typeface="Times New Roman" panose="02020603050405020304" pitchFamily="18" charset="0"/>
                    <a:cs typeface="Times New Roman" panose="02020603050405020304" pitchFamily="18" charset="0"/>
                  </a:rPr>
                  <a:t>The trick is that for this system to have a nonzero vector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e>
                    </m:d>
                  </m:oMath>
                </a14:m>
                <a:r>
                  <a:rPr lang="en-US" dirty="0">
                    <a:latin typeface="Times New Roman" panose="02020603050405020304" pitchFamily="18" charset="0"/>
                    <a:cs typeface="Times New Roman" panose="02020603050405020304" pitchFamily="18" charset="0"/>
                  </a:rPr>
                  <a:t> the determinant of the coefficient matrix </a:t>
                </a:r>
                <a:r>
                  <a:rPr lang="en-US" u="sng" dirty="0">
                    <a:latin typeface="Times New Roman" panose="02020603050405020304" pitchFamily="18" charset="0"/>
                    <a:cs typeface="Times New Roman" panose="02020603050405020304" pitchFamily="18" charset="0"/>
                  </a:rPr>
                  <a:t>must be zero</a:t>
                </a:r>
                <a:r>
                  <a:rPr lang="en-US" dirty="0">
                    <a:latin typeface="Times New Roman" panose="02020603050405020304" pitchFamily="18" charset="0"/>
                    <a:cs typeface="Times New Roman" panose="02020603050405020304" pitchFamily="18" charset="0"/>
                  </a:rPr>
                  <a:t>.  That is, </a:t>
                </a:r>
              </a:p>
              <a:p>
                <a:pPr marL="137160" indent="0">
                  <a:buNone/>
                </a:pPr>
                <a:endParaRPr lang="en-US" dirty="0">
                  <a:latin typeface="Times New Roman" panose="02020603050405020304" pitchFamily="18" charset="0"/>
                  <a:cs typeface="Times New Roman" panose="02020603050405020304" pitchFamily="18" charset="0"/>
                </a:endParaRPr>
              </a:p>
              <a:p>
                <a:pPr marL="13716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14400"/>
                <a:ext cx="8229600" cy="5715000"/>
              </a:xfrm>
              <a:blipFill>
                <a:blip r:embed="rId3"/>
                <a:stretch>
                  <a:fillRect b="-85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20</a:t>
            </a:fld>
            <a:endParaRPr lang="en-US"/>
          </a:p>
        </p:txBody>
      </p:sp>
    </p:spTree>
    <p:extLst>
      <p:ext uri="{BB962C8B-B14F-4D97-AF65-F5344CB8AC3E}">
        <p14:creationId xmlns:p14="http://schemas.microsoft.com/office/powerpoint/2010/main" val="262635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82000" cy="1143000"/>
          </a:xfrm>
        </p:spPr>
        <p:txBody>
          <a:bodyPr>
            <a:normAutofit/>
          </a:bodyPr>
          <a:lstStyle/>
          <a:p>
            <a:r>
              <a:rPr lang="en-US" sz="3200" dirty="0">
                <a:latin typeface="Times New Roman" panose="02020603050405020304" pitchFamily="18" charset="0"/>
                <a:cs typeface="Times New Roman" panose="02020603050405020304" pitchFamily="18" charset="0"/>
              </a:rPr>
              <a:t>Eigenvectors and Eigenvalues Cont’d.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43000"/>
                <a:ext cx="8229600" cy="5166360"/>
              </a:xfrm>
            </p:spPr>
            <p:txBody>
              <a:bodyPr>
                <a:normAutofit lnSpcReduction="10000"/>
              </a:bodyPr>
              <a:lstStyle/>
              <a:p>
                <a:pPr marL="137160" indent="0">
                  <a:spcAft>
                    <a:spcPts val="600"/>
                  </a:spcAft>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a:rPr>
                                  <m:t>(</m:t>
                                </m:r>
                                <m:r>
                                  <a:rPr lang="en-US" b="0" i="1" smtClean="0">
                                    <a:latin typeface="Cambria Math"/>
                                  </a:rPr>
                                  <m:t>2 − </m:t>
                                </m:r>
                                <m:r>
                                  <m:rPr>
                                    <m:sty m:val="p"/>
                                  </m:rPr>
                                  <a:rPr lang="el-GR" b="0" i="1" smtClean="0">
                                    <a:latin typeface="Cambria Math"/>
                                  </a:rPr>
                                  <m:t>λ</m:t>
                                </m:r>
                                <m:r>
                                  <a:rPr lang="en-US" b="0" i="1" smtClean="0">
                                    <a:latin typeface="Cambria Math"/>
                                  </a:rPr>
                                  <m:t>)</m:t>
                                </m:r>
                              </m:e>
                              <m:e>
                                <m:r>
                                  <a:rPr lang="en-US" b="0" i="1" smtClean="0">
                                    <a:latin typeface="Cambria Math"/>
                                  </a:rPr>
                                  <m:t>1</m:t>
                                </m:r>
                              </m:e>
                            </m:mr>
                            <m:mr>
                              <m:e>
                                <m:r>
                                  <a:rPr lang="en-US" b="0" i="1" smtClean="0">
                                    <a:latin typeface="Cambria Math"/>
                                  </a:rPr>
                                  <m:t>1</m:t>
                                </m:r>
                              </m:e>
                              <m:e>
                                <m:r>
                                  <a:rPr lang="en-US" b="0" i="1" smtClean="0">
                                    <a:latin typeface="Cambria Math"/>
                                  </a:rPr>
                                  <m:t>(2 − </m:t>
                                </m:r>
                                <m:r>
                                  <m:rPr>
                                    <m:sty m:val="p"/>
                                  </m:rPr>
                                  <a:rPr lang="el-GR" b="0" i="1" smtClean="0">
                                    <a:latin typeface="Cambria Math"/>
                                  </a:rPr>
                                  <m:t>λ</m:t>
                                </m:r>
                                <m:r>
                                  <a:rPr lang="en-US" b="0" i="1" smtClean="0">
                                    <a:latin typeface="Cambria Math"/>
                                  </a:rPr>
                                  <m:t>)</m:t>
                                </m:r>
                              </m:e>
                            </m:mr>
                          </m:m>
                        </m:e>
                      </m:d>
                    </m:oMath>
                  </m:oMathPara>
                </a14:m>
                <a:endParaRPr lang="en-US" dirty="0">
                  <a:latin typeface="Times New Roman" panose="02020603050405020304" pitchFamily="18" charset="0"/>
                  <a:cs typeface="Times New Roman" panose="02020603050405020304" pitchFamily="18" charset="0"/>
                </a:endParaRPr>
              </a:p>
              <a:p>
                <a:pPr marL="137160" indent="0">
                  <a:spcAft>
                    <a:spcPts val="600"/>
                  </a:spcAft>
                  <a:buNone/>
                </a:pPr>
                <a:r>
                  <a:rPr lang="en-US" dirty="0">
                    <a:latin typeface="Times New Roman" panose="02020603050405020304" pitchFamily="18" charset="0"/>
                    <a:cs typeface="Times New Roman" panose="02020603050405020304" pitchFamily="18" charset="0"/>
                  </a:rPr>
                  <a:t>must have a determinant equal to zero.  </a:t>
                </a:r>
              </a:p>
              <a:p>
                <a:pPr marL="137160"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a:rPr>
                                  <m:t>(</m:t>
                                </m:r>
                                <m:r>
                                  <a:rPr lang="en-US" b="0" i="1" smtClean="0">
                                    <a:latin typeface="Cambria Math"/>
                                  </a:rPr>
                                  <m:t>2 − </m:t>
                                </m:r>
                                <m:r>
                                  <m:rPr>
                                    <m:sty m:val="p"/>
                                  </m:rPr>
                                  <a:rPr lang="el-GR" b="0" i="1" smtClean="0">
                                    <a:latin typeface="Cambria Math"/>
                                  </a:rPr>
                                  <m:t>λ</m:t>
                                </m:r>
                                <m:r>
                                  <a:rPr lang="en-US" b="0" i="1" smtClean="0">
                                    <a:latin typeface="Cambria Math"/>
                                  </a:rPr>
                                  <m:t>)</m:t>
                                </m:r>
                              </m:e>
                              <m:e>
                                <m:r>
                                  <a:rPr lang="en-US" b="0" i="1" smtClean="0">
                                    <a:latin typeface="Cambria Math"/>
                                  </a:rPr>
                                  <m:t>1</m:t>
                                </m:r>
                              </m:e>
                            </m:mr>
                            <m:mr>
                              <m:e>
                                <m:r>
                                  <a:rPr lang="en-US" b="0" i="1" smtClean="0">
                                    <a:latin typeface="Cambria Math"/>
                                  </a:rPr>
                                  <m:t>1</m:t>
                                </m:r>
                              </m:e>
                              <m:e>
                                <m:r>
                                  <a:rPr lang="en-US" b="0" i="1" smtClean="0">
                                    <a:latin typeface="Cambria Math"/>
                                  </a:rPr>
                                  <m:t>(2 − </m:t>
                                </m:r>
                                <m:r>
                                  <m:rPr>
                                    <m:sty m:val="p"/>
                                  </m:rPr>
                                  <a:rPr lang="el-GR" b="0" i="1" smtClean="0">
                                    <a:latin typeface="Cambria Math"/>
                                  </a:rPr>
                                  <m:t>λ</m:t>
                                </m:r>
                                <m:r>
                                  <a:rPr lang="en-US" b="0" i="1" smtClean="0">
                                    <a:latin typeface="Cambria Math"/>
                                  </a:rPr>
                                  <m:t>)</m:t>
                                </m:r>
                              </m:e>
                            </m:mr>
                          </m:m>
                        </m:e>
                      </m:d>
                      <m:r>
                        <a:rPr lang="en-US" b="0" i="1" smtClean="0">
                          <a:latin typeface="Cambria Math"/>
                        </a:rPr>
                        <m:t>=0</m:t>
                      </m:r>
                    </m:oMath>
                  </m:oMathPara>
                </a14:m>
                <a:endParaRPr lang="en-US" dirty="0">
                  <a:latin typeface="Times New Roman" panose="02020603050405020304" pitchFamily="18" charset="0"/>
                  <a:cs typeface="Times New Roman" panose="02020603050405020304" pitchFamily="18" charset="0"/>
                </a:endParaRPr>
              </a:p>
              <a:p>
                <a:pPr marL="137160" indent="0">
                  <a:buNone/>
                </a:pPr>
                <a:r>
                  <a:rPr lang="en-US" dirty="0">
                    <a:latin typeface="Times New Roman" panose="02020603050405020304" pitchFamily="18" charset="0"/>
                    <a:cs typeface="Times New Roman" panose="02020603050405020304" pitchFamily="18" charset="0"/>
                  </a:rPr>
                  <a:t>So we solve:</a:t>
                </a:r>
              </a:p>
              <a:p>
                <a:pPr marL="137160" indent="0">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a:rPr>
                            <m:t>2−</m:t>
                          </m:r>
                          <m:r>
                            <m:rPr>
                              <m:sty m:val="p"/>
                            </m:rPr>
                            <a:rPr lang="el-GR" b="0" i="1" smtClean="0">
                              <a:latin typeface="Cambria Math"/>
                            </a:rPr>
                            <m:t>λ</m:t>
                          </m:r>
                        </m:e>
                      </m:d>
                      <m:d>
                        <m:dPr>
                          <m:ctrlPr>
                            <a:rPr lang="en-US" b="0" i="1" smtClean="0">
                              <a:latin typeface="Cambria Math" panose="02040503050406030204" pitchFamily="18" charset="0"/>
                            </a:rPr>
                          </m:ctrlPr>
                        </m:dPr>
                        <m:e>
                          <m:r>
                            <a:rPr lang="en-US" b="0" i="1" smtClean="0">
                              <a:latin typeface="Cambria Math"/>
                            </a:rPr>
                            <m:t>2−</m:t>
                          </m:r>
                          <m:r>
                            <m:rPr>
                              <m:sty m:val="p"/>
                            </m:rPr>
                            <a:rPr lang="el-GR" b="0" i="1" smtClean="0">
                              <a:latin typeface="Cambria Math"/>
                            </a:rPr>
                            <m:t>λ</m:t>
                          </m:r>
                        </m:e>
                      </m:d>
                      <m:r>
                        <a:rPr lang="en-US" b="0" i="1" smtClean="0">
                          <a:latin typeface="Cambria Math"/>
                        </a:rPr>
                        <m:t>−1∗1=0</m:t>
                      </m:r>
                    </m:oMath>
                  </m:oMathPara>
                </a14:m>
                <a:endParaRPr lang="en-US" b="0" dirty="0">
                  <a:latin typeface="Times New Roman" panose="02020603050405020304" pitchFamily="18" charset="0"/>
                  <a:cs typeface="Times New Roman" panose="02020603050405020304" pitchFamily="18" charset="0"/>
                </a:endParaRPr>
              </a:p>
              <a:p>
                <a:pPr marL="137160" indent="0">
                  <a:buNone/>
                </a:pPr>
                <a14:m>
                  <m:oMathPara xmlns:m="http://schemas.openxmlformats.org/officeDocument/2006/math">
                    <m:oMathParaPr>
                      <m:jc m:val="centerGroup"/>
                    </m:oMathParaPr>
                    <m:oMath xmlns:m="http://schemas.openxmlformats.org/officeDocument/2006/math">
                      <m:sSup>
                        <m:sSupPr>
                          <m:ctrlPr>
                            <a:rPr lang="el-GR" i="1" smtClean="0">
                              <a:latin typeface="Cambria Math" panose="02040503050406030204" pitchFamily="18" charset="0"/>
                            </a:rPr>
                          </m:ctrlPr>
                        </m:sSupPr>
                        <m:e>
                          <m:r>
                            <m:rPr>
                              <m:sty m:val="p"/>
                            </m:rPr>
                            <a:rPr lang="el-GR" i="1" smtClean="0">
                              <a:latin typeface="Cambria Math"/>
                            </a:rPr>
                            <m:t>λ</m:t>
                          </m:r>
                        </m:e>
                        <m:sup>
                          <m:r>
                            <a:rPr lang="en-US" b="0" i="1" smtClean="0">
                              <a:latin typeface="Cambria Math"/>
                            </a:rPr>
                            <m:t>2</m:t>
                          </m:r>
                        </m:sup>
                      </m:sSup>
                      <m:r>
                        <a:rPr lang="en-US" b="0" i="1" smtClean="0">
                          <a:latin typeface="Cambria Math"/>
                        </a:rPr>
                        <m:t>−4</m:t>
                      </m:r>
                      <m:r>
                        <m:rPr>
                          <m:sty m:val="p"/>
                        </m:rPr>
                        <a:rPr lang="el-GR" b="0" i="1" smtClean="0">
                          <a:latin typeface="Cambria Math"/>
                        </a:rPr>
                        <m:t>λ</m:t>
                      </m:r>
                      <m:r>
                        <a:rPr lang="en-US" b="0" i="1" smtClean="0">
                          <a:latin typeface="Cambria Math"/>
                        </a:rPr>
                        <m:t>+3=0</m:t>
                      </m:r>
                    </m:oMath>
                  </m:oMathPara>
                </a14:m>
                <a:endParaRPr lang="en-US" dirty="0">
                  <a:latin typeface="Times New Roman" panose="02020603050405020304" pitchFamily="18" charset="0"/>
                  <a:cs typeface="Times New Roman" panose="02020603050405020304" pitchFamily="18" charset="0"/>
                </a:endParaRPr>
              </a:p>
              <a:p>
                <a:pPr marL="137160" indent="0">
                  <a:spcAft>
                    <a:spcPts val="600"/>
                  </a:spcAft>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m:rPr>
                              <m:sty m:val="p"/>
                            </m:rPr>
                            <a:rPr lang="el-GR" b="0" i="1" smtClean="0">
                              <a:latin typeface="Cambria Math"/>
                            </a:rPr>
                            <m:t>λ</m:t>
                          </m:r>
                          <m:r>
                            <a:rPr lang="en-US" b="0" i="1" smtClean="0">
                              <a:latin typeface="Cambria Math"/>
                            </a:rPr>
                            <m:t>−3</m:t>
                          </m:r>
                        </m:e>
                      </m:d>
                      <m:d>
                        <m:dPr>
                          <m:ctrlPr>
                            <a:rPr lang="en-US" b="0" i="1" smtClean="0">
                              <a:latin typeface="Cambria Math" panose="02040503050406030204" pitchFamily="18" charset="0"/>
                            </a:rPr>
                          </m:ctrlPr>
                        </m:dPr>
                        <m:e>
                          <m:r>
                            <m:rPr>
                              <m:sty m:val="p"/>
                            </m:rPr>
                            <a:rPr lang="el-GR" b="0" i="1" smtClean="0">
                              <a:latin typeface="Cambria Math"/>
                            </a:rPr>
                            <m:t>λ</m:t>
                          </m:r>
                          <m:r>
                            <a:rPr lang="en-US" b="0" i="1" smtClean="0">
                              <a:latin typeface="Cambria Math"/>
                            </a:rPr>
                            <m:t>−1</m:t>
                          </m:r>
                        </m:e>
                      </m:d>
                      <m:r>
                        <a:rPr lang="en-US" b="0" i="1" smtClean="0">
                          <a:latin typeface="Cambria Math"/>
                        </a:rPr>
                        <m:t>=0</m:t>
                      </m:r>
                    </m:oMath>
                  </m:oMathPara>
                </a14:m>
                <a:endParaRPr lang="en-US" b="0" dirty="0">
                  <a:latin typeface="Times New Roman" panose="02020603050405020304" pitchFamily="18" charset="0"/>
                  <a:cs typeface="Times New Roman" panose="02020603050405020304" pitchFamily="18" charset="0"/>
                </a:endParaRPr>
              </a:p>
              <a:p>
                <a:pPr>
                  <a:spcAft>
                    <a:spcPts val="600"/>
                  </a:spcAft>
                </a:pPr>
                <a:r>
                  <a:rPr lang="en-US" dirty="0">
                    <a:latin typeface="Times New Roman" panose="02020603050405020304" pitchFamily="18" charset="0"/>
                    <a:cs typeface="Times New Roman" panose="02020603050405020304" pitchFamily="18" charset="0"/>
                  </a:rPr>
                  <a:t>There are two values of </a:t>
                </a:r>
                <a:r>
                  <a:rPr lang="el-GR" dirty="0">
                    <a:latin typeface="Times New Roman" panose="02020603050405020304" pitchFamily="18" charset="0"/>
                    <a:cs typeface="Times New Roman" panose="02020603050405020304" pitchFamily="18" charset="0"/>
                  </a:rPr>
                  <a:t>λ</a:t>
                </a:r>
                <a:r>
                  <a:rPr lang="en-US" dirty="0">
                    <a:latin typeface="Times New Roman" panose="02020603050405020304" pitchFamily="18" charset="0"/>
                    <a:cs typeface="Times New Roman" panose="02020603050405020304" pitchFamily="18" charset="0"/>
                  </a:rPr>
                  <a:t>, i.e. two eigenvalues that satisfy this equation: </a:t>
                </a:r>
                <a14:m>
                  <m:oMath xmlns:m="http://schemas.openxmlformats.org/officeDocument/2006/math">
                    <m:sSub>
                      <m:sSubPr>
                        <m:ctrlPr>
                          <a:rPr lang="en-US" i="1" smtClean="0">
                            <a:latin typeface="Cambria Math" panose="02040503050406030204" pitchFamily="18" charset="0"/>
                          </a:rPr>
                        </m:ctrlPr>
                      </m:sSubPr>
                      <m:e>
                        <m:r>
                          <m:rPr>
                            <m:sty m:val="p"/>
                          </m:rPr>
                          <a:rPr lang="el-GR" i="1" smtClean="0">
                            <a:latin typeface="Cambria Math"/>
                          </a:rPr>
                          <m:t>λ</m:t>
                        </m:r>
                      </m:e>
                      <m:sub>
                        <m:r>
                          <a:rPr lang="en-US" b="0" i="1" smtClean="0">
                            <a:latin typeface="Cambria Math"/>
                          </a:rPr>
                          <m:t>1</m:t>
                        </m:r>
                      </m:sub>
                    </m:sSub>
                    <m:r>
                      <a:rPr lang="en-US" b="0" i="1" smtClean="0">
                        <a:latin typeface="Cambria Math"/>
                      </a:rPr>
                      <m:t>=3, </m:t>
                    </m:r>
                    <m:sSub>
                      <m:sSubPr>
                        <m:ctrlPr>
                          <a:rPr lang="en-US" b="0" i="1" smtClean="0">
                            <a:latin typeface="Cambria Math" panose="02040503050406030204" pitchFamily="18" charset="0"/>
                          </a:rPr>
                        </m:ctrlPr>
                      </m:sSubPr>
                      <m:e>
                        <m:r>
                          <m:rPr>
                            <m:sty m:val="p"/>
                          </m:rPr>
                          <a:rPr lang="el-GR" b="0" i="1" smtClean="0">
                            <a:latin typeface="Cambria Math"/>
                          </a:rPr>
                          <m:t>λ</m:t>
                        </m:r>
                      </m:e>
                      <m:sub>
                        <m:r>
                          <a:rPr lang="en-US" b="0" i="1" smtClean="0">
                            <a:latin typeface="Cambria Math"/>
                          </a:rPr>
                          <m:t>2</m:t>
                        </m:r>
                      </m:sub>
                    </m:sSub>
                    <m:r>
                      <a:rPr lang="en-US" b="0" i="1" smtClean="0">
                        <a:latin typeface="Cambria Math"/>
                      </a:rPr>
                      <m:t>=1.  </m:t>
                    </m:r>
                  </m:oMath>
                </a14:m>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Plug </a:t>
                </a:r>
                <a:r>
                  <a:rPr lang="el-GR" dirty="0">
                    <a:latin typeface="Times New Roman" panose="02020603050405020304" pitchFamily="18" charset="0"/>
                    <a:cs typeface="Times New Roman" panose="02020603050405020304" pitchFamily="18" charset="0"/>
                  </a:rPr>
                  <a:t>λ</a:t>
                </a:r>
                <a:r>
                  <a:rPr lang="en-US" dirty="0">
                    <a:latin typeface="Times New Roman" panose="02020603050405020304" pitchFamily="18" charset="0"/>
                    <a:cs typeface="Times New Roman" panose="02020603050405020304" pitchFamily="18" charset="0"/>
                  </a:rPr>
                  <a:t> back into the original equations to find the corresponding eigenvectors.</a:t>
                </a:r>
              </a:p>
              <a:p>
                <a:pPr marL="137160" indent="0">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a:rPr>
                            <m:t>2−</m:t>
                          </m:r>
                          <m:r>
                            <m:rPr>
                              <m:sty m:val="p"/>
                            </m:rPr>
                            <a:rPr lang="el-GR" i="1">
                              <a:latin typeface="Cambria Math"/>
                            </a:rPr>
                            <m:t>λ</m:t>
                          </m:r>
                        </m:e>
                      </m:d>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 </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=0</m:t>
                      </m:r>
                    </m:oMath>
                  </m:oMathPara>
                </a14:m>
                <a:endParaRPr lang="en-US" dirty="0">
                  <a:latin typeface="Times New Roman" panose="02020603050405020304" pitchFamily="18" charset="0"/>
                  <a:cs typeface="Times New Roman" panose="02020603050405020304" pitchFamily="18" charset="0"/>
                </a:endParaRPr>
              </a:p>
              <a:p>
                <a:pPr marL="137160" indent="0" algn="ctr">
                  <a:buNone/>
                </a:pPr>
                <a:r>
                  <a:rPr lang="en-US" dirty="0">
                    <a:latin typeface="Times New Roman" panose="02020603050405020304" pitchFamily="18" charset="0"/>
                    <a:cs typeface="Times New Roman" panose="02020603050405020304" pitchFamily="18" charset="0"/>
                  </a:rPr>
                  <a:t>For </a:t>
                </a:r>
                <a14:m>
                  <m:oMath xmlns:m="http://schemas.openxmlformats.org/officeDocument/2006/math">
                    <m:sSub>
                      <m:sSubPr>
                        <m:ctrlPr>
                          <a:rPr lang="el-GR" i="1" dirty="0" smtClean="0">
                            <a:latin typeface="Cambria Math" panose="02040503050406030204" pitchFamily="18" charset="0"/>
                          </a:rPr>
                        </m:ctrlPr>
                      </m:sSubPr>
                      <m:e>
                        <m:r>
                          <m:rPr>
                            <m:sty m:val="p"/>
                          </m:rPr>
                          <a:rPr lang="el-GR" i="1" dirty="0" smtClean="0">
                            <a:latin typeface="Cambria Math"/>
                          </a:rPr>
                          <m:t>λ</m:t>
                        </m:r>
                      </m:e>
                      <m:sub>
                        <m:r>
                          <a:rPr lang="en-US" b="0" i="1" dirty="0" smtClean="0">
                            <a:latin typeface="Cambria Math"/>
                          </a:rPr>
                          <m:t>1</m:t>
                        </m:r>
                      </m:sub>
                    </m:sSub>
                    <m:r>
                      <a:rPr lang="en-US" b="0" i="1" dirty="0" smtClean="0">
                        <a:latin typeface="Cambria Math"/>
                      </a:rPr>
                      <m:t>=3</m:t>
                    </m:r>
                  </m:oMath>
                </a14:m>
                <a:r>
                  <a:rPr lang="en-US" dirty="0">
                    <a:latin typeface="Times New Roman" panose="02020603050405020304" pitchFamily="18" charset="0"/>
                    <a:cs typeface="Times New Roman" panose="02020603050405020304" pitchFamily="18" charset="0"/>
                  </a:rPr>
                  <a:t> is: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2−3</m:t>
                        </m:r>
                      </m:e>
                    </m:d>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r>
                      <a:rPr lang="en-US" b="0" i="1" smtClean="0">
                        <a:latin typeface="Cambria Math"/>
                      </a:rPr>
                      <m:t>=0</m:t>
                    </m:r>
                  </m:oMath>
                </a14:m>
                <a:r>
                  <a:rPr lang="en-US" dirty="0">
                    <a:latin typeface="Times New Roman" panose="02020603050405020304" pitchFamily="18" charset="0"/>
                    <a:cs typeface="Times New Roman" panose="02020603050405020304" pitchFamily="18" charset="0"/>
                  </a:rPr>
                  <a:t> and therefore: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2</m:t>
                        </m:r>
                      </m:sub>
                    </m:sSub>
                  </m:oMath>
                </a14:m>
                <a:endParaRPr lang="en-US" dirty="0">
                  <a:latin typeface="Times New Roman" panose="02020603050405020304" pitchFamily="18" charset="0"/>
                  <a:cs typeface="Times New Roman" panose="02020603050405020304" pitchFamily="18" charset="0"/>
                </a:endParaRPr>
              </a:p>
              <a:p>
                <a:pPr marL="137160" indent="0" algn="ctr">
                  <a:buNone/>
                </a:pPr>
                <a:r>
                  <a:rPr lang="en-US" dirty="0">
                    <a:latin typeface="Times New Roman" panose="02020603050405020304" pitchFamily="18" charset="0"/>
                    <a:cs typeface="Times New Roman" panose="02020603050405020304" pitchFamily="18" charset="0"/>
                  </a:rPr>
                  <a:t>For </a:t>
                </a:r>
                <a14:m>
                  <m:oMath xmlns:m="http://schemas.openxmlformats.org/officeDocument/2006/math">
                    <m:sSub>
                      <m:sSubPr>
                        <m:ctrlPr>
                          <a:rPr lang="el-GR" i="1" dirty="0">
                            <a:latin typeface="Cambria Math" panose="02040503050406030204" pitchFamily="18" charset="0"/>
                          </a:rPr>
                        </m:ctrlPr>
                      </m:sSubPr>
                      <m:e>
                        <m:r>
                          <m:rPr>
                            <m:sty m:val="p"/>
                          </m:rPr>
                          <a:rPr lang="el-GR" i="1" dirty="0">
                            <a:latin typeface="Cambria Math"/>
                          </a:rPr>
                          <m:t>λ</m:t>
                        </m:r>
                      </m:e>
                      <m:sub>
                        <m:r>
                          <a:rPr lang="en-US" b="0" i="1" dirty="0" smtClean="0">
                            <a:latin typeface="Cambria Math"/>
                          </a:rPr>
                          <m:t>2</m:t>
                        </m:r>
                      </m:sub>
                    </m:sSub>
                    <m:r>
                      <a:rPr lang="en-US" i="1" dirty="0">
                        <a:latin typeface="Cambria Math"/>
                      </a:rPr>
                      <m:t>=</m:t>
                    </m:r>
                    <m:r>
                      <a:rPr lang="en-US" b="0" i="1" dirty="0" smtClean="0">
                        <a:latin typeface="Cambria Math"/>
                      </a:rPr>
                      <m:t>1</m:t>
                    </m:r>
                  </m:oMath>
                </a14:m>
                <a:r>
                  <a:rPr lang="en-US" dirty="0">
                    <a:latin typeface="Times New Roman" panose="02020603050405020304" pitchFamily="18" charset="0"/>
                    <a:cs typeface="Times New Roman" panose="02020603050405020304" pitchFamily="18" charset="0"/>
                  </a:rPr>
                  <a:t> is: </a:t>
                </a:r>
                <a14:m>
                  <m:oMath xmlns:m="http://schemas.openxmlformats.org/officeDocument/2006/math">
                    <m:d>
                      <m:dPr>
                        <m:ctrlPr>
                          <a:rPr lang="en-US" i="1">
                            <a:latin typeface="Cambria Math" panose="02040503050406030204" pitchFamily="18" charset="0"/>
                          </a:rPr>
                        </m:ctrlPr>
                      </m:dPr>
                      <m:e>
                        <m:r>
                          <a:rPr lang="en-US" i="1">
                            <a:latin typeface="Cambria Math"/>
                          </a:rPr>
                          <m:t>2−</m:t>
                        </m:r>
                        <m:r>
                          <a:rPr lang="en-US" b="0" i="1" smtClean="0">
                            <a:latin typeface="Cambria Math"/>
                          </a:rPr>
                          <m:t>1</m:t>
                        </m:r>
                      </m:e>
                    </m:d>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=0</m:t>
                    </m:r>
                  </m:oMath>
                </a14:m>
                <a:r>
                  <a:rPr lang="en-US" dirty="0">
                    <a:latin typeface="Times New Roman" panose="02020603050405020304" pitchFamily="18" charset="0"/>
                    <a:cs typeface="Times New Roman" panose="02020603050405020304" pitchFamily="18" charset="0"/>
                  </a:rPr>
                  <a:t> and therefore: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m:t>
                        </m:r>
                        <m:r>
                          <a:rPr lang="en-US" i="1">
                            <a:latin typeface="Cambria Math"/>
                          </a:rPr>
                          <m:t>𝑥</m:t>
                        </m:r>
                      </m:e>
                      <m:sub>
                        <m:r>
                          <a:rPr lang="en-US" i="1">
                            <a:latin typeface="Cambria Math"/>
                          </a:rPr>
                          <m:t>1</m:t>
                        </m:r>
                      </m:sub>
                    </m:sSub>
                    <m:r>
                      <a:rPr lang="en-US" i="1">
                        <a:latin typeface="Cambria Math"/>
                      </a:rPr>
                      <m:t>= </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oMath>
                </a14:m>
                <a:endParaRPr lang="en-US" dirty="0">
                  <a:latin typeface="Times New Roman" panose="02020603050405020304" pitchFamily="18" charset="0"/>
                  <a:cs typeface="Times New Roman" panose="02020603050405020304" pitchFamily="18" charset="0"/>
                </a:endParaRPr>
              </a:p>
              <a:p>
                <a:pPr marL="137160" indent="0">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143000"/>
                <a:ext cx="8229600" cy="5166360"/>
              </a:xfrm>
              <a:blipFill>
                <a:blip r:embed="rId3"/>
                <a:stretch>
                  <a:fillRect l="-51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76F96C40-0356-46F5-90E5-FF57DE76D9A0}" type="slidenum">
              <a:rPr lang="en-US" smtClean="0"/>
              <a:t>21</a:t>
            </a:fld>
            <a:endParaRPr lang="en-US"/>
          </a:p>
        </p:txBody>
      </p:sp>
    </p:spTree>
    <p:extLst>
      <p:ext uri="{BB962C8B-B14F-4D97-AF65-F5344CB8AC3E}">
        <p14:creationId xmlns:p14="http://schemas.microsoft.com/office/powerpoint/2010/main" val="3620819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Two Solutions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736464" y="1219200"/>
                <a:ext cx="5715000" cy="2362200"/>
              </a:xfrm>
            </p:spPr>
            <p:txBody>
              <a:bodyPr/>
              <a:lstStyle/>
              <a:p>
                <a:pPr marL="137160" lvl="0" indent="0">
                  <a:spcAft>
                    <a:spcPts val="1200"/>
                  </a:spcAft>
                  <a:buClr>
                    <a:prstClr val="white">
                      <a:shade val="95000"/>
                    </a:prstClr>
                  </a:buClr>
                  <a:buNone/>
                </a:pP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a:ea typeface="Calibri"/>
                          <a:cs typeface="Times New Roman"/>
                        </a:rPr>
                        <m:t>𝐴</m:t>
                      </m:r>
                      <m:r>
                        <a:rPr lang="en-US" sz="2000" i="1" smtClean="0">
                          <a:solidFill>
                            <a:schemeClr val="tx1"/>
                          </a:solidFill>
                          <a:latin typeface="Cambria Math"/>
                          <a:ea typeface="Calibri"/>
                          <a:cs typeface="Times New Roman"/>
                        </a:rPr>
                        <m:t>= </m:t>
                      </m:r>
                      <m:d>
                        <m:dPr>
                          <m:begChr m:val="["/>
                          <m:endChr m:val="]"/>
                          <m:ctrlPr>
                            <a:rPr lang="en-US" sz="2000" i="1">
                              <a:solidFill>
                                <a:schemeClr val="tx1"/>
                              </a:solidFill>
                              <a:latin typeface="Cambria Math" panose="02040503050406030204" pitchFamily="18" charset="0"/>
                              <a:cs typeface="Times New Roman"/>
                            </a:rPr>
                          </m:ctrlPr>
                        </m:dPr>
                        <m:e>
                          <m:m>
                            <m:mPr>
                              <m:mcs>
                                <m:mc>
                                  <m:mcPr>
                                    <m:count m:val="2"/>
                                    <m:mcJc m:val="center"/>
                                  </m:mcPr>
                                </m:mc>
                              </m:mcs>
                              <m:ctrlPr>
                                <a:rPr lang="en-US" sz="2000" i="1">
                                  <a:solidFill>
                                    <a:schemeClr val="tx1"/>
                                  </a:solidFill>
                                  <a:latin typeface="Cambria Math" panose="02040503050406030204" pitchFamily="18" charset="0"/>
                                  <a:cs typeface="Times New Roman"/>
                                </a:rPr>
                              </m:ctrlPr>
                            </m:mPr>
                            <m:mr>
                              <m:e>
                                <m:r>
                                  <m:rPr>
                                    <m:brk m:alnAt="7"/>
                                  </m:rPr>
                                  <a:rPr lang="en-US" sz="2000" i="1">
                                    <a:solidFill>
                                      <a:schemeClr val="tx1"/>
                                    </a:solidFill>
                                    <a:latin typeface="Cambria Math"/>
                                    <a:cs typeface="Times New Roman"/>
                                  </a:rPr>
                                  <m:t>2</m:t>
                                </m:r>
                              </m:e>
                              <m:e>
                                <m:r>
                                  <a:rPr lang="en-US" sz="2000" i="1">
                                    <a:solidFill>
                                      <a:schemeClr val="tx1"/>
                                    </a:solidFill>
                                    <a:latin typeface="Cambria Math"/>
                                    <a:cs typeface="Times New Roman"/>
                                  </a:rPr>
                                  <m:t>1</m:t>
                                </m:r>
                              </m:e>
                            </m:mr>
                            <m:mr>
                              <m:e>
                                <m:r>
                                  <a:rPr lang="en-US" sz="2000" i="1">
                                    <a:solidFill>
                                      <a:schemeClr val="tx1"/>
                                    </a:solidFill>
                                    <a:latin typeface="Cambria Math"/>
                                    <a:cs typeface="Times New Roman"/>
                                  </a:rPr>
                                  <m:t>1</m:t>
                                </m:r>
                              </m:e>
                              <m:e>
                                <m:r>
                                  <a:rPr lang="en-US" sz="2000" i="1">
                                    <a:solidFill>
                                      <a:schemeClr val="tx1"/>
                                    </a:solidFill>
                                    <a:latin typeface="Cambria Math"/>
                                    <a:cs typeface="Times New Roman"/>
                                  </a:rPr>
                                  <m:t>2</m:t>
                                </m:r>
                              </m:e>
                            </m:mr>
                          </m:m>
                        </m:e>
                      </m:d>
                    </m:oMath>
                  </m:oMathPara>
                </a14:m>
                <a:endParaRPr lang="en-US" sz="2000" i="1" dirty="0">
                  <a:solidFill>
                    <a:schemeClr val="tx1"/>
                  </a:solidFill>
                  <a:latin typeface="Cambria Math"/>
                  <a:ea typeface="Calibri"/>
                  <a:cs typeface="Times New Roman"/>
                </a:endParaRPr>
              </a:p>
              <a:p>
                <a:pPr marL="137160" lvl="0" indent="0">
                  <a:spcAft>
                    <a:spcPts val="1200"/>
                  </a:spcAft>
                  <a:buClr>
                    <a:prstClr val="white">
                      <a:shade val="95000"/>
                    </a:prstClr>
                  </a:buClr>
                  <a:buNone/>
                </a:pPr>
                <a14:m>
                  <m:oMathPara xmlns:m="http://schemas.openxmlformats.org/officeDocument/2006/math">
                    <m:oMathParaPr>
                      <m:jc m:val="centerGroup"/>
                    </m:oMathParaPr>
                    <m:oMath xmlns:m="http://schemas.openxmlformats.org/officeDocument/2006/math">
                      <m:r>
                        <a:rPr lang="en-US" sz="2000" i="1">
                          <a:solidFill>
                            <a:schemeClr val="tx1"/>
                          </a:solidFill>
                          <a:latin typeface="Cambria Math"/>
                          <a:ea typeface="Calibri"/>
                          <a:cs typeface="Times New Roman"/>
                        </a:rPr>
                        <m:t>𝐴</m:t>
                      </m:r>
                      <m:acc>
                        <m:accPr>
                          <m:chr m:val="⃗"/>
                          <m:ctrlPr>
                            <a:rPr lang="en-US" sz="2000" i="1">
                              <a:solidFill>
                                <a:schemeClr val="tx1"/>
                              </a:solidFill>
                              <a:latin typeface="Cambria Math" panose="02040503050406030204" pitchFamily="18" charset="0"/>
                            </a:rPr>
                          </m:ctrlPr>
                        </m:accPr>
                        <m:e>
                          <m:r>
                            <a:rPr lang="en-US" sz="2000" i="1">
                              <a:solidFill>
                                <a:schemeClr val="tx1"/>
                              </a:solidFill>
                              <a:latin typeface="Cambria Math"/>
                              <a:ea typeface="Calibri"/>
                              <a:cs typeface="Times New Roman"/>
                            </a:rPr>
                            <m:t>𝑣</m:t>
                          </m:r>
                        </m:e>
                      </m:acc>
                      <m:r>
                        <a:rPr lang="en-US" sz="2000" i="1">
                          <a:solidFill>
                            <a:schemeClr val="tx1"/>
                          </a:solidFill>
                          <a:latin typeface="Cambria Math"/>
                          <a:ea typeface="Calibri"/>
                          <a:cs typeface="Times New Roman"/>
                        </a:rPr>
                        <m:t>=</m:t>
                      </m:r>
                      <m:r>
                        <a:rPr lang="en-US" sz="2000" i="1">
                          <a:solidFill>
                            <a:schemeClr val="tx1"/>
                          </a:solidFill>
                          <a:latin typeface="Cambria Math"/>
                          <a:ea typeface="Calibri"/>
                          <a:cs typeface="Times New Roman"/>
                        </a:rPr>
                        <m:t>𝜆</m:t>
                      </m:r>
                      <m:r>
                        <a:rPr lang="en-US" sz="2000" i="1">
                          <a:solidFill>
                            <a:schemeClr val="tx1"/>
                          </a:solidFill>
                          <a:latin typeface="Cambria Math"/>
                          <a:ea typeface="Calibri"/>
                          <a:cs typeface="Times New Roman"/>
                        </a:rPr>
                        <m:t> </m:t>
                      </m:r>
                      <m:acc>
                        <m:accPr>
                          <m:chr m:val="⃗"/>
                          <m:ctrlPr>
                            <a:rPr lang="en-US" sz="2000" i="1">
                              <a:solidFill>
                                <a:schemeClr val="tx1"/>
                              </a:solidFill>
                              <a:latin typeface="Cambria Math" panose="02040503050406030204" pitchFamily="18" charset="0"/>
                            </a:rPr>
                          </m:ctrlPr>
                        </m:accPr>
                        <m:e>
                          <m:r>
                            <a:rPr lang="en-US" sz="2000" i="1">
                              <a:solidFill>
                                <a:schemeClr val="tx1"/>
                              </a:solidFill>
                              <a:latin typeface="Cambria Math"/>
                              <a:ea typeface="Calibri"/>
                              <a:cs typeface="Times New Roman"/>
                            </a:rPr>
                            <m:t>𝑣</m:t>
                          </m:r>
                        </m:e>
                      </m:acc>
                    </m:oMath>
                  </m:oMathPara>
                </a14:m>
                <a:endParaRPr lang="en-US" sz="2000" dirty="0">
                  <a:solidFill>
                    <a:schemeClr val="tx1"/>
                  </a:solidFill>
                </a:endParaRPr>
              </a:p>
              <a:p>
                <a:pPr marL="137160" lvl="0" indent="0">
                  <a:buClr>
                    <a:prstClr val="white">
                      <a:shade val="95000"/>
                    </a:prstClr>
                  </a:buClr>
                  <a:buNone/>
                </a:pPr>
                <a14:m>
                  <m:oMathPara xmlns:m="http://schemas.openxmlformats.org/officeDocument/2006/math">
                    <m:oMathParaPr>
                      <m:jc m:val="centerGroup"/>
                    </m:oMathParaPr>
                    <m:oMath xmlns:m="http://schemas.openxmlformats.org/officeDocument/2006/math">
                      <m:d>
                        <m:dPr>
                          <m:begChr m:val="["/>
                          <m:endChr m:val="]"/>
                          <m:ctrlPr>
                            <a:rPr lang="en-US" sz="2000" i="1">
                              <a:solidFill>
                                <a:schemeClr val="tx1"/>
                              </a:solidFill>
                              <a:latin typeface="Cambria Math" panose="02040503050406030204" pitchFamily="18" charset="0"/>
                            </a:rPr>
                          </m:ctrlPr>
                        </m:dPr>
                        <m:e>
                          <m:m>
                            <m:mPr>
                              <m:mcs>
                                <m:mc>
                                  <m:mcPr>
                                    <m:count m:val="2"/>
                                    <m:mcJc m:val="center"/>
                                  </m:mcPr>
                                </m:mc>
                              </m:mcs>
                              <m:ctrlPr>
                                <a:rPr lang="en-US" sz="2000" i="1">
                                  <a:solidFill>
                                    <a:schemeClr val="tx1"/>
                                  </a:solidFill>
                                  <a:latin typeface="Cambria Math" panose="02040503050406030204" pitchFamily="18" charset="0"/>
                                </a:rPr>
                              </m:ctrlPr>
                            </m:mPr>
                            <m:mr>
                              <m:e>
                                <m:r>
                                  <m:rPr>
                                    <m:brk m:alnAt="7"/>
                                  </m:rPr>
                                  <a:rPr lang="en-US" sz="2000" i="1">
                                    <a:solidFill>
                                      <a:schemeClr val="tx1"/>
                                    </a:solidFill>
                                    <a:latin typeface="Cambria Math"/>
                                  </a:rPr>
                                  <m:t>2</m:t>
                                </m:r>
                              </m:e>
                              <m:e>
                                <m:r>
                                  <a:rPr lang="en-US" sz="2000" i="1">
                                    <a:solidFill>
                                      <a:schemeClr val="tx1"/>
                                    </a:solidFill>
                                    <a:latin typeface="Cambria Math"/>
                                  </a:rPr>
                                  <m:t>1</m:t>
                                </m:r>
                              </m:e>
                            </m:mr>
                            <m:mr>
                              <m:e>
                                <m:r>
                                  <a:rPr lang="en-US" sz="2000" i="1">
                                    <a:solidFill>
                                      <a:schemeClr val="tx1"/>
                                    </a:solidFill>
                                    <a:latin typeface="Cambria Math"/>
                                  </a:rPr>
                                  <m:t>1</m:t>
                                </m:r>
                              </m:e>
                              <m:e>
                                <m:r>
                                  <a:rPr lang="en-US" sz="2000" i="1">
                                    <a:solidFill>
                                      <a:schemeClr val="tx1"/>
                                    </a:solidFill>
                                    <a:latin typeface="Cambria Math"/>
                                  </a:rPr>
                                  <m:t>2</m:t>
                                </m:r>
                              </m:e>
                            </m:mr>
                          </m:m>
                        </m:e>
                      </m:d>
                      <m:d>
                        <m:dPr>
                          <m:begChr m:val="["/>
                          <m:endChr m:val="]"/>
                          <m:ctrlPr>
                            <a:rPr lang="en-US" sz="2000" i="1">
                              <a:solidFill>
                                <a:schemeClr val="tx1"/>
                              </a:solidFill>
                              <a:latin typeface="Cambria Math" panose="02040503050406030204" pitchFamily="18" charset="0"/>
                            </a:rPr>
                          </m:ctrlPr>
                        </m:dPr>
                        <m:e>
                          <m:m>
                            <m:mPr>
                              <m:mcs>
                                <m:mc>
                                  <m:mcPr>
                                    <m:count m:val="1"/>
                                    <m:mcJc m:val="center"/>
                                  </m:mcPr>
                                </m:mc>
                              </m:mcs>
                              <m:ctrlPr>
                                <a:rPr lang="en-US" sz="2000" i="1">
                                  <a:solidFill>
                                    <a:schemeClr val="tx1"/>
                                  </a:solidFill>
                                  <a:latin typeface="Cambria Math" panose="02040503050406030204" pitchFamily="18" charset="0"/>
                                </a:rPr>
                              </m:ctrlPr>
                            </m:mPr>
                            <m:m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1</m:t>
                                    </m:r>
                                  </m:sub>
                                </m:sSub>
                              </m:e>
                            </m:mr>
                            <m:m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2</m:t>
                                    </m:r>
                                  </m:sub>
                                </m:sSub>
                              </m:e>
                            </m:mr>
                          </m:m>
                        </m:e>
                      </m:d>
                      <m:r>
                        <a:rPr lang="en-US" sz="2000" i="1">
                          <a:solidFill>
                            <a:schemeClr val="tx1"/>
                          </a:solidFill>
                          <a:latin typeface="Cambria Math"/>
                        </a:rPr>
                        <m:t>= </m:t>
                      </m:r>
                      <m:r>
                        <m:rPr>
                          <m:sty m:val="p"/>
                        </m:rPr>
                        <a:rPr lang="el-GR" sz="2000" i="1">
                          <a:solidFill>
                            <a:schemeClr val="tx1"/>
                          </a:solidFill>
                          <a:latin typeface="Cambria Math"/>
                        </a:rPr>
                        <m:t>λ</m:t>
                      </m:r>
                      <m:d>
                        <m:dPr>
                          <m:begChr m:val="["/>
                          <m:endChr m:val="]"/>
                          <m:ctrlPr>
                            <a:rPr lang="el-GR" sz="2000" i="1">
                              <a:solidFill>
                                <a:schemeClr val="tx1"/>
                              </a:solidFill>
                              <a:latin typeface="Cambria Math" panose="02040503050406030204" pitchFamily="18" charset="0"/>
                            </a:rPr>
                          </m:ctrlPr>
                        </m:dPr>
                        <m:e>
                          <m:m>
                            <m:mPr>
                              <m:mcs>
                                <m:mc>
                                  <m:mcPr>
                                    <m:count m:val="1"/>
                                    <m:mcJc m:val="center"/>
                                  </m:mcPr>
                                </m:mc>
                              </m:mcs>
                              <m:ctrlPr>
                                <a:rPr lang="el-GR" sz="2000" i="1">
                                  <a:solidFill>
                                    <a:schemeClr val="tx1"/>
                                  </a:solidFill>
                                  <a:latin typeface="Cambria Math" panose="02040503050406030204" pitchFamily="18" charset="0"/>
                                </a:rPr>
                              </m:ctrlPr>
                            </m:mPr>
                            <m:mr>
                              <m:e>
                                <m:sSub>
                                  <m:sSubPr>
                                    <m:ctrlPr>
                                      <a:rPr lang="el-GR"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1</m:t>
                                    </m:r>
                                  </m:sub>
                                </m:sSub>
                              </m:e>
                            </m:mr>
                            <m:mr>
                              <m:e>
                                <m:sSub>
                                  <m:sSubPr>
                                    <m:ctrlPr>
                                      <a:rPr lang="el-GR"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2</m:t>
                                    </m:r>
                                  </m:sub>
                                </m:sSub>
                              </m:e>
                            </m:mr>
                          </m:m>
                        </m:e>
                      </m:d>
                    </m:oMath>
                  </m:oMathPara>
                </a14:m>
                <a:endParaRPr lang="en-US" sz="2000"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736464" y="1219200"/>
                <a:ext cx="5715000" cy="2362200"/>
              </a:xfrm>
              <a:blipFill rotWithShape="1">
                <a:blip r:embed="rId3"/>
                <a:stretch>
                  <a:fillRect/>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76F96C40-0356-46F5-90E5-FF57DE76D9A0}" type="slidenum">
              <a:rPr lang="en-US" smtClean="0"/>
              <a:t>22</a:t>
            </a:fld>
            <a:endParaRPr lang="en-US"/>
          </a:p>
        </p:txBody>
      </p:sp>
      <mc:AlternateContent xmlns:mc="http://schemas.openxmlformats.org/markup-compatibility/2006" xmlns:a14="http://schemas.microsoft.com/office/drawing/2010/main">
        <mc:Choice Requires="a14">
          <p:sp>
            <p:nvSpPr>
              <p:cNvPr id="4" name="Rectangle 3"/>
              <p:cNvSpPr/>
              <p:nvPr/>
            </p:nvSpPr>
            <p:spPr>
              <a:xfrm>
                <a:off x="1126864" y="3352800"/>
                <a:ext cx="2713179" cy="2656818"/>
              </a:xfrm>
              <a:prstGeom prst="rect">
                <a:avLst/>
              </a:prstGeom>
            </p:spPr>
            <p:txBody>
              <a:bodyPr wrap="none">
                <a:spAutoFit/>
              </a:bodyPr>
              <a:lstStyle/>
              <a:p>
                <a:pPr marL="137160">
                  <a:spcBef>
                    <a:spcPct val="20000"/>
                  </a:spcBef>
                  <a:spcAft>
                    <a:spcPts val="1200"/>
                  </a:spcAft>
                  <a:buClr>
                    <a:prstClr val="white">
                      <a:shade val="95000"/>
                    </a:prstClr>
                  </a:buClr>
                  <a:buSzPct val="65000"/>
                </a:pPr>
                <a14:m>
                  <m:oMathPara xmlns:m="http://schemas.openxmlformats.org/officeDocument/2006/math">
                    <m:oMathParaPr>
                      <m:jc m:val="centerGroup"/>
                    </m:oMathParaPr>
                    <m:oMath xmlns:m="http://schemas.openxmlformats.org/officeDocument/2006/math">
                      <m:sSub>
                        <m:sSubPr>
                          <m:ctrlPr>
                            <a:rPr lang="el-GR" sz="2000" i="1" dirty="0" smtClean="0">
                              <a:solidFill>
                                <a:schemeClr val="tx1"/>
                              </a:solidFill>
                              <a:latin typeface="Cambria Math" panose="02040503050406030204" pitchFamily="18" charset="0"/>
                            </a:rPr>
                          </m:ctrlPr>
                        </m:sSubPr>
                        <m:e>
                          <m:r>
                            <m:rPr>
                              <m:sty m:val="p"/>
                            </m:rPr>
                            <a:rPr lang="el-GR" sz="2000" i="1" dirty="0">
                              <a:solidFill>
                                <a:schemeClr val="tx1"/>
                              </a:solidFill>
                              <a:latin typeface="Cambria Math"/>
                            </a:rPr>
                            <m:t>λ</m:t>
                          </m:r>
                        </m:e>
                        <m:sub>
                          <m:r>
                            <a:rPr lang="en-US" sz="2000" i="1" dirty="0">
                              <a:solidFill>
                                <a:schemeClr val="tx1"/>
                              </a:solidFill>
                              <a:latin typeface="Cambria Math"/>
                            </a:rPr>
                            <m:t>1</m:t>
                          </m:r>
                        </m:sub>
                      </m:sSub>
                      <m:r>
                        <a:rPr lang="en-US" sz="2000" i="1" dirty="0">
                          <a:solidFill>
                            <a:schemeClr val="tx1"/>
                          </a:solidFill>
                          <a:latin typeface="Cambria Math"/>
                        </a:rPr>
                        <m:t>=3</m:t>
                      </m:r>
                    </m:oMath>
                  </m:oMathPara>
                </a14:m>
                <a:endParaRPr lang="en-US" sz="2000" i="1" dirty="0">
                  <a:solidFill>
                    <a:schemeClr val="tx1"/>
                  </a:solidFill>
                  <a:latin typeface="Cambria Math"/>
                </a:endParaRPr>
              </a:p>
              <a:p>
                <a:pPr marL="137160">
                  <a:spcBef>
                    <a:spcPct val="20000"/>
                  </a:spcBef>
                  <a:spcAft>
                    <a:spcPts val="1200"/>
                  </a:spcAft>
                  <a:buClr>
                    <a:prstClr val="white">
                      <a:shade val="95000"/>
                    </a:prstClr>
                  </a:buClr>
                  <a:buSzPct val="65000"/>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rPr>
                          </m:ctrlPr>
                        </m:dPr>
                        <m:e>
                          <m:m>
                            <m:mPr>
                              <m:mcs>
                                <m:mc>
                                  <m:mcPr>
                                    <m:count m:val="2"/>
                                    <m:mcJc m:val="center"/>
                                  </m:mcPr>
                                </m:mc>
                              </m:mcs>
                              <m:ctrlPr>
                                <a:rPr lang="en-US" sz="2000" i="1">
                                  <a:solidFill>
                                    <a:schemeClr val="tx1"/>
                                  </a:solidFill>
                                  <a:latin typeface="Cambria Math" panose="02040503050406030204" pitchFamily="18" charset="0"/>
                                </a:rPr>
                              </m:ctrlPr>
                            </m:mPr>
                            <m:mr>
                              <m:e>
                                <m:r>
                                  <m:rPr>
                                    <m:brk m:alnAt="7"/>
                                  </m:rPr>
                                  <a:rPr lang="en-US" sz="2000" i="1">
                                    <a:solidFill>
                                      <a:schemeClr val="tx1"/>
                                    </a:solidFill>
                                    <a:latin typeface="Cambria Math"/>
                                  </a:rPr>
                                  <m:t>2</m:t>
                                </m:r>
                              </m:e>
                              <m:e>
                                <m:r>
                                  <a:rPr lang="en-US" sz="2000" i="1">
                                    <a:solidFill>
                                      <a:schemeClr val="tx1"/>
                                    </a:solidFill>
                                    <a:latin typeface="Cambria Math"/>
                                  </a:rPr>
                                  <m:t>1</m:t>
                                </m:r>
                              </m:e>
                            </m:mr>
                            <m:mr>
                              <m:e>
                                <m:r>
                                  <a:rPr lang="en-US" sz="2000" i="1">
                                    <a:solidFill>
                                      <a:schemeClr val="tx1"/>
                                    </a:solidFill>
                                    <a:latin typeface="Cambria Math"/>
                                  </a:rPr>
                                  <m:t>1</m:t>
                                </m:r>
                              </m:e>
                              <m:e>
                                <m:r>
                                  <a:rPr lang="en-US" sz="2000" i="1">
                                    <a:solidFill>
                                      <a:schemeClr val="tx1"/>
                                    </a:solidFill>
                                    <a:latin typeface="Cambria Math"/>
                                  </a:rPr>
                                  <m:t>2</m:t>
                                </m:r>
                              </m:e>
                            </m:mr>
                          </m:m>
                        </m:e>
                      </m:d>
                      <m:d>
                        <m:dPr>
                          <m:begChr m:val="["/>
                          <m:endChr m:val="]"/>
                          <m:ctrlPr>
                            <a:rPr lang="en-US" sz="2000" i="1">
                              <a:solidFill>
                                <a:schemeClr val="tx1"/>
                              </a:solidFill>
                              <a:latin typeface="Cambria Math" panose="02040503050406030204" pitchFamily="18" charset="0"/>
                            </a:rPr>
                          </m:ctrlPr>
                        </m:dPr>
                        <m:e>
                          <m:m>
                            <m:mPr>
                              <m:mcs>
                                <m:mc>
                                  <m:mcPr>
                                    <m:count m:val="1"/>
                                    <m:mcJc m:val="center"/>
                                  </m:mcPr>
                                </m:mc>
                              </m:mcs>
                              <m:ctrlPr>
                                <a:rPr lang="en-US" sz="2000" i="1">
                                  <a:solidFill>
                                    <a:schemeClr val="tx1"/>
                                  </a:solidFill>
                                  <a:latin typeface="Cambria Math" panose="02040503050406030204" pitchFamily="18" charset="0"/>
                                </a:rPr>
                              </m:ctrlPr>
                            </m:mPr>
                            <m:m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1</m:t>
                                    </m:r>
                                  </m:sub>
                                </m:sSub>
                              </m:e>
                            </m:mr>
                            <m:m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2</m:t>
                                    </m:r>
                                  </m:sub>
                                </m:sSub>
                              </m:e>
                            </m:mr>
                          </m:m>
                        </m:e>
                      </m:d>
                      <m:r>
                        <a:rPr lang="en-US" sz="2000" i="1">
                          <a:solidFill>
                            <a:schemeClr val="tx1"/>
                          </a:solidFill>
                          <a:latin typeface="Cambria Math"/>
                        </a:rPr>
                        <m:t>= </m:t>
                      </m:r>
                      <m:sSub>
                        <m:sSubPr>
                          <m:ctrlPr>
                            <a:rPr lang="el-GR" sz="2000" i="1" smtClean="0">
                              <a:solidFill>
                                <a:schemeClr val="tx1"/>
                              </a:solidFill>
                              <a:latin typeface="Cambria Math" panose="02040503050406030204" pitchFamily="18" charset="0"/>
                            </a:rPr>
                          </m:ctrlPr>
                        </m:sSubPr>
                        <m:e>
                          <m:r>
                            <m:rPr>
                              <m:sty m:val="p"/>
                            </m:rPr>
                            <a:rPr lang="el-GR" sz="2000" i="1">
                              <a:solidFill>
                                <a:schemeClr val="tx1"/>
                              </a:solidFill>
                              <a:latin typeface="Cambria Math"/>
                            </a:rPr>
                            <m:t>λ</m:t>
                          </m:r>
                        </m:e>
                        <m:sub>
                          <m:r>
                            <a:rPr lang="en-US" sz="2000" i="1" smtClean="0">
                              <a:solidFill>
                                <a:schemeClr val="tx1"/>
                              </a:solidFill>
                              <a:latin typeface="Cambria Math"/>
                            </a:rPr>
                            <m:t>1</m:t>
                          </m:r>
                        </m:sub>
                      </m:sSub>
                      <m:d>
                        <m:dPr>
                          <m:begChr m:val="["/>
                          <m:endChr m:val="]"/>
                          <m:ctrlPr>
                            <a:rPr lang="el-GR" sz="2000" i="1">
                              <a:solidFill>
                                <a:schemeClr val="tx1"/>
                              </a:solidFill>
                              <a:latin typeface="Cambria Math" panose="02040503050406030204" pitchFamily="18" charset="0"/>
                            </a:rPr>
                          </m:ctrlPr>
                        </m:dPr>
                        <m:e>
                          <m:m>
                            <m:mPr>
                              <m:mcs>
                                <m:mc>
                                  <m:mcPr>
                                    <m:count m:val="1"/>
                                    <m:mcJc m:val="center"/>
                                  </m:mcPr>
                                </m:mc>
                              </m:mcs>
                              <m:ctrlPr>
                                <a:rPr lang="el-GR" sz="2000" i="1">
                                  <a:solidFill>
                                    <a:schemeClr val="tx1"/>
                                  </a:solidFill>
                                  <a:latin typeface="Cambria Math" panose="02040503050406030204" pitchFamily="18" charset="0"/>
                                </a:rPr>
                              </m:ctrlPr>
                            </m:mPr>
                            <m:mr>
                              <m:e>
                                <m:sSub>
                                  <m:sSubPr>
                                    <m:ctrlPr>
                                      <a:rPr lang="el-GR"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1</m:t>
                                    </m:r>
                                  </m:sub>
                                </m:sSub>
                              </m:e>
                            </m:mr>
                            <m:mr>
                              <m:e>
                                <m:sSub>
                                  <m:sSubPr>
                                    <m:ctrlPr>
                                      <a:rPr lang="el-GR"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2</m:t>
                                    </m:r>
                                  </m:sub>
                                </m:sSub>
                              </m:e>
                            </m:mr>
                          </m:m>
                        </m:e>
                      </m:d>
                    </m:oMath>
                  </m:oMathPara>
                </a14:m>
                <a:endParaRPr lang="en-US" sz="2000" dirty="0">
                  <a:solidFill>
                    <a:schemeClr val="tx1"/>
                  </a:solidFill>
                </a:endParaRPr>
              </a:p>
              <a:p>
                <a:pPr marL="137160">
                  <a:spcBef>
                    <a:spcPct val="20000"/>
                  </a:spcBef>
                  <a:spcAft>
                    <a:spcPts val="1200"/>
                  </a:spcAft>
                  <a:buClr>
                    <a:prstClr val="white">
                      <a:shade val="95000"/>
                    </a:prstClr>
                  </a:buClr>
                  <a:buSzPct val="65000"/>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i="1" smtClean="0">
                              <a:solidFill>
                                <a:schemeClr val="tx1"/>
                              </a:solidFill>
                              <a:latin typeface="Cambria Math"/>
                            </a:rPr>
                            <m:t>𝑥</m:t>
                          </m:r>
                        </m:e>
                        <m:sub>
                          <m:r>
                            <a:rPr lang="en-US" sz="2000" i="1" smtClean="0">
                              <a:solidFill>
                                <a:schemeClr val="tx1"/>
                              </a:solidFill>
                              <a:latin typeface="Cambria Math"/>
                            </a:rPr>
                            <m:t>1</m:t>
                          </m:r>
                        </m:sub>
                      </m:sSub>
                      <m:r>
                        <a:rPr lang="en-US" sz="2000" i="1" smtClean="0">
                          <a:solidFill>
                            <a:schemeClr val="tx1"/>
                          </a:solidFill>
                          <a:latin typeface="Cambria Math"/>
                        </a:rPr>
                        <m:t>=</m:t>
                      </m:r>
                      <m:r>
                        <m:rPr>
                          <m:nor/>
                        </m:rPr>
                        <a:rPr lang="en-US" sz="2000" dirty="0">
                          <a:solidFill>
                            <a:schemeClr val="tx1"/>
                          </a:solidFill>
                        </a:rPr>
                        <m:t>0.7071068</m:t>
                      </m:r>
                    </m:oMath>
                  </m:oMathPara>
                </a14:m>
                <a:endParaRPr lang="en-US" sz="2000" dirty="0">
                  <a:solidFill>
                    <a:schemeClr val="tx1"/>
                  </a:solidFill>
                </a:endParaRPr>
              </a:p>
              <a:p>
                <a:pPr marL="137160">
                  <a:spcBef>
                    <a:spcPct val="20000"/>
                  </a:spcBef>
                  <a:spcAft>
                    <a:spcPts val="1200"/>
                  </a:spcAft>
                  <a:buClr>
                    <a:prstClr val="white">
                      <a:shade val="95000"/>
                    </a:prstClr>
                  </a:buClr>
                  <a:buSzPct val="65000"/>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i="1" smtClean="0">
                              <a:solidFill>
                                <a:schemeClr val="tx1"/>
                              </a:solidFill>
                              <a:latin typeface="Cambria Math"/>
                            </a:rPr>
                            <m:t>𝑥</m:t>
                          </m:r>
                        </m:e>
                        <m:sub>
                          <m:r>
                            <a:rPr lang="en-US" sz="2000" i="1" smtClean="0">
                              <a:solidFill>
                                <a:schemeClr val="tx1"/>
                              </a:solidFill>
                              <a:latin typeface="Cambria Math"/>
                            </a:rPr>
                            <m:t>2</m:t>
                          </m:r>
                        </m:sub>
                      </m:sSub>
                      <m:r>
                        <a:rPr lang="en-US" sz="2000" i="1" smtClean="0">
                          <a:solidFill>
                            <a:schemeClr val="tx1"/>
                          </a:solidFill>
                          <a:latin typeface="Cambria Math"/>
                        </a:rPr>
                        <m:t>=</m:t>
                      </m:r>
                      <m:r>
                        <m:rPr>
                          <m:nor/>
                        </m:rPr>
                        <a:rPr lang="en-US" sz="2000" dirty="0">
                          <a:solidFill>
                            <a:schemeClr val="tx1"/>
                          </a:solidFill>
                        </a:rPr>
                        <m:t>0.7071068</m:t>
                      </m:r>
                    </m:oMath>
                  </m:oMathPara>
                </a14:m>
                <a:endParaRPr lang="en-US" sz="2000" dirty="0">
                  <a:solidFill>
                    <a:schemeClr val="tx1"/>
                  </a:solidFill>
                </a:endParaRPr>
              </a:p>
              <a:p>
                <a:pPr marL="137160">
                  <a:spcBef>
                    <a:spcPct val="20000"/>
                  </a:spcBef>
                  <a:buClr>
                    <a:prstClr val="white">
                      <a:shade val="95000"/>
                    </a:prstClr>
                  </a:buClr>
                  <a:buSzPct val="65000"/>
                </a:pPr>
                <a14:m>
                  <m:oMathPara xmlns:m="http://schemas.openxmlformats.org/officeDocument/2006/math">
                    <m:oMathParaPr>
                      <m:jc m:val="centerGroup"/>
                    </m:oMathParaPr>
                    <m:oMath xmlns:m="http://schemas.openxmlformats.org/officeDocument/2006/math">
                      <m:acc>
                        <m:accPr>
                          <m:chr m:val="⃗"/>
                          <m:ctrlPr>
                            <a:rPr lang="en-US" sz="2000" i="1" smtClean="0">
                              <a:solidFill>
                                <a:schemeClr val="tx1"/>
                              </a:solidFill>
                              <a:latin typeface="Cambria Math" panose="02040503050406030204" pitchFamily="18" charset="0"/>
                            </a:rPr>
                          </m:ctrlPr>
                        </m:accPr>
                        <m:e>
                          <m:r>
                            <a:rPr lang="en-US" sz="2000" i="1" smtClean="0">
                              <a:solidFill>
                                <a:schemeClr val="tx1"/>
                              </a:solidFill>
                              <a:latin typeface="Cambria Math"/>
                            </a:rPr>
                            <m:t>𝑣</m:t>
                          </m:r>
                        </m:e>
                      </m:acc>
                      <m:r>
                        <a:rPr lang="en-US" sz="2000" i="1" smtClean="0">
                          <a:solidFill>
                            <a:schemeClr val="tx1"/>
                          </a:solidFill>
                          <a:latin typeface="Cambria Math"/>
                        </a:rPr>
                        <m:t>= </m:t>
                      </m:r>
                      <m:d>
                        <m:dPr>
                          <m:begChr m:val="["/>
                          <m:endChr m:val="]"/>
                          <m:ctrlPr>
                            <a:rPr lang="en-US" sz="2000" i="1" smtClean="0">
                              <a:solidFill>
                                <a:schemeClr val="tx1"/>
                              </a:solidFill>
                              <a:latin typeface="Cambria Math" panose="02040503050406030204" pitchFamily="18" charset="0"/>
                            </a:rPr>
                          </m:ctrlPr>
                        </m:dPr>
                        <m:e>
                          <m:m>
                            <m:mPr>
                              <m:mcs>
                                <m:mc>
                                  <m:mcPr>
                                    <m:count m:val="1"/>
                                    <m:mcJc m:val="center"/>
                                  </m:mcPr>
                                </m:mc>
                              </m:mcs>
                              <m:ctrlPr>
                                <a:rPr lang="en-US" sz="2000" i="1" smtClean="0">
                                  <a:solidFill>
                                    <a:schemeClr val="tx1"/>
                                  </a:solidFill>
                                  <a:latin typeface="Cambria Math" panose="02040503050406030204" pitchFamily="18" charset="0"/>
                                </a:rPr>
                              </m:ctrlPr>
                            </m:mPr>
                            <m:mr>
                              <m:e>
                                <m:r>
                                  <m:rPr>
                                    <m:brk m:alnAt="7"/>
                                  </m:rPr>
                                  <a:rPr lang="en-US" sz="2000" i="1" smtClean="0">
                                    <a:solidFill>
                                      <a:schemeClr val="tx1"/>
                                    </a:solidFill>
                                    <a:latin typeface="Cambria Math"/>
                                  </a:rPr>
                                  <m:t>0</m:t>
                                </m:r>
                                <m:r>
                                  <a:rPr lang="en-US" sz="2000" i="1" smtClean="0">
                                    <a:solidFill>
                                      <a:schemeClr val="tx1"/>
                                    </a:solidFill>
                                    <a:latin typeface="Cambria Math"/>
                                  </a:rPr>
                                  <m:t>.7071068</m:t>
                                </m:r>
                              </m:e>
                            </m:mr>
                            <m:mr>
                              <m:e>
                                <m:r>
                                  <a:rPr lang="en-US" sz="2000" i="1" smtClean="0">
                                    <a:solidFill>
                                      <a:schemeClr val="tx1"/>
                                    </a:solidFill>
                                    <a:latin typeface="Cambria Math"/>
                                  </a:rPr>
                                  <m:t>0.7071068</m:t>
                                </m:r>
                              </m:e>
                            </m:mr>
                          </m:m>
                        </m:e>
                      </m:d>
                    </m:oMath>
                  </m:oMathPara>
                </a14:m>
                <a:endParaRPr lang="en-US" sz="2000" dirty="0">
                  <a:solidFill>
                    <a:schemeClr val="tx1"/>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1126864" y="3352800"/>
                <a:ext cx="2713179" cy="2656818"/>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5470264" y="3352800"/>
                <a:ext cx="2719142" cy="3333926"/>
              </a:xfrm>
              <a:prstGeom prst="rect">
                <a:avLst/>
              </a:prstGeom>
            </p:spPr>
            <p:txBody>
              <a:bodyPr wrap="none">
                <a:spAutoFit/>
              </a:bodyPr>
              <a:lstStyle/>
              <a:p>
                <a:pPr marL="137160">
                  <a:spcBef>
                    <a:spcPct val="20000"/>
                  </a:spcBef>
                  <a:spcAft>
                    <a:spcPts val="1200"/>
                  </a:spcAft>
                  <a:buClr>
                    <a:prstClr val="white">
                      <a:shade val="95000"/>
                    </a:prstClr>
                  </a:buClr>
                  <a:buSzPct val="65000"/>
                </a:pPr>
                <a14:m>
                  <m:oMathPara xmlns:m="http://schemas.openxmlformats.org/officeDocument/2006/math">
                    <m:oMathParaPr>
                      <m:jc m:val="centerGroup"/>
                    </m:oMathParaPr>
                    <m:oMath xmlns:m="http://schemas.openxmlformats.org/officeDocument/2006/math">
                      <m:sSub>
                        <m:sSubPr>
                          <m:ctrlPr>
                            <a:rPr lang="el-GR" sz="2000" i="1" dirty="0" smtClean="0">
                              <a:solidFill>
                                <a:schemeClr val="tx1"/>
                              </a:solidFill>
                              <a:latin typeface="Cambria Math" panose="02040503050406030204" pitchFamily="18" charset="0"/>
                            </a:rPr>
                          </m:ctrlPr>
                        </m:sSubPr>
                        <m:e>
                          <m:r>
                            <m:rPr>
                              <m:sty m:val="p"/>
                            </m:rPr>
                            <a:rPr lang="el-GR" sz="2000" i="1" dirty="0">
                              <a:solidFill>
                                <a:schemeClr val="tx1"/>
                              </a:solidFill>
                              <a:latin typeface="Cambria Math"/>
                            </a:rPr>
                            <m:t>λ</m:t>
                          </m:r>
                        </m:e>
                        <m:sub>
                          <m:r>
                            <a:rPr lang="en-US" sz="2000" i="1" dirty="0">
                              <a:solidFill>
                                <a:schemeClr val="tx1"/>
                              </a:solidFill>
                              <a:latin typeface="Cambria Math"/>
                            </a:rPr>
                            <m:t>2</m:t>
                          </m:r>
                        </m:sub>
                      </m:sSub>
                      <m:r>
                        <a:rPr lang="en-US" sz="2000" i="1" dirty="0">
                          <a:solidFill>
                            <a:schemeClr val="tx1"/>
                          </a:solidFill>
                          <a:latin typeface="Cambria Math"/>
                        </a:rPr>
                        <m:t>=1</m:t>
                      </m:r>
                    </m:oMath>
                  </m:oMathPara>
                </a14:m>
                <a:endParaRPr lang="en-US" sz="2000" i="1" dirty="0">
                  <a:solidFill>
                    <a:schemeClr val="tx1"/>
                  </a:solidFill>
                  <a:latin typeface="Cambria Math"/>
                </a:endParaRPr>
              </a:p>
              <a:p>
                <a:pPr marL="137160">
                  <a:spcBef>
                    <a:spcPct val="20000"/>
                  </a:spcBef>
                  <a:spcAft>
                    <a:spcPts val="1200"/>
                  </a:spcAft>
                  <a:buClr>
                    <a:prstClr val="white">
                      <a:shade val="95000"/>
                    </a:prstClr>
                  </a:buClr>
                  <a:buSzPct val="65000"/>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rPr>
                          </m:ctrlPr>
                        </m:dPr>
                        <m:e>
                          <m:m>
                            <m:mPr>
                              <m:mcs>
                                <m:mc>
                                  <m:mcPr>
                                    <m:count m:val="2"/>
                                    <m:mcJc m:val="center"/>
                                  </m:mcPr>
                                </m:mc>
                              </m:mcs>
                              <m:ctrlPr>
                                <a:rPr lang="en-US" sz="2000" i="1">
                                  <a:solidFill>
                                    <a:schemeClr val="tx1"/>
                                  </a:solidFill>
                                  <a:latin typeface="Cambria Math" panose="02040503050406030204" pitchFamily="18" charset="0"/>
                                </a:rPr>
                              </m:ctrlPr>
                            </m:mPr>
                            <m:mr>
                              <m:e>
                                <m:r>
                                  <m:rPr>
                                    <m:brk m:alnAt="7"/>
                                  </m:rPr>
                                  <a:rPr lang="en-US" sz="2000" i="1">
                                    <a:solidFill>
                                      <a:schemeClr val="tx1"/>
                                    </a:solidFill>
                                    <a:latin typeface="Cambria Math"/>
                                  </a:rPr>
                                  <m:t>2</m:t>
                                </m:r>
                              </m:e>
                              <m:e>
                                <m:r>
                                  <a:rPr lang="en-US" sz="2000" i="1">
                                    <a:solidFill>
                                      <a:schemeClr val="tx1"/>
                                    </a:solidFill>
                                    <a:latin typeface="Cambria Math"/>
                                  </a:rPr>
                                  <m:t>1</m:t>
                                </m:r>
                              </m:e>
                            </m:mr>
                            <m:mr>
                              <m:e>
                                <m:r>
                                  <a:rPr lang="en-US" sz="2000" i="1">
                                    <a:solidFill>
                                      <a:schemeClr val="tx1"/>
                                    </a:solidFill>
                                    <a:latin typeface="Cambria Math"/>
                                  </a:rPr>
                                  <m:t>1</m:t>
                                </m:r>
                              </m:e>
                              <m:e>
                                <m:r>
                                  <a:rPr lang="en-US" sz="2000" i="1">
                                    <a:solidFill>
                                      <a:schemeClr val="tx1"/>
                                    </a:solidFill>
                                    <a:latin typeface="Cambria Math"/>
                                  </a:rPr>
                                  <m:t>2</m:t>
                                </m:r>
                              </m:e>
                            </m:mr>
                          </m:m>
                        </m:e>
                      </m:d>
                      <m:d>
                        <m:dPr>
                          <m:begChr m:val="["/>
                          <m:endChr m:val="]"/>
                          <m:ctrlPr>
                            <a:rPr lang="en-US" sz="2000" i="1">
                              <a:solidFill>
                                <a:schemeClr val="tx1"/>
                              </a:solidFill>
                              <a:latin typeface="Cambria Math" panose="02040503050406030204" pitchFamily="18" charset="0"/>
                            </a:rPr>
                          </m:ctrlPr>
                        </m:dPr>
                        <m:e>
                          <m:m>
                            <m:mPr>
                              <m:mcs>
                                <m:mc>
                                  <m:mcPr>
                                    <m:count m:val="1"/>
                                    <m:mcJc m:val="center"/>
                                  </m:mcPr>
                                </m:mc>
                              </m:mcs>
                              <m:ctrlPr>
                                <a:rPr lang="en-US" sz="2000" i="1">
                                  <a:solidFill>
                                    <a:schemeClr val="tx1"/>
                                  </a:solidFill>
                                  <a:latin typeface="Cambria Math" panose="02040503050406030204" pitchFamily="18" charset="0"/>
                                </a:rPr>
                              </m:ctrlPr>
                            </m:mPr>
                            <m:m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1</m:t>
                                    </m:r>
                                  </m:sub>
                                </m:sSub>
                              </m:e>
                            </m:mr>
                            <m:m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2</m:t>
                                    </m:r>
                                  </m:sub>
                                </m:sSub>
                              </m:e>
                            </m:mr>
                          </m:m>
                        </m:e>
                      </m:d>
                      <m:r>
                        <a:rPr lang="en-US" sz="2000" i="1">
                          <a:solidFill>
                            <a:schemeClr val="tx1"/>
                          </a:solidFill>
                          <a:latin typeface="Cambria Math"/>
                        </a:rPr>
                        <m:t>= </m:t>
                      </m:r>
                      <m:sSub>
                        <m:sSubPr>
                          <m:ctrlPr>
                            <a:rPr lang="en-US" sz="2000" i="1" smtClean="0">
                              <a:solidFill>
                                <a:schemeClr val="tx1"/>
                              </a:solidFill>
                              <a:latin typeface="Cambria Math" panose="02040503050406030204" pitchFamily="18" charset="0"/>
                            </a:rPr>
                          </m:ctrlPr>
                        </m:sSubPr>
                        <m:e>
                          <m:r>
                            <m:rPr>
                              <m:sty m:val="p"/>
                            </m:rPr>
                            <a:rPr lang="el-GR" sz="2000" i="1">
                              <a:solidFill>
                                <a:schemeClr val="tx1"/>
                              </a:solidFill>
                              <a:latin typeface="Cambria Math"/>
                            </a:rPr>
                            <m:t>λ</m:t>
                          </m:r>
                        </m:e>
                        <m:sub>
                          <m:r>
                            <a:rPr lang="en-US" sz="2000" i="1" smtClean="0">
                              <a:solidFill>
                                <a:schemeClr val="tx1"/>
                              </a:solidFill>
                              <a:latin typeface="Cambria Math"/>
                            </a:rPr>
                            <m:t>2</m:t>
                          </m:r>
                        </m:sub>
                      </m:sSub>
                      <m:d>
                        <m:dPr>
                          <m:begChr m:val="["/>
                          <m:endChr m:val="]"/>
                          <m:ctrlPr>
                            <a:rPr lang="el-GR" sz="2000" i="1">
                              <a:solidFill>
                                <a:schemeClr val="tx1"/>
                              </a:solidFill>
                              <a:latin typeface="Cambria Math" panose="02040503050406030204" pitchFamily="18" charset="0"/>
                            </a:rPr>
                          </m:ctrlPr>
                        </m:dPr>
                        <m:e>
                          <m:m>
                            <m:mPr>
                              <m:mcs>
                                <m:mc>
                                  <m:mcPr>
                                    <m:count m:val="1"/>
                                    <m:mcJc m:val="center"/>
                                  </m:mcPr>
                                </m:mc>
                              </m:mcs>
                              <m:ctrlPr>
                                <a:rPr lang="el-GR" sz="2000" i="1">
                                  <a:solidFill>
                                    <a:schemeClr val="tx1"/>
                                  </a:solidFill>
                                  <a:latin typeface="Cambria Math" panose="02040503050406030204" pitchFamily="18" charset="0"/>
                                </a:rPr>
                              </m:ctrlPr>
                            </m:mPr>
                            <m:mr>
                              <m:e>
                                <m:sSub>
                                  <m:sSubPr>
                                    <m:ctrlPr>
                                      <a:rPr lang="el-GR"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1</m:t>
                                    </m:r>
                                  </m:sub>
                                </m:sSub>
                              </m:e>
                            </m:mr>
                            <m:mr>
                              <m:e>
                                <m:sSub>
                                  <m:sSubPr>
                                    <m:ctrlPr>
                                      <a:rPr lang="el-GR"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2</m:t>
                                    </m:r>
                                  </m:sub>
                                </m:sSub>
                              </m:e>
                            </m:mr>
                          </m:m>
                        </m:e>
                      </m:d>
                    </m:oMath>
                  </m:oMathPara>
                </a14:m>
                <a:endParaRPr lang="en-US" sz="2000" dirty="0">
                  <a:solidFill>
                    <a:schemeClr val="tx1"/>
                  </a:solidFill>
                </a:endParaRPr>
              </a:p>
              <a:p>
                <a:pPr marL="137160">
                  <a:spcBef>
                    <a:spcPct val="20000"/>
                  </a:spcBef>
                  <a:spcAft>
                    <a:spcPts val="1200"/>
                  </a:spcAft>
                  <a:buClr>
                    <a:prstClr val="white">
                      <a:shade val="95000"/>
                    </a:prstClr>
                  </a:buClr>
                  <a:buSzPct val="65000"/>
                </a:pP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1</m:t>
                          </m:r>
                        </m:sub>
                      </m:sSub>
                      <m:r>
                        <a:rPr lang="en-US" sz="2000" i="1">
                          <a:solidFill>
                            <a:schemeClr val="tx1"/>
                          </a:solidFill>
                          <a:latin typeface="Cambria Math"/>
                        </a:rPr>
                        <m:t>=</m:t>
                      </m:r>
                      <m:r>
                        <a:rPr lang="en-US" sz="2000" i="1" smtClean="0">
                          <a:solidFill>
                            <a:schemeClr val="tx1"/>
                          </a:solidFill>
                          <a:latin typeface="Cambria Math"/>
                        </a:rPr>
                        <m:t>−0.7071068</m:t>
                      </m:r>
                    </m:oMath>
                  </m:oMathPara>
                </a14:m>
                <a:endParaRPr lang="en-US" sz="2000" i="1" dirty="0">
                  <a:solidFill>
                    <a:schemeClr val="tx1"/>
                  </a:solidFill>
                  <a:latin typeface="Cambria Math"/>
                </a:endParaRPr>
              </a:p>
              <a:p>
                <a:pPr marL="137160">
                  <a:spcBef>
                    <a:spcPct val="20000"/>
                  </a:spcBef>
                  <a:spcAft>
                    <a:spcPts val="1200"/>
                  </a:spcAft>
                  <a:buClr>
                    <a:prstClr val="white">
                      <a:shade val="95000"/>
                    </a:prstClr>
                  </a:buClr>
                  <a:buSzPct val="65000"/>
                </a:pPr>
                <a14:m>
                  <m:oMathPara xmlns:m="http://schemas.openxmlformats.org/officeDocument/2006/math">
                    <m:oMathParaPr>
                      <m:jc m:val="centerGroup"/>
                    </m:oMathParaPr>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a:rPr>
                            <m:t>𝑥</m:t>
                          </m:r>
                        </m:e>
                        <m:sub>
                          <m:r>
                            <a:rPr lang="en-US" sz="2000" i="1">
                              <a:solidFill>
                                <a:schemeClr val="tx1"/>
                              </a:solidFill>
                              <a:latin typeface="Cambria Math"/>
                            </a:rPr>
                            <m:t>2</m:t>
                          </m:r>
                        </m:sub>
                      </m:sSub>
                      <m:r>
                        <a:rPr lang="en-US" sz="2000" i="1">
                          <a:solidFill>
                            <a:schemeClr val="tx1"/>
                          </a:solidFill>
                          <a:latin typeface="Cambria Math"/>
                        </a:rPr>
                        <m:t>=</m:t>
                      </m:r>
                      <m:r>
                        <m:rPr>
                          <m:nor/>
                        </m:rPr>
                        <a:rPr lang="en-US" sz="2000" dirty="0">
                          <a:solidFill>
                            <a:schemeClr val="tx1"/>
                          </a:solidFill>
                        </a:rPr>
                        <m:t>0.7071068</m:t>
                      </m:r>
                    </m:oMath>
                  </m:oMathPara>
                </a14:m>
                <a:endParaRPr lang="en-US" sz="2000" dirty="0">
                  <a:solidFill>
                    <a:schemeClr val="tx1"/>
                  </a:solidFill>
                </a:endParaRPr>
              </a:p>
              <a:p>
                <a:pPr marL="137160">
                  <a:spcBef>
                    <a:spcPct val="20000"/>
                  </a:spcBef>
                  <a:spcAft>
                    <a:spcPts val="1200"/>
                  </a:spcAft>
                  <a:buClr>
                    <a:prstClr val="white">
                      <a:shade val="95000"/>
                    </a:prstClr>
                  </a:buClr>
                  <a:buSzPct val="65000"/>
                </a:pPr>
                <a14:m>
                  <m:oMathPara xmlns:m="http://schemas.openxmlformats.org/officeDocument/2006/math">
                    <m:oMathParaPr>
                      <m:jc m:val="centerGroup"/>
                    </m:oMathParaPr>
                    <m:oMath xmlns:m="http://schemas.openxmlformats.org/officeDocument/2006/math">
                      <m:acc>
                        <m:accPr>
                          <m:chr m:val="⃗"/>
                          <m:ctrlPr>
                            <a:rPr lang="en-US" sz="2000" i="1">
                              <a:solidFill>
                                <a:schemeClr val="tx1"/>
                              </a:solidFill>
                              <a:latin typeface="Cambria Math" panose="02040503050406030204" pitchFamily="18" charset="0"/>
                            </a:rPr>
                          </m:ctrlPr>
                        </m:accPr>
                        <m:e>
                          <m:r>
                            <a:rPr lang="en-US" sz="2000" i="1">
                              <a:solidFill>
                                <a:schemeClr val="tx1"/>
                              </a:solidFill>
                              <a:latin typeface="Cambria Math"/>
                            </a:rPr>
                            <m:t>𝑣</m:t>
                          </m:r>
                        </m:e>
                      </m:acc>
                      <m:r>
                        <a:rPr lang="en-US" sz="2000" i="1">
                          <a:solidFill>
                            <a:schemeClr val="tx1"/>
                          </a:solidFill>
                          <a:latin typeface="Cambria Math"/>
                        </a:rPr>
                        <m:t>= </m:t>
                      </m:r>
                      <m:d>
                        <m:dPr>
                          <m:begChr m:val="["/>
                          <m:endChr m:val="]"/>
                          <m:ctrlPr>
                            <a:rPr lang="en-US" sz="2000" i="1">
                              <a:solidFill>
                                <a:schemeClr val="tx1"/>
                              </a:solidFill>
                              <a:latin typeface="Cambria Math" panose="02040503050406030204" pitchFamily="18" charset="0"/>
                            </a:rPr>
                          </m:ctrlPr>
                        </m:dPr>
                        <m:e>
                          <m:m>
                            <m:mPr>
                              <m:mcs>
                                <m:mc>
                                  <m:mcPr>
                                    <m:count m:val="1"/>
                                    <m:mcJc m:val="center"/>
                                  </m:mcPr>
                                </m:mc>
                              </m:mcs>
                              <m:ctrlPr>
                                <a:rPr lang="en-US" sz="2000" i="1">
                                  <a:solidFill>
                                    <a:schemeClr val="tx1"/>
                                  </a:solidFill>
                                  <a:latin typeface="Cambria Math" panose="02040503050406030204" pitchFamily="18" charset="0"/>
                                </a:rPr>
                              </m:ctrlPr>
                            </m:mPr>
                            <m:mr>
                              <m:e>
                                <m:r>
                                  <m:rPr>
                                    <m:brk m:alnAt="7"/>
                                  </m:rPr>
                                  <a:rPr lang="en-US" sz="2000" i="1" smtClean="0">
                                    <a:solidFill>
                                      <a:schemeClr val="tx1"/>
                                    </a:solidFill>
                                    <a:latin typeface="Cambria Math"/>
                                  </a:rPr>
                                  <m:t>−</m:t>
                                </m:r>
                                <m:r>
                                  <a:rPr lang="en-US" sz="2000" i="1">
                                    <a:solidFill>
                                      <a:schemeClr val="tx1"/>
                                    </a:solidFill>
                                    <a:latin typeface="Cambria Math"/>
                                  </a:rPr>
                                  <m:t>0.7071068</m:t>
                                </m:r>
                              </m:e>
                            </m:mr>
                            <m:mr>
                              <m:e>
                                <m:r>
                                  <a:rPr lang="en-US" sz="2000" i="1">
                                    <a:solidFill>
                                      <a:schemeClr val="tx1"/>
                                    </a:solidFill>
                                    <a:latin typeface="Cambria Math"/>
                                  </a:rPr>
                                  <m:t>0.7071068</m:t>
                                </m:r>
                              </m:e>
                            </m:mr>
                          </m:m>
                        </m:e>
                      </m:d>
                    </m:oMath>
                  </m:oMathPara>
                </a14:m>
                <a:endParaRPr lang="en-US" sz="2000" dirty="0">
                  <a:solidFill>
                    <a:schemeClr val="tx1"/>
                  </a:solidFill>
                </a:endParaRPr>
              </a:p>
              <a:p>
                <a:pPr marL="137160">
                  <a:lnSpc>
                    <a:spcPct val="150000"/>
                  </a:lnSpc>
                  <a:spcBef>
                    <a:spcPct val="20000"/>
                  </a:spcBef>
                  <a:spcAft>
                    <a:spcPts val="1200"/>
                  </a:spcAft>
                  <a:buClr>
                    <a:prstClr val="white">
                      <a:shade val="95000"/>
                    </a:prstClr>
                  </a:buClr>
                  <a:buSzPct val="65000"/>
                </a:pPr>
                <a:endParaRPr lang="en-US" sz="2000" dirty="0">
                  <a:solidFill>
                    <a:schemeClr val="tx1"/>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5470264" y="3352800"/>
                <a:ext cx="2719142" cy="3333926"/>
              </a:xfrm>
              <a:prstGeom prst="rect">
                <a:avLst/>
              </a:prstGeom>
              <a:blipFill rotWithShape="1">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43450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0" y="152400"/>
            <a:ext cx="8458200" cy="879438"/>
          </a:xfrm>
        </p:spPr>
        <p:txBody>
          <a:bodyPr>
            <a:normAutofit/>
          </a:bodyPr>
          <a:lstStyle/>
          <a:p>
            <a:r>
              <a:rPr lang="en-US" dirty="0">
                <a:latin typeface="Times New Roman" panose="02020603050405020304" pitchFamily="18" charset="0"/>
                <a:cs typeface="Times New Roman" panose="02020603050405020304" pitchFamily="18" charset="0"/>
              </a:rPr>
              <a:t>Eigenvalues and Eigenvectors</a:t>
            </a:r>
          </a:p>
        </p:txBody>
      </p:sp>
      <p:sp>
        <p:nvSpPr>
          <p:cNvPr id="3" name="Content Placeholder 2"/>
          <p:cNvSpPr>
            <a:spLocks noGrp="1"/>
          </p:cNvSpPr>
          <p:nvPr>
            <p:ph idx="1"/>
          </p:nvPr>
        </p:nvSpPr>
        <p:spPr>
          <a:xfrm>
            <a:off x="4876800" y="1694232"/>
            <a:ext cx="4114800" cy="4191000"/>
          </a:xfrm>
        </p:spPr>
        <p:txBody>
          <a:bodyPr>
            <a:normAutofit fontScale="92500" lnSpcReduction="20000"/>
          </a:bodyPr>
          <a:lstStyle/>
          <a:p>
            <a:pPr marL="137160" indent="0">
              <a:buNone/>
            </a:pPr>
            <a:r>
              <a:rPr lang="pt-BR" dirty="0">
                <a:latin typeface="Times New Roman" panose="02020603050405020304" pitchFamily="18" charset="0"/>
                <a:cs typeface="Times New Roman" panose="02020603050405020304" pitchFamily="18" charset="0"/>
              </a:rPr>
              <a:t>&gt; A=matrix(c(2,1,1,2),ncol=2)</a:t>
            </a:r>
          </a:p>
          <a:p>
            <a:pPr marL="137160" indent="0">
              <a:buNone/>
            </a:pPr>
            <a:r>
              <a:rPr lang="pt-BR" dirty="0">
                <a:latin typeface="Times New Roman" panose="02020603050405020304" pitchFamily="18" charset="0"/>
                <a:cs typeface="Times New Roman" panose="02020603050405020304" pitchFamily="18" charset="0"/>
              </a:rPr>
              <a:t>&gt; A</a:t>
            </a:r>
          </a:p>
          <a:p>
            <a:pPr marL="137160" indent="0">
              <a:buNone/>
            </a:pPr>
            <a:r>
              <a:rPr lang="pt-BR" dirty="0">
                <a:latin typeface="Times New Roman" panose="02020603050405020304" pitchFamily="18" charset="0"/>
                <a:cs typeface="Times New Roman" panose="02020603050405020304" pitchFamily="18" charset="0"/>
              </a:rPr>
              <a:t>     [,1] [,2]</a:t>
            </a:r>
          </a:p>
          <a:p>
            <a:pPr marL="137160" indent="0">
              <a:buNone/>
            </a:pPr>
            <a:r>
              <a:rPr lang="pt-BR" dirty="0">
                <a:latin typeface="Times New Roman" panose="02020603050405020304" pitchFamily="18" charset="0"/>
                <a:cs typeface="Times New Roman" panose="02020603050405020304" pitchFamily="18" charset="0"/>
              </a:rPr>
              <a:t>[1,]    2    1</a:t>
            </a:r>
          </a:p>
          <a:p>
            <a:pPr marL="137160" indent="0">
              <a:buNone/>
            </a:pPr>
            <a:r>
              <a:rPr lang="pt-BR" dirty="0">
                <a:latin typeface="Times New Roman" panose="02020603050405020304" pitchFamily="18" charset="0"/>
                <a:cs typeface="Times New Roman" panose="02020603050405020304" pitchFamily="18" charset="0"/>
              </a:rPr>
              <a:t>[2,]    1    2</a:t>
            </a:r>
          </a:p>
          <a:p>
            <a:pPr marL="137160" indent="0">
              <a:buNone/>
            </a:pPr>
            <a:endParaRPr lang="pt-BR" dirty="0">
              <a:latin typeface="Times New Roman" panose="02020603050405020304" pitchFamily="18" charset="0"/>
              <a:cs typeface="Times New Roman" panose="02020603050405020304" pitchFamily="18" charset="0"/>
            </a:endParaRPr>
          </a:p>
          <a:p>
            <a:pPr marL="137160" indent="0">
              <a:buNone/>
            </a:pPr>
            <a:r>
              <a:rPr lang="pt-BR" dirty="0">
                <a:latin typeface="Times New Roman" panose="02020603050405020304" pitchFamily="18" charset="0"/>
                <a:cs typeface="Times New Roman" panose="02020603050405020304" pitchFamily="18" charset="0"/>
              </a:rPr>
              <a:t>&gt; ea=eigen(A)</a:t>
            </a:r>
          </a:p>
          <a:p>
            <a:pPr marL="0" indent="0">
              <a:buNone/>
            </a:pPr>
            <a:r>
              <a:rPr lang="en-US" dirty="0">
                <a:latin typeface="Times New Roman" panose="02020603050405020304" pitchFamily="18" charset="0"/>
                <a:cs typeface="Times New Roman" panose="02020603050405020304" pitchFamily="18" charset="0"/>
              </a:rPr>
              <a:t>&gt; G=</a:t>
            </a:r>
            <a:r>
              <a:rPr lang="en-US" dirty="0" err="1">
                <a:latin typeface="Times New Roman" panose="02020603050405020304" pitchFamily="18" charset="0"/>
                <a:cs typeface="Times New Roman" panose="02020603050405020304" pitchFamily="18" charset="0"/>
              </a:rPr>
              <a:t>ea$vectors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&gt; G</a:t>
            </a:r>
          </a:p>
          <a:p>
            <a:pPr marL="0" indent="0">
              <a:buNone/>
            </a:pPr>
            <a:r>
              <a:rPr lang="en-US" dirty="0">
                <a:latin typeface="Times New Roman" panose="02020603050405020304" pitchFamily="18" charset="0"/>
                <a:cs typeface="Times New Roman" panose="02020603050405020304" pitchFamily="18" charset="0"/>
              </a:rPr>
              <a:t>          [,1]       [,2]</a:t>
            </a:r>
          </a:p>
          <a:p>
            <a:pPr marL="0" indent="0">
              <a:buNone/>
            </a:pPr>
            <a:r>
              <a:rPr lang="en-US" dirty="0">
                <a:latin typeface="Times New Roman" panose="02020603050405020304" pitchFamily="18" charset="0"/>
                <a:cs typeface="Times New Roman" panose="02020603050405020304" pitchFamily="18" charset="0"/>
              </a:rPr>
              <a:t>[1,] 0.7071068 -0.7071068</a:t>
            </a:r>
          </a:p>
          <a:p>
            <a:pPr marL="0" indent="0">
              <a:buNone/>
            </a:pPr>
            <a:r>
              <a:rPr lang="en-US" dirty="0">
                <a:latin typeface="Times New Roman" panose="02020603050405020304" pitchFamily="18" charset="0"/>
                <a:cs typeface="Times New Roman" panose="02020603050405020304" pitchFamily="18" charset="0"/>
              </a:rPr>
              <a:t>[2,] 0.7071068  0.7071068</a:t>
            </a:r>
          </a:p>
          <a:p>
            <a:pPr marL="137160" indent="0">
              <a:buNone/>
            </a:pPr>
            <a:endParaRPr lang="pt-BR"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76F96C40-0356-46F5-90E5-FF57DE76D9A0}" type="slidenum">
              <a:rPr lang="en-US" smtClean="0"/>
              <a:t>23</a:t>
            </a:fld>
            <a:endParaRPr lang="en-US"/>
          </a:p>
        </p:txBody>
      </p:sp>
      <p:sp>
        <p:nvSpPr>
          <p:cNvPr id="6" name="Content Placeholder 2"/>
          <p:cNvSpPr txBox="1">
            <a:spLocks/>
          </p:cNvSpPr>
          <p:nvPr/>
        </p:nvSpPr>
        <p:spPr>
          <a:xfrm>
            <a:off x="511228" y="1694232"/>
            <a:ext cx="4114800" cy="455416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rgbClr val="0000FF"/>
                </a:solidFill>
                <a:latin typeface="Courier New" panose="02070309020205020404" pitchFamily="49" charset="0"/>
              </a:rPr>
              <a:t>import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numpy</a:t>
            </a:r>
            <a:r>
              <a:rPr lang="en-US" dirty="0">
                <a:solidFill>
                  <a:srgbClr val="000000"/>
                </a:solidFill>
                <a:latin typeface="Courier New" panose="02070309020205020404" pitchFamily="49" charset="0"/>
              </a:rPr>
              <a:t> </a:t>
            </a:r>
            <a:r>
              <a:rPr lang="en-US" b="1" dirty="0">
                <a:solidFill>
                  <a:srgbClr val="0000FF"/>
                </a:solidFill>
                <a:latin typeface="Courier New" panose="02070309020205020404" pitchFamily="49" charset="0"/>
              </a:rPr>
              <a:t>as</a:t>
            </a:r>
            <a:r>
              <a:rPr lang="en-US" dirty="0">
                <a:solidFill>
                  <a:srgbClr val="000000"/>
                </a:solidFill>
                <a:latin typeface="Courier New" panose="02070309020205020404" pitchFamily="49" charset="0"/>
              </a:rPr>
              <a:t> np</a:t>
            </a:r>
          </a:p>
          <a:p>
            <a:pPr marL="0" indent="0">
              <a:buNone/>
            </a:pPr>
            <a:r>
              <a:rPr lang="en-US" dirty="0">
                <a:solidFill>
                  <a:srgbClr val="000000"/>
                </a:solidFill>
                <a:latin typeface="Courier New" panose="02070309020205020404" pitchFamily="49" charset="0"/>
              </a:rPr>
              <a:t>A</a:t>
            </a:r>
            <a:r>
              <a:rPr lang="en-US" b="1" dirty="0">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np</a:t>
            </a:r>
            <a:r>
              <a:rPr lang="en-US" b="1" dirty="0" err="1">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matrix</a:t>
            </a:r>
            <a:r>
              <a:rPr lang="en-US" b="1" dirty="0">
                <a:solidFill>
                  <a:srgbClr val="000080"/>
                </a:solidFill>
                <a:latin typeface="Courier New" panose="02070309020205020404" pitchFamily="49" charset="0"/>
              </a:rPr>
              <a:t>(</a:t>
            </a:r>
            <a:r>
              <a:rPr lang="en-US" dirty="0">
                <a:solidFill>
                  <a:srgbClr val="808080"/>
                </a:solidFill>
                <a:latin typeface="Courier New" panose="02070309020205020404" pitchFamily="49" charset="0"/>
              </a:rPr>
              <a:t>'2 1;1 2'</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 </a:t>
            </a:r>
          </a:p>
          <a:p>
            <a:pPr marL="0" indent="0">
              <a:buNone/>
            </a:pPr>
            <a:r>
              <a:rPr lang="en-US" dirty="0">
                <a:solidFill>
                  <a:srgbClr val="000000"/>
                </a:solidFill>
                <a:latin typeface="Courier New" panose="02070309020205020404" pitchFamily="49" charset="0"/>
              </a:rPr>
              <a:t>A</a:t>
            </a:r>
          </a:p>
          <a:p>
            <a:pPr marL="0" indent="0">
              <a:buNone/>
            </a:pPr>
            <a:endParaRPr lang="en-US" dirty="0">
              <a:solidFill>
                <a:srgbClr val="000000"/>
              </a:solidFill>
              <a:latin typeface="Courier New" panose="02070309020205020404" pitchFamily="49" charset="0"/>
            </a:endParaRPr>
          </a:p>
          <a:p>
            <a:pPr marL="0" indent="0">
              <a:buNone/>
            </a:pPr>
            <a:endParaRPr lang="en-US" dirty="0">
              <a:solidFill>
                <a:srgbClr val="000000"/>
              </a:solidFill>
              <a:latin typeface="Courier New" panose="02070309020205020404" pitchFamily="49" charset="0"/>
            </a:endParaRPr>
          </a:p>
          <a:p>
            <a:pPr marL="0" indent="0">
              <a:buNone/>
            </a:pPr>
            <a:r>
              <a:rPr lang="en-US" dirty="0" err="1">
                <a:solidFill>
                  <a:srgbClr val="000000"/>
                </a:solidFill>
                <a:latin typeface="Courier New" panose="02070309020205020404" pitchFamily="49" charset="0"/>
              </a:rPr>
              <a:t>eigen</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np</a:t>
            </a:r>
            <a:r>
              <a:rPr lang="en-US" b="1" dirty="0" err="1">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linalg</a:t>
            </a:r>
            <a:r>
              <a:rPr lang="en-US" b="1" dirty="0" err="1">
                <a:solidFill>
                  <a:srgbClr val="000080"/>
                </a:solidFill>
                <a:latin typeface="Courier New" panose="02070309020205020404" pitchFamily="49" charset="0"/>
              </a:rPr>
              <a:t>.</a:t>
            </a:r>
            <a:r>
              <a:rPr lang="en-US" dirty="0" err="1">
                <a:solidFill>
                  <a:srgbClr val="000000"/>
                </a:solidFill>
                <a:latin typeface="Courier New" panose="02070309020205020404" pitchFamily="49" charset="0"/>
              </a:rPr>
              <a:t>eig</a:t>
            </a:r>
            <a:r>
              <a:rPr lang="en-US" b="1" dirty="0">
                <a:solidFill>
                  <a:srgbClr val="000080"/>
                </a:solidFill>
                <a:latin typeface="Courier New" panose="02070309020205020404" pitchFamily="49" charset="0"/>
              </a:rPr>
              <a:t>(</a:t>
            </a:r>
            <a:r>
              <a:rPr lang="en-US" dirty="0">
                <a:solidFill>
                  <a:srgbClr val="000000"/>
                </a:solidFill>
                <a:latin typeface="Courier New" panose="02070309020205020404" pitchFamily="49" charset="0"/>
              </a:rPr>
              <a:t>A</a:t>
            </a:r>
            <a:r>
              <a:rPr lang="en-US" b="1" dirty="0">
                <a:solidFill>
                  <a:srgbClr val="000080"/>
                </a:solidFill>
                <a:latin typeface="Courier New" panose="02070309020205020404" pitchFamily="49" charset="0"/>
              </a:rPr>
              <a:t>)</a:t>
            </a:r>
          </a:p>
          <a:p>
            <a:pPr marL="0" indent="0">
              <a:buNone/>
            </a:pPr>
            <a:r>
              <a:rPr lang="en-US" dirty="0" err="1">
                <a:solidFill>
                  <a:srgbClr val="000000"/>
                </a:solidFill>
                <a:latin typeface="Courier New" panose="02070309020205020404" pitchFamily="49" charset="0"/>
              </a:rPr>
              <a:t>eigen</a:t>
            </a:r>
            <a:r>
              <a:rPr lang="en-US" dirty="0">
                <a:solidFill>
                  <a:srgbClr val="000000"/>
                </a:solidFill>
                <a:latin typeface="Courier New" panose="02070309020205020404" pitchFamily="49" charset="0"/>
              </a:rPr>
              <a:t>[0]</a:t>
            </a:r>
          </a:p>
          <a:p>
            <a:pPr marL="0" indent="0">
              <a:buNone/>
            </a:pPr>
            <a:endParaRPr lang="en-US" dirty="0">
              <a:solidFill>
                <a:srgbClr val="000000"/>
              </a:solidFill>
              <a:latin typeface="Courier New" panose="02070309020205020404" pitchFamily="49" charset="0"/>
            </a:endParaRPr>
          </a:p>
          <a:p>
            <a:pPr marL="0" indent="0">
              <a:buNone/>
            </a:pPr>
            <a:r>
              <a:rPr lang="en-US" dirty="0" err="1">
                <a:solidFill>
                  <a:srgbClr val="000000"/>
                </a:solidFill>
                <a:latin typeface="Courier New" panose="02070309020205020404" pitchFamily="49" charset="0"/>
              </a:rPr>
              <a:t>eigen</a:t>
            </a:r>
            <a:r>
              <a:rPr lang="en-US" dirty="0">
                <a:solidFill>
                  <a:srgbClr val="000000"/>
                </a:solidFill>
                <a:latin typeface="Courier New" panose="02070309020205020404" pitchFamily="49" charset="0"/>
              </a:rPr>
              <a:t>[1]</a:t>
            </a:r>
            <a:endParaRPr lang="en-US" dirty="0"/>
          </a:p>
          <a:p>
            <a:pPr marL="0" indent="0">
              <a:buNone/>
            </a:pPr>
            <a:endParaRPr lang="en-US" dirty="0"/>
          </a:p>
          <a:p>
            <a:pPr marL="137160" indent="0">
              <a:buFont typeface="Wingdings 3" charset="2"/>
              <a:buNone/>
            </a:pPr>
            <a:endParaRPr lang="pt-BR" dirty="0">
              <a:latin typeface="Times New Roman" panose="02020603050405020304" pitchFamily="18" charset="0"/>
              <a:cs typeface="Times New Roman" panose="02020603050405020304" pitchFamily="18" charset="0"/>
            </a:endParaRPr>
          </a:p>
        </p:txBody>
      </p:sp>
      <p:sp>
        <p:nvSpPr>
          <p:cNvPr id="7" name="Content Placeholder 2"/>
          <p:cNvSpPr txBox="1">
            <a:spLocks/>
          </p:cNvSpPr>
          <p:nvPr/>
        </p:nvSpPr>
        <p:spPr>
          <a:xfrm>
            <a:off x="1371600" y="1134435"/>
            <a:ext cx="1295400" cy="457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137160" indent="0">
              <a:buFont typeface="Wingdings 3" charset="2"/>
              <a:buNone/>
            </a:pPr>
            <a:r>
              <a:rPr lang="pt-BR" dirty="0">
                <a:latin typeface="Times New Roman" panose="02020603050405020304" pitchFamily="18" charset="0"/>
                <a:cs typeface="Times New Roman" panose="02020603050405020304" pitchFamily="18" charset="0"/>
              </a:rPr>
              <a:t>Python</a:t>
            </a:r>
          </a:p>
        </p:txBody>
      </p:sp>
      <p:sp>
        <p:nvSpPr>
          <p:cNvPr id="8" name="Content Placeholder 2"/>
          <p:cNvSpPr txBox="1">
            <a:spLocks/>
          </p:cNvSpPr>
          <p:nvPr/>
        </p:nvSpPr>
        <p:spPr>
          <a:xfrm>
            <a:off x="5791200" y="1237032"/>
            <a:ext cx="1295400" cy="457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137160" indent="0">
              <a:buFont typeface="Wingdings 3" charset="2"/>
              <a:buNone/>
            </a:pPr>
            <a:r>
              <a:rPr lang="pt-BR" dirty="0">
                <a:latin typeface="Times New Roman" panose="02020603050405020304" pitchFamily="18" charset="0"/>
                <a:cs typeface="Times New Roman" panose="02020603050405020304" pitchFamily="18" charset="0"/>
              </a:rPr>
              <a:t>R</a:t>
            </a:r>
          </a:p>
        </p:txBody>
      </p:sp>
      <p:pic>
        <p:nvPicPr>
          <p:cNvPr id="9" name="Picture 8"/>
          <p:cNvPicPr>
            <a:picLocks noChangeAspect="1"/>
          </p:cNvPicPr>
          <p:nvPr/>
        </p:nvPicPr>
        <p:blipFill>
          <a:blip r:embed="rId3"/>
          <a:stretch>
            <a:fillRect/>
          </a:stretch>
        </p:blipFill>
        <p:spPr>
          <a:xfrm>
            <a:off x="685800" y="2971800"/>
            <a:ext cx="1828800" cy="609600"/>
          </a:xfrm>
          <a:prstGeom prst="rect">
            <a:avLst/>
          </a:prstGeom>
        </p:spPr>
      </p:pic>
      <p:pic>
        <p:nvPicPr>
          <p:cNvPr id="10" name="Picture 9"/>
          <p:cNvPicPr>
            <a:picLocks noChangeAspect="1"/>
          </p:cNvPicPr>
          <p:nvPr/>
        </p:nvPicPr>
        <p:blipFill>
          <a:blip r:embed="rId4"/>
          <a:stretch>
            <a:fillRect/>
          </a:stretch>
        </p:blipFill>
        <p:spPr>
          <a:xfrm>
            <a:off x="692727" y="4538004"/>
            <a:ext cx="1257300" cy="304800"/>
          </a:xfrm>
          <a:prstGeom prst="rect">
            <a:avLst/>
          </a:prstGeom>
        </p:spPr>
      </p:pic>
      <p:pic>
        <p:nvPicPr>
          <p:cNvPr id="11" name="Picture 10"/>
          <p:cNvPicPr>
            <a:picLocks noChangeAspect="1"/>
          </p:cNvPicPr>
          <p:nvPr/>
        </p:nvPicPr>
        <p:blipFill>
          <a:blip r:embed="rId5"/>
          <a:stretch>
            <a:fillRect/>
          </a:stretch>
        </p:blipFill>
        <p:spPr>
          <a:xfrm>
            <a:off x="683491" y="5409528"/>
            <a:ext cx="3456583" cy="489559"/>
          </a:xfrm>
          <a:prstGeom prst="rect">
            <a:avLst/>
          </a:prstGeom>
        </p:spPr>
      </p:pic>
    </p:spTree>
    <p:extLst>
      <p:ext uri="{BB962C8B-B14F-4D97-AF65-F5344CB8AC3E}">
        <p14:creationId xmlns:p14="http://schemas.microsoft.com/office/powerpoint/2010/main" val="201802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376BFFEBE008478A0EC19FFC5CAE25" ma:contentTypeVersion="2" ma:contentTypeDescription="Create a new document." ma:contentTypeScope="" ma:versionID="222da272828c52aae3aea7aac679f7eb">
  <xsd:schema xmlns:xsd="http://www.w3.org/2001/XMLSchema" xmlns:xs="http://www.w3.org/2001/XMLSchema" xmlns:p="http://schemas.microsoft.com/office/2006/metadata/properties" xmlns:ns2="54f0c67b-9c4f-47ec-b2e9-282ef016d26c" targetNamespace="http://schemas.microsoft.com/office/2006/metadata/properties" ma:root="true" ma:fieldsID="9c3027e3c2b9147528be8a0aa63380b9" ns2:_="">
    <xsd:import namespace="54f0c67b-9c4f-47ec-b2e9-282ef016d26c"/>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f0c67b-9c4f-47ec-b2e9-282ef016d2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0EC7B09-2C3D-44D2-B17A-C62B84DDF6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f0c67b-9c4f-47ec-b2e9-282ef016d2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79D921-D9BC-4813-94B2-FC64BC0D339D}">
  <ds:schemaRefs>
    <ds:schemaRef ds:uri="http://schemas.microsoft.com/sharepoint/v3/contenttype/forms"/>
  </ds:schemaRefs>
</ds:datastoreItem>
</file>

<file path=customXml/itemProps3.xml><?xml version="1.0" encoding="utf-8"?>
<ds:datastoreItem xmlns:ds="http://schemas.openxmlformats.org/officeDocument/2006/customXml" ds:itemID="{863F5215-AB04-4269-81B9-728905DABF0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Wisp</Template>
  <TotalTime>1613</TotalTime>
  <Words>1790</Words>
  <Application>Microsoft Office PowerPoint</Application>
  <PresentationFormat>On-screen Show (4:3)</PresentationFormat>
  <Paragraphs>223</Paragraphs>
  <Slides>23</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Cambria Math</vt:lpstr>
      <vt:lpstr>Century Gothic</vt:lpstr>
      <vt:lpstr>Courier New</vt:lpstr>
      <vt:lpstr>Times New Roman</vt:lpstr>
      <vt:lpstr>Wingdings 3</vt:lpstr>
      <vt:lpstr>Wisp</vt:lpstr>
      <vt:lpstr>Machine Learning</vt:lpstr>
      <vt:lpstr>What is learning?</vt:lpstr>
      <vt:lpstr>Machine learning</vt:lpstr>
      <vt:lpstr>Different types of ML</vt:lpstr>
      <vt:lpstr>Other ML perspectives</vt:lpstr>
      <vt:lpstr>What is the supervised learning?</vt:lpstr>
      <vt:lpstr>How many targets do you see here?</vt:lpstr>
      <vt:lpstr>Unsupervised Learning</vt:lpstr>
      <vt:lpstr>Unsupervised Learning</vt:lpstr>
      <vt:lpstr>To recap…</vt:lpstr>
      <vt:lpstr>Machine Learning from  Problem Perspective</vt:lpstr>
      <vt:lpstr>Linear Algebra</vt:lpstr>
      <vt:lpstr>Vectors and Vector Spaces</vt:lpstr>
      <vt:lpstr>Vector Terminology</vt:lpstr>
      <vt:lpstr>Matrices</vt:lpstr>
      <vt:lpstr>Matrices</vt:lpstr>
      <vt:lpstr>Matrix determinant</vt:lpstr>
      <vt:lpstr>Matrix inverse</vt:lpstr>
      <vt:lpstr>Solving a set of Linear Equations</vt:lpstr>
      <vt:lpstr>Eigenvectors and Eigenvalues</vt:lpstr>
      <vt:lpstr>Eigenvectors and Eigenvalues Cont’d. 2</vt:lpstr>
      <vt:lpstr>Two Solutions</vt:lpstr>
      <vt:lpstr>Eigenvalues and Eigenvectors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I</dc:title>
  <dc:creator>Marvine</dc:creator>
  <cp:lastModifiedBy>Roozbeh Sadeghian</cp:lastModifiedBy>
  <cp:revision>146</cp:revision>
  <dcterms:created xsi:type="dcterms:W3CDTF">2016-06-23T19:27:44Z</dcterms:created>
  <dcterms:modified xsi:type="dcterms:W3CDTF">2023-08-30T12:52:45Z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0x010100FF376BFFEBE008478A0EC19FFC5CAE25</vt:lpwstr>
  </property>
</Properties>
</file>