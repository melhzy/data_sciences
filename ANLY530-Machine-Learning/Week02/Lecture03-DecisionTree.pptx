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45"/>
  </p:notesMasterIdLst>
  <p:sldIdLst>
    <p:sldId id="256" r:id="rId5"/>
    <p:sldId id="277" r:id="rId6"/>
    <p:sldId id="269" r:id="rId7"/>
    <p:sldId id="267" r:id="rId8"/>
    <p:sldId id="268" r:id="rId9"/>
    <p:sldId id="270" r:id="rId10"/>
    <p:sldId id="271" r:id="rId11"/>
    <p:sldId id="273" r:id="rId12"/>
    <p:sldId id="278" r:id="rId13"/>
    <p:sldId id="264" r:id="rId14"/>
    <p:sldId id="265" r:id="rId15"/>
    <p:sldId id="266" r:id="rId16"/>
    <p:sldId id="279" r:id="rId17"/>
    <p:sldId id="275" r:id="rId18"/>
    <p:sldId id="280" r:id="rId19"/>
    <p:sldId id="292" r:id="rId20"/>
    <p:sldId id="298" r:id="rId21"/>
    <p:sldId id="299" r:id="rId22"/>
    <p:sldId id="300" r:id="rId23"/>
    <p:sldId id="301" r:id="rId24"/>
    <p:sldId id="302" r:id="rId25"/>
    <p:sldId id="303" r:id="rId26"/>
    <p:sldId id="304" r:id="rId27"/>
    <p:sldId id="305" r:id="rId28"/>
    <p:sldId id="294" r:id="rId29"/>
    <p:sldId id="272" r:id="rId30"/>
    <p:sldId id="306" r:id="rId31"/>
    <p:sldId id="281" r:id="rId32"/>
    <p:sldId id="282" r:id="rId33"/>
    <p:sldId id="283" r:id="rId34"/>
    <p:sldId id="284" r:id="rId35"/>
    <p:sldId id="274" r:id="rId36"/>
    <p:sldId id="285" r:id="rId37"/>
    <p:sldId id="276" r:id="rId38"/>
    <p:sldId id="286" r:id="rId39"/>
    <p:sldId id="287" r:id="rId40"/>
    <p:sldId id="288" r:id="rId41"/>
    <p:sldId id="289" r:id="rId42"/>
    <p:sldId id="290" r:id="rId43"/>
    <p:sldId id="291"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4" autoAdjust="0"/>
    <p:restoredTop sz="91540" autoAdjust="0"/>
  </p:normalViewPr>
  <p:slideViewPr>
    <p:cSldViewPr>
      <p:cViewPr varScale="1">
        <p:scale>
          <a:sx n="147" d="100"/>
          <a:sy n="147" d="100"/>
        </p:scale>
        <p:origin x="2196" y="10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7" d="100"/>
          <a:sy n="77" d="100"/>
        </p:scale>
        <p:origin x="-86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3F5D42-D8C1-4DAB-B388-35B930361576}" type="datetimeFigureOut">
              <a:rPr lang="en-US" smtClean="0"/>
              <a:t>5/24/2023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2D4B71-1EF1-4D07-950D-945192FC58E8}" type="slidenum">
              <a:rPr lang="en-US" smtClean="0"/>
              <a:t>‹#›</a:t>
            </a:fld>
            <a:endParaRPr lang="en-US"/>
          </a:p>
        </p:txBody>
      </p:sp>
    </p:spTree>
    <p:extLst>
      <p:ext uri="{BB962C8B-B14F-4D97-AF65-F5344CB8AC3E}">
        <p14:creationId xmlns:p14="http://schemas.microsoft.com/office/powerpoint/2010/main" val="409333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D4B71-1EF1-4D07-950D-945192FC58E8}" type="slidenum">
              <a:rPr lang="en-US" smtClean="0"/>
              <a:t>1</a:t>
            </a:fld>
            <a:endParaRPr lang="en-US"/>
          </a:p>
        </p:txBody>
      </p:sp>
    </p:spTree>
    <p:extLst>
      <p:ext uri="{BB962C8B-B14F-4D97-AF65-F5344CB8AC3E}">
        <p14:creationId xmlns:p14="http://schemas.microsoft.com/office/powerpoint/2010/main" val="3294751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Virtually all algorithms iterate to a solution or to some predefined convergence criteria.  Otherwise why would we need to use an algorithm?  As an algorithm proceeds step-by-step, a greedy strategy is one that seeks the best solution, according to a predefined criteria, at that point in the algorithm.  That’s all it does; it seeks the current, best solution.  For example, if a greedy strategy is used to develop a rule-based classifier it might try to find the best rule at each stage and add that rule to the rule set.  However, when there is more than one rule involved the rule set that is developed this way might not be collectively the best , or best performing.  Or, when building a decision tree a decision to split early might not result in the best tree when the overall tree’s performance is considered.  The decision to split early may hinder the performance of later splits.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the advantages of a greedy strategy is that it is simpler and often faster.  But, this comes with the disadvantage that the overall algorithm may produce a solution that is only locally optimum and not globally optimum.</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9</a:t>
            </a:fld>
            <a:endParaRPr lang="en-US"/>
          </a:p>
        </p:txBody>
      </p:sp>
    </p:spTree>
    <p:extLst>
      <p:ext uri="{BB962C8B-B14F-4D97-AF65-F5344CB8AC3E}">
        <p14:creationId xmlns:p14="http://schemas.microsoft.com/office/powerpoint/2010/main" val="1935304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We’ll start with the simplest case, i.e. that of nominal attributes.  If a nominal attribute has two levels it is binary, e.g. true or false, etc. as mentioned before.  Then, the split is straight forward.  However, if a nominal attribute has multiple levels then it can be more difficult to decide how to make the split.  Sometimes the algorithm will require or just work better with 2-way splits.  So, some grouping of levels is required.  Even if it isn’t necessary to reduce from many to 2 levels it is probably not a good idea in terms of processing to keep too many levels.  A multi, 3-way split is illustrated at the top of Slide 9.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general, splitting starts from a root or parent node.  Nodes downstream are considered child nodes.  We’ll see later several ways to evaluate splits but will use a split to try to reduce the impurity of the remaining data.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10</a:t>
            </a:fld>
            <a:endParaRPr lang="en-US"/>
          </a:p>
        </p:txBody>
      </p:sp>
    </p:spTree>
    <p:extLst>
      <p:ext uri="{BB962C8B-B14F-4D97-AF65-F5344CB8AC3E}">
        <p14:creationId xmlns:p14="http://schemas.microsoft.com/office/powerpoint/2010/main" val="3721519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Splitting on ordinal attributes is very similar to splitting on nominal attributes but with the added benefit or disadvantage, depending on your perspective, of the levels of the attribute being ordered.  If you are required to group levels this can be an advantage or disadvantage.  You might not want to have one very large group of two levels if you are only left with a very few instances in a group comprised of the remaining third level of the attribute.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Slide 10 illustrates multi, 3-way splits and 2-way splits as before.  Slide 10 also poses an interesting question at the bottom.  What about creating a 2-way split, i.e. 2 groups, where one of the groups comprises small and large and the other group only has medium.  Does this make sense in any context?</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11</a:t>
            </a:fld>
            <a:endParaRPr lang="en-US"/>
          </a:p>
        </p:txBody>
      </p:sp>
    </p:spTree>
    <p:extLst>
      <p:ext uri="{BB962C8B-B14F-4D97-AF65-F5344CB8AC3E}">
        <p14:creationId xmlns:p14="http://schemas.microsoft.com/office/powerpoint/2010/main" val="3344223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Splitting on continuous attributes can be more difficult.  Because of the nature of decision trees, and if you want to use them as a basis for formulating rules, continuous attributes must be split up some way.  The exact way will depend on the discipline you are working in and the type of analysis you will perform.  One way is not always best.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Slide 11 illustrates a few ways of splitting continuous attributes.  For example, if you are doing an analysis that requires comparison of different quantiles you might be able to set those up at the beginning and during implementation have the algorithm sort the records in the training set into the appropriate bins representing the quantiles.  If you are doing other types of analysis, e.g. considering the impact of something on aging, you might want to have a number of bins established by age groups as determined by other medical data, or you might want a binary situation where you are looking at people over or under 65 years of age.  Setting up appropriate splits on continuous data requires some intelligent consideration.</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12</a:t>
            </a:fld>
            <a:endParaRPr lang="en-US"/>
          </a:p>
        </p:txBody>
      </p:sp>
    </p:spTree>
    <p:extLst>
      <p:ext uri="{BB962C8B-B14F-4D97-AF65-F5344CB8AC3E}">
        <p14:creationId xmlns:p14="http://schemas.microsoft.com/office/powerpoint/2010/main" val="1972873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illustrates the splitting of the attribute taxable income in two ways:</a:t>
            </a:r>
          </a:p>
          <a:p>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kern="1200" dirty="0">
                <a:solidFill>
                  <a:schemeClr val="tx1"/>
                </a:solidFill>
                <a:effectLst/>
                <a:latin typeface="+mn-lt"/>
                <a:ea typeface="+mn-ea"/>
                <a:cs typeface="+mn-cs"/>
              </a:rPr>
              <a:t>As a binary split with taxable income greater or less than 80k.</a:t>
            </a:r>
          </a:p>
          <a:p>
            <a:pPr marL="228600" lvl="0" indent="-228600">
              <a:buFont typeface="+mj-lt"/>
              <a:buAutoNum type="arabicPeriod"/>
            </a:pPr>
            <a:r>
              <a:rPr lang="en-US" sz="1200" kern="1200" dirty="0">
                <a:solidFill>
                  <a:schemeClr val="tx1"/>
                </a:solidFill>
                <a:effectLst/>
                <a:latin typeface="+mn-lt"/>
                <a:ea typeface="+mn-ea"/>
                <a:cs typeface="+mn-cs"/>
              </a:rPr>
              <a:t>Or, with bins that include predefined ranges of taxable income.  This is the first multi-way split we’ve seen in this presentation that was greater than a 3-way split.</a:t>
            </a:r>
          </a:p>
          <a:p>
            <a:pPr marL="228600" indent="-228600">
              <a:buFont typeface="+mj-lt"/>
              <a:buAutoNum type="arabicPeriod"/>
            </a:pPr>
            <a:endParaRPr lang="en-US" dirty="0"/>
          </a:p>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13</a:t>
            </a:fld>
            <a:endParaRPr lang="en-US"/>
          </a:p>
        </p:txBody>
      </p:sp>
    </p:spTree>
    <p:extLst>
      <p:ext uri="{BB962C8B-B14F-4D97-AF65-F5344CB8AC3E}">
        <p14:creationId xmlns:p14="http://schemas.microsoft.com/office/powerpoint/2010/main" val="189973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How do we determine what the best split is?  At the end of the day we’ll see that this depends largely on the class distribution before and after splitting.  For example, when we think about the class distribution think about the binary case and its 2 extremes, i.e. in the binary case as shown in Figure 4.13 on page 159 in the textbook, the extremes are the class is uniformly distributed or the records all belong to the same class 0 or 1.  When the records all belong to 1 class there is no “impurity”.  When the records are evenly distributed the impurity is maximized.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Measures of impurity include: entropy; Gini; and, classification error.  Determining what the best split is will be based on determining the degree of impurity of the parent node (before splitting) versus the degree of impurity of the child node (after splitting) and minimizing the “weighted average impurity measures of the child nodes”.  That is, the gain, as discussed in the textbook on page 160, is the difference between the impurity of the parent node and the weighted average impurity measures of the child nodes.  Note that when entropy is used as the measure of impurity as shown in equation 4.6 this is called information gain.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15</a:t>
            </a:fld>
            <a:endParaRPr lang="en-US"/>
          </a:p>
        </p:txBody>
      </p:sp>
    </p:spTree>
    <p:extLst>
      <p:ext uri="{BB962C8B-B14F-4D97-AF65-F5344CB8AC3E}">
        <p14:creationId xmlns:p14="http://schemas.microsoft.com/office/powerpoint/2010/main" val="2236596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Slide 28 shows the differences that result between using the splitting criteria we’ve discussed: entropy versus the Gini Index versus classification error.  As you can see, the maximum occurs when there is the greatest entropy or the most heterogeneity.  The minimum occurs when there is the least entropy or the most homogeneity.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16</a:t>
            </a:fld>
            <a:endParaRPr lang="en-US"/>
          </a:p>
        </p:txBody>
      </p:sp>
    </p:spTree>
    <p:extLst>
      <p:ext uri="{BB962C8B-B14F-4D97-AF65-F5344CB8AC3E}">
        <p14:creationId xmlns:p14="http://schemas.microsoft.com/office/powerpoint/2010/main" val="1039598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304800"/>
            <a:ext cx="4572000" cy="3429000"/>
          </a:xfrm>
        </p:spPr>
      </p:sp>
      <p:sp>
        <p:nvSpPr>
          <p:cNvPr id="3" name="Notes Placeholder 2"/>
          <p:cNvSpPr>
            <a:spLocks noGrp="1"/>
          </p:cNvSpPr>
          <p:nvPr>
            <p:ph type="body" idx="1"/>
          </p:nvPr>
        </p:nvSpPr>
        <p:spPr>
          <a:xfrm>
            <a:off x="685800" y="3962400"/>
            <a:ext cx="5486400" cy="4572000"/>
          </a:xfrm>
        </p:spPr>
        <p:txBody>
          <a:bodyPr/>
          <a:lstStyle/>
          <a:p>
            <a:r>
              <a:rPr lang="en-US" dirty="0"/>
              <a:t>Strictly speaking data and attribute types are not the same thing and there is an enormous amount of gray area.  An attribute has been defined by Witten et al in their book “Data Mining: Practical Machine Learning Tools and Techniques” as </a:t>
            </a:r>
          </a:p>
          <a:p>
            <a:r>
              <a:rPr lang="en-US" dirty="0"/>
              <a:t>Each instance that provides input to machine learning is characterized by its values on a fixed, predefined set of features or attributes.  The instances are the rows of tables that we… (have compiled as datasets) and the attributes are the columns.  </a:t>
            </a:r>
          </a:p>
          <a:p>
            <a:endParaRPr lang="en-US" dirty="0"/>
          </a:p>
          <a:p>
            <a:r>
              <a:rPr lang="en-US" dirty="0"/>
              <a:t>But, Witten et al are only considering one part of machine learning that deals with datasets that are in the format of spreadsheets.  We know that there are many other types of data and it is important to include all types when we draw conclusions about attributes in the context of data types.  </a:t>
            </a:r>
          </a:p>
          <a:p>
            <a:endParaRPr lang="en-US" dirty="0"/>
          </a:p>
          <a:p>
            <a:r>
              <a:rPr lang="en-US" dirty="0"/>
              <a:t>If we come at this from a different direction, the perspective of different data types in R, we find we have:</a:t>
            </a:r>
          </a:p>
          <a:p>
            <a:endParaRPr lang="en-US" dirty="0"/>
          </a:p>
          <a:p>
            <a:pPr marL="171450" lvl="0" indent="-171450">
              <a:buFont typeface="Arial" panose="020B0604020202020204" pitchFamily="34" charset="0"/>
              <a:buChar char="•"/>
            </a:pPr>
            <a:r>
              <a:rPr lang="en-US" dirty="0"/>
              <a:t>R assignment operators</a:t>
            </a:r>
          </a:p>
          <a:p>
            <a:pPr marL="171450" lvl="0" indent="-171450">
              <a:buFont typeface="Arial" panose="020B0604020202020204" pitchFamily="34" charset="0"/>
              <a:buChar char="•"/>
            </a:pPr>
            <a:r>
              <a:rPr lang="en-US" dirty="0"/>
              <a:t>Numeric data</a:t>
            </a:r>
          </a:p>
          <a:p>
            <a:pPr marL="171450" lvl="0" indent="-171450">
              <a:buFont typeface="Arial" panose="020B0604020202020204" pitchFamily="34" charset="0"/>
              <a:buChar char="•"/>
            </a:pPr>
            <a:r>
              <a:rPr lang="en-US" dirty="0"/>
              <a:t>Integers</a:t>
            </a:r>
          </a:p>
          <a:p>
            <a:pPr marL="171450" lvl="0" indent="-171450">
              <a:buFont typeface="Arial" panose="020B0604020202020204" pitchFamily="34" charset="0"/>
              <a:buChar char="•"/>
            </a:pPr>
            <a:r>
              <a:rPr lang="en-US" dirty="0"/>
              <a:t>Complex numbers</a:t>
            </a:r>
          </a:p>
          <a:p>
            <a:pPr marL="171450" lvl="0" indent="-171450">
              <a:buFont typeface="Arial" panose="020B0604020202020204" pitchFamily="34" charset="0"/>
              <a:buChar char="•"/>
            </a:pPr>
            <a:r>
              <a:rPr lang="en-US" dirty="0" err="1"/>
              <a:t>Logicals</a:t>
            </a:r>
            <a:endParaRPr lang="en-US" dirty="0"/>
          </a:p>
          <a:p>
            <a:pPr marL="171450" lvl="0" indent="-171450">
              <a:buFont typeface="Arial" panose="020B0604020202020204" pitchFamily="34" charset="0"/>
              <a:buChar char="•"/>
            </a:pPr>
            <a:r>
              <a:rPr lang="en-US" dirty="0"/>
              <a:t>Characters and Lists</a:t>
            </a:r>
          </a:p>
          <a:p>
            <a:pPr marL="171450" lvl="0" indent="-171450">
              <a:buFont typeface="Arial" panose="020B0604020202020204" pitchFamily="34" charset="0"/>
              <a:buChar char="•"/>
            </a:pPr>
            <a:r>
              <a:rPr lang="en-US" dirty="0"/>
              <a:t>Factors</a:t>
            </a:r>
          </a:p>
          <a:p>
            <a:pPr marL="171450" lvl="0" indent="-171450">
              <a:buFont typeface="Arial" panose="020B0604020202020204" pitchFamily="34" charset="0"/>
              <a:buChar char="•"/>
            </a:pPr>
            <a:r>
              <a:rPr lang="en-US" dirty="0"/>
              <a:t>Vectors</a:t>
            </a:r>
          </a:p>
          <a:p>
            <a:pPr marL="171450" lvl="0" indent="-171450">
              <a:buFont typeface="Arial" panose="020B0604020202020204" pitchFamily="34" charset="0"/>
              <a:buChar char="•"/>
            </a:pPr>
            <a:r>
              <a:rPr lang="en-US" dirty="0"/>
              <a:t>Data frames</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17</a:t>
            </a:fld>
            <a:endParaRPr lang="en-US"/>
          </a:p>
        </p:txBody>
      </p:sp>
    </p:spTree>
    <p:extLst>
      <p:ext uri="{BB962C8B-B14F-4D97-AF65-F5344CB8AC3E}">
        <p14:creationId xmlns:p14="http://schemas.microsoft.com/office/powerpoint/2010/main" val="2283291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mentioned briefly before, there are a number of criteria for stopping tree induction including; stopping an expanding node when all records belong to the same class, stopping an expanding node when all records have “similar” attribute values, or executing an early termination.</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18</a:t>
            </a:fld>
            <a:endParaRPr lang="en-US"/>
          </a:p>
        </p:txBody>
      </p:sp>
    </p:spTree>
    <p:extLst>
      <p:ext uri="{BB962C8B-B14F-4D97-AF65-F5344CB8AC3E}">
        <p14:creationId xmlns:p14="http://schemas.microsoft.com/office/powerpoint/2010/main" val="3834229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could spend an entire lecture on overfitting.  I don’t want to do that.  But, I don’t want to give you an impression that this isn’t an important topic by just skipping it altogether.  Overfitting is one of the most common challenges with decision tree induction.  There are many reason overfitting can occur including noise and an insufficient number of instances resulting in insufficient training.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Overfitting will result in decision trees that are more complex than necessary.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training error measured no longer provides a good estimate of how well the tree will perform.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overfitting is present a new way for estimating errors will be needed.</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19</a:t>
            </a:fld>
            <a:endParaRPr lang="en-US"/>
          </a:p>
        </p:txBody>
      </p:sp>
    </p:spTree>
    <p:extLst>
      <p:ext uri="{BB962C8B-B14F-4D97-AF65-F5344CB8AC3E}">
        <p14:creationId xmlns:p14="http://schemas.microsoft.com/office/powerpoint/2010/main" val="2835616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look at algorithms for decision tree induction in R.  First, let’s look at the </a:t>
            </a:r>
            <a:r>
              <a:rPr lang="en-US" sz="1200" kern="1200" dirty="0" err="1">
                <a:solidFill>
                  <a:schemeClr val="tx1"/>
                </a:solidFill>
                <a:effectLst/>
                <a:latin typeface="+mn-lt"/>
                <a:ea typeface="+mn-ea"/>
                <a:cs typeface="+mn-cs"/>
              </a:rPr>
              <a:t>rpart</a:t>
            </a:r>
            <a:r>
              <a:rPr lang="en-US" sz="1200" kern="1200" dirty="0">
                <a:solidFill>
                  <a:schemeClr val="tx1"/>
                </a:solidFill>
                <a:effectLst/>
                <a:latin typeface="+mn-lt"/>
                <a:ea typeface="+mn-ea"/>
                <a:cs typeface="+mn-cs"/>
              </a:rPr>
              <a:t> package.  It is one of the most popular so well used and documented.  Again, let’s use the Titanic dataset.  The commands are</a:t>
            </a:r>
            <a:r>
              <a:rPr lang="en-US" sz="1200" kern="1200" baseline="0" dirty="0">
                <a:solidFill>
                  <a:schemeClr val="tx1"/>
                </a:solidFill>
                <a:effectLst/>
                <a:latin typeface="+mn-lt"/>
                <a:ea typeface="+mn-ea"/>
                <a:cs typeface="+mn-cs"/>
              </a:rPr>
              <a:t> shown here on Slide 39.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25</a:t>
            </a:fld>
            <a:endParaRPr lang="en-US"/>
          </a:p>
        </p:txBody>
      </p:sp>
    </p:spTree>
    <p:extLst>
      <p:ext uri="{BB962C8B-B14F-4D97-AF65-F5344CB8AC3E}">
        <p14:creationId xmlns:p14="http://schemas.microsoft.com/office/powerpoint/2010/main" val="2551353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Slide 14 illustrates the 2 extremes of node impurity, the evenly distributed case and the case where all (or in the case nearly all) records belong to the same class.  For the non-homogeneous case, Class 0 has 5 records and Class 1 has 5 records, i.e. the records are evenly distributed among the classes.  For the homogeneous case, Class 0 has 9 out of 10 records.  Class 1 only has 1 record.  So, in this case nearly all records belong to the same class.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28</a:t>
            </a:fld>
            <a:endParaRPr lang="en-US"/>
          </a:p>
        </p:txBody>
      </p:sp>
    </p:spTree>
    <p:extLst>
      <p:ext uri="{BB962C8B-B14F-4D97-AF65-F5344CB8AC3E}">
        <p14:creationId xmlns:p14="http://schemas.microsoft.com/office/powerpoint/2010/main" val="3793065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consider the Gini Index first.  The Gini Index as originally developed by the Italian statistician </a:t>
            </a:r>
            <a:r>
              <a:rPr lang="en-US" sz="1200" kern="1200" dirty="0" err="1">
                <a:solidFill>
                  <a:schemeClr val="tx1"/>
                </a:solidFill>
                <a:effectLst/>
                <a:latin typeface="+mn-lt"/>
                <a:ea typeface="+mn-ea"/>
                <a:cs typeface="+mn-cs"/>
              </a:rPr>
              <a:t>Corrado</a:t>
            </a:r>
            <a:r>
              <a:rPr lang="en-US" sz="1200" kern="1200" dirty="0">
                <a:solidFill>
                  <a:schemeClr val="tx1"/>
                </a:solidFill>
                <a:effectLst/>
                <a:latin typeface="+mn-lt"/>
                <a:ea typeface="+mn-ea"/>
                <a:cs typeface="+mn-cs"/>
              </a:rPr>
              <a:t> Gini in 1912 was used to rate countries by income distribution.  A maximum Gini Index equal to 1 would mean that all the income belonged to one country.  A minimum Gini Index equal to 0 would mean that income was evenly distributed among all countries.  In essence, this Index measures the degree of unevenness in the spread of values over the range of a variable.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Slide 15 shows the equation for calculating the Gini Index.  Note that the matrices at the bottom of the slide illustrate the effect of the degree of unevenness in the calculated Gini Index where the minimum occurs when all records are in one class C2 and the maximum occurs when records are evenly spread between classes C1 and C2.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29</a:t>
            </a:fld>
            <a:endParaRPr lang="en-US"/>
          </a:p>
        </p:txBody>
      </p:sp>
    </p:spTree>
    <p:extLst>
      <p:ext uri="{BB962C8B-B14F-4D97-AF65-F5344CB8AC3E}">
        <p14:creationId xmlns:p14="http://schemas.microsoft.com/office/powerpoint/2010/main" val="2721203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16 shows the step-by-step calculations for the Gini Index.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30</a:t>
            </a:fld>
            <a:endParaRPr lang="en-US"/>
          </a:p>
        </p:txBody>
      </p:sp>
    </p:spTree>
    <p:extLst>
      <p:ext uri="{BB962C8B-B14F-4D97-AF65-F5344CB8AC3E}">
        <p14:creationId xmlns:p14="http://schemas.microsoft.com/office/powerpoint/2010/main" val="3405185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Gini Index is used to determine splitting in CART, SLIQ and SPRINT.  Slide 17 gives the equation for calculating the “quality of split” based on the Gini Index.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31</a:t>
            </a:fld>
            <a:endParaRPr lang="en-US"/>
          </a:p>
        </p:txBody>
      </p:sp>
    </p:spTree>
    <p:extLst>
      <p:ext uri="{BB962C8B-B14F-4D97-AF65-F5344CB8AC3E}">
        <p14:creationId xmlns:p14="http://schemas.microsoft.com/office/powerpoint/2010/main" val="1074956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Gini Index can be used to evaluate splitting categorical attributes too.  In this case, a count is made of each distinct value and then the Gini Index is calculated.  Again, the Gini Index with the smallest value is preferred.  However, even though the multiway split shown on Slide 19 results in the smallest Gini Index remember that some induction algorithms only allow a binary split and so the multiway split shown would not be allowed.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32</a:t>
            </a:fld>
            <a:endParaRPr lang="en-US"/>
          </a:p>
        </p:txBody>
      </p:sp>
    </p:spTree>
    <p:extLst>
      <p:ext uri="{BB962C8B-B14F-4D97-AF65-F5344CB8AC3E}">
        <p14:creationId xmlns:p14="http://schemas.microsoft.com/office/powerpoint/2010/main" val="711249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Gini Index can also be used to evaluate splitting for continuous attributes.  There are a number of ways to proceed, e.g. by brute force consideration of value of an attribute as a candidate split position.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33</a:t>
            </a:fld>
            <a:endParaRPr lang="en-US"/>
          </a:p>
        </p:txBody>
      </p:sp>
    </p:spTree>
    <p:extLst>
      <p:ext uri="{BB962C8B-B14F-4D97-AF65-F5344CB8AC3E}">
        <p14:creationId xmlns:p14="http://schemas.microsoft.com/office/powerpoint/2010/main" val="3738937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However, it is more efficient to first sort a continuous attribute on its values, scan these values for candidate split positions, and then find the position that yields the least Gini Index.  Even more efficient is to sort the continuous attribute and then use adjacent records with different class labels as candidate split positions.  At these locations, adjacent records with different class labels, compute the Gini Index and select the location with the least value of the Index.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34</a:t>
            </a:fld>
            <a:endParaRPr lang="en-US"/>
          </a:p>
        </p:txBody>
      </p:sp>
    </p:spTree>
    <p:extLst>
      <p:ext uri="{BB962C8B-B14F-4D97-AF65-F5344CB8AC3E}">
        <p14:creationId xmlns:p14="http://schemas.microsoft.com/office/powerpoint/2010/main" val="16965400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consider the use of entropy as a splitting criterion.  This use of entropy is based on pioneering work by Claude Shannon on information theory.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of the most common method to evaluate candidate splitting positions is the use of entropy; however, in the form of information gain.  For now, we’ll leave the discussion in the form of entropy.  Slide 22 shows the equation to calculate entropy at a given node.  P is the non-zero probability for the “j” number of records of a class divided by the “t” total number of records and log base 2 is used because information is/was encoded in bits.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same as the Gini Index, entropy is a measure of the homogeneity of a node, or the values of an attribute.  Entropy reaches a maximum when all records are equally distributed and a minimum when all records belong to one class.    More information is in your ISL textbook on page 312.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35</a:t>
            </a:fld>
            <a:endParaRPr lang="en-US"/>
          </a:p>
        </p:txBody>
      </p:sp>
    </p:spTree>
    <p:extLst>
      <p:ext uri="{BB962C8B-B14F-4D97-AF65-F5344CB8AC3E}">
        <p14:creationId xmlns:p14="http://schemas.microsoft.com/office/powerpoint/2010/main" val="2646359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23 steps through 3 examples for calculating entropy.  As we have said many times now, the preferred split is when all records are of one class, i.e. the first example with entropy equal to 1.  When the distribution of records among classes is more even, as in example 3, the entropy approaches a maximum value.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Impurity measures such as the Gini Index and entropy favor attributes that have a large number of distinct values.  However, this is not the entire argument.  For example, a database with a customer id number will provide the largest number of distinct values for an attribute since each customer has a unique id number.  This example illustrates that even though an attribute may have a very large number of distinct values it may not be a predictive attribute, e.g. customer ID number has no ability to predict car type, or as another example student id number has no value to predict a student’s major in school.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36</a:t>
            </a:fld>
            <a:endParaRPr lang="en-US"/>
          </a:p>
        </p:txBody>
      </p:sp>
    </p:spTree>
    <p:extLst>
      <p:ext uri="{BB962C8B-B14F-4D97-AF65-F5344CB8AC3E}">
        <p14:creationId xmlns:p14="http://schemas.microsoft.com/office/powerpoint/2010/main" val="9350702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2 strategies for overcoming this challenge.  First, you could restrict test conditions to binary splits only.  CART is a decision tree algorithm that implements this strategy.  But, we’ve already discussed some of the issues when we make this restriction.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other strategy is to modify the splitting criterion to take into account the number of outcomes produced by the attribute test condition.  From entropy we can derive the concept of Information Gain.  Note that in this equation for Gain, P refers to the parent node rather than the probability as was the case in the equation for entropy itself.  C4.5 is a decision tree algorithm that implements this criterion known as gain ratio.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37</a:t>
            </a:fld>
            <a:endParaRPr lang="en-US"/>
          </a:p>
        </p:txBody>
      </p:sp>
    </p:spTree>
    <p:extLst>
      <p:ext uri="{BB962C8B-B14F-4D97-AF65-F5344CB8AC3E}">
        <p14:creationId xmlns:p14="http://schemas.microsoft.com/office/powerpoint/2010/main" val="3497521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Gain ratio is given on Slide 25 and in the ISL textbook on page 311.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if we partition, or split, the tuples or records in the data set on some attribute have distinct values then these partitions correspond to the branches grown from the parent or root node N.  Ideally we want these partitions to produce an exact classification of these tuples, i.e. we want each partition to be pure.  But, in reality some impurities exist.  How much more information we need to arrive at an exact classification, or to remove any remaining impurities can be measured.  Information gain is derived to take into consideration information gain relative to the total intrinsic information and reduce the bias towards attributes with extremely large numbers of distinct values.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38</a:t>
            </a:fld>
            <a:endParaRPr lang="en-US"/>
          </a:p>
        </p:txBody>
      </p:sp>
    </p:spTree>
    <p:extLst>
      <p:ext uri="{BB962C8B-B14F-4D97-AF65-F5344CB8AC3E}">
        <p14:creationId xmlns:p14="http://schemas.microsoft.com/office/powerpoint/2010/main" val="774979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additional criteria for splitting to consider, e.g. classification error.  Classification error is typically associated with training or as a training error, which is typically associated with Model Overfitting.  There is a trade-off between developing a model with a very low training error and one with a low generalization error.  That is, when the model developed fits the training data too well it might be subject to “overfitting” and less able to make accurate predictions than one with a higher training error.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39</a:t>
            </a:fld>
            <a:endParaRPr lang="en-US"/>
          </a:p>
        </p:txBody>
      </p:sp>
    </p:spTree>
    <p:extLst>
      <p:ext uri="{BB962C8B-B14F-4D97-AF65-F5344CB8AC3E}">
        <p14:creationId xmlns:p14="http://schemas.microsoft.com/office/powerpoint/2010/main" val="3649366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27 walks step-by-step through the process of calculating the value for classification error. </a:t>
            </a:r>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40</a:t>
            </a:fld>
            <a:endParaRPr lang="en-US"/>
          </a:p>
        </p:txBody>
      </p:sp>
    </p:spTree>
    <p:extLst>
      <p:ext uri="{BB962C8B-B14F-4D97-AF65-F5344CB8AC3E}">
        <p14:creationId xmlns:p14="http://schemas.microsoft.com/office/powerpoint/2010/main" val="586929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468D8C-230C-4ADB-869E-5F6C567AE9F7}"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890432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6F7517-5A87-48DA-A662-64C62472D353}"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527301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13AFD14-F8F8-4AF1-8422-1361E4F6BA65}"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689298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9C6585-86AE-40D5-99B3-77ABD19708C2}"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774398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CF5548-BF99-404A-A52F-1FFBA035611C}" type="datetime1">
              <a:rPr lang="en-US" smtClean="0"/>
              <a:t>5/24/2023</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121078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EBE7D6-1A98-4212-868F-0483BFD0610D}" type="datetime1">
              <a:rPr lang="en-US" smtClean="0"/>
              <a:t>5/24/2023</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929016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50ABB-3165-4883-9B0A-49DEA0277609}" type="datetime1">
              <a:rPr lang="en-US" smtClean="0"/>
              <a:t>5/24/2023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54423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1E9F9E6-2C8A-461A-B1C3-8F299D80D46F}"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09527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14385D-A895-4556-9931-7692EC546D3E}"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546098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520E7E-C27C-44D5-B802-1E9FE8E77121}"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3991984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520E7E-C27C-44D5-B802-1E9FE8E77121}"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5339696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0A520E7E-C27C-44D5-B802-1E9FE8E77121}"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429108493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0A520E7E-C27C-44D5-B802-1E9FE8E77121}"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9677730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0A520E7E-C27C-44D5-B802-1E9FE8E77121}"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46160953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7E02CC-9E8D-4056-BF59-3304EF7BC506}"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719700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97506-0AF7-4011-ABC0-01ED5E7A3923}"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894575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0A520E7E-C27C-44D5-B802-1E9FE8E77121}" type="datetime1">
              <a:rPr lang="en-US" smtClean="0"/>
              <a:t>5/24/2023</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76F96C40-0356-46F5-90E5-FF57DE76D9A0}" type="slidenum">
              <a:rPr lang="en-US" smtClean="0"/>
              <a:t>‹#›</a:t>
            </a:fld>
            <a:endParaRPr lang="en-US"/>
          </a:p>
        </p:txBody>
      </p:sp>
    </p:spTree>
    <p:extLst>
      <p:ext uri="{BB962C8B-B14F-4D97-AF65-F5344CB8AC3E}">
        <p14:creationId xmlns:p14="http://schemas.microsoft.com/office/powerpoint/2010/main" val="13595862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oleObject" Target="../embeddings/oleObject4.bin"/><Relationship Id="rId4" Type="http://schemas.openxmlformats.org/officeDocument/2006/relationships/image" Target="../media/image13.emf"/></Relationships>
</file>

<file path=ppt/slides/_rels/slide29.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image" Target="../media/image11.png"/><Relationship Id="rId7" Type="http://schemas.openxmlformats.org/officeDocument/2006/relationships/oleObject" Target="../embeddings/oleObject6.bin"/><Relationship Id="rId12" Type="http://schemas.openxmlformats.org/officeDocument/2006/relationships/image" Target="../media/image18.w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5.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17.wmf"/><Relationship Id="rId4" Type="http://schemas.openxmlformats.org/officeDocument/2006/relationships/image" Target="../media/image100.png"/><Relationship Id="rId9"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8" Type="http://schemas.openxmlformats.org/officeDocument/2006/relationships/image" Target="../media/image20.wmf"/><Relationship Id="rId7" Type="http://schemas.openxmlformats.org/officeDocument/2006/relationships/oleObject" Target="../embeddings/oleObject10.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9.bin"/><Relationship Id="rId10" Type="http://schemas.openxmlformats.org/officeDocument/2006/relationships/image" Target="../media/image21.wmf"/><Relationship Id="rId4" Type="http://schemas.openxmlformats.org/officeDocument/2006/relationships/image" Target="../media/image16.png"/><Relationship Id="rId9" Type="http://schemas.openxmlformats.org/officeDocument/2006/relationships/oleObject" Target="../embeddings/oleObject11.bin"/></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23.wmf"/><Relationship Id="rId5" Type="http://schemas.openxmlformats.org/officeDocument/2006/relationships/oleObject" Target="../embeddings/oleObject13.bin"/><Relationship Id="rId4" Type="http://schemas.openxmlformats.org/officeDocument/2006/relationships/image" Target="../media/image22.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6.emf"/><Relationship Id="rId5" Type="http://schemas.openxmlformats.org/officeDocument/2006/relationships/oleObject" Target="../embeddings/oleObject16.bin"/><Relationship Id="rId4" Type="http://schemas.openxmlformats.org/officeDocument/2006/relationships/image" Target="../media/image25.emf"/></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20.wmf"/><Relationship Id="rId5" Type="http://schemas.openxmlformats.org/officeDocument/2006/relationships/oleObject" Target="../embeddings/oleObject18.bin"/><Relationship Id="rId10" Type="http://schemas.openxmlformats.org/officeDocument/2006/relationships/image" Target="../media/image270.png"/><Relationship Id="rId4" Type="http://schemas.openxmlformats.org/officeDocument/2006/relationships/image" Target="../media/image19.wmf"/></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20.wmf"/><Relationship Id="rId5" Type="http://schemas.openxmlformats.org/officeDocument/2006/relationships/oleObject" Target="../embeddings/oleObject21.bin"/><Relationship Id="rId10" Type="http://schemas.openxmlformats.org/officeDocument/2006/relationships/image" Target="../media/image32.png"/><Relationship Id="rId4" Type="http://schemas.openxmlformats.org/officeDocument/2006/relationships/image" Target="../media/image1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Decision Tree</a:t>
            </a:r>
          </a:p>
        </p:txBody>
      </p:sp>
      <p:sp>
        <p:nvSpPr>
          <p:cNvPr id="3" name="Subtitle 2"/>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Lecture 3</a:t>
            </a:r>
          </a:p>
          <a:p>
            <a:r>
              <a:rPr lang="en-US" dirty="0">
                <a:latin typeface="Times New Roman" panose="02020603050405020304" pitchFamily="18" charset="0"/>
                <a:cs typeface="Times New Roman" panose="02020603050405020304" pitchFamily="18" charset="0"/>
              </a:rPr>
              <a:t>Machine Learning</a:t>
            </a:r>
          </a:p>
        </p:txBody>
      </p:sp>
      <p:sp>
        <p:nvSpPr>
          <p:cNvPr id="4" name="Slide Number Placeholder 3"/>
          <p:cNvSpPr>
            <a:spLocks noGrp="1"/>
          </p:cNvSpPr>
          <p:nvPr>
            <p:ph type="sldNum" sz="quarter" idx="12"/>
          </p:nvPr>
        </p:nvSpPr>
        <p:spPr/>
        <p:txBody>
          <a:bodyPr/>
          <a:lstStyle/>
          <a:p>
            <a:fld id="{76F96C40-0356-46F5-90E5-FF57DE76D9A0}" type="slidenum">
              <a:rPr lang="en-US" smtClean="0"/>
              <a:t>1</a:t>
            </a:fld>
            <a:endParaRPr lang="en-US"/>
          </a:p>
        </p:txBody>
      </p:sp>
    </p:spTree>
    <p:extLst>
      <p:ext uri="{BB962C8B-B14F-4D97-AF65-F5344CB8AC3E}">
        <p14:creationId xmlns:p14="http://schemas.microsoft.com/office/powerpoint/2010/main" val="13775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29900"/>
            <a:ext cx="6589199" cy="1280890"/>
          </a:xfrm>
        </p:spPr>
        <p:txBody>
          <a:bodyPr/>
          <a:lstStyle/>
          <a:p>
            <a:r>
              <a:rPr lang="en-US" dirty="0">
                <a:latin typeface="Times New Roman" panose="02020603050405020304" pitchFamily="18" charset="0"/>
                <a:cs typeface="Times New Roman" panose="02020603050405020304" pitchFamily="18" charset="0"/>
              </a:rPr>
              <a:t>Dataset</a:t>
            </a:r>
          </a:p>
        </p:txBody>
      </p:sp>
      <p:pic>
        <p:nvPicPr>
          <p:cNvPr id="5" name="Content Placeholder 4"/>
          <p:cNvPicPr>
            <a:picLocks noGrp="1" noChangeAspect="1"/>
          </p:cNvPicPr>
          <p:nvPr>
            <p:ph idx="1"/>
          </p:nvPr>
        </p:nvPicPr>
        <p:blipFill>
          <a:blip r:embed="rId2"/>
          <a:stretch>
            <a:fillRect/>
          </a:stretch>
        </p:blipFill>
        <p:spPr>
          <a:xfrm>
            <a:off x="685800" y="1752600"/>
            <a:ext cx="8229600" cy="3703665"/>
          </a:xfrm>
          <a:prstGeom prst="rect">
            <a:avLst/>
          </a:prstGeom>
        </p:spPr>
      </p:pic>
      <p:sp>
        <p:nvSpPr>
          <p:cNvPr id="4" name="Slide Number Placeholder 3"/>
          <p:cNvSpPr>
            <a:spLocks noGrp="1"/>
          </p:cNvSpPr>
          <p:nvPr>
            <p:ph type="sldNum" sz="quarter" idx="12"/>
          </p:nvPr>
        </p:nvSpPr>
        <p:spPr/>
        <p:txBody>
          <a:bodyPr/>
          <a:lstStyle/>
          <a:p>
            <a:fld id="{76F96C40-0356-46F5-90E5-FF57DE76D9A0}" type="slidenum">
              <a:rPr lang="en-US" smtClean="0"/>
              <a:t>2</a:t>
            </a:fld>
            <a:endParaRPr lang="en-US"/>
          </a:p>
        </p:txBody>
      </p:sp>
      <p:cxnSp>
        <p:nvCxnSpPr>
          <p:cNvPr id="7" name="Straight Arrow Connector 6"/>
          <p:cNvCxnSpPr/>
          <p:nvPr/>
        </p:nvCxnSpPr>
        <p:spPr>
          <a:xfrm>
            <a:off x="8610600" y="1447800"/>
            <a:ext cx="152400" cy="30480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391400" y="991089"/>
            <a:ext cx="1808700" cy="461665"/>
          </a:xfrm>
          <a:prstGeom prst="rect">
            <a:avLst/>
          </a:prstGeom>
          <a:noFill/>
        </p:spPr>
        <p:txBody>
          <a:bodyPr wrap="square" rtlCol="0">
            <a:spAutoFit/>
          </a:bodyPr>
          <a:lstStyle/>
          <a:p>
            <a:r>
              <a:rPr lang="en-US" sz="1200" dirty="0"/>
              <a:t>Dependent/ Output/ response variable</a:t>
            </a:r>
          </a:p>
        </p:txBody>
      </p:sp>
      <p:sp>
        <p:nvSpPr>
          <p:cNvPr id="11" name="Left Brace 10"/>
          <p:cNvSpPr/>
          <p:nvPr/>
        </p:nvSpPr>
        <p:spPr>
          <a:xfrm rot="5400000">
            <a:off x="4547419" y="-2264450"/>
            <a:ext cx="228600" cy="7745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rot="16200000" flipH="1">
            <a:off x="-308307" y="3463428"/>
            <a:ext cx="1524000" cy="282007"/>
          </a:xfrm>
          <a:prstGeom prst="rect">
            <a:avLst/>
          </a:prstGeom>
          <a:noFill/>
        </p:spPr>
        <p:txBody>
          <a:bodyPr wrap="square" rtlCol="0">
            <a:spAutoFit/>
          </a:bodyPr>
          <a:lstStyle/>
          <a:p>
            <a:r>
              <a:rPr lang="en-US" sz="1200" dirty="0"/>
              <a:t>Observations</a:t>
            </a:r>
          </a:p>
        </p:txBody>
      </p:sp>
      <p:sp>
        <p:nvSpPr>
          <p:cNvPr id="13" name="Left Brace 12"/>
          <p:cNvSpPr/>
          <p:nvPr/>
        </p:nvSpPr>
        <p:spPr>
          <a:xfrm>
            <a:off x="552756" y="1763710"/>
            <a:ext cx="83881" cy="36464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3352800" y="1124047"/>
            <a:ext cx="2032233" cy="461665"/>
          </a:xfrm>
          <a:prstGeom prst="rect">
            <a:avLst/>
          </a:prstGeom>
          <a:noFill/>
        </p:spPr>
        <p:txBody>
          <a:bodyPr wrap="square" rtlCol="0">
            <a:spAutoFit/>
          </a:bodyPr>
          <a:lstStyle/>
          <a:p>
            <a:r>
              <a:rPr lang="en-US" sz="1200" dirty="0"/>
              <a:t>Independent/ input/ predictor variable</a:t>
            </a:r>
          </a:p>
        </p:txBody>
      </p:sp>
      <p:sp>
        <p:nvSpPr>
          <p:cNvPr id="15" name="TextBox 14"/>
          <p:cNvSpPr txBox="1"/>
          <p:nvPr/>
        </p:nvSpPr>
        <p:spPr>
          <a:xfrm rot="16200000" flipH="1">
            <a:off x="-45447" y="4844853"/>
            <a:ext cx="914399" cy="282007"/>
          </a:xfrm>
          <a:prstGeom prst="rect">
            <a:avLst/>
          </a:prstGeom>
          <a:noFill/>
        </p:spPr>
        <p:txBody>
          <a:bodyPr wrap="square" rtlCol="0">
            <a:spAutoFit/>
          </a:bodyPr>
          <a:lstStyle/>
          <a:p>
            <a:r>
              <a:rPr lang="en-US" sz="1200" b="1" dirty="0"/>
              <a:t>Instances</a:t>
            </a:r>
          </a:p>
        </p:txBody>
      </p:sp>
      <p:sp>
        <p:nvSpPr>
          <p:cNvPr id="16" name="TextBox 15"/>
          <p:cNvSpPr txBox="1"/>
          <p:nvPr/>
        </p:nvSpPr>
        <p:spPr>
          <a:xfrm>
            <a:off x="3685914" y="920305"/>
            <a:ext cx="2286000" cy="276999"/>
          </a:xfrm>
          <a:prstGeom prst="rect">
            <a:avLst/>
          </a:prstGeom>
          <a:noFill/>
        </p:spPr>
        <p:txBody>
          <a:bodyPr wrap="square" rtlCol="0">
            <a:spAutoFit/>
          </a:bodyPr>
          <a:lstStyle/>
          <a:p>
            <a:r>
              <a:rPr lang="en-US" sz="1200" b="1" dirty="0"/>
              <a:t>Input features/ attributes</a:t>
            </a:r>
          </a:p>
        </p:txBody>
      </p:sp>
      <p:sp>
        <p:nvSpPr>
          <p:cNvPr id="17" name="TextBox 16"/>
          <p:cNvSpPr txBox="1"/>
          <p:nvPr/>
        </p:nvSpPr>
        <p:spPr>
          <a:xfrm>
            <a:off x="7962901" y="773417"/>
            <a:ext cx="1143000" cy="276999"/>
          </a:xfrm>
          <a:prstGeom prst="rect">
            <a:avLst/>
          </a:prstGeom>
          <a:noFill/>
        </p:spPr>
        <p:txBody>
          <a:bodyPr wrap="square" rtlCol="0">
            <a:spAutoFit/>
          </a:bodyPr>
          <a:lstStyle/>
          <a:p>
            <a:r>
              <a:rPr lang="en-US" sz="1200" b="1" dirty="0"/>
              <a:t>Target/ label</a:t>
            </a:r>
          </a:p>
        </p:txBody>
      </p:sp>
    </p:spTree>
    <p:extLst>
      <p:ext uri="{BB962C8B-B14F-4D97-AF65-F5344CB8AC3E}">
        <p14:creationId xmlns:p14="http://schemas.microsoft.com/office/powerpoint/2010/main" val="363432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p:bldP spid="13" grpId="0" animBg="1"/>
      <p:bldP spid="14" grpId="0"/>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16262"/>
            <a:ext cx="6589199" cy="1280890"/>
          </a:xfrm>
        </p:spPr>
        <p:txBody>
          <a:bodyPr/>
          <a:lstStyle/>
          <a:p>
            <a:r>
              <a:rPr lang="en-US" dirty="0">
                <a:latin typeface="Times New Roman" panose="02020603050405020304" pitchFamily="18" charset="0"/>
                <a:cs typeface="Times New Roman" panose="02020603050405020304" pitchFamily="18" charset="0"/>
              </a:rPr>
              <a:t>Data preparation</a:t>
            </a:r>
          </a:p>
        </p:txBody>
      </p:sp>
      <p:sp>
        <p:nvSpPr>
          <p:cNvPr id="3" name="Content Placeholder 2"/>
          <p:cNvSpPr>
            <a:spLocks noGrp="1"/>
          </p:cNvSpPr>
          <p:nvPr>
            <p:ph idx="1"/>
          </p:nvPr>
        </p:nvSpPr>
        <p:spPr>
          <a:xfrm>
            <a:off x="457200" y="1600200"/>
            <a:ext cx="8229600" cy="4228850"/>
          </a:xfrm>
        </p:spPr>
        <p:txBody>
          <a:bodyPr>
            <a:normAutofit/>
          </a:bodyPr>
          <a:lstStyle/>
          <a:p>
            <a:r>
              <a:rPr lang="en-US" sz="2400" dirty="0">
                <a:latin typeface="Times New Roman" panose="02020603050405020304" pitchFamily="18" charset="0"/>
                <a:cs typeface="Times New Roman" panose="02020603050405020304" pitchFamily="18" charset="0"/>
              </a:rPr>
              <a:t>Given a data set, e.g. a collection of observations, find a model for the class attribute as a function of the other attributes in the data set</a:t>
            </a:r>
          </a:p>
          <a:p>
            <a:r>
              <a:rPr lang="en-US" sz="2400" dirty="0">
                <a:latin typeface="Times New Roman" panose="02020603050405020304" pitchFamily="18" charset="0"/>
                <a:cs typeface="Times New Roman" panose="02020603050405020304" pitchFamily="18" charset="0"/>
              </a:rPr>
              <a:t>A training set of observations is used for supervised learning</a:t>
            </a:r>
          </a:p>
          <a:p>
            <a:r>
              <a:rPr lang="en-US" sz="2400" dirty="0">
                <a:latin typeface="Times New Roman" panose="02020603050405020304" pitchFamily="18" charset="0"/>
                <a:cs typeface="Times New Roman" panose="02020603050405020304" pitchFamily="18" charset="0"/>
              </a:rPr>
              <a:t>A test set of observations is used to determine the accuracy of the model</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3</a:t>
            </a:fld>
            <a:endParaRPr lang="en-US"/>
          </a:p>
        </p:txBody>
      </p:sp>
      <p:pic>
        <p:nvPicPr>
          <p:cNvPr id="1026" name="Picture 2" descr="https://aldro61.github.io/microbiome-summer-school-2017/sections/basics/figures/train_test_spl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495800"/>
            <a:ext cx="4187825" cy="14920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1"/>
          <p:cNvPicPr/>
          <p:nvPr/>
        </p:nvPicPr>
        <p:blipFill>
          <a:blip r:embed="rId3"/>
          <a:stretch>
            <a:fillRect/>
          </a:stretch>
        </p:blipFill>
        <p:spPr>
          <a:xfrm>
            <a:off x="6019800" y="4041693"/>
            <a:ext cx="2414588" cy="2400300"/>
          </a:xfrm>
          <a:prstGeom prst="rect">
            <a:avLst/>
          </a:prstGeom>
        </p:spPr>
      </p:pic>
      <p:sp>
        <p:nvSpPr>
          <p:cNvPr id="5" name="Right Arrow 4"/>
          <p:cNvSpPr/>
          <p:nvPr/>
        </p:nvSpPr>
        <p:spPr>
          <a:xfrm>
            <a:off x="4949825" y="4953000"/>
            <a:ext cx="765175"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40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6019800" cy="990600"/>
          </a:xfrm>
        </p:spPr>
        <p:txBody>
          <a:bodyPr/>
          <a:lstStyle/>
          <a:p>
            <a:r>
              <a:rPr lang="en-US" dirty="0">
                <a:latin typeface="Times New Roman" panose="02020603050405020304" pitchFamily="18" charset="0"/>
                <a:cs typeface="Times New Roman" panose="02020603050405020304" pitchFamily="18" charset="0"/>
              </a:rPr>
              <a:t>Classification</a:t>
            </a:r>
          </a:p>
        </p:txBody>
      </p:sp>
      <p:sp>
        <p:nvSpPr>
          <p:cNvPr id="3" name="Content Placeholder 2"/>
          <p:cNvSpPr>
            <a:spLocks noGrp="1"/>
          </p:cNvSpPr>
          <p:nvPr>
            <p:ph idx="1"/>
          </p:nvPr>
        </p:nvSpPr>
        <p:spPr>
          <a:xfrm>
            <a:off x="768763" y="1447800"/>
            <a:ext cx="8229600" cy="5226046"/>
          </a:xfrm>
        </p:spPr>
        <p:txBody>
          <a:bodyPr>
            <a:normAutofit/>
          </a:bodyPr>
          <a:lstStyle/>
          <a:p>
            <a:r>
              <a:rPr lang="en-US" sz="2000" dirty="0">
                <a:latin typeface="Times New Roman" panose="02020603050405020304" pitchFamily="18" charset="0"/>
                <a:cs typeface="Times New Roman" panose="02020603050405020304" pitchFamily="18" charset="0"/>
              </a:rPr>
              <a:t>Functions as its name suggests, by classifying data in order to then make predictions</a:t>
            </a:r>
          </a:p>
          <a:p>
            <a:r>
              <a:rPr lang="en-US" sz="2000" dirty="0">
                <a:latin typeface="Times New Roman" panose="02020603050405020304" pitchFamily="18" charset="0"/>
                <a:cs typeface="Times New Roman" panose="02020603050405020304" pitchFamily="18" charset="0"/>
              </a:rPr>
              <a:t>Is one of the supervised learning techniques</a:t>
            </a:r>
          </a:p>
          <a:p>
            <a:r>
              <a:rPr lang="en-US" sz="2000" dirty="0">
                <a:latin typeface="Times New Roman" panose="02020603050405020304" pitchFamily="18" charset="0"/>
                <a:cs typeface="Times New Roman" panose="02020603050405020304" pitchFamily="18" charset="0"/>
              </a:rPr>
              <a:t>Used for predictive modeling</a:t>
            </a:r>
          </a:p>
          <a:p>
            <a:r>
              <a:rPr lang="en-US" sz="2000" dirty="0">
                <a:latin typeface="Times New Roman" panose="02020603050405020304" pitchFamily="18" charset="0"/>
                <a:cs typeface="Times New Roman" panose="02020603050405020304" pitchFamily="18" charset="0"/>
              </a:rPr>
              <a:t>Uses a classification model via a learning algorithm</a:t>
            </a:r>
          </a:p>
          <a:p>
            <a:r>
              <a:rPr lang="en-US" sz="2000" dirty="0">
                <a:latin typeface="Times New Roman" panose="02020603050405020304" pitchFamily="18" charset="0"/>
                <a:cs typeface="Times New Roman" panose="02020603050405020304" pitchFamily="18" charset="0"/>
              </a:rPr>
              <a:t>Goal: Categorization- </a:t>
            </a:r>
            <a:r>
              <a:rPr lang="en-US" sz="2000">
                <a:latin typeface="Times New Roman" panose="02020603050405020304" pitchFamily="18" charset="0"/>
                <a:cs typeface="Times New Roman" panose="02020603050405020304" pitchFamily="18" charset="0"/>
              </a:rPr>
              <a:t>Categorical output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Given an event, predict is category. Examples:</a:t>
            </a:r>
          </a:p>
          <a:p>
            <a:pPr lvl="1"/>
            <a:r>
              <a:rPr lang="en-US" sz="1800" dirty="0">
                <a:latin typeface="Times New Roman" panose="02020603050405020304" pitchFamily="18" charset="0"/>
                <a:cs typeface="Times New Roman" panose="02020603050405020304" pitchFamily="18" charset="0"/>
              </a:rPr>
              <a:t>Is there any fraud in credit report?</a:t>
            </a:r>
          </a:p>
          <a:p>
            <a:pPr lvl="1"/>
            <a:r>
              <a:rPr lang="en-US" sz="1800" dirty="0">
                <a:latin typeface="Times New Roman" panose="02020603050405020304" pitchFamily="18" charset="0"/>
                <a:cs typeface="Times New Roman" panose="02020603050405020304" pitchFamily="18" charset="0"/>
              </a:rPr>
              <a:t>How should we file a given email?</a:t>
            </a:r>
          </a:p>
          <a:p>
            <a:r>
              <a:rPr lang="en-US" sz="2000" dirty="0">
                <a:latin typeface="Times New Roman" panose="02020603050405020304" pitchFamily="18" charset="0"/>
                <a:cs typeface="Times New Roman" panose="02020603050405020304" pitchFamily="18" charset="0"/>
              </a:rPr>
              <a:t>Event = list of features. Examples:</a:t>
            </a:r>
          </a:p>
          <a:p>
            <a:pPr lvl="1"/>
            <a:r>
              <a:rPr lang="en-US" sz="1800" dirty="0">
                <a:latin typeface="Times New Roman" panose="02020603050405020304" pitchFamily="18" charset="0"/>
                <a:cs typeface="Times New Roman" panose="02020603050405020304" pitchFamily="18" charset="0"/>
              </a:rPr>
              <a:t>Credit: What are the transactions?</a:t>
            </a:r>
          </a:p>
          <a:p>
            <a:pPr lvl="1"/>
            <a:r>
              <a:rPr lang="en-US" sz="1800" dirty="0">
                <a:latin typeface="Times New Roman" panose="02020603050405020304" pitchFamily="18" charset="0"/>
                <a:cs typeface="Times New Roman" panose="02020603050405020304" pitchFamily="18" charset="0"/>
              </a:rPr>
              <a:t>Email: Who sent the email?</a:t>
            </a:r>
          </a:p>
        </p:txBody>
      </p:sp>
      <p:sp>
        <p:nvSpPr>
          <p:cNvPr id="4" name="Slide Number Placeholder 3"/>
          <p:cNvSpPr>
            <a:spLocks noGrp="1"/>
          </p:cNvSpPr>
          <p:nvPr>
            <p:ph type="sldNum" sz="quarter" idx="12"/>
          </p:nvPr>
        </p:nvSpPr>
        <p:spPr/>
        <p:txBody>
          <a:bodyPr/>
          <a:lstStyle/>
          <a:p>
            <a:fld id="{76F96C40-0356-46F5-90E5-FF57DE76D9A0}" type="slidenum">
              <a:rPr lang="en-US" smtClean="0"/>
              <a:t>4</a:t>
            </a:fld>
            <a:endParaRPr lang="en-US"/>
          </a:p>
        </p:txBody>
      </p:sp>
    </p:spTree>
    <p:extLst>
      <p:ext uri="{BB962C8B-B14F-4D97-AF65-F5344CB8AC3E}">
        <p14:creationId xmlns:p14="http://schemas.microsoft.com/office/powerpoint/2010/main" val="5777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76200"/>
            <a:ext cx="8229600" cy="990600"/>
          </a:xfrm>
        </p:spPr>
        <p:txBody>
          <a:bodyPr/>
          <a:lstStyle/>
          <a:p>
            <a:r>
              <a:rPr lang="en-US" dirty="0">
                <a:latin typeface="Times New Roman" panose="02020603050405020304" pitchFamily="18" charset="0"/>
                <a:cs typeface="Times New Roman" panose="02020603050405020304" pitchFamily="18" charset="0"/>
              </a:rPr>
              <a:t>Decision Trees</a:t>
            </a:r>
          </a:p>
        </p:txBody>
      </p:sp>
      <p:sp>
        <p:nvSpPr>
          <p:cNvPr id="3" name="Content Placeholder 2"/>
          <p:cNvSpPr>
            <a:spLocks noGrp="1"/>
          </p:cNvSpPr>
          <p:nvPr>
            <p:ph idx="1"/>
          </p:nvPr>
        </p:nvSpPr>
        <p:spPr>
          <a:xfrm>
            <a:off x="947928" y="1295400"/>
            <a:ext cx="8229600" cy="1852815"/>
          </a:xfrm>
        </p:spPr>
        <p:txBody>
          <a:bodyPr>
            <a:normAutofit/>
          </a:bodyPr>
          <a:lstStyle/>
          <a:p>
            <a:r>
              <a:rPr lang="en-US" sz="2000" dirty="0">
                <a:latin typeface="Times New Roman" panose="02020603050405020304" pitchFamily="18" charset="0"/>
                <a:cs typeface="Times New Roman" panose="02020603050405020304" pitchFamily="18" charset="0"/>
              </a:rPr>
              <a:t>A decision tree consists of:</a:t>
            </a:r>
          </a:p>
          <a:p>
            <a:pPr lvl="1"/>
            <a:r>
              <a:rPr lang="en-US" sz="2000" dirty="0">
                <a:latin typeface="Times New Roman" panose="02020603050405020304" pitchFamily="18" charset="0"/>
                <a:cs typeface="Times New Roman" panose="02020603050405020304" pitchFamily="18" charset="0"/>
              </a:rPr>
              <a:t>Root node (or starting node)</a:t>
            </a:r>
          </a:p>
          <a:p>
            <a:pPr lvl="1"/>
            <a:r>
              <a:rPr lang="en-US" sz="2000" dirty="0">
                <a:latin typeface="Times New Roman" panose="02020603050405020304" pitchFamily="18" charset="0"/>
                <a:cs typeface="Times New Roman" panose="02020603050405020304" pitchFamily="18" charset="0"/>
              </a:rPr>
              <a:t>Interior nodes</a:t>
            </a:r>
          </a:p>
          <a:p>
            <a:pPr lvl="1"/>
            <a:r>
              <a:rPr lang="en-US" sz="2000" dirty="0">
                <a:latin typeface="Times New Roman" panose="02020603050405020304" pitchFamily="18" charset="0"/>
                <a:cs typeface="Times New Roman" panose="02020603050405020304" pitchFamily="18" charset="0"/>
              </a:rPr>
              <a:t>Leaf nodes (or terminating nodes)</a:t>
            </a:r>
          </a:p>
        </p:txBody>
      </p:sp>
      <p:sp>
        <p:nvSpPr>
          <p:cNvPr id="4" name="Slide Number Placeholder 3"/>
          <p:cNvSpPr>
            <a:spLocks noGrp="1"/>
          </p:cNvSpPr>
          <p:nvPr>
            <p:ph type="sldNum" sz="quarter" idx="12"/>
          </p:nvPr>
        </p:nvSpPr>
        <p:spPr/>
        <p:txBody>
          <a:bodyPr/>
          <a:lstStyle/>
          <a:p>
            <a:fld id="{76F96C40-0356-46F5-90E5-FF57DE76D9A0}" type="slidenum">
              <a:rPr lang="en-US" smtClean="0"/>
              <a:t>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418" y="2975851"/>
            <a:ext cx="4033837" cy="3659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068" y="2975851"/>
            <a:ext cx="4073132" cy="3731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512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91883"/>
            <a:ext cx="6589199" cy="1280890"/>
          </a:xfrm>
        </p:spPr>
        <p:txBody>
          <a:bodyPr>
            <a:normAutofit/>
          </a:bodyPr>
          <a:lstStyle/>
          <a:p>
            <a:r>
              <a:rPr lang="en-US" dirty="0">
                <a:latin typeface="Times New Roman" panose="02020603050405020304" pitchFamily="18" charset="0"/>
                <a:cs typeface="Times New Roman" panose="02020603050405020304" pitchFamily="18" charset="0"/>
              </a:rPr>
              <a:t>Illustrating Classification </a:t>
            </a:r>
            <a:br>
              <a:rPr lang="en-US"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(from Tan, Steinbach and Kumar)</a:t>
            </a:r>
          </a:p>
        </p:txBody>
      </p:sp>
      <p:sp>
        <p:nvSpPr>
          <p:cNvPr id="3" name="Slide Number Placeholder 2"/>
          <p:cNvSpPr>
            <a:spLocks noGrp="1"/>
          </p:cNvSpPr>
          <p:nvPr>
            <p:ph type="sldNum" sz="quarter" idx="12"/>
          </p:nvPr>
        </p:nvSpPr>
        <p:spPr/>
        <p:txBody>
          <a:bodyPr/>
          <a:lstStyle/>
          <a:p>
            <a:fld id="{76F96C40-0356-46F5-90E5-FF57DE76D9A0}" type="slidenum">
              <a:rPr lang="en-US" smtClean="0"/>
              <a:t>6</a:t>
            </a:fld>
            <a:endParaRPr lang="en-US"/>
          </a:p>
        </p:txBody>
      </p:sp>
      <p:pic>
        <p:nvPicPr>
          <p:cNvPr id="3074" name="Picture 2"/>
          <p:cNvPicPr>
            <a:picLocks noChangeAspect="1" noChangeArrowheads="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66800" y="1575821"/>
            <a:ext cx="7086600" cy="5282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212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1651" y="156369"/>
            <a:ext cx="3750470" cy="990600"/>
          </a:xfrm>
        </p:spPr>
        <p:txBody>
          <a:bodyPr/>
          <a:lstStyle/>
          <a:p>
            <a:r>
              <a:rPr lang="en-US" dirty="0">
                <a:latin typeface="Times New Roman" panose="02020603050405020304" pitchFamily="18" charset="0"/>
                <a:cs typeface="Times New Roman" panose="02020603050405020304" pitchFamily="18" charset="0"/>
              </a:rPr>
              <a:t>Algorithm</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53442775"/>
              </p:ext>
            </p:extLst>
          </p:nvPr>
        </p:nvGraphicFramePr>
        <p:xfrm>
          <a:off x="5801904" y="634931"/>
          <a:ext cx="3244427" cy="3280883"/>
        </p:xfrm>
        <a:graphic>
          <a:graphicData uri="http://schemas.openxmlformats.org/drawingml/2006/table">
            <a:tbl>
              <a:tblPr/>
              <a:tblGrid>
                <a:gridCol w="364031">
                  <a:extLst>
                    <a:ext uri="{9D8B030D-6E8A-4147-A177-3AD203B41FA5}">
                      <a16:colId xmlns:a16="http://schemas.microsoft.com/office/drawing/2014/main" val="20000"/>
                    </a:ext>
                  </a:extLst>
                </a:gridCol>
                <a:gridCol w="709860">
                  <a:extLst>
                    <a:ext uri="{9D8B030D-6E8A-4147-A177-3AD203B41FA5}">
                      <a16:colId xmlns:a16="http://schemas.microsoft.com/office/drawing/2014/main" val="20001"/>
                    </a:ext>
                  </a:extLst>
                </a:gridCol>
                <a:gridCol w="855472">
                  <a:extLst>
                    <a:ext uri="{9D8B030D-6E8A-4147-A177-3AD203B41FA5}">
                      <a16:colId xmlns:a16="http://schemas.microsoft.com/office/drawing/2014/main" val="20002"/>
                    </a:ext>
                  </a:extLst>
                </a:gridCol>
                <a:gridCol w="728063">
                  <a:extLst>
                    <a:ext uri="{9D8B030D-6E8A-4147-A177-3AD203B41FA5}">
                      <a16:colId xmlns:a16="http://schemas.microsoft.com/office/drawing/2014/main" val="20003"/>
                    </a:ext>
                  </a:extLst>
                </a:gridCol>
                <a:gridCol w="587001">
                  <a:extLst>
                    <a:ext uri="{9D8B030D-6E8A-4147-A177-3AD203B41FA5}">
                      <a16:colId xmlns:a16="http://schemas.microsoft.com/office/drawing/2014/main" val="20004"/>
                    </a:ext>
                  </a:extLst>
                </a:gridCol>
              </a:tblGrid>
              <a:tr h="546813">
                <a:tc>
                  <a:txBody>
                    <a:bodyPr/>
                    <a:lstStyle/>
                    <a:p>
                      <a:pPr algn="ctr" fontAlgn="b"/>
                      <a:r>
                        <a:rPr lang="en-US" sz="1600" b="1" i="0" u="none" strike="noStrike" dirty="0" err="1">
                          <a:solidFill>
                            <a:srgbClr val="FF0000"/>
                          </a:solidFill>
                          <a:effectLst/>
                          <a:latin typeface="Calibri"/>
                        </a:rPr>
                        <a:t>Tid</a:t>
                      </a:r>
                      <a:endParaRPr lang="en-US" sz="1600" b="1" i="0" u="none" strike="noStrike" dirty="0">
                        <a:solidFill>
                          <a:srgbClr val="FF0000"/>
                        </a:solidFill>
                        <a:effectLst/>
                        <a:latin typeface="Calibri"/>
                      </a:endParaRP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FF0000"/>
                          </a:solidFill>
                          <a:effectLst/>
                          <a:latin typeface="Calibri"/>
                        </a:rPr>
                        <a:t>Refund</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FF0000"/>
                          </a:solidFill>
                          <a:effectLst/>
                          <a:latin typeface="Calibri"/>
                        </a:rPr>
                        <a:t>Marital Status</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FF0000"/>
                          </a:solidFill>
                          <a:effectLst/>
                          <a:latin typeface="Calibri"/>
                        </a:rPr>
                        <a:t>Taxable Income</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FF0000"/>
                          </a:solidFill>
                          <a:effectLst/>
                          <a:latin typeface="Calibri"/>
                        </a:rPr>
                        <a:t>Cheat</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3407">
                <a:tc>
                  <a:txBody>
                    <a:bodyPr/>
                    <a:lstStyle/>
                    <a:p>
                      <a:pPr algn="l" fontAlgn="b"/>
                      <a:r>
                        <a:rPr lang="en-US" sz="1600" b="0" i="0" u="none" strike="noStrike" dirty="0">
                          <a:solidFill>
                            <a:srgbClr val="FF0000"/>
                          </a:solidFill>
                          <a:effectLst/>
                          <a:latin typeface="Calibri"/>
                        </a:rPr>
                        <a:t>1</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Yes</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Single</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125K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3407">
                <a:tc>
                  <a:txBody>
                    <a:bodyPr/>
                    <a:lstStyle/>
                    <a:p>
                      <a:pPr algn="l" fontAlgn="b"/>
                      <a:r>
                        <a:rPr lang="en-US" sz="1600" b="0" i="0" u="none" strike="noStrike" dirty="0">
                          <a:solidFill>
                            <a:srgbClr val="FF0000"/>
                          </a:solidFill>
                          <a:effectLst/>
                          <a:latin typeface="Calibri"/>
                        </a:rPr>
                        <a:t>2</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Married</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100K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3407">
                <a:tc>
                  <a:txBody>
                    <a:bodyPr/>
                    <a:lstStyle/>
                    <a:p>
                      <a:pPr algn="l" fontAlgn="b"/>
                      <a:r>
                        <a:rPr lang="en-US" sz="1600" b="0" i="0" u="none" strike="noStrike" dirty="0">
                          <a:solidFill>
                            <a:srgbClr val="FF0000"/>
                          </a:solidFill>
                          <a:effectLst/>
                          <a:latin typeface="Calibri"/>
                        </a:rPr>
                        <a:t>3</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Single</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70K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3407">
                <a:tc>
                  <a:txBody>
                    <a:bodyPr/>
                    <a:lstStyle/>
                    <a:p>
                      <a:pPr algn="l" fontAlgn="b"/>
                      <a:r>
                        <a:rPr lang="en-US" sz="1600" b="0" i="0" u="none" strike="noStrike" dirty="0">
                          <a:solidFill>
                            <a:srgbClr val="FF0000"/>
                          </a:solidFill>
                          <a:effectLst/>
                          <a:latin typeface="Calibri"/>
                        </a:rPr>
                        <a:t>4</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Yes</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Married</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FF0000"/>
                          </a:solidFill>
                          <a:effectLst/>
                          <a:latin typeface="Calibri"/>
                        </a:rPr>
                        <a:t>120K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3407">
                <a:tc>
                  <a:txBody>
                    <a:bodyPr/>
                    <a:lstStyle/>
                    <a:p>
                      <a:pPr algn="l" fontAlgn="b"/>
                      <a:r>
                        <a:rPr lang="en-US" sz="1600" b="0" i="0" u="none" strike="noStrike" dirty="0">
                          <a:solidFill>
                            <a:srgbClr val="FF0000"/>
                          </a:solidFill>
                          <a:effectLst/>
                          <a:latin typeface="Calibri"/>
                        </a:rPr>
                        <a:t>5</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Divorced</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95K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Yes</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3407">
                <a:tc>
                  <a:txBody>
                    <a:bodyPr/>
                    <a:lstStyle/>
                    <a:p>
                      <a:pPr algn="l" fontAlgn="b"/>
                      <a:r>
                        <a:rPr lang="en-US" sz="1600" b="0" i="0" u="none" strike="noStrike" dirty="0">
                          <a:solidFill>
                            <a:srgbClr val="FF0000"/>
                          </a:solidFill>
                          <a:effectLst/>
                          <a:latin typeface="Calibri"/>
                        </a:rPr>
                        <a:t>6</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Married</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FF0000"/>
                          </a:solidFill>
                          <a:effectLst/>
                          <a:latin typeface="Calibri"/>
                        </a:rPr>
                        <a:t>60K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3407">
                <a:tc>
                  <a:txBody>
                    <a:bodyPr/>
                    <a:lstStyle/>
                    <a:p>
                      <a:pPr algn="l" fontAlgn="b"/>
                      <a:r>
                        <a:rPr lang="en-US" sz="1600" b="0" i="0" u="none" strike="noStrike" dirty="0">
                          <a:solidFill>
                            <a:srgbClr val="FF0000"/>
                          </a:solidFill>
                          <a:effectLst/>
                          <a:latin typeface="Calibri"/>
                        </a:rPr>
                        <a:t>7</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FF0000"/>
                          </a:solidFill>
                          <a:effectLst/>
                          <a:latin typeface="Calibri"/>
                        </a:rPr>
                        <a:t>Yes</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Divorced</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220K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3407">
                <a:tc>
                  <a:txBody>
                    <a:bodyPr/>
                    <a:lstStyle/>
                    <a:p>
                      <a:pPr algn="l" fontAlgn="b"/>
                      <a:r>
                        <a:rPr lang="en-US" sz="1600" b="0" i="0" u="none" strike="noStrike" dirty="0">
                          <a:solidFill>
                            <a:srgbClr val="FF0000"/>
                          </a:solidFill>
                          <a:effectLst/>
                          <a:latin typeface="Calibri"/>
                        </a:rPr>
                        <a:t>8</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Single</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85K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Yes</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73407">
                <a:tc>
                  <a:txBody>
                    <a:bodyPr/>
                    <a:lstStyle/>
                    <a:p>
                      <a:pPr algn="l" fontAlgn="b"/>
                      <a:r>
                        <a:rPr lang="en-US" sz="1600" b="0" i="0" u="none" strike="noStrike" dirty="0">
                          <a:solidFill>
                            <a:srgbClr val="FF0000"/>
                          </a:solidFill>
                          <a:effectLst/>
                          <a:latin typeface="Calibri"/>
                        </a:rPr>
                        <a:t>9</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Married</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75K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73407">
                <a:tc>
                  <a:txBody>
                    <a:bodyPr/>
                    <a:lstStyle/>
                    <a:p>
                      <a:pPr algn="l" fontAlgn="b"/>
                      <a:r>
                        <a:rPr lang="en-US" sz="1600" b="0" i="0" u="none" strike="noStrike" dirty="0">
                          <a:solidFill>
                            <a:srgbClr val="FF0000"/>
                          </a:solidFill>
                          <a:effectLst/>
                          <a:latin typeface="Calibri"/>
                        </a:rPr>
                        <a:t>10</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FF0000"/>
                          </a:solidFill>
                          <a:effectLst/>
                          <a:latin typeface="Calibri"/>
                        </a:rPr>
                        <a:t>No</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Single</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90K</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FF0000"/>
                          </a:solidFill>
                          <a:effectLst/>
                          <a:latin typeface="Calibri"/>
                        </a:rPr>
                        <a:t>Yes</a:t>
                      </a:r>
                    </a:p>
                  </a:txBody>
                  <a:tcPr marL="13669" marR="13669" marT="136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3" name="Slide Number Placeholder 2"/>
          <p:cNvSpPr>
            <a:spLocks noGrp="1"/>
          </p:cNvSpPr>
          <p:nvPr>
            <p:ph type="sldNum" sz="quarter" idx="12"/>
          </p:nvPr>
        </p:nvSpPr>
        <p:spPr/>
        <p:txBody>
          <a:bodyPr/>
          <a:lstStyle/>
          <a:p>
            <a:fld id="{76F96C40-0356-46F5-90E5-FF57DE76D9A0}" type="slidenum">
              <a:rPr lang="en-US" smtClean="0"/>
              <a:t>7</a:t>
            </a:fld>
            <a:endParaRPr lang="en-US"/>
          </a:p>
        </p:txBody>
      </p:sp>
      <p:sp>
        <p:nvSpPr>
          <p:cNvPr id="5" name="Rectangle 3"/>
          <p:cNvSpPr>
            <a:spLocks noChangeArrowheads="1"/>
          </p:cNvSpPr>
          <p:nvPr/>
        </p:nvSpPr>
        <p:spPr bwMode="auto">
          <a:xfrm>
            <a:off x="304800" y="1447800"/>
            <a:ext cx="576263" cy="414338"/>
          </a:xfrm>
          <a:prstGeom prst="rect">
            <a:avLst/>
          </a:prstGeom>
          <a:noFill/>
          <a:ln w="25400">
            <a:solidFill>
              <a:srgbClr val="3366FF"/>
            </a:solidFill>
            <a:miter lim="800000"/>
            <a:headEnd/>
            <a:tailEnd/>
          </a:ln>
          <a:effectLst/>
        </p:spPr>
        <p:txBody>
          <a:bodyPr wrap="none" anchor="ctr"/>
          <a:lstStyle/>
          <a:p>
            <a:pPr algn="ctr" eaLnBrk="0" fontAlgn="base" hangingPunct="0">
              <a:spcBef>
                <a:spcPct val="0"/>
              </a:spcBef>
              <a:spcAft>
                <a:spcPct val="0"/>
              </a:spcAft>
            </a:pPr>
            <a:r>
              <a:rPr lang="en-US" altLang="en-US" sz="1400" dirty="0">
                <a:latin typeface="Times New Roman" charset="0"/>
              </a:rPr>
              <a:t>Don’t </a:t>
            </a:r>
          </a:p>
          <a:p>
            <a:pPr algn="ctr" eaLnBrk="0" fontAlgn="base" hangingPunct="0">
              <a:spcBef>
                <a:spcPct val="0"/>
              </a:spcBef>
              <a:spcAft>
                <a:spcPct val="0"/>
              </a:spcAft>
            </a:pPr>
            <a:r>
              <a:rPr lang="en-US" altLang="en-US" sz="1400" dirty="0">
                <a:latin typeface="Times New Roman" charset="0"/>
              </a:rPr>
              <a:t>Cheat</a:t>
            </a:r>
            <a:endParaRPr lang="en-US" altLang="en-US" sz="2400" dirty="0">
              <a:latin typeface="Times New Roman" charset="0"/>
            </a:endParaRPr>
          </a:p>
        </p:txBody>
      </p:sp>
      <p:grpSp>
        <p:nvGrpSpPr>
          <p:cNvPr id="6" name="Group 4"/>
          <p:cNvGrpSpPr>
            <a:grpSpLocks/>
          </p:cNvGrpSpPr>
          <p:nvPr/>
        </p:nvGrpSpPr>
        <p:grpSpPr bwMode="auto">
          <a:xfrm>
            <a:off x="990600" y="1143000"/>
            <a:ext cx="2168525" cy="1262063"/>
            <a:chOff x="624" y="720"/>
            <a:chExt cx="1366" cy="795"/>
          </a:xfrm>
        </p:grpSpPr>
        <p:grpSp>
          <p:nvGrpSpPr>
            <p:cNvPr id="7" name="Group 5"/>
            <p:cNvGrpSpPr>
              <a:grpSpLocks/>
            </p:cNvGrpSpPr>
            <p:nvPr/>
          </p:nvGrpSpPr>
          <p:grpSpPr bwMode="auto">
            <a:xfrm>
              <a:off x="864" y="720"/>
              <a:ext cx="1126" cy="795"/>
              <a:chOff x="480" y="2640"/>
              <a:chExt cx="1126" cy="795"/>
            </a:xfrm>
          </p:grpSpPr>
          <p:sp>
            <p:nvSpPr>
              <p:cNvPr id="9" name="Oval 6"/>
              <p:cNvSpPr>
                <a:spLocks noChangeArrowheads="1"/>
              </p:cNvSpPr>
              <p:nvPr/>
            </p:nvSpPr>
            <p:spPr bwMode="auto">
              <a:xfrm>
                <a:off x="807" y="2640"/>
                <a:ext cx="436" cy="272"/>
              </a:xfrm>
              <a:prstGeom prst="ellipse">
                <a:avLst/>
              </a:prstGeom>
              <a:noFill/>
              <a:ln w="25400">
                <a:solidFill>
                  <a:srgbClr val="33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Refund</a:t>
                </a:r>
              </a:p>
            </p:txBody>
          </p:sp>
          <p:sp>
            <p:nvSpPr>
              <p:cNvPr id="10" name="Line 7"/>
              <p:cNvSpPr>
                <a:spLocks noChangeShapeType="1"/>
              </p:cNvSpPr>
              <p:nvPr/>
            </p:nvSpPr>
            <p:spPr bwMode="auto">
              <a:xfrm flipH="1">
                <a:off x="661" y="2912"/>
                <a:ext cx="364" cy="224"/>
              </a:xfrm>
              <a:prstGeom prst="line">
                <a:avLst/>
              </a:prstGeom>
              <a:noFill/>
              <a:ln w="254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11" name="Line 8"/>
              <p:cNvSpPr>
                <a:spLocks noChangeShapeType="1"/>
              </p:cNvSpPr>
              <p:nvPr/>
            </p:nvSpPr>
            <p:spPr bwMode="auto">
              <a:xfrm>
                <a:off x="1025" y="2912"/>
                <a:ext cx="363" cy="224"/>
              </a:xfrm>
              <a:prstGeom prst="line">
                <a:avLst/>
              </a:prstGeom>
              <a:noFill/>
              <a:ln w="254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12" name="Rectangle 9"/>
              <p:cNvSpPr>
                <a:spLocks noChangeArrowheads="1"/>
              </p:cNvSpPr>
              <p:nvPr/>
            </p:nvSpPr>
            <p:spPr bwMode="auto">
              <a:xfrm>
                <a:off x="480" y="3136"/>
                <a:ext cx="363" cy="299"/>
              </a:xfrm>
              <a:prstGeom prst="rect">
                <a:avLst/>
              </a:prstGeom>
              <a:noFill/>
              <a:ln w="50800" cmpd="thickTh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Don’t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Cheat</a:t>
                </a:r>
                <a:endParaRPr kumimoji="0" lang="en-US" altLang="en-US" sz="1800" b="0" i="0" u="none" strike="noStrike" kern="0" cap="none" spc="0" normalizeH="0" baseline="0" noProof="0" dirty="0">
                  <a:ln>
                    <a:noFill/>
                  </a:ln>
                  <a:effectLst/>
                  <a:uLnTx/>
                  <a:uFillTx/>
                  <a:latin typeface="Times New Roman" charset="0"/>
                </a:endParaRPr>
              </a:p>
            </p:txBody>
          </p:sp>
          <p:sp>
            <p:nvSpPr>
              <p:cNvPr id="13" name="Rectangle 10"/>
              <p:cNvSpPr>
                <a:spLocks noChangeArrowheads="1"/>
              </p:cNvSpPr>
              <p:nvPr/>
            </p:nvSpPr>
            <p:spPr bwMode="auto">
              <a:xfrm>
                <a:off x="1243" y="3136"/>
                <a:ext cx="363" cy="261"/>
              </a:xfrm>
              <a:prstGeom prst="rect">
                <a:avLst/>
              </a:prstGeom>
              <a:noFill/>
              <a:ln w="25400">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Don’t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14" name="Text Box 11"/>
              <p:cNvSpPr txBox="1">
                <a:spLocks noChangeArrowheads="1"/>
              </p:cNvSpPr>
              <p:nvPr/>
            </p:nvSpPr>
            <p:spPr bwMode="auto">
              <a:xfrm>
                <a:off x="568" y="2869"/>
                <a:ext cx="315"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effectLst/>
                    <a:uLnTx/>
                    <a:uFillTx/>
                    <a:latin typeface="Arial" charset="0"/>
                  </a:rPr>
                  <a:t>Yes</a:t>
                </a:r>
                <a:endParaRPr kumimoji="0" lang="en-US" altLang="en-US" sz="1800" b="0" i="0" u="none" strike="noStrike" kern="0" cap="none" spc="0" normalizeH="0" baseline="0" noProof="0">
                  <a:ln>
                    <a:noFill/>
                  </a:ln>
                  <a:effectLst/>
                  <a:uLnTx/>
                  <a:uFillTx/>
                  <a:latin typeface="Times New Roman" charset="0"/>
                </a:endParaRPr>
              </a:p>
            </p:txBody>
          </p:sp>
          <p:sp>
            <p:nvSpPr>
              <p:cNvPr id="15" name="Text Box 12"/>
              <p:cNvSpPr txBox="1">
                <a:spLocks noChangeArrowheads="1"/>
              </p:cNvSpPr>
              <p:nvPr/>
            </p:nvSpPr>
            <p:spPr bwMode="auto">
              <a:xfrm>
                <a:off x="1260" y="2869"/>
                <a:ext cx="265"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No</a:t>
                </a:r>
                <a:endParaRPr kumimoji="0" lang="en-US" altLang="en-US" sz="2400" b="0" i="0" u="none" strike="noStrike" kern="0" cap="none" spc="0" normalizeH="0" baseline="0" noProof="0" dirty="0">
                  <a:ln>
                    <a:noFill/>
                  </a:ln>
                  <a:effectLst/>
                  <a:uLnTx/>
                  <a:uFillTx/>
                  <a:latin typeface="Times New Roman" charset="0"/>
                </a:endParaRPr>
              </a:p>
            </p:txBody>
          </p:sp>
        </p:grpSp>
        <p:sp>
          <p:nvSpPr>
            <p:cNvPr id="8" name="Line 13"/>
            <p:cNvSpPr>
              <a:spLocks noChangeShapeType="1"/>
            </p:cNvSpPr>
            <p:nvPr/>
          </p:nvSpPr>
          <p:spPr bwMode="auto">
            <a:xfrm flipV="1">
              <a:off x="624" y="1056"/>
              <a:ext cx="240" cy="0"/>
            </a:xfrm>
            <a:prstGeom prst="line">
              <a:avLst/>
            </a:prstGeom>
            <a:noFill/>
            <a:ln w="76200" cmpd="tri">
              <a:solidFill>
                <a:srgbClr val="CC3300"/>
              </a:solidFill>
              <a:round/>
              <a:headEnd/>
              <a:tailEnd type="arrow"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grpSp>
      <p:grpSp>
        <p:nvGrpSpPr>
          <p:cNvPr id="16" name="Group 14"/>
          <p:cNvGrpSpPr>
            <a:grpSpLocks/>
          </p:cNvGrpSpPr>
          <p:nvPr/>
        </p:nvGrpSpPr>
        <p:grpSpPr bwMode="auto">
          <a:xfrm>
            <a:off x="3024188" y="3060604"/>
            <a:ext cx="3325813" cy="3294063"/>
            <a:chOff x="1536" y="1920"/>
            <a:chExt cx="2095" cy="2075"/>
          </a:xfrm>
        </p:grpSpPr>
        <p:grpSp>
          <p:nvGrpSpPr>
            <p:cNvPr id="17" name="Group 15"/>
            <p:cNvGrpSpPr>
              <a:grpSpLocks/>
            </p:cNvGrpSpPr>
            <p:nvPr/>
          </p:nvGrpSpPr>
          <p:grpSpPr bwMode="auto">
            <a:xfrm>
              <a:off x="1824" y="1920"/>
              <a:ext cx="1807" cy="2075"/>
              <a:chOff x="3840" y="1824"/>
              <a:chExt cx="1807" cy="2075"/>
            </a:xfrm>
          </p:grpSpPr>
          <p:sp>
            <p:nvSpPr>
              <p:cNvPr id="19" name="Oval 16"/>
              <p:cNvSpPr>
                <a:spLocks noChangeArrowheads="1"/>
              </p:cNvSpPr>
              <p:nvPr/>
            </p:nvSpPr>
            <p:spPr bwMode="auto">
              <a:xfrm>
                <a:off x="4311" y="1824"/>
                <a:ext cx="437" cy="283"/>
              </a:xfrm>
              <a:prstGeom prst="ellips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Refund</a:t>
                </a:r>
                <a:endParaRPr kumimoji="0" lang="en-US" altLang="en-US" sz="1400" b="0" i="0" u="none" strike="noStrike" kern="0" cap="none" spc="0" normalizeH="0" baseline="0" noProof="0" dirty="0">
                  <a:ln>
                    <a:noFill/>
                  </a:ln>
                  <a:effectLst/>
                  <a:uLnTx/>
                  <a:uFillTx/>
                  <a:latin typeface="Times New Roman" charset="0"/>
                </a:endParaRPr>
              </a:p>
            </p:txBody>
          </p:sp>
          <p:sp>
            <p:nvSpPr>
              <p:cNvPr id="20" name="Line 17"/>
              <p:cNvSpPr>
                <a:spLocks noChangeShapeType="1"/>
              </p:cNvSpPr>
              <p:nvPr/>
            </p:nvSpPr>
            <p:spPr bwMode="auto">
              <a:xfrm flipH="1">
                <a:off x="4166" y="2107"/>
                <a:ext cx="364"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21" name="Line 18"/>
              <p:cNvSpPr>
                <a:spLocks noChangeShapeType="1"/>
              </p:cNvSpPr>
              <p:nvPr/>
            </p:nvSpPr>
            <p:spPr bwMode="auto">
              <a:xfrm>
                <a:off x="4530" y="2107"/>
                <a:ext cx="363"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22" name="Rectangle 19"/>
              <p:cNvSpPr>
                <a:spLocks noChangeArrowheads="1"/>
              </p:cNvSpPr>
              <p:nvPr/>
            </p:nvSpPr>
            <p:spPr bwMode="auto">
              <a:xfrm>
                <a:off x="3984" y="2331"/>
                <a:ext cx="364" cy="298"/>
              </a:xfrm>
              <a:prstGeom prst="rect">
                <a:avLst/>
              </a:prstGeom>
              <a:noFill/>
              <a:ln w="50800" cmpd="thickTh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Don’t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23" name="Text Box 20"/>
              <p:cNvSpPr txBox="1">
                <a:spLocks noChangeArrowheads="1"/>
              </p:cNvSpPr>
              <p:nvPr/>
            </p:nvSpPr>
            <p:spPr bwMode="auto">
              <a:xfrm>
                <a:off x="4072" y="2062"/>
                <a:ext cx="315"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Yes</a:t>
                </a:r>
                <a:endParaRPr kumimoji="0" lang="en-US" altLang="en-US" sz="2400" b="0" i="0" u="none" strike="noStrike" kern="0" cap="none" spc="0" normalizeH="0" baseline="0" noProof="0" dirty="0">
                  <a:ln>
                    <a:noFill/>
                  </a:ln>
                  <a:effectLst/>
                  <a:uLnTx/>
                  <a:uFillTx/>
                  <a:latin typeface="Times New Roman" charset="0"/>
                </a:endParaRPr>
              </a:p>
            </p:txBody>
          </p:sp>
          <p:sp>
            <p:nvSpPr>
              <p:cNvPr id="24" name="Text Box 21"/>
              <p:cNvSpPr txBox="1">
                <a:spLocks noChangeArrowheads="1"/>
              </p:cNvSpPr>
              <p:nvPr/>
            </p:nvSpPr>
            <p:spPr bwMode="auto">
              <a:xfrm>
                <a:off x="4765" y="2062"/>
                <a:ext cx="265"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No</a:t>
                </a:r>
                <a:endParaRPr kumimoji="0" lang="en-US" altLang="en-US" sz="2400" b="0" i="0" u="none" strike="noStrike" kern="0" cap="none" spc="0" normalizeH="0" baseline="0" noProof="0" dirty="0">
                  <a:ln>
                    <a:noFill/>
                  </a:ln>
                  <a:effectLst/>
                  <a:uLnTx/>
                  <a:uFillTx/>
                  <a:latin typeface="Times New Roman" charset="0"/>
                </a:endParaRPr>
              </a:p>
            </p:txBody>
          </p:sp>
          <p:sp>
            <p:nvSpPr>
              <p:cNvPr id="25" name="Oval 22"/>
              <p:cNvSpPr>
                <a:spLocks noChangeArrowheads="1"/>
              </p:cNvSpPr>
              <p:nvPr/>
            </p:nvSpPr>
            <p:spPr bwMode="auto">
              <a:xfrm>
                <a:off x="4639" y="2331"/>
                <a:ext cx="545" cy="373"/>
              </a:xfrm>
              <a:prstGeom prst="ellips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Marital</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Status</a:t>
                </a:r>
                <a:endParaRPr kumimoji="0" lang="en-US" altLang="en-US" sz="1800" b="0" i="0" u="none" strike="noStrike" kern="0" cap="none" spc="0" normalizeH="0" baseline="0" noProof="0" dirty="0">
                  <a:ln>
                    <a:noFill/>
                  </a:ln>
                  <a:effectLst/>
                  <a:uLnTx/>
                  <a:uFillTx/>
                  <a:latin typeface="Times New Roman" charset="0"/>
                </a:endParaRPr>
              </a:p>
            </p:txBody>
          </p:sp>
          <p:sp>
            <p:nvSpPr>
              <p:cNvPr id="26" name="Line 23"/>
              <p:cNvSpPr>
                <a:spLocks noChangeShapeType="1"/>
              </p:cNvSpPr>
              <p:nvPr/>
            </p:nvSpPr>
            <p:spPr bwMode="auto">
              <a:xfrm flipH="1">
                <a:off x="4464" y="2704"/>
                <a:ext cx="465" cy="27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27" name="Line 24"/>
              <p:cNvSpPr>
                <a:spLocks noChangeShapeType="1"/>
              </p:cNvSpPr>
              <p:nvPr/>
            </p:nvSpPr>
            <p:spPr bwMode="auto">
              <a:xfrm>
                <a:off x="4929" y="2704"/>
                <a:ext cx="400" cy="26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28" name="Rectangle 25"/>
              <p:cNvSpPr>
                <a:spLocks noChangeArrowheads="1"/>
              </p:cNvSpPr>
              <p:nvPr/>
            </p:nvSpPr>
            <p:spPr bwMode="auto">
              <a:xfrm>
                <a:off x="5148" y="2965"/>
                <a:ext cx="363" cy="299"/>
              </a:xfrm>
              <a:prstGeom prst="rect">
                <a:avLst/>
              </a:prstGeom>
              <a:noFill/>
              <a:ln w="50800" cmpd="thickTh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Don’t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29" name="Rectangle 26"/>
              <p:cNvSpPr>
                <a:spLocks noChangeArrowheads="1"/>
              </p:cNvSpPr>
              <p:nvPr/>
            </p:nvSpPr>
            <p:spPr bwMode="auto">
              <a:xfrm>
                <a:off x="4704" y="3600"/>
                <a:ext cx="364" cy="262"/>
              </a:xfrm>
              <a:prstGeom prst="rect">
                <a:avLst/>
              </a:prstGeom>
              <a:noFill/>
              <a:ln w="50800" cmpd="thickTh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30" name="Text Box 27"/>
              <p:cNvSpPr txBox="1">
                <a:spLocks noChangeArrowheads="1"/>
              </p:cNvSpPr>
              <p:nvPr/>
            </p:nvSpPr>
            <p:spPr bwMode="auto">
              <a:xfrm>
                <a:off x="4060" y="2619"/>
                <a:ext cx="59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Single,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Divorced</a:t>
                </a:r>
                <a:endParaRPr kumimoji="0" lang="en-US" altLang="en-US" sz="1800" b="0" i="0" u="none" strike="noStrike" kern="0" cap="none" spc="0" normalizeH="0" baseline="0" noProof="0" dirty="0">
                  <a:ln>
                    <a:noFill/>
                  </a:ln>
                  <a:effectLst/>
                  <a:uLnTx/>
                  <a:uFillTx/>
                  <a:latin typeface="Arial" charset="0"/>
                </a:endParaRPr>
              </a:p>
            </p:txBody>
          </p:sp>
          <p:sp>
            <p:nvSpPr>
              <p:cNvPr id="31" name="Text Box 28"/>
              <p:cNvSpPr txBox="1">
                <a:spLocks noChangeArrowheads="1"/>
              </p:cNvSpPr>
              <p:nvPr/>
            </p:nvSpPr>
            <p:spPr bwMode="auto">
              <a:xfrm>
                <a:off x="5127" y="2688"/>
                <a:ext cx="52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Married</a:t>
                </a:r>
                <a:endParaRPr kumimoji="0" lang="en-US" altLang="en-US" sz="1800" b="0" i="0" u="none" strike="noStrike" kern="0" cap="none" spc="0" normalizeH="0" baseline="0" noProof="0" dirty="0">
                  <a:ln>
                    <a:noFill/>
                  </a:ln>
                  <a:effectLst/>
                  <a:uLnTx/>
                  <a:uFillTx/>
                  <a:latin typeface="Arial" charset="0"/>
                </a:endParaRPr>
              </a:p>
            </p:txBody>
          </p:sp>
          <p:sp>
            <p:nvSpPr>
              <p:cNvPr id="32" name="Oval 29"/>
              <p:cNvSpPr>
                <a:spLocks noChangeArrowheads="1"/>
              </p:cNvSpPr>
              <p:nvPr/>
            </p:nvSpPr>
            <p:spPr bwMode="auto">
              <a:xfrm>
                <a:off x="4080" y="2976"/>
                <a:ext cx="768" cy="384"/>
              </a:xfrm>
              <a:prstGeom prst="ellipse">
                <a:avLst/>
              </a:prstGeom>
              <a:noFill/>
              <a:ln w="25400">
                <a:solidFill>
                  <a:srgbClr val="33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Taxable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Income</a:t>
                </a:r>
                <a:endParaRPr kumimoji="0" lang="en-US" altLang="en-US" sz="2400" b="0" i="0" u="none" strike="noStrike" kern="0" cap="none" spc="0" normalizeH="0" baseline="0" noProof="0" dirty="0">
                  <a:ln>
                    <a:noFill/>
                  </a:ln>
                  <a:effectLst/>
                  <a:uLnTx/>
                  <a:uFillTx/>
                  <a:latin typeface="Times New Roman" charset="0"/>
                </a:endParaRPr>
              </a:p>
            </p:txBody>
          </p:sp>
          <p:sp>
            <p:nvSpPr>
              <p:cNvPr id="33" name="Rectangle 30"/>
              <p:cNvSpPr>
                <a:spLocks noChangeArrowheads="1"/>
              </p:cNvSpPr>
              <p:nvPr/>
            </p:nvSpPr>
            <p:spPr bwMode="auto">
              <a:xfrm>
                <a:off x="3840" y="3600"/>
                <a:ext cx="363" cy="299"/>
              </a:xfrm>
              <a:prstGeom prst="rect">
                <a:avLst/>
              </a:prstGeom>
              <a:noFill/>
              <a:ln w="50800" cmpd="thickTh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Don’t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34" name="Line 31"/>
              <p:cNvSpPr>
                <a:spLocks noChangeShapeType="1"/>
              </p:cNvSpPr>
              <p:nvPr/>
            </p:nvSpPr>
            <p:spPr bwMode="auto">
              <a:xfrm flipH="1">
                <a:off x="4032" y="3360"/>
                <a:ext cx="432" cy="240"/>
              </a:xfrm>
              <a:prstGeom prst="line">
                <a:avLst/>
              </a:prstGeom>
              <a:noFill/>
              <a:ln w="254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35" name="Line 32"/>
              <p:cNvSpPr>
                <a:spLocks noChangeShapeType="1"/>
              </p:cNvSpPr>
              <p:nvPr/>
            </p:nvSpPr>
            <p:spPr bwMode="auto">
              <a:xfrm>
                <a:off x="4464" y="3360"/>
                <a:ext cx="432" cy="240"/>
              </a:xfrm>
              <a:prstGeom prst="line">
                <a:avLst/>
              </a:prstGeom>
              <a:noFill/>
              <a:ln w="254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36" name="Text Box 33"/>
              <p:cNvSpPr txBox="1">
                <a:spLocks noChangeArrowheads="1"/>
              </p:cNvSpPr>
              <p:nvPr/>
            </p:nvSpPr>
            <p:spPr bwMode="auto">
              <a:xfrm>
                <a:off x="3840" y="3360"/>
                <a:ext cx="41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&lt; 80K</a:t>
                </a:r>
                <a:endParaRPr kumimoji="0" lang="en-US" altLang="en-US" sz="1800" b="0" i="0" u="none" strike="noStrike" kern="0" cap="none" spc="0" normalizeH="0" baseline="0" noProof="0" dirty="0">
                  <a:ln>
                    <a:noFill/>
                  </a:ln>
                  <a:effectLst/>
                  <a:uLnTx/>
                  <a:uFillTx/>
                  <a:latin typeface="Arial" charset="0"/>
                </a:endParaRPr>
              </a:p>
            </p:txBody>
          </p:sp>
          <p:sp>
            <p:nvSpPr>
              <p:cNvPr id="37" name="Text Box 34"/>
              <p:cNvSpPr txBox="1">
                <a:spLocks noChangeArrowheads="1"/>
              </p:cNvSpPr>
              <p:nvPr/>
            </p:nvSpPr>
            <p:spPr bwMode="auto">
              <a:xfrm>
                <a:off x="4704" y="3360"/>
                <a:ext cx="4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&gt;= 80K</a:t>
                </a:r>
                <a:endParaRPr kumimoji="0" lang="en-US" altLang="en-US" sz="1800" b="0" i="0" u="none" strike="noStrike" kern="0" cap="none" spc="0" normalizeH="0" baseline="0" noProof="0" dirty="0">
                  <a:ln>
                    <a:noFill/>
                  </a:ln>
                  <a:effectLst/>
                  <a:uLnTx/>
                  <a:uFillTx/>
                  <a:latin typeface="Arial" charset="0"/>
                </a:endParaRPr>
              </a:p>
            </p:txBody>
          </p:sp>
        </p:grpSp>
        <p:sp>
          <p:nvSpPr>
            <p:cNvPr id="18" name="Line 35"/>
            <p:cNvSpPr>
              <a:spLocks noChangeShapeType="1"/>
            </p:cNvSpPr>
            <p:nvPr/>
          </p:nvSpPr>
          <p:spPr bwMode="auto">
            <a:xfrm rot="-2664477">
              <a:off x="1536" y="2400"/>
              <a:ext cx="192" cy="192"/>
            </a:xfrm>
            <a:prstGeom prst="line">
              <a:avLst/>
            </a:prstGeom>
            <a:noFill/>
            <a:ln w="76200" cmpd="tri">
              <a:solidFill>
                <a:srgbClr val="CC3300"/>
              </a:solidFill>
              <a:round/>
              <a:headEnd/>
              <a:tailEnd type="arrow"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grpSp>
      <p:grpSp>
        <p:nvGrpSpPr>
          <p:cNvPr id="38" name="Group 36"/>
          <p:cNvGrpSpPr>
            <a:grpSpLocks/>
          </p:cNvGrpSpPr>
          <p:nvPr/>
        </p:nvGrpSpPr>
        <p:grpSpPr bwMode="auto">
          <a:xfrm>
            <a:off x="460375" y="2801938"/>
            <a:ext cx="2654300" cy="2620962"/>
            <a:chOff x="48" y="1757"/>
            <a:chExt cx="1672" cy="1651"/>
          </a:xfrm>
        </p:grpSpPr>
        <p:grpSp>
          <p:nvGrpSpPr>
            <p:cNvPr id="39" name="Group 37"/>
            <p:cNvGrpSpPr>
              <a:grpSpLocks/>
            </p:cNvGrpSpPr>
            <p:nvPr/>
          </p:nvGrpSpPr>
          <p:grpSpPr bwMode="auto">
            <a:xfrm>
              <a:off x="48" y="1968"/>
              <a:ext cx="1672" cy="1440"/>
              <a:chOff x="2016" y="1824"/>
              <a:chExt cx="1672" cy="1440"/>
            </a:xfrm>
          </p:grpSpPr>
          <p:grpSp>
            <p:nvGrpSpPr>
              <p:cNvPr id="41" name="Group 38"/>
              <p:cNvGrpSpPr>
                <a:grpSpLocks/>
              </p:cNvGrpSpPr>
              <p:nvPr/>
            </p:nvGrpSpPr>
            <p:grpSpPr bwMode="auto">
              <a:xfrm>
                <a:off x="2016" y="1824"/>
                <a:ext cx="1527" cy="1440"/>
                <a:chOff x="2016" y="1968"/>
                <a:chExt cx="1527" cy="1440"/>
              </a:xfrm>
            </p:grpSpPr>
            <p:sp>
              <p:nvSpPr>
                <p:cNvPr id="43" name="Oval 39"/>
                <p:cNvSpPr>
                  <a:spLocks noChangeArrowheads="1"/>
                </p:cNvSpPr>
                <p:nvPr/>
              </p:nvSpPr>
              <p:spPr bwMode="auto">
                <a:xfrm>
                  <a:off x="2343" y="1968"/>
                  <a:ext cx="437" cy="283"/>
                </a:xfrm>
                <a:prstGeom prst="ellips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Refund</a:t>
                  </a:r>
                  <a:endParaRPr kumimoji="0" lang="en-US" altLang="en-US" sz="1400" b="0" i="0" u="none" strike="noStrike" kern="0" cap="none" spc="0" normalizeH="0" baseline="0" noProof="0" dirty="0">
                    <a:ln>
                      <a:noFill/>
                    </a:ln>
                    <a:effectLst/>
                    <a:uLnTx/>
                    <a:uFillTx/>
                    <a:latin typeface="Times New Roman" charset="0"/>
                  </a:endParaRPr>
                </a:p>
              </p:txBody>
            </p:sp>
            <p:sp>
              <p:nvSpPr>
                <p:cNvPr id="44" name="Line 40"/>
                <p:cNvSpPr>
                  <a:spLocks noChangeShapeType="1"/>
                </p:cNvSpPr>
                <p:nvPr/>
              </p:nvSpPr>
              <p:spPr bwMode="auto">
                <a:xfrm flipH="1">
                  <a:off x="2198" y="2251"/>
                  <a:ext cx="364"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45" name="Line 41"/>
                <p:cNvSpPr>
                  <a:spLocks noChangeShapeType="1"/>
                </p:cNvSpPr>
                <p:nvPr/>
              </p:nvSpPr>
              <p:spPr bwMode="auto">
                <a:xfrm>
                  <a:off x="2562" y="2251"/>
                  <a:ext cx="363"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46" name="Rectangle 42"/>
                <p:cNvSpPr>
                  <a:spLocks noChangeArrowheads="1"/>
                </p:cNvSpPr>
                <p:nvPr/>
              </p:nvSpPr>
              <p:spPr bwMode="auto">
                <a:xfrm>
                  <a:off x="2016" y="2475"/>
                  <a:ext cx="364" cy="298"/>
                </a:xfrm>
                <a:prstGeom prst="rect">
                  <a:avLst/>
                </a:prstGeom>
                <a:noFill/>
                <a:ln w="50800" cmpd="thickTh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Don’t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47" name="Text Box 43"/>
                <p:cNvSpPr txBox="1">
                  <a:spLocks noChangeArrowheads="1"/>
                </p:cNvSpPr>
                <p:nvPr/>
              </p:nvSpPr>
              <p:spPr bwMode="auto">
                <a:xfrm>
                  <a:off x="2104" y="2206"/>
                  <a:ext cx="315"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Yes</a:t>
                  </a:r>
                  <a:endParaRPr kumimoji="0" lang="en-US" altLang="en-US" sz="2400" b="0" i="0" u="none" strike="noStrike" kern="0" cap="none" spc="0" normalizeH="0" baseline="0" noProof="0" dirty="0">
                    <a:ln>
                      <a:noFill/>
                    </a:ln>
                    <a:effectLst/>
                    <a:uLnTx/>
                    <a:uFillTx/>
                    <a:latin typeface="Times New Roman" charset="0"/>
                  </a:endParaRPr>
                </a:p>
              </p:txBody>
            </p:sp>
            <p:sp>
              <p:nvSpPr>
                <p:cNvPr id="48" name="Text Box 44"/>
                <p:cNvSpPr txBox="1">
                  <a:spLocks noChangeArrowheads="1"/>
                </p:cNvSpPr>
                <p:nvPr/>
              </p:nvSpPr>
              <p:spPr bwMode="auto">
                <a:xfrm>
                  <a:off x="2797" y="2206"/>
                  <a:ext cx="265"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No</a:t>
                  </a:r>
                  <a:endParaRPr kumimoji="0" lang="en-US" altLang="en-US" sz="2400" b="0" i="0" u="none" strike="noStrike" kern="0" cap="none" spc="0" normalizeH="0" baseline="0" noProof="0" dirty="0">
                    <a:ln>
                      <a:noFill/>
                    </a:ln>
                    <a:effectLst/>
                    <a:uLnTx/>
                    <a:uFillTx/>
                    <a:latin typeface="Times New Roman" charset="0"/>
                  </a:endParaRPr>
                </a:p>
              </p:txBody>
            </p:sp>
            <p:sp>
              <p:nvSpPr>
                <p:cNvPr id="49" name="Oval 45"/>
                <p:cNvSpPr>
                  <a:spLocks noChangeArrowheads="1"/>
                </p:cNvSpPr>
                <p:nvPr/>
              </p:nvSpPr>
              <p:spPr bwMode="auto">
                <a:xfrm>
                  <a:off x="2671" y="2475"/>
                  <a:ext cx="545" cy="373"/>
                </a:xfrm>
                <a:prstGeom prst="ellipse">
                  <a:avLst/>
                </a:prstGeom>
                <a:noFill/>
                <a:ln w="25400">
                  <a:solidFill>
                    <a:srgbClr val="33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Marital</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Status</a:t>
                  </a:r>
                  <a:endParaRPr kumimoji="0" lang="en-US" altLang="en-US" sz="1800" b="0" i="0" u="none" strike="noStrike" kern="0" cap="none" spc="0" normalizeH="0" baseline="0" noProof="0" dirty="0">
                    <a:ln>
                      <a:noFill/>
                    </a:ln>
                    <a:effectLst/>
                    <a:uLnTx/>
                    <a:uFillTx/>
                    <a:latin typeface="Times New Roman" charset="0"/>
                  </a:endParaRPr>
                </a:p>
              </p:txBody>
            </p:sp>
            <p:sp>
              <p:nvSpPr>
                <p:cNvPr id="50" name="Line 46"/>
                <p:cNvSpPr>
                  <a:spLocks noChangeShapeType="1"/>
                </p:cNvSpPr>
                <p:nvPr/>
              </p:nvSpPr>
              <p:spPr bwMode="auto">
                <a:xfrm flipH="1">
                  <a:off x="2525" y="2848"/>
                  <a:ext cx="436" cy="261"/>
                </a:xfrm>
                <a:prstGeom prst="line">
                  <a:avLst/>
                </a:prstGeom>
                <a:noFill/>
                <a:ln w="254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51" name="Line 47"/>
                <p:cNvSpPr>
                  <a:spLocks noChangeShapeType="1"/>
                </p:cNvSpPr>
                <p:nvPr/>
              </p:nvSpPr>
              <p:spPr bwMode="auto">
                <a:xfrm>
                  <a:off x="2961" y="2848"/>
                  <a:ext cx="400" cy="261"/>
                </a:xfrm>
                <a:prstGeom prst="line">
                  <a:avLst/>
                </a:prstGeom>
                <a:noFill/>
                <a:ln w="254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sp>
              <p:nvSpPr>
                <p:cNvPr id="52" name="Rectangle 48"/>
                <p:cNvSpPr>
                  <a:spLocks noChangeArrowheads="1"/>
                </p:cNvSpPr>
                <p:nvPr/>
              </p:nvSpPr>
              <p:spPr bwMode="auto">
                <a:xfrm>
                  <a:off x="3180" y="3109"/>
                  <a:ext cx="363" cy="299"/>
                </a:xfrm>
                <a:prstGeom prst="rect">
                  <a:avLst/>
                </a:prstGeom>
                <a:noFill/>
                <a:ln w="50800" cmpd="thickTh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Don’t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53" name="Rectangle 49"/>
                <p:cNvSpPr>
                  <a:spLocks noChangeArrowheads="1"/>
                </p:cNvSpPr>
                <p:nvPr/>
              </p:nvSpPr>
              <p:spPr bwMode="auto">
                <a:xfrm>
                  <a:off x="2343" y="3109"/>
                  <a:ext cx="364" cy="262"/>
                </a:xfrm>
                <a:prstGeom prst="rect">
                  <a:avLst/>
                </a:prstGeom>
                <a:noFill/>
                <a:ln w="25400">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effectLst/>
                      <a:uLnTx/>
                      <a:uFillTx/>
                      <a:latin typeface="Times New Roman" charset="0"/>
                    </a:rPr>
                    <a:t>Cheat</a:t>
                  </a:r>
                  <a:endParaRPr kumimoji="0" lang="en-US" altLang="en-US" sz="2400" b="0" i="0" u="none" strike="noStrike" kern="0" cap="none" spc="0" normalizeH="0" baseline="0" noProof="0" dirty="0">
                    <a:ln>
                      <a:noFill/>
                    </a:ln>
                    <a:effectLst/>
                    <a:uLnTx/>
                    <a:uFillTx/>
                    <a:latin typeface="Times New Roman" charset="0"/>
                  </a:endParaRPr>
                </a:p>
              </p:txBody>
            </p:sp>
            <p:sp>
              <p:nvSpPr>
                <p:cNvPr id="54" name="Text Box 50"/>
                <p:cNvSpPr txBox="1">
                  <a:spLocks noChangeArrowheads="1"/>
                </p:cNvSpPr>
                <p:nvPr/>
              </p:nvSpPr>
              <p:spPr bwMode="auto">
                <a:xfrm>
                  <a:off x="2092" y="2763"/>
                  <a:ext cx="59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Single,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Divorced</a:t>
                  </a:r>
                  <a:endParaRPr kumimoji="0" lang="en-US" altLang="en-US" sz="1800" b="0" i="0" u="none" strike="noStrike" kern="0" cap="none" spc="0" normalizeH="0" baseline="0" noProof="0" dirty="0">
                    <a:ln>
                      <a:noFill/>
                    </a:ln>
                    <a:effectLst/>
                    <a:uLnTx/>
                    <a:uFillTx/>
                    <a:latin typeface="Arial" charset="0"/>
                  </a:endParaRPr>
                </a:p>
              </p:txBody>
            </p:sp>
          </p:grpSp>
          <p:sp>
            <p:nvSpPr>
              <p:cNvPr id="42" name="Text Box 51"/>
              <p:cNvSpPr txBox="1">
                <a:spLocks noChangeArrowheads="1"/>
              </p:cNvSpPr>
              <p:nvPr/>
            </p:nvSpPr>
            <p:spPr bwMode="auto">
              <a:xfrm>
                <a:off x="3168" y="2688"/>
                <a:ext cx="52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effectLst/>
                    <a:uLnTx/>
                    <a:uFillTx/>
                    <a:latin typeface="Arial" charset="0"/>
                  </a:rPr>
                  <a:t>Married</a:t>
                </a:r>
                <a:endParaRPr kumimoji="0" lang="en-US" altLang="en-US" sz="1800" b="0" i="0" u="none" strike="noStrike" kern="0" cap="none" spc="0" normalizeH="0" baseline="0" noProof="0" dirty="0">
                  <a:ln>
                    <a:noFill/>
                  </a:ln>
                  <a:effectLst/>
                  <a:uLnTx/>
                  <a:uFillTx/>
                  <a:latin typeface="Arial" charset="0"/>
                </a:endParaRPr>
              </a:p>
            </p:txBody>
          </p:sp>
        </p:grpSp>
        <p:sp>
          <p:nvSpPr>
            <p:cNvPr id="40" name="Line 52"/>
            <p:cNvSpPr>
              <a:spLocks noChangeShapeType="1"/>
            </p:cNvSpPr>
            <p:nvPr/>
          </p:nvSpPr>
          <p:spPr bwMode="auto">
            <a:xfrm rot="-2664477" flipH="1" flipV="1">
              <a:off x="727" y="1757"/>
              <a:ext cx="402" cy="26"/>
            </a:xfrm>
            <a:prstGeom prst="line">
              <a:avLst/>
            </a:prstGeom>
            <a:noFill/>
            <a:ln w="76200" cmpd="tri">
              <a:solidFill>
                <a:srgbClr val="CC3300"/>
              </a:solidFill>
              <a:round/>
              <a:headEnd/>
              <a:tailEnd type="arrow"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a:ln>
                  <a:noFill/>
                </a:ln>
                <a:solidFill>
                  <a:srgbClr val="FFFF00"/>
                </a:solidFill>
                <a:effectLst/>
                <a:uLnTx/>
                <a:uFillTx/>
                <a:latin typeface="Arial" charset="0"/>
              </a:endParaRPr>
            </a:p>
          </p:txBody>
        </p:sp>
      </p:grpSp>
    </p:spTree>
    <p:extLst>
      <p:ext uri="{BB962C8B-B14F-4D97-AF65-F5344CB8AC3E}">
        <p14:creationId xmlns:p14="http://schemas.microsoft.com/office/powerpoint/2010/main" val="86025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16262"/>
            <a:ext cx="6589199" cy="1280890"/>
          </a:xfrm>
        </p:spPr>
        <p:txBody>
          <a:bodyPr/>
          <a:lstStyle/>
          <a:p>
            <a:r>
              <a:rPr lang="en-US" dirty="0">
                <a:latin typeface="Times New Roman" panose="02020603050405020304" pitchFamily="18" charset="0"/>
                <a:cs typeface="Times New Roman" panose="02020603050405020304" pitchFamily="18" charset="0"/>
              </a:rPr>
              <a:t>Specifying Splits</a:t>
            </a:r>
          </a:p>
        </p:txBody>
      </p:sp>
      <p:sp>
        <p:nvSpPr>
          <p:cNvPr id="3" name="Content Placeholder 2"/>
          <p:cNvSpPr>
            <a:spLocks noGrp="1"/>
          </p:cNvSpPr>
          <p:nvPr>
            <p:ph idx="1"/>
          </p:nvPr>
        </p:nvSpPr>
        <p:spPr>
          <a:xfrm>
            <a:off x="457200" y="1600200"/>
            <a:ext cx="8229600" cy="4142673"/>
          </a:xfrm>
        </p:spPr>
        <p:txBody>
          <a:bodyPr>
            <a:normAutofit/>
          </a:bodyPr>
          <a:lstStyle/>
          <a:p>
            <a:r>
              <a:rPr lang="en-US" sz="2000" dirty="0">
                <a:latin typeface="Times New Roman" panose="02020603050405020304" pitchFamily="18" charset="0"/>
                <a:cs typeface="Times New Roman" panose="02020603050405020304" pitchFamily="18" charset="0"/>
              </a:rPr>
              <a:t>Depends on the type of Attribute</a:t>
            </a:r>
          </a:p>
          <a:p>
            <a:pPr lvl="1"/>
            <a:r>
              <a:rPr lang="en-US" sz="2000" dirty="0">
                <a:latin typeface="Times New Roman" panose="02020603050405020304" pitchFamily="18" charset="0"/>
                <a:cs typeface="Times New Roman" panose="02020603050405020304" pitchFamily="18" charset="0"/>
              </a:rPr>
              <a:t>Nominal</a:t>
            </a:r>
          </a:p>
          <a:p>
            <a:pPr lvl="1"/>
            <a:r>
              <a:rPr lang="en-US" sz="2000" dirty="0">
                <a:latin typeface="Times New Roman" panose="02020603050405020304" pitchFamily="18" charset="0"/>
                <a:cs typeface="Times New Roman" panose="02020603050405020304" pitchFamily="18" charset="0"/>
              </a:rPr>
              <a:t>Ordinal</a:t>
            </a:r>
          </a:p>
          <a:p>
            <a:pPr lvl="1"/>
            <a:r>
              <a:rPr lang="en-US" sz="2000" dirty="0">
                <a:latin typeface="Times New Roman" panose="02020603050405020304" pitchFamily="18" charset="0"/>
                <a:cs typeface="Times New Roman" panose="02020603050405020304" pitchFamily="18" charset="0"/>
              </a:rPr>
              <a:t>Continuous</a:t>
            </a:r>
          </a:p>
          <a:p>
            <a:pPr lvl="1"/>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Depends on the number of ways to split</a:t>
            </a:r>
          </a:p>
          <a:p>
            <a:pPr lvl="1"/>
            <a:r>
              <a:rPr lang="en-US" sz="2000" dirty="0">
                <a:latin typeface="Times New Roman" panose="02020603050405020304" pitchFamily="18" charset="0"/>
                <a:cs typeface="Times New Roman" panose="02020603050405020304" pitchFamily="18" charset="0"/>
              </a:rPr>
              <a:t>2-way split</a:t>
            </a:r>
          </a:p>
          <a:p>
            <a:pPr lvl="1"/>
            <a:r>
              <a:rPr lang="en-US" sz="2000" dirty="0">
                <a:latin typeface="Times New Roman" panose="02020603050405020304" pitchFamily="18" charset="0"/>
                <a:cs typeface="Times New Roman" panose="02020603050405020304" pitchFamily="18" charset="0"/>
              </a:rPr>
              <a:t>Multi-way split</a:t>
            </a:r>
          </a:p>
          <a:p>
            <a:pPr lvl="1"/>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8</a:t>
            </a:fld>
            <a:endParaRPr lang="en-US"/>
          </a:p>
        </p:txBody>
      </p:sp>
    </p:spTree>
    <p:extLst>
      <p:ext uri="{BB962C8B-B14F-4D97-AF65-F5344CB8AC3E}">
        <p14:creationId xmlns:p14="http://schemas.microsoft.com/office/powerpoint/2010/main" val="3932312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Greedy Strategies</a:t>
            </a:r>
          </a:p>
        </p:txBody>
      </p:sp>
      <p:sp>
        <p:nvSpPr>
          <p:cNvPr id="3" name="Content Placeholder 2"/>
          <p:cNvSpPr>
            <a:spLocks noGrp="1"/>
          </p:cNvSpPr>
          <p:nvPr>
            <p:ph idx="1"/>
          </p:nvPr>
        </p:nvSpPr>
        <p:spPr>
          <a:xfrm>
            <a:off x="457200" y="1600200"/>
            <a:ext cx="8229600" cy="4343400"/>
          </a:xfrm>
        </p:spPr>
        <p:txBody>
          <a:bodyPr>
            <a:normAutofit/>
          </a:bodyPr>
          <a:lstStyle/>
          <a:p>
            <a:r>
              <a:rPr lang="en-US" sz="2400" dirty="0">
                <a:latin typeface="Times New Roman" panose="02020603050405020304" pitchFamily="18" charset="0"/>
                <a:cs typeface="Times New Roman" panose="02020603050405020304" pitchFamily="18" charset="0"/>
              </a:rPr>
              <a:t>What is a greedy strategy?</a:t>
            </a:r>
          </a:p>
          <a:p>
            <a:pPr lvl="1"/>
            <a:r>
              <a:rPr lang="en-US" sz="2200" dirty="0">
                <a:latin typeface="Times New Roman" panose="02020603050405020304" pitchFamily="18" charset="0"/>
                <a:cs typeface="Times New Roman" panose="02020603050405020304" pitchFamily="18" charset="0"/>
              </a:rPr>
              <a:t>A greedy algorithm is an algorithmic paradigm that follows the problem solving heuristic of making the locally optimal choice at each stage with the intent of finding a global optimum. </a:t>
            </a:r>
            <a:r>
              <a:rPr lang="en-US" sz="1100" dirty="0">
                <a:latin typeface="Times New Roman" panose="02020603050405020304" pitchFamily="18" charset="0"/>
                <a:cs typeface="Times New Roman" panose="02020603050405020304" pitchFamily="18" charset="0"/>
              </a:rPr>
              <a:t>(Wikipedia)</a:t>
            </a:r>
          </a:p>
          <a:p>
            <a:r>
              <a:rPr lang="en-US" sz="2400" dirty="0">
                <a:latin typeface="Times New Roman" panose="02020603050405020304" pitchFamily="18" charset="0"/>
                <a:cs typeface="Times New Roman" panose="02020603050405020304" pitchFamily="18" charset="0"/>
              </a:rPr>
              <a:t>Advantages – simpler</a:t>
            </a:r>
          </a:p>
          <a:p>
            <a:r>
              <a:rPr lang="en-US" sz="2400" dirty="0">
                <a:latin typeface="Times New Roman" panose="02020603050405020304" pitchFamily="18" charset="0"/>
                <a:cs typeface="Times New Roman" panose="02020603050405020304" pitchFamily="18" charset="0"/>
              </a:rPr>
              <a:t>Disadvantages – may only find local optimum</a:t>
            </a:r>
          </a:p>
        </p:txBody>
      </p:sp>
      <p:sp>
        <p:nvSpPr>
          <p:cNvPr id="4" name="Slide Number Placeholder 3"/>
          <p:cNvSpPr>
            <a:spLocks noGrp="1"/>
          </p:cNvSpPr>
          <p:nvPr>
            <p:ph type="sldNum" sz="quarter" idx="12"/>
          </p:nvPr>
        </p:nvSpPr>
        <p:spPr/>
        <p:txBody>
          <a:bodyPr/>
          <a:lstStyle/>
          <a:p>
            <a:fld id="{76F96C40-0356-46F5-90E5-FF57DE76D9A0}" type="slidenum">
              <a:rPr lang="en-US" smtClean="0"/>
              <a:t>9</a:t>
            </a:fld>
            <a:endParaRPr lang="en-US"/>
          </a:p>
        </p:txBody>
      </p:sp>
    </p:spTree>
    <p:extLst>
      <p:ext uri="{BB962C8B-B14F-4D97-AF65-F5344CB8AC3E}">
        <p14:creationId xmlns:p14="http://schemas.microsoft.com/office/powerpoint/2010/main" val="249198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57200" y="1219200"/>
            <a:ext cx="8382000" cy="3733800"/>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342900" indent="-342900"/>
            <a:r>
              <a:rPr lang="en-US" altLang="en-US" dirty="0">
                <a:solidFill>
                  <a:srgbClr val="FF0000"/>
                </a:solidFill>
                <a:latin typeface="Times New Roman" panose="02020603050405020304" pitchFamily="18" charset="0"/>
                <a:cs typeface="Times New Roman" panose="02020603050405020304" pitchFamily="18" charset="0"/>
              </a:rPr>
              <a:t>Multi-way split: </a:t>
            </a:r>
            <a:r>
              <a:rPr lang="en-US" altLang="en-US" dirty="0">
                <a:latin typeface="Times New Roman" panose="02020603050405020304" pitchFamily="18" charset="0"/>
                <a:cs typeface="Times New Roman" panose="02020603050405020304" pitchFamily="18" charset="0"/>
              </a:rPr>
              <a:t>Use as many partitions as distinct values. </a:t>
            </a: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r>
              <a:rPr lang="en-US" altLang="en-US" dirty="0">
                <a:solidFill>
                  <a:srgbClr val="FF0000"/>
                </a:solidFill>
                <a:latin typeface="Times New Roman" panose="02020603050405020304" pitchFamily="18" charset="0"/>
                <a:cs typeface="Times New Roman" panose="02020603050405020304" pitchFamily="18" charset="0"/>
              </a:rPr>
              <a:t>Binary split:  </a:t>
            </a:r>
            <a:r>
              <a:rPr lang="en-US" altLang="en-US" dirty="0">
                <a:latin typeface="Times New Roman" panose="02020603050405020304" pitchFamily="18" charset="0"/>
                <a:cs typeface="Times New Roman" panose="02020603050405020304" pitchFamily="18" charset="0"/>
              </a:rPr>
              <a:t>Divides values into two subsets.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Need to find optimal partitioning.</a:t>
            </a:r>
            <a:endParaRPr lang="en-US" altLang="en-US" sz="3600" dirty="0">
              <a:latin typeface="Times New Roman" panose="02020603050405020304" pitchFamily="18" charset="0"/>
              <a:cs typeface="Times New Roman" panose="02020603050405020304" pitchFamily="18" charset="0"/>
            </a:endParaRPr>
          </a:p>
        </p:txBody>
      </p:sp>
      <p:grpSp>
        <p:nvGrpSpPr>
          <p:cNvPr id="3" name="Group 4"/>
          <p:cNvGrpSpPr>
            <a:grpSpLocks/>
          </p:cNvGrpSpPr>
          <p:nvPr/>
        </p:nvGrpSpPr>
        <p:grpSpPr bwMode="auto">
          <a:xfrm>
            <a:off x="2878138" y="2133600"/>
            <a:ext cx="2595563" cy="946150"/>
            <a:chOff x="1813" y="1680"/>
            <a:chExt cx="1635" cy="596"/>
          </a:xfrm>
        </p:grpSpPr>
        <p:sp>
          <p:nvSpPr>
            <p:cNvPr id="4" name="Oval 5"/>
            <p:cNvSpPr>
              <a:spLocks noChangeArrowheads="1"/>
            </p:cNvSpPr>
            <p:nvPr/>
          </p:nvSpPr>
          <p:spPr bwMode="auto">
            <a:xfrm>
              <a:off x="2352" y="1680"/>
              <a:ext cx="576" cy="288"/>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b="0" dirty="0" err="1">
                  <a:latin typeface="Times New Roman" charset="0"/>
                </a:rPr>
                <a:t>CarType</a:t>
              </a:r>
              <a:endParaRPr lang="en-US" altLang="en-US" sz="2400" b="0" dirty="0">
                <a:latin typeface="Times New Roman" charset="0"/>
              </a:endParaRPr>
            </a:p>
          </p:txBody>
        </p:sp>
        <p:sp>
          <p:nvSpPr>
            <p:cNvPr id="5" name="Line 6"/>
            <p:cNvSpPr>
              <a:spLocks noChangeShapeType="1"/>
            </p:cNvSpPr>
            <p:nvPr/>
          </p:nvSpPr>
          <p:spPr bwMode="auto">
            <a:xfrm flipH="1">
              <a:off x="2064" y="1968"/>
              <a:ext cx="57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7"/>
            <p:cNvSpPr>
              <a:spLocks noChangeShapeType="1"/>
            </p:cNvSpPr>
            <p:nvPr/>
          </p:nvSpPr>
          <p:spPr bwMode="auto">
            <a:xfrm>
              <a:off x="2640" y="196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8"/>
            <p:cNvSpPr>
              <a:spLocks noChangeShapeType="1"/>
            </p:cNvSpPr>
            <p:nvPr/>
          </p:nvSpPr>
          <p:spPr bwMode="auto">
            <a:xfrm>
              <a:off x="2640" y="1968"/>
              <a:ext cx="57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9"/>
            <p:cNvSpPr txBox="1">
              <a:spLocks noChangeArrowheads="1"/>
            </p:cNvSpPr>
            <p:nvPr/>
          </p:nvSpPr>
          <p:spPr bwMode="auto">
            <a:xfrm>
              <a:off x="1813" y="1871"/>
              <a:ext cx="513"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Family</a:t>
              </a:r>
            </a:p>
          </p:txBody>
        </p:sp>
        <p:sp>
          <p:nvSpPr>
            <p:cNvPr id="9" name="Text Box 10"/>
            <p:cNvSpPr txBox="1">
              <a:spLocks noChangeArrowheads="1"/>
            </p:cNvSpPr>
            <p:nvPr/>
          </p:nvSpPr>
          <p:spPr bwMode="auto">
            <a:xfrm>
              <a:off x="2208" y="2064"/>
              <a:ext cx="48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Sports</a:t>
              </a:r>
            </a:p>
          </p:txBody>
        </p:sp>
        <p:sp>
          <p:nvSpPr>
            <p:cNvPr id="10" name="Text Box 11"/>
            <p:cNvSpPr txBox="1">
              <a:spLocks noChangeArrowheads="1"/>
            </p:cNvSpPr>
            <p:nvPr/>
          </p:nvSpPr>
          <p:spPr bwMode="auto">
            <a:xfrm>
              <a:off x="2908" y="1871"/>
              <a:ext cx="540"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Luxury</a:t>
              </a:r>
            </a:p>
          </p:txBody>
        </p:sp>
      </p:grpSp>
      <p:grpSp>
        <p:nvGrpSpPr>
          <p:cNvPr id="11" name="Group 12"/>
          <p:cNvGrpSpPr>
            <a:grpSpLocks/>
          </p:cNvGrpSpPr>
          <p:nvPr/>
        </p:nvGrpSpPr>
        <p:grpSpPr bwMode="auto">
          <a:xfrm>
            <a:off x="5551489" y="4876800"/>
            <a:ext cx="2763838" cy="914400"/>
            <a:chOff x="3545" y="3216"/>
            <a:chExt cx="1741" cy="576"/>
          </a:xfrm>
        </p:grpSpPr>
        <p:sp>
          <p:nvSpPr>
            <p:cNvPr id="12" name="Oval 13"/>
            <p:cNvSpPr>
              <a:spLocks noChangeArrowheads="1"/>
            </p:cNvSpPr>
            <p:nvPr/>
          </p:nvSpPr>
          <p:spPr bwMode="auto">
            <a:xfrm>
              <a:off x="4186" y="3216"/>
              <a:ext cx="576" cy="288"/>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b="0">
                  <a:latin typeface="Times New Roman" charset="0"/>
                </a:rPr>
                <a:t>CarType</a:t>
              </a:r>
              <a:endParaRPr lang="en-US" altLang="en-US" sz="2400" b="0">
                <a:latin typeface="Times New Roman" charset="0"/>
              </a:endParaRPr>
            </a:p>
          </p:txBody>
        </p:sp>
        <p:sp>
          <p:nvSpPr>
            <p:cNvPr id="13" name="Line 14"/>
            <p:cNvSpPr>
              <a:spLocks noChangeShapeType="1"/>
            </p:cNvSpPr>
            <p:nvPr/>
          </p:nvSpPr>
          <p:spPr bwMode="auto">
            <a:xfrm flipH="1">
              <a:off x="3946" y="3504"/>
              <a:ext cx="52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5"/>
            <p:cNvSpPr>
              <a:spLocks noChangeShapeType="1"/>
            </p:cNvSpPr>
            <p:nvPr/>
          </p:nvSpPr>
          <p:spPr bwMode="auto">
            <a:xfrm>
              <a:off x="4474" y="3504"/>
              <a:ext cx="48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16"/>
            <p:cNvSpPr txBox="1">
              <a:spLocks noChangeArrowheads="1"/>
            </p:cNvSpPr>
            <p:nvPr/>
          </p:nvSpPr>
          <p:spPr bwMode="auto">
            <a:xfrm>
              <a:off x="3545" y="3359"/>
              <a:ext cx="62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{Family, </a:t>
              </a:r>
              <a:br>
                <a:rPr lang="en-US" altLang="en-US" sz="1600" b="0"/>
              </a:br>
              <a:r>
                <a:rPr lang="en-US" altLang="en-US" sz="1600" b="0"/>
                <a:t>Luxury}</a:t>
              </a:r>
            </a:p>
          </p:txBody>
        </p:sp>
        <p:sp>
          <p:nvSpPr>
            <p:cNvPr id="16" name="Text Box 17"/>
            <p:cNvSpPr txBox="1">
              <a:spLocks noChangeArrowheads="1"/>
            </p:cNvSpPr>
            <p:nvPr/>
          </p:nvSpPr>
          <p:spPr bwMode="auto">
            <a:xfrm>
              <a:off x="4714" y="3456"/>
              <a:ext cx="5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{Sports}</a:t>
              </a:r>
            </a:p>
          </p:txBody>
        </p:sp>
      </p:grpSp>
      <p:grpSp>
        <p:nvGrpSpPr>
          <p:cNvPr id="17" name="Group 18"/>
          <p:cNvGrpSpPr>
            <a:grpSpLocks/>
          </p:cNvGrpSpPr>
          <p:nvPr/>
        </p:nvGrpSpPr>
        <p:grpSpPr bwMode="auto">
          <a:xfrm>
            <a:off x="685800" y="4876800"/>
            <a:ext cx="2922588" cy="914400"/>
            <a:chOff x="768" y="3216"/>
            <a:chExt cx="1841" cy="576"/>
          </a:xfrm>
        </p:grpSpPr>
        <p:sp>
          <p:nvSpPr>
            <p:cNvPr id="18" name="Oval 19"/>
            <p:cNvSpPr>
              <a:spLocks noChangeArrowheads="1"/>
            </p:cNvSpPr>
            <p:nvPr/>
          </p:nvSpPr>
          <p:spPr bwMode="auto">
            <a:xfrm>
              <a:off x="1494" y="3216"/>
              <a:ext cx="576" cy="288"/>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b="0" dirty="0" err="1">
                  <a:latin typeface="Times New Roman" charset="0"/>
                </a:rPr>
                <a:t>CarType</a:t>
              </a:r>
              <a:endParaRPr lang="en-US" altLang="en-US" sz="2400" b="0" dirty="0">
                <a:latin typeface="Times New Roman" charset="0"/>
              </a:endParaRPr>
            </a:p>
          </p:txBody>
        </p:sp>
        <p:sp>
          <p:nvSpPr>
            <p:cNvPr id="19" name="Line 20"/>
            <p:cNvSpPr>
              <a:spLocks noChangeShapeType="1"/>
            </p:cNvSpPr>
            <p:nvPr/>
          </p:nvSpPr>
          <p:spPr bwMode="auto">
            <a:xfrm flipH="1">
              <a:off x="1254" y="3504"/>
              <a:ext cx="52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21"/>
            <p:cNvSpPr>
              <a:spLocks noChangeShapeType="1"/>
            </p:cNvSpPr>
            <p:nvPr/>
          </p:nvSpPr>
          <p:spPr bwMode="auto">
            <a:xfrm>
              <a:off x="1782" y="3504"/>
              <a:ext cx="48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Text Box 22"/>
            <p:cNvSpPr txBox="1">
              <a:spLocks noChangeArrowheads="1"/>
            </p:cNvSpPr>
            <p:nvPr/>
          </p:nvSpPr>
          <p:spPr bwMode="auto">
            <a:xfrm>
              <a:off x="768" y="3360"/>
              <a:ext cx="594"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en-US" sz="1600" b="0"/>
                <a:t>{Sports, Luxury}</a:t>
              </a:r>
            </a:p>
          </p:txBody>
        </p:sp>
        <p:sp>
          <p:nvSpPr>
            <p:cNvPr id="22" name="Text Box 23"/>
            <p:cNvSpPr txBox="1">
              <a:spLocks noChangeArrowheads="1"/>
            </p:cNvSpPr>
            <p:nvPr/>
          </p:nvSpPr>
          <p:spPr bwMode="auto">
            <a:xfrm>
              <a:off x="2009" y="3455"/>
              <a:ext cx="600"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{Family}</a:t>
              </a:r>
            </a:p>
          </p:txBody>
        </p:sp>
      </p:grpSp>
      <p:sp>
        <p:nvSpPr>
          <p:cNvPr id="23" name="Text Box 24"/>
          <p:cNvSpPr txBox="1">
            <a:spLocks noChangeArrowheads="1"/>
          </p:cNvSpPr>
          <p:nvPr/>
        </p:nvSpPr>
        <p:spPr bwMode="auto">
          <a:xfrm>
            <a:off x="4191000" y="5105400"/>
            <a:ext cx="608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400" b="0">
                <a:latin typeface="Times New Roman" charset="0"/>
              </a:rPr>
              <a:t>OR</a:t>
            </a:r>
          </a:p>
        </p:txBody>
      </p:sp>
      <p:grpSp>
        <p:nvGrpSpPr>
          <p:cNvPr id="24" name="Group 22"/>
          <p:cNvGrpSpPr>
            <a:grpSpLocks/>
          </p:cNvGrpSpPr>
          <p:nvPr/>
        </p:nvGrpSpPr>
        <p:grpSpPr bwMode="auto">
          <a:xfrm>
            <a:off x="381000" y="6400800"/>
            <a:ext cx="8382000" cy="304800"/>
            <a:chOff x="288" y="3408"/>
            <a:chExt cx="5280" cy="192"/>
          </a:xfrm>
        </p:grpSpPr>
        <p:sp>
          <p:nvSpPr>
            <p:cNvPr id="2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10</a:t>
              </a:fld>
              <a:r>
                <a:rPr lang="en-US" altLang="en-US" sz="1200" b="0" dirty="0"/>
                <a:t> </a:t>
              </a:r>
            </a:p>
          </p:txBody>
        </p:sp>
      </p:grpSp>
      <p:sp>
        <p:nvSpPr>
          <p:cNvPr id="27" name="Title 26"/>
          <p:cNvSpPr>
            <a:spLocks noGrp="1"/>
          </p:cNvSpPr>
          <p:nvPr>
            <p:ph type="title"/>
          </p:nvPr>
        </p:nvSpPr>
        <p:spPr>
          <a:xfrm>
            <a:off x="457200" y="152400"/>
            <a:ext cx="8229600" cy="1143000"/>
          </a:xfrm>
        </p:spPr>
        <p:txBody>
          <a:bodyPr>
            <a:normAutofit/>
          </a:bodyPr>
          <a:lstStyle/>
          <a:p>
            <a:r>
              <a:rPr lang="en-US" dirty="0">
                <a:latin typeface="Times New Roman" panose="02020603050405020304" pitchFamily="18" charset="0"/>
                <a:cs typeface="Times New Roman" panose="02020603050405020304" pitchFamily="18" charset="0"/>
              </a:rPr>
              <a:t>Splitting on Nominal Attributes</a:t>
            </a:r>
          </a:p>
        </p:txBody>
      </p:sp>
      <p:sp>
        <p:nvSpPr>
          <p:cNvPr id="28" name="Slide Number Placeholder 27"/>
          <p:cNvSpPr>
            <a:spLocks noGrp="1"/>
          </p:cNvSpPr>
          <p:nvPr>
            <p:ph type="sldNum" sz="quarter" idx="12"/>
          </p:nvPr>
        </p:nvSpPr>
        <p:spPr/>
        <p:txBody>
          <a:bodyPr/>
          <a:lstStyle/>
          <a:p>
            <a:fld id="{76F96C40-0356-46F5-90E5-FF57DE76D9A0}" type="slidenum">
              <a:rPr lang="en-US" smtClean="0"/>
              <a:t>10</a:t>
            </a:fld>
            <a:endParaRPr lang="en-US"/>
          </a:p>
        </p:txBody>
      </p:sp>
    </p:spTree>
    <p:extLst>
      <p:ext uri="{BB962C8B-B14F-4D97-AF65-F5344CB8AC3E}">
        <p14:creationId xmlns:p14="http://schemas.microsoft.com/office/powerpoint/2010/main" val="1860033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dirty="0">
                <a:latin typeface="Times New Roman" panose="02020603050405020304" pitchFamily="18" charset="0"/>
                <a:cs typeface="Times New Roman" panose="02020603050405020304" pitchFamily="18" charset="0"/>
              </a:rPr>
              <a:t>Splitting on Ordinal Attributes</a:t>
            </a:r>
          </a:p>
        </p:txBody>
      </p:sp>
      <p:sp>
        <p:nvSpPr>
          <p:cNvPr id="34" name="Slide Number Placeholder 33"/>
          <p:cNvSpPr>
            <a:spLocks noGrp="1"/>
          </p:cNvSpPr>
          <p:nvPr>
            <p:ph type="sldNum" sz="quarter" idx="12"/>
          </p:nvPr>
        </p:nvSpPr>
        <p:spPr/>
        <p:txBody>
          <a:bodyPr/>
          <a:lstStyle/>
          <a:p>
            <a:fld id="{76F96C40-0356-46F5-90E5-FF57DE76D9A0}" type="slidenum">
              <a:rPr lang="en-US" smtClean="0"/>
              <a:t>11</a:t>
            </a:fld>
            <a:endParaRPr lang="en-US"/>
          </a:p>
        </p:txBody>
      </p:sp>
      <p:sp>
        <p:nvSpPr>
          <p:cNvPr id="3" name="Rectangle 30"/>
          <p:cNvSpPr txBox="1">
            <a:spLocks noChangeArrowheads="1"/>
          </p:cNvSpPr>
          <p:nvPr/>
        </p:nvSpPr>
        <p:spPr>
          <a:xfrm>
            <a:off x="381000" y="1066800"/>
            <a:ext cx="8382000" cy="5257800"/>
          </a:xfrm>
          <a:prstGeom prst="rect">
            <a:avLst/>
          </a:prstGeom>
          <a:noFill/>
          <a:ln/>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342900" indent="-342900"/>
            <a:r>
              <a:rPr lang="en-US" altLang="en-US" dirty="0">
                <a:solidFill>
                  <a:srgbClr val="FF0000"/>
                </a:solidFill>
                <a:latin typeface="Times New Roman" panose="02020603050405020304" pitchFamily="18" charset="0"/>
                <a:cs typeface="Times New Roman" panose="02020603050405020304" pitchFamily="18" charset="0"/>
              </a:rPr>
              <a:t>Multi-way split:</a:t>
            </a:r>
            <a:r>
              <a:rPr lang="en-US" altLang="en-US" dirty="0">
                <a:latin typeface="Times New Roman" panose="02020603050405020304" pitchFamily="18" charset="0"/>
                <a:cs typeface="Times New Roman" panose="02020603050405020304" pitchFamily="18" charset="0"/>
              </a:rPr>
              <a:t> Use as many partitions as distinct values. </a:t>
            </a: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endParaRPr lang="en-US" altLang="en-US" dirty="0">
              <a:latin typeface="Times New Roman" panose="02020603050405020304" pitchFamily="18" charset="0"/>
              <a:cs typeface="Times New Roman" panose="02020603050405020304" pitchFamily="18" charset="0"/>
            </a:endParaRPr>
          </a:p>
          <a:p>
            <a:pPr lvl="4"/>
            <a:endParaRPr lang="en-US" altLang="en-US" sz="1200" dirty="0">
              <a:solidFill>
                <a:srgbClr val="FF0000"/>
              </a:solidFill>
              <a:latin typeface="Times New Roman" panose="02020603050405020304" pitchFamily="18" charset="0"/>
              <a:cs typeface="Times New Roman" panose="02020603050405020304" pitchFamily="18" charset="0"/>
            </a:endParaRPr>
          </a:p>
          <a:p>
            <a:pPr marL="342900" indent="-342900"/>
            <a:r>
              <a:rPr lang="en-US" altLang="en-US" dirty="0">
                <a:solidFill>
                  <a:srgbClr val="FF0000"/>
                </a:solidFill>
                <a:latin typeface="Times New Roman" panose="02020603050405020304" pitchFamily="18" charset="0"/>
                <a:cs typeface="Times New Roman" panose="02020603050405020304" pitchFamily="18" charset="0"/>
              </a:rPr>
              <a:t>Binary split:</a:t>
            </a:r>
            <a:r>
              <a:rPr lang="en-US" altLang="en-US" dirty="0">
                <a:latin typeface="Times New Roman" panose="02020603050405020304" pitchFamily="18" charset="0"/>
                <a:cs typeface="Times New Roman" panose="02020603050405020304" pitchFamily="18" charset="0"/>
              </a:rPr>
              <a:t>  Divides values into two subsets.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Need to find optimal partitioning.</a:t>
            </a: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r>
              <a:rPr lang="en-US" altLang="en-US" dirty="0">
                <a:latin typeface="Times New Roman" panose="02020603050405020304" pitchFamily="18" charset="0"/>
                <a:cs typeface="Times New Roman" panose="02020603050405020304" pitchFamily="18" charset="0"/>
              </a:rPr>
              <a:t>What about this split?</a:t>
            </a:r>
            <a:endParaRPr lang="en-US" altLang="en-US" sz="3600" dirty="0">
              <a:latin typeface="Times New Roman" panose="02020603050405020304" pitchFamily="18" charset="0"/>
              <a:cs typeface="Times New Roman" panose="02020603050405020304" pitchFamily="18" charset="0"/>
            </a:endParaRPr>
          </a:p>
        </p:txBody>
      </p:sp>
      <p:grpSp>
        <p:nvGrpSpPr>
          <p:cNvPr id="4" name="Group 26"/>
          <p:cNvGrpSpPr>
            <a:grpSpLocks/>
          </p:cNvGrpSpPr>
          <p:nvPr/>
        </p:nvGrpSpPr>
        <p:grpSpPr bwMode="auto">
          <a:xfrm>
            <a:off x="2971800" y="2057400"/>
            <a:ext cx="2457450" cy="946150"/>
            <a:chOff x="1853" y="1248"/>
            <a:chExt cx="1548" cy="596"/>
          </a:xfrm>
        </p:grpSpPr>
        <p:sp>
          <p:nvSpPr>
            <p:cNvPr id="5" name="Oval 5"/>
            <p:cNvSpPr>
              <a:spLocks noChangeArrowheads="1"/>
            </p:cNvSpPr>
            <p:nvPr/>
          </p:nvSpPr>
          <p:spPr bwMode="auto">
            <a:xfrm>
              <a:off x="2352" y="1248"/>
              <a:ext cx="576" cy="288"/>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b="0" dirty="0">
                  <a:latin typeface="Times New Roman" charset="0"/>
                </a:rPr>
                <a:t>Size</a:t>
              </a:r>
              <a:endParaRPr lang="en-US" altLang="en-US" sz="2400" b="0" dirty="0">
                <a:latin typeface="Times New Roman" charset="0"/>
              </a:endParaRPr>
            </a:p>
          </p:txBody>
        </p:sp>
        <p:sp>
          <p:nvSpPr>
            <p:cNvPr id="6" name="Line 6"/>
            <p:cNvSpPr>
              <a:spLocks noChangeShapeType="1"/>
            </p:cNvSpPr>
            <p:nvPr/>
          </p:nvSpPr>
          <p:spPr bwMode="auto">
            <a:xfrm flipH="1">
              <a:off x="2064" y="1536"/>
              <a:ext cx="57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7"/>
            <p:cNvSpPr>
              <a:spLocks noChangeShapeType="1"/>
            </p:cNvSpPr>
            <p:nvPr/>
          </p:nvSpPr>
          <p:spPr bwMode="auto">
            <a:xfrm>
              <a:off x="2640" y="153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8"/>
            <p:cNvSpPr>
              <a:spLocks noChangeShapeType="1"/>
            </p:cNvSpPr>
            <p:nvPr/>
          </p:nvSpPr>
          <p:spPr bwMode="auto">
            <a:xfrm>
              <a:off x="2640" y="1536"/>
              <a:ext cx="57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Text Box 9"/>
            <p:cNvSpPr txBox="1">
              <a:spLocks noChangeArrowheads="1"/>
            </p:cNvSpPr>
            <p:nvPr/>
          </p:nvSpPr>
          <p:spPr bwMode="auto">
            <a:xfrm>
              <a:off x="1853" y="1440"/>
              <a:ext cx="43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Small</a:t>
              </a:r>
            </a:p>
          </p:txBody>
        </p:sp>
        <p:sp>
          <p:nvSpPr>
            <p:cNvPr id="10" name="Text Box 10"/>
            <p:cNvSpPr txBox="1">
              <a:spLocks noChangeArrowheads="1"/>
            </p:cNvSpPr>
            <p:nvPr/>
          </p:nvSpPr>
          <p:spPr bwMode="auto">
            <a:xfrm>
              <a:off x="2167" y="1632"/>
              <a:ext cx="57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Medium</a:t>
              </a:r>
            </a:p>
          </p:txBody>
        </p:sp>
        <p:sp>
          <p:nvSpPr>
            <p:cNvPr id="11" name="Text Box 11"/>
            <p:cNvSpPr txBox="1">
              <a:spLocks noChangeArrowheads="1"/>
            </p:cNvSpPr>
            <p:nvPr/>
          </p:nvSpPr>
          <p:spPr bwMode="auto">
            <a:xfrm>
              <a:off x="2958" y="1440"/>
              <a:ext cx="44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Large</a:t>
              </a:r>
            </a:p>
          </p:txBody>
        </p:sp>
      </p:grpSp>
      <p:grpSp>
        <p:nvGrpSpPr>
          <p:cNvPr id="12" name="Group 12"/>
          <p:cNvGrpSpPr>
            <a:grpSpLocks/>
          </p:cNvGrpSpPr>
          <p:nvPr/>
        </p:nvGrpSpPr>
        <p:grpSpPr bwMode="auto">
          <a:xfrm>
            <a:off x="5562600" y="4267200"/>
            <a:ext cx="2774950" cy="914400"/>
            <a:chOff x="3513" y="3216"/>
            <a:chExt cx="1748" cy="576"/>
          </a:xfrm>
        </p:grpSpPr>
        <p:sp>
          <p:nvSpPr>
            <p:cNvPr id="13" name="Oval 13"/>
            <p:cNvSpPr>
              <a:spLocks noChangeArrowheads="1"/>
            </p:cNvSpPr>
            <p:nvPr/>
          </p:nvSpPr>
          <p:spPr bwMode="auto">
            <a:xfrm>
              <a:off x="4186" y="3216"/>
              <a:ext cx="576" cy="288"/>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b="0" dirty="0">
                  <a:latin typeface="Times New Roman" charset="0"/>
                </a:rPr>
                <a:t>Size</a:t>
              </a:r>
              <a:endParaRPr lang="en-US" altLang="en-US" sz="2400" b="0" dirty="0">
                <a:latin typeface="Times New Roman" charset="0"/>
              </a:endParaRPr>
            </a:p>
          </p:txBody>
        </p:sp>
        <p:sp>
          <p:nvSpPr>
            <p:cNvPr id="14" name="Line 14"/>
            <p:cNvSpPr>
              <a:spLocks noChangeShapeType="1"/>
            </p:cNvSpPr>
            <p:nvPr/>
          </p:nvSpPr>
          <p:spPr bwMode="auto">
            <a:xfrm flipH="1">
              <a:off x="3946" y="3504"/>
              <a:ext cx="52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5"/>
            <p:cNvSpPr>
              <a:spLocks noChangeShapeType="1"/>
            </p:cNvSpPr>
            <p:nvPr/>
          </p:nvSpPr>
          <p:spPr bwMode="auto">
            <a:xfrm>
              <a:off x="4474" y="3504"/>
              <a:ext cx="48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6"/>
            <p:cNvSpPr txBox="1">
              <a:spLocks noChangeArrowheads="1"/>
            </p:cNvSpPr>
            <p:nvPr/>
          </p:nvSpPr>
          <p:spPr bwMode="auto">
            <a:xfrm>
              <a:off x="3513" y="3360"/>
              <a:ext cx="686"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{Medium, </a:t>
              </a:r>
              <a:br>
                <a:rPr lang="en-US" altLang="en-US" sz="1600" b="0"/>
              </a:br>
              <a:r>
                <a:rPr lang="en-US" altLang="en-US" sz="1600" b="0"/>
                <a:t>Large}</a:t>
              </a:r>
            </a:p>
          </p:txBody>
        </p:sp>
        <p:sp>
          <p:nvSpPr>
            <p:cNvPr id="17" name="Text Box 17"/>
            <p:cNvSpPr txBox="1">
              <a:spLocks noChangeArrowheads="1"/>
            </p:cNvSpPr>
            <p:nvPr/>
          </p:nvSpPr>
          <p:spPr bwMode="auto">
            <a:xfrm>
              <a:off x="4740" y="3456"/>
              <a:ext cx="52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{Small}</a:t>
              </a:r>
            </a:p>
          </p:txBody>
        </p:sp>
      </p:grpSp>
      <p:grpSp>
        <p:nvGrpSpPr>
          <p:cNvPr id="18" name="Group 18"/>
          <p:cNvGrpSpPr>
            <a:grpSpLocks/>
          </p:cNvGrpSpPr>
          <p:nvPr/>
        </p:nvGrpSpPr>
        <p:grpSpPr bwMode="auto">
          <a:xfrm>
            <a:off x="609968" y="4267200"/>
            <a:ext cx="3149232" cy="914400"/>
            <a:chOff x="677" y="3216"/>
            <a:chExt cx="1885" cy="576"/>
          </a:xfrm>
        </p:grpSpPr>
        <p:sp>
          <p:nvSpPr>
            <p:cNvPr id="19" name="Oval 19"/>
            <p:cNvSpPr>
              <a:spLocks noChangeArrowheads="1"/>
            </p:cNvSpPr>
            <p:nvPr/>
          </p:nvSpPr>
          <p:spPr bwMode="auto">
            <a:xfrm>
              <a:off x="1494" y="3216"/>
              <a:ext cx="576" cy="288"/>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b="0" dirty="0">
                  <a:latin typeface="Times New Roman" charset="0"/>
                </a:rPr>
                <a:t>Size</a:t>
              </a:r>
              <a:endParaRPr lang="en-US" altLang="en-US" sz="2400" b="0" dirty="0">
                <a:latin typeface="Times New Roman" charset="0"/>
              </a:endParaRPr>
            </a:p>
          </p:txBody>
        </p:sp>
        <p:sp>
          <p:nvSpPr>
            <p:cNvPr id="20" name="Line 20"/>
            <p:cNvSpPr>
              <a:spLocks noChangeShapeType="1"/>
            </p:cNvSpPr>
            <p:nvPr/>
          </p:nvSpPr>
          <p:spPr bwMode="auto">
            <a:xfrm flipH="1">
              <a:off x="1254" y="3504"/>
              <a:ext cx="52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1"/>
            <p:cNvSpPr>
              <a:spLocks noChangeShapeType="1"/>
            </p:cNvSpPr>
            <p:nvPr/>
          </p:nvSpPr>
          <p:spPr bwMode="auto">
            <a:xfrm>
              <a:off x="1782" y="3504"/>
              <a:ext cx="48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Text Box 22"/>
            <p:cNvSpPr txBox="1">
              <a:spLocks noChangeArrowheads="1"/>
            </p:cNvSpPr>
            <p:nvPr/>
          </p:nvSpPr>
          <p:spPr bwMode="auto">
            <a:xfrm>
              <a:off x="677" y="3360"/>
              <a:ext cx="685"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sz="1600" b="0" dirty="0"/>
                <a:t>{Small, Medium}</a:t>
              </a:r>
            </a:p>
          </p:txBody>
        </p:sp>
        <p:sp>
          <p:nvSpPr>
            <p:cNvPr id="23" name="Text Box 23"/>
            <p:cNvSpPr txBox="1">
              <a:spLocks noChangeArrowheads="1"/>
            </p:cNvSpPr>
            <p:nvPr/>
          </p:nvSpPr>
          <p:spPr bwMode="auto">
            <a:xfrm>
              <a:off x="2059" y="3456"/>
              <a:ext cx="50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{Large}</a:t>
              </a:r>
            </a:p>
          </p:txBody>
        </p:sp>
      </p:grpSp>
      <p:sp>
        <p:nvSpPr>
          <p:cNvPr id="24" name="Text Box 24"/>
          <p:cNvSpPr txBox="1">
            <a:spLocks noChangeArrowheads="1"/>
          </p:cNvSpPr>
          <p:nvPr/>
        </p:nvSpPr>
        <p:spPr bwMode="auto">
          <a:xfrm>
            <a:off x="4267200" y="4419600"/>
            <a:ext cx="608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400" b="0">
                <a:latin typeface="Times New Roman" charset="0"/>
              </a:rPr>
              <a:t>OR</a:t>
            </a:r>
          </a:p>
        </p:txBody>
      </p:sp>
      <p:grpSp>
        <p:nvGrpSpPr>
          <p:cNvPr id="25" name="Group 31"/>
          <p:cNvGrpSpPr>
            <a:grpSpLocks/>
          </p:cNvGrpSpPr>
          <p:nvPr/>
        </p:nvGrpSpPr>
        <p:grpSpPr bwMode="auto">
          <a:xfrm>
            <a:off x="4289425" y="5381625"/>
            <a:ext cx="3101975" cy="914400"/>
            <a:chOff x="768" y="3216"/>
            <a:chExt cx="1856" cy="576"/>
          </a:xfrm>
        </p:grpSpPr>
        <p:sp>
          <p:nvSpPr>
            <p:cNvPr id="26" name="Oval 32"/>
            <p:cNvSpPr>
              <a:spLocks noChangeArrowheads="1"/>
            </p:cNvSpPr>
            <p:nvPr/>
          </p:nvSpPr>
          <p:spPr bwMode="auto">
            <a:xfrm>
              <a:off x="1494" y="3216"/>
              <a:ext cx="576" cy="288"/>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b="0" dirty="0">
                  <a:latin typeface="Times New Roman" charset="0"/>
                </a:rPr>
                <a:t>Size</a:t>
              </a:r>
              <a:endParaRPr lang="en-US" altLang="en-US" sz="2400" b="0" dirty="0">
                <a:latin typeface="Times New Roman" charset="0"/>
              </a:endParaRPr>
            </a:p>
          </p:txBody>
        </p:sp>
        <p:sp>
          <p:nvSpPr>
            <p:cNvPr id="27" name="Line 33"/>
            <p:cNvSpPr>
              <a:spLocks noChangeShapeType="1"/>
            </p:cNvSpPr>
            <p:nvPr/>
          </p:nvSpPr>
          <p:spPr bwMode="auto">
            <a:xfrm flipH="1">
              <a:off x="1254" y="3504"/>
              <a:ext cx="52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34"/>
            <p:cNvSpPr>
              <a:spLocks noChangeShapeType="1"/>
            </p:cNvSpPr>
            <p:nvPr/>
          </p:nvSpPr>
          <p:spPr bwMode="auto">
            <a:xfrm>
              <a:off x="1782" y="3504"/>
              <a:ext cx="48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Text Box 35"/>
            <p:cNvSpPr txBox="1">
              <a:spLocks noChangeArrowheads="1"/>
            </p:cNvSpPr>
            <p:nvPr/>
          </p:nvSpPr>
          <p:spPr bwMode="auto">
            <a:xfrm>
              <a:off x="768" y="3360"/>
              <a:ext cx="594"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en-US" sz="1600" b="0"/>
                <a:t>{Small, Large}</a:t>
              </a:r>
            </a:p>
          </p:txBody>
        </p:sp>
        <p:sp>
          <p:nvSpPr>
            <p:cNvPr id="30" name="Text Box 36"/>
            <p:cNvSpPr txBox="1">
              <a:spLocks noChangeArrowheads="1"/>
            </p:cNvSpPr>
            <p:nvPr/>
          </p:nvSpPr>
          <p:spPr bwMode="auto">
            <a:xfrm>
              <a:off x="2000" y="3456"/>
              <a:ext cx="62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600" b="0"/>
                <a:t>{Medium}</a:t>
              </a:r>
            </a:p>
          </p:txBody>
        </p:sp>
      </p:grpSp>
      <p:grpSp>
        <p:nvGrpSpPr>
          <p:cNvPr id="31" name="Group 22"/>
          <p:cNvGrpSpPr>
            <a:grpSpLocks/>
          </p:cNvGrpSpPr>
          <p:nvPr/>
        </p:nvGrpSpPr>
        <p:grpSpPr bwMode="auto">
          <a:xfrm>
            <a:off x="381000" y="6400800"/>
            <a:ext cx="8382000" cy="304800"/>
            <a:chOff x="288" y="3408"/>
            <a:chExt cx="5280" cy="192"/>
          </a:xfrm>
        </p:grpSpPr>
        <p:sp>
          <p:nvSpPr>
            <p:cNvPr id="32"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11</a:t>
              </a:fld>
              <a:r>
                <a:rPr lang="en-US" altLang="en-US" sz="1200" b="0" dirty="0"/>
                <a:t> </a:t>
              </a:r>
            </a:p>
          </p:txBody>
        </p:sp>
      </p:grpSp>
    </p:spTree>
    <p:extLst>
      <p:ext uri="{BB962C8B-B14F-4D97-AF65-F5344CB8AC3E}">
        <p14:creationId xmlns:p14="http://schemas.microsoft.com/office/powerpoint/2010/main" val="758224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206" y="233554"/>
            <a:ext cx="8534400" cy="1143000"/>
          </a:xfrm>
        </p:spPr>
        <p:txBody>
          <a:bodyPr>
            <a:normAutofit/>
          </a:bodyPr>
          <a:lstStyle/>
          <a:p>
            <a:r>
              <a:rPr lang="en-US" dirty="0">
                <a:latin typeface="Times New Roman" panose="02020603050405020304" pitchFamily="18" charset="0"/>
                <a:cs typeface="Times New Roman" panose="02020603050405020304" pitchFamily="18" charset="0"/>
              </a:rPr>
              <a:t>Splitting on Continuous Attributes</a:t>
            </a:r>
          </a:p>
        </p:txBody>
      </p:sp>
      <p:sp>
        <p:nvSpPr>
          <p:cNvPr id="7" name="Slide Number Placeholder 6"/>
          <p:cNvSpPr>
            <a:spLocks noGrp="1"/>
          </p:cNvSpPr>
          <p:nvPr>
            <p:ph type="sldNum" sz="quarter" idx="12"/>
          </p:nvPr>
        </p:nvSpPr>
        <p:spPr/>
        <p:txBody>
          <a:bodyPr/>
          <a:lstStyle/>
          <a:p>
            <a:fld id="{76F96C40-0356-46F5-90E5-FF57DE76D9A0}" type="slidenum">
              <a:rPr lang="en-US" smtClean="0"/>
              <a:t>12</a:t>
            </a:fld>
            <a:endParaRPr lang="en-US"/>
          </a:p>
        </p:txBody>
      </p:sp>
      <p:sp>
        <p:nvSpPr>
          <p:cNvPr id="3" name="Rectangle 5"/>
          <p:cNvSpPr txBox="1">
            <a:spLocks noChangeArrowheads="1"/>
          </p:cNvSpPr>
          <p:nvPr/>
        </p:nvSpPr>
        <p:spPr>
          <a:xfrm>
            <a:off x="411163" y="1600200"/>
            <a:ext cx="8318500" cy="4419600"/>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Different ways of handling</a:t>
            </a:r>
          </a:p>
          <a:p>
            <a:pPr lvl="1"/>
            <a:r>
              <a:rPr lang="en-US" altLang="en-US" dirty="0">
                <a:solidFill>
                  <a:srgbClr val="CC3300"/>
                </a:solidFill>
                <a:latin typeface="Times New Roman" panose="02020603050405020304" pitchFamily="18" charset="0"/>
                <a:cs typeface="Times New Roman" panose="02020603050405020304" pitchFamily="18" charset="0"/>
              </a:rPr>
              <a:t>Discretization</a:t>
            </a:r>
            <a:r>
              <a:rPr lang="en-US" altLang="en-US" dirty="0">
                <a:latin typeface="Times New Roman" panose="02020603050405020304" pitchFamily="18" charset="0"/>
                <a:cs typeface="Times New Roman" panose="02020603050405020304" pitchFamily="18" charset="0"/>
              </a:rPr>
              <a:t> to form an ordinal categorical attribute</a:t>
            </a:r>
          </a:p>
          <a:p>
            <a:pPr lvl="2"/>
            <a:r>
              <a:rPr lang="en-US" altLang="en-US" sz="2400" dirty="0">
                <a:latin typeface="Times New Roman" panose="02020603050405020304" pitchFamily="18" charset="0"/>
                <a:cs typeface="Times New Roman" panose="02020603050405020304" pitchFamily="18" charset="0"/>
              </a:rPr>
              <a:t> Static – discretize once at the beginning</a:t>
            </a:r>
          </a:p>
          <a:p>
            <a:pPr lvl="2"/>
            <a:r>
              <a:rPr lang="en-US" altLang="en-US" sz="2400" dirty="0">
                <a:latin typeface="Times New Roman" panose="02020603050405020304" pitchFamily="18" charset="0"/>
                <a:cs typeface="Times New Roman" panose="02020603050405020304" pitchFamily="18" charset="0"/>
              </a:rPr>
              <a:t> Dynamic – ranges can be found by equal interval 		bucketing, equal frequency bucketing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(percentiles), or clustering.</a:t>
            </a:r>
          </a:p>
          <a:p>
            <a:pPr lvl="4"/>
            <a:endParaRPr lang="en-US" altLang="en-US" sz="2400" dirty="0">
              <a:solidFill>
                <a:srgbClr val="CC3300"/>
              </a:solidFill>
              <a:latin typeface="Times New Roman" panose="02020603050405020304" pitchFamily="18" charset="0"/>
              <a:cs typeface="Times New Roman" panose="02020603050405020304" pitchFamily="18" charset="0"/>
            </a:endParaRPr>
          </a:p>
          <a:p>
            <a:pPr lvl="1"/>
            <a:r>
              <a:rPr lang="en-US" altLang="en-US" dirty="0">
                <a:solidFill>
                  <a:srgbClr val="CC3300"/>
                </a:solidFill>
                <a:latin typeface="Times New Roman" panose="02020603050405020304" pitchFamily="18" charset="0"/>
                <a:cs typeface="Times New Roman" panose="02020603050405020304" pitchFamily="18" charset="0"/>
              </a:rPr>
              <a:t>Binary Decision</a:t>
            </a:r>
            <a:r>
              <a:rPr lang="en-US" altLang="en-US" dirty="0">
                <a:latin typeface="Times New Roman" panose="02020603050405020304" pitchFamily="18" charset="0"/>
                <a:cs typeface="Times New Roman" panose="02020603050405020304" pitchFamily="18" charset="0"/>
              </a:rPr>
              <a:t>: (A &lt; v) or (A </a:t>
            </a:r>
            <a:r>
              <a:rPr lang="en-US" altLang="en-US" dirty="0">
                <a:latin typeface="Times New Roman" panose="02020603050405020304" pitchFamily="18" charset="0"/>
                <a:cs typeface="Times New Roman" panose="02020603050405020304" pitchFamily="18" charset="0"/>
                <a:sym typeface="Symbol" pitchFamily="18" charset="2"/>
              </a:rPr>
              <a:t> v)</a:t>
            </a:r>
            <a:endParaRPr lang="en-US" altLang="en-US" dirty="0">
              <a:latin typeface="Times New Roman" panose="02020603050405020304" pitchFamily="18" charset="0"/>
              <a:cs typeface="Times New Roman" panose="02020603050405020304" pitchFamily="18" charset="0"/>
            </a:endParaRPr>
          </a:p>
          <a:p>
            <a:pPr lvl="2"/>
            <a:r>
              <a:rPr lang="en-US" altLang="en-US" sz="2400" dirty="0">
                <a:latin typeface="Times New Roman" panose="02020603050405020304" pitchFamily="18" charset="0"/>
                <a:cs typeface="Times New Roman" panose="02020603050405020304" pitchFamily="18" charset="0"/>
              </a:rPr>
              <a:t> consider all possible splits and finds the best cut</a:t>
            </a:r>
          </a:p>
          <a:p>
            <a:pPr lvl="2"/>
            <a:r>
              <a:rPr lang="en-US" altLang="en-US" sz="2400" dirty="0">
                <a:latin typeface="Times New Roman" panose="02020603050405020304" pitchFamily="18" charset="0"/>
                <a:cs typeface="Times New Roman" panose="02020603050405020304" pitchFamily="18" charset="0"/>
              </a:rPr>
              <a:t> can be more compute intensive</a:t>
            </a:r>
          </a:p>
        </p:txBody>
      </p:sp>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12</a:t>
              </a:fld>
              <a:r>
                <a:rPr lang="en-US" altLang="en-US" sz="1200" b="0" dirty="0"/>
                <a:t> </a:t>
              </a:r>
            </a:p>
          </p:txBody>
        </p:sp>
      </p:grpSp>
    </p:spTree>
    <p:extLst>
      <p:ext uri="{BB962C8B-B14F-4D97-AF65-F5344CB8AC3E}">
        <p14:creationId xmlns:p14="http://schemas.microsoft.com/office/powerpoint/2010/main" val="429259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16283"/>
            <a:ext cx="9067800" cy="1143000"/>
          </a:xfrm>
        </p:spPr>
        <p:txBody>
          <a:bodyPr>
            <a:normAutofit/>
          </a:bodyPr>
          <a:lstStyle/>
          <a:p>
            <a:r>
              <a:rPr lang="en-US" sz="3600" dirty="0">
                <a:latin typeface="Times New Roman" panose="02020603050405020304" pitchFamily="18" charset="0"/>
                <a:cs typeface="Times New Roman" panose="02020603050405020304" pitchFamily="18" charset="0"/>
              </a:rPr>
              <a:t>Splitting on Continuous Attributes (2)</a:t>
            </a:r>
          </a:p>
        </p:txBody>
      </p:sp>
      <p:sp>
        <p:nvSpPr>
          <p:cNvPr id="7" name="Slide Number Placeholder 6"/>
          <p:cNvSpPr>
            <a:spLocks noGrp="1"/>
          </p:cNvSpPr>
          <p:nvPr>
            <p:ph type="sldNum" sz="quarter" idx="12"/>
          </p:nvPr>
        </p:nvSpPr>
        <p:spPr/>
        <p:txBody>
          <a:bodyPr/>
          <a:lstStyle/>
          <a:p>
            <a:fld id="{76F96C40-0356-46F5-90E5-FF57DE76D9A0}" type="slidenum">
              <a:rPr lang="en-US" smtClean="0"/>
              <a:t>13</a:t>
            </a:fld>
            <a:endParaRPr lang="en-US"/>
          </a:p>
        </p:txBody>
      </p:sp>
      <p:graphicFrame>
        <p:nvGraphicFramePr>
          <p:cNvPr id="3" name="Object 2"/>
          <p:cNvGraphicFramePr>
            <a:graphicFrameLocks noChangeAspect="1"/>
          </p:cNvGraphicFramePr>
          <p:nvPr/>
        </p:nvGraphicFramePr>
        <p:xfrm>
          <a:off x="685800" y="1752600"/>
          <a:ext cx="7608887" cy="3282950"/>
        </p:xfrm>
        <a:graphic>
          <a:graphicData uri="http://schemas.openxmlformats.org/presentationml/2006/ole">
            <mc:AlternateContent xmlns:mc="http://schemas.openxmlformats.org/markup-compatibility/2006">
              <mc:Choice xmlns:v="urn:schemas-microsoft-com:vml" Requires="v">
                <p:oleObj name="Visio" r:id="rId3" imgW="8538667" imgH="3684287" progId="Visio.Drawing.6">
                  <p:embed/>
                </p:oleObj>
              </mc:Choice>
              <mc:Fallback>
                <p:oleObj name="Visio" r:id="rId3" imgW="8538667" imgH="3684287" progId="Visio.Drawing.6">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752600"/>
                        <a:ext cx="7608887" cy="328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13</a:t>
              </a:fld>
              <a:r>
                <a:rPr lang="en-US" altLang="en-US" sz="1200" b="0" dirty="0"/>
                <a:t> </a:t>
              </a:r>
            </a:p>
          </p:txBody>
        </p:sp>
      </p:grpSp>
    </p:spTree>
    <p:extLst>
      <p:ext uri="{BB962C8B-B14F-4D97-AF65-F5344CB8AC3E}">
        <p14:creationId xmlns:p14="http://schemas.microsoft.com/office/powerpoint/2010/main" val="1124475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51" y="281210"/>
            <a:ext cx="6589199" cy="1280890"/>
          </a:xfrm>
        </p:spPr>
        <p:txBody>
          <a:bodyPr/>
          <a:lstStyle/>
          <a:p>
            <a:r>
              <a:rPr lang="en-US" dirty="0">
                <a:latin typeface="Times New Roman" panose="02020603050405020304" pitchFamily="18" charset="0"/>
                <a:cs typeface="Times New Roman" panose="02020603050405020304" pitchFamily="18" charset="0"/>
              </a:rPr>
              <a:t>How to make the splits?</a:t>
            </a:r>
          </a:p>
        </p:txBody>
      </p:sp>
      <p:sp>
        <p:nvSpPr>
          <p:cNvPr id="4" name="Slide Number Placeholder 3"/>
          <p:cNvSpPr>
            <a:spLocks noGrp="1"/>
          </p:cNvSpPr>
          <p:nvPr>
            <p:ph type="sldNum" sz="quarter" idx="12"/>
          </p:nvPr>
        </p:nvSpPr>
        <p:spPr/>
        <p:txBody>
          <a:bodyPr/>
          <a:lstStyle/>
          <a:p>
            <a:fld id="{76F96C40-0356-46F5-90E5-FF57DE76D9A0}" type="slidenum">
              <a:rPr lang="en-US" smtClean="0"/>
              <a:t>14</a:t>
            </a:fld>
            <a:endParaRPr lang="en-US"/>
          </a:p>
        </p:txBody>
      </p:sp>
      <p:pic>
        <p:nvPicPr>
          <p:cNvPr id="6" name="Picture 5"/>
          <p:cNvPicPr>
            <a:picLocks noChangeAspect="1"/>
          </p:cNvPicPr>
          <p:nvPr/>
        </p:nvPicPr>
        <p:blipFill>
          <a:blip r:embed="rId2"/>
          <a:stretch>
            <a:fillRect/>
          </a:stretch>
        </p:blipFill>
        <p:spPr>
          <a:xfrm>
            <a:off x="685800" y="2362200"/>
            <a:ext cx="7914866" cy="2819400"/>
          </a:xfrm>
          <a:prstGeom prst="rect">
            <a:avLst/>
          </a:prstGeom>
        </p:spPr>
      </p:pic>
    </p:spTree>
    <p:extLst>
      <p:ext uri="{BB962C8B-B14F-4D97-AF65-F5344CB8AC3E}">
        <p14:creationId xmlns:p14="http://schemas.microsoft.com/office/powerpoint/2010/main" val="1304223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19310"/>
            <a:ext cx="6589199" cy="1280890"/>
          </a:xfrm>
        </p:spPr>
        <p:txBody>
          <a:bodyPr/>
          <a:lstStyle/>
          <a:p>
            <a:r>
              <a:rPr lang="en-US" dirty="0">
                <a:latin typeface="Times New Roman" panose="02020603050405020304" pitchFamily="18" charset="0"/>
                <a:cs typeface="Times New Roman" panose="02020603050405020304" pitchFamily="18" charset="0"/>
              </a:rPr>
              <a:t>Determining the Best Split</a:t>
            </a:r>
          </a:p>
        </p:txBody>
      </p:sp>
      <p:sp>
        <p:nvSpPr>
          <p:cNvPr id="3" name="Content Placeholder 2"/>
          <p:cNvSpPr>
            <a:spLocks noGrp="1"/>
          </p:cNvSpPr>
          <p:nvPr>
            <p:ph idx="1"/>
          </p:nvPr>
        </p:nvSpPr>
        <p:spPr>
          <a:xfrm>
            <a:off x="803717" y="1600200"/>
            <a:ext cx="8229600" cy="2296013"/>
          </a:xfrm>
        </p:spPr>
        <p:txBody>
          <a:bodyPr>
            <a:normAutofit/>
          </a:bodyPr>
          <a:lstStyle/>
          <a:p>
            <a:r>
              <a:rPr lang="en-US" sz="2800" dirty="0">
                <a:latin typeface="Times New Roman" panose="02020603050405020304" pitchFamily="18" charset="0"/>
                <a:cs typeface="Times New Roman" panose="02020603050405020304" pitchFamily="18" charset="0"/>
              </a:rPr>
              <a:t>Three measures of node impurity</a:t>
            </a:r>
          </a:p>
          <a:p>
            <a:pPr lvl="1"/>
            <a:r>
              <a:rPr lang="en-US" sz="2800" dirty="0">
                <a:latin typeface="Times New Roman" panose="02020603050405020304" pitchFamily="18" charset="0"/>
                <a:cs typeface="Times New Roman" panose="02020603050405020304" pitchFamily="18" charset="0"/>
              </a:rPr>
              <a:t>Gini Index</a:t>
            </a:r>
          </a:p>
          <a:p>
            <a:pPr lvl="1"/>
            <a:r>
              <a:rPr lang="en-US" sz="2800" dirty="0">
                <a:latin typeface="Times New Roman" panose="02020603050405020304" pitchFamily="18" charset="0"/>
                <a:cs typeface="Times New Roman" panose="02020603050405020304" pitchFamily="18" charset="0"/>
              </a:rPr>
              <a:t>Entropy</a:t>
            </a:r>
          </a:p>
          <a:p>
            <a:pPr lvl="1"/>
            <a:r>
              <a:rPr lang="en-US" sz="2800" dirty="0">
                <a:latin typeface="Times New Roman" panose="02020603050405020304" pitchFamily="18" charset="0"/>
                <a:cs typeface="Times New Roman" panose="02020603050405020304" pitchFamily="18" charset="0"/>
              </a:rPr>
              <a:t>Misclassification Error</a:t>
            </a:r>
          </a:p>
          <a:p>
            <a:pPr lvl="1"/>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15</a:t>
            </a:fld>
            <a:endParaRPr lang="en-US"/>
          </a:p>
        </p:txBody>
      </p:sp>
    </p:spTree>
    <p:extLst>
      <p:ext uri="{BB962C8B-B14F-4D97-AF65-F5344CB8AC3E}">
        <p14:creationId xmlns:p14="http://schemas.microsoft.com/office/powerpoint/2010/main" val="890480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7400" y="329900"/>
            <a:ext cx="7866600" cy="1280890"/>
          </a:xfrm>
        </p:spPr>
        <p:txBody>
          <a:bodyPr>
            <a:normAutofit/>
          </a:bodyPr>
          <a:lstStyle/>
          <a:p>
            <a:r>
              <a:rPr lang="en-US" dirty="0">
                <a:latin typeface="Times New Roman" panose="02020603050405020304" pitchFamily="18" charset="0"/>
                <a:cs typeface="Times New Roman" panose="02020603050405020304" pitchFamily="18" charset="0"/>
              </a:rPr>
              <a:t>Comparison of Splitting Criteria</a:t>
            </a:r>
          </a:p>
        </p:txBody>
      </p:sp>
      <p:sp>
        <p:nvSpPr>
          <p:cNvPr id="7" name="Content Placeholder 6"/>
          <p:cNvSpPr>
            <a:spLocks noGrp="1"/>
          </p:cNvSpPr>
          <p:nvPr>
            <p:ph idx="1"/>
          </p:nvPr>
        </p:nvSpPr>
        <p:spPr>
          <a:xfrm>
            <a:off x="419100" y="1219200"/>
            <a:ext cx="8229600" cy="523220"/>
          </a:xfrm>
        </p:spPr>
        <p:txBody>
          <a:bodyPr>
            <a:normAutofit/>
          </a:bodyPr>
          <a:lstStyle/>
          <a:p>
            <a:r>
              <a:rPr lang="en-US" sz="2400" dirty="0">
                <a:latin typeface="Times New Roman" panose="02020603050405020304" pitchFamily="18" charset="0"/>
                <a:cs typeface="Times New Roman" panose="02020603050405020304" pitchFamily="18" charset="0"/>
              </a:rPr>
              <a:t>For a 2-class problem:</a:t>
            </a:r>
          </a:p>
        </p:txBody>
      </p:sp>
      <p:sp>
        <p:nvSpPr>
          <p:cNvPr id="8" name="Slide Number Placeholder 7"/>
          <p:cNvSpPr>
            <a:spLocks noGrp="1"/>
          </p:cNvSpPr>
          <p:nvPr>
            <p:ph type="sldNum" sz="quarter" idx="12"/>
          </p:nvPr>
        </p:nvSpPr>
        <p:spPr/>
        <p:txBody>
          <a:bodyPr/>
          <a:lstStyle/>
          <a:p>
            <a:fld id="{76F96C40-0356-46F5-90E5-FF57DE76D9A0}" type="slidenum">
              <a:rPr lang="en-US" smtClean="0"/>
              <a:t>16</a:t>
            </a:fld>
            <a:endParaRPr lang="en-US"/>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05000"/>
            <a:ext cx="5562600"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16</a:t>
              </a:fld>
              <a:r>
                <a:rPr lang="en-US" altLang="en-US" sz="1200" b="0" dirty="0"/>
                <a:t> </a:t>
              </a:r>
            </a:p>
          </p:txBody>
        </p:sp>
      </p:grpSp>
    </p:spTree>
    <p:extLst>
      <p:ext uri="{BB962C8B-B14F-4D97-AF65-F5344CB8AC3E}">
        <p14:creationId xmlns:p14="http://schemas.microsoft.com/office/powerpoint/2010/main" val="325952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24110"/>
            <a:ext cx="7543799" cy="976090"/>
          </a:xfrm>
        </p:spPr>
        <p:txBody>
          <a:bodyPr>
            <a:normAutofit/>
          </a:bodyPr>
          <a:lstStyle/>
          <a:p>
            <a:r>
              <a:rPr lang="en-US" sz="3200" dirty="0">
                <a:latin typeface="Times New Roman" panose="02020603050405020304" pitchFamily="18" charset="0"/>
                <a:cs typeface="Times New Roman" panose="02020603050405020304" pitchFamily="18" charset="0"/>
              </a:rPr>
              <a:t>Decision tree- Advantage and disadvantage</a:t>
            </a:r>
          </a:p>
        </p:txBody>
      </p:sp>
      <p:sp>
        <p:nvSpPr>
          <p:cNvPr id="3" name="Content Placeholder 2"/>
          <p:cNvSpPr>
            <a:spLocks noGrp="1"/>
          </p:cNvSpPr>
          <p:nvPr>
            <p:ph idx="1"/>
          </p:nvPr>
        </p:nvSpPr>
        <p:spPr>
          <a:xfrm>
            <a:off x="457200" y="1600200"/>
            <a:ext cx="8229600" cy="4278094"/>
          </a:xfrm>
        </p:spPr>
        <p:txBody>
          <a:bodyPr>
            <a:normAutofit/>
          </a:bodyPr>
          <a:lstStyle/>
          <a:p>
            <a:r>
              <a:rPr lang="en-US" sz="2400" dirty="0">
                <a:latin typeface="Times New Roman" panose="02020603050405020304" pitchFamily="18" charset="0"/>
                <a:cs typeface="Times New Roman" panose="02020603050405020304" pitchFamily="18" charset="0"/>
              </a:rPr>
              <a:t>Advantages:</a:t>
            </a:r>
          </a:p>
          <a:p>
            <a:pPr lvl="1"/>
            <a:r>
              <a:rPr lang="en-US" sz="2200" dirty="0">
                <a:latin typeface="Times New Roman" panose="02020603050405020304" pitchFamily="18" charset="0"/>
                <a:cs typeface="Times New Roman" panose="02020603050405020304" pitchFamily="18" charset="0"/>
              </a:rPr>
              <a:t>Simple to understand and interpret</a:t>
            </a:r>
          </a:p>
          <a:p>
            <a:pPr lvl="1"/>
            <a:r>
              <a:rPr lang="en-US" sz="2200" dirty="0">
                <a:latin typeface="Times New Roman" panose="02020603050405020304" pitchFamily="18" charset="0"/>
                <a:cs typeface="Times New Roman" panose="02020603050405020304" pitchFamily="18" charset="0"/>
              </a:rPr>
              <a:t>Little data preparation</a:t>
            </a:r>
          </a:p>
          <a:p>
            <a:pPr lvl="1"/>
            <a:r>
              <a:rPr lang="en-US" sz="2200" dirty="0">
                <a:latin typeface="Times New Roman" panose="02020603050405020304" pitchFamily="18" charset="0"/>
                <a:cs typeface="Times New Roman" panose="02020603050405020304" pitchFamily="18" charset="0"/>
              </a:rPr>
              <a:t>Useful for both numerical and categorical data</a:t>
            </a:r>
          </a:p>
          <a:p>
            <a:pPr lvl="1"/>
            <a:r>
              <a:rPr lang="en-US" sz="2200" dirty="0">
                <a:latin typeface="Times New Roman" panose="02020603050405020304" pitchFamily="18" charset="0"/>
                <a:cs typeface="Times New Roman" panose="02020603050405020304" pitchFamily="18" charset="0"/>
              </a:rPr>
              <a:t>Able to handle multi-targets</a:t>
            </a:r>
          </a:p>
          <a:p>
            <a:r>
              <a:rPr lang="en-US" sz="2400" dirty="0">
                <a:latin typeface="Times New Roman" panose="02020603050405020304" pitchFamily="18" charset="0"/>
                <a:cs typeface="Times New Roman" panose="02020603050405020304" pitchFamily="18" charset="0"/>
              </a:rPr>
              <a:t>Disadvantages:</a:t>
            </a:r>
          </a:p>
          <a:p>
            <a:pPr lvl="1"/>
            <a:r>
              <a:rPr lang="en-US" sz="2200" dirty="0">
                <a:latin typeface="Times New Roman" panose="02020603050405020304" pitchFamily="18" charset="0"/>
                <a:cs typeface="Times New Roman" panose="02020603050405020304" pitchFamily="18" charset="0"/>
              </a:rPr>
              <a:t>Can create over-complex trees (overfitting)</a:t>
            </a:r>
          </a:p>
          <a:p>
            <a:pPr lvl="1"/>
            <a:r>
              <a:rPr lang="en-US" sz="2200" dirty="0">
                <a:latin typeface="Times New Roman" panose="02020603050405020304" pitchFamily="18" charset="0"/>
                <a:cs typeface="Times New Roman" panose="02020603050405020304" pitchFamily="18" charset="0"/>
              </a:rPr>
              <a:t>Unstable to small variations</a:t>
            </a:r>
          </a:p>
          <a:p>
            <a:pPr lvl="1"/>
            <a:r>
              <a:rPr lang="en-US" sz="2200" dirty="0">
                <a:latin typeface="Times New Roman" panose="02020603050405020304" pitchFamily="18" charset="0"/>
                <a:cs typeface="Times New Roman" panose="02020603050405020304" pitchFamily="18" charset="0"/>
              </a:rPr>
              <a:t>Create biased trees if some classes dominate</a:t>
            </a:r>
          </a:p>
          <a:p>
            <a:pPr lvl="1"/>
            <a:endParaRPr lang="en-US" sz="22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17</a:t>
            </a:fld>
            <a:endParaRPr lang="en-US"/>
          </a:p>
        </p:txBody>
      </p:sp>
    </p:spTree>
    <p:extLst>
      <p:ext uri="{BB962C8B-B14F-4D97-AF65-F5344CB8AC3E}">
        <p14:creationId xmlns:p14="http://schemas.microsoft.com/office/powerpoint/2010/main" val="1968698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717" y="216283"/>
            <a:ext cx="8839200" cy="1143000"/>
          </a:xfrm>
        </p:spPr>
        <p:txBody>
          <a:bodyPr>
            <a:normAutofit/>
          </a:bodyPr>
          <a:lstStyle/>
          <a:p>
            <a:r>
              <a:rPr lang="en-US" dirty="0">
                <a:latin typeface="Times New Roman" panose="02020603050405020304" pitchFamily="18" charset="0"/>
                <a:cs typeface="Times New Roman" panose="02020603050405020304" pitchFamily="18" charset="0"/>
              </a:rPr>
              <a:t>Stopping Criteria for Tree Induction</a:t>
            </a:r>
          </a:p>
        </p:txBody>
      </p:sp>
      <p:sp>
        <p:nvSpPr>
          <p:cNvPr id="3" name="Content Placeholder 2"/>
          <p:cNvSpPr>
            <a:spLocks noGrp="1"/>
          </p:cNvSpPr>
          <p:nvPr>
            <p:ph idx="1"/>
          </p:nvPr>
        </p:nvSpPr>
        <p:spPr>
          <a:xfrm>
            <a:off x="457200" y="1600200"/>
            <a:ext cx="8229600" cy="3970318"/>
          </a:xfrm>
        </p:spPr>
        <p:txBody>
          <a:bodyPr>
            <a:normAutofit/>
          </a:bodyPr>
          <a:lstStyle/>
          <a:p>
            <a:r>
              <a:rPr lang="en-US" altLang="en-US" sz="2400" dirty="0">
                <a:latin typeface="Times New Roman" panose="02020603050405020304" pitchFamily="18" charset="0"/>
                <a:cs typeface="Times New Roman" panose="02020603050405020304" pitchFamily="18" charset="0"/>
              </a:rPr>
              <a:t>Stop expanding a node when all the records belong to the same class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Stop expanding a node when all the records have similar attribute values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Early termination (to be discussed later)</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18</a:t>
            </a:fld>
            <a:endParaRPr lang="en-US"/>
          </a:p>
        </p:txBody>
      </p:sp>
    </p:spTree>
    <p:extLst>
      <p:ext uri="{BB962C8B-B14F-4D97-AF65-F5344CB8AC3E}">
        <p14:creationId xmlns:p14="http://schemas.microsoft.com/office/powerpoint/2010/main" val="1278811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08424"/>
            <a:ext cx="6589199" cy="1280890"/>
          </a:xfrm>
        </p:spPr>
        <p:txBody>
          <a:bodyPr/>
          <a:lstStyle/>
          <a:p>
            <a:r>
              <a:rPr lang="en-US" dirty="0">
                <a:latin typeface="Times New Roman" panose="02020603050405020304" pitchFamily="18" charset="0"/>
                <a:cs typeface="Times New Roman" panose="02020603050405020304" pitchFamily="18" charset="0"/>
              </a:rPr>
              <a:t>Overfitting</a:t>
            </a:r>
          </a:p>
        </p:txBody>
      </p:sp>
      <p:sp>
        <p:nvSpPr>
          <p:cNvPr id="3" name="Content Placeholder 2"/>
          <p:cNvSpPr>
            <a:spLocks noGrp="1"/>
          </p:cNvSpPr>
          <p:nvPr>
            <p:ph idx="1"/>
          </p:nvPr>
        </p:nvSpPr>
        <p:spPr>
          <a:xfrm>
            <a:off x="413546" y="1219200"/>
            <a:ext cx="8229600" cy="4253472"/>
          </a:xfrm>
        </p:spPr>
        <p:txBody>
          <a:bodyPr>
            <a:normAutofit/>
          </a:bodyPr>
          <a:lstStyle/>
          <a:p>
            <a:r>
              <a:rPr lang="en-US" sz="2400" dirty="0">
                <a:latin typeface="Times New Roman" panose="02020603050405020304" pitchFamily="18" charset="0"/>
                <a:cs typeface="Times New Roman" panose="02020603050405020304" pitchFamily="18" charset="0"/>
              </a:rPr>
              <a:t>Many reasons overfitting can occur</a:t>
            </a:r>
          </a:p>
          <a:p>
            <a:pPr lvl="1"/>
            <a:r>
              <a:rPr lang="en-US" sz="2400" dirty="0">
                <a:latin typeface="Times New Roman" panose="02020603050405020304" pitchFamily="18" charset="0"/>
                <a:cs typeface="Times New Roman" panose="02020603050405020304" pitchFamily="18" charset="0"/>
              </a:rPr>
              <a:t>Noise, Insufficient instances</a:t>
            </a:r>
          </a:p>
          <a:p>
            <a:r>
              <a:rPr lang="en-US" altLang="en-US" sz="2400" dirty="0">
                <a:latin typeface="Times New Roman" panose="02020603050405020304" pitchFamily="18" charset="0"/>
                <a:cs typeface="Times New Roman" panose="02020603050405020304" pitchFamily="18" charset="0"/>
              </a:rPr>
              <a:t>Overfitting results in decision trees that are more complex than necessary</a:t>
            </a:r>
          </a:p>
          <a:p>
            <a:r>
              <a:rPr lang="en-US" altLang="en-US" sz="2400" dirty="0">
                <a:latin typeface="Times New Roman" panose="02020603050405020304" pitchFamily="18" charset="0"/>
                <a:cs typeface="Times New Roman" panose="02020603050405020304" pitchFamily="18" charset="0"/>
              </a:rPr>
              <a:t>Training error no longer provides a good estimate of how well the tree will perform on previously unseen records</a:t>
            </a:r>
          </a:p>
          <a:p>
            <a:r>
              <a:rPr lang="en-US" altLang="en-US" sz="2400" dirty="0">
                <a:latin typeface="Times New Roman" panose="02020603050405020304" pitchFamily="18" charset="0"/>
                <a:cs typeface="Times New Roman" panose="02020603050405020304" pitchFamily="18" charset="0"/>
              </a:rPr>
              <a:t>Need new ways for estimating errors</a:t>
            </a:r>
          </a:p>
        </p:txBody>
      </p:sp>
      <p:sp>
        <p:nvSpPr>
          <p:cNvPr id="4" name="Slide Number Placeholder 3"/>
          <p:cNvSpPr>
            <a:spLocks noGrp="1"/>
          </p:cNvSpPr>
          <p:nvPr>
            <p:ph type="sldNum" sz="quarter" idx="12"/>
          </p:nvPr>
        </p:nvSpPr>
        <p:spPr/>
        <p:txBody>
          <a:bodyPr/>
          <a:lstStyle/>
          <a:p>
            <a:fld id="{76F96C40-0356-46F5-90E5-FF57DE76D9A0}" type="slidenum">
              <a:rPr lang="en-US" smtClean="0"/>
              <a:t>19</a:t>
            </a:fld>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141" y="4386589"/>
            <a:ext cx="5149265" cy="2471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84571" y="4872507"/>
            <a:ext cx="2528096" cy="1200329"/>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Goodfellow</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Bengio</a:t>
            </a:r>
            <a:r>
              <a:rPr lang="en-US" dirty="0">
                <a:latin typeface="Times New Roman" panose="02020603050405020304" pitchFamily="18" charset="0"/>
                <a:cs typeface="Times New Roman" panose="02020603050405020304" pitchFamily="18" charset="0"/>
              </a:rPr>
              <a:t>&amp; </a:t>
            </a:r>
            <a:r>
              <a:rPr lang="en-US" dirty="0" err="1">
                <a:latin typeface="Times New Roman" panose="02020603050405020304" pitchFamily="18" charset="0"/>
                <a:cs typeface="Times New Roman" panose="02020603050405020304" pitchFamily="18" charset="0"/>
              </a:rPr>
              <a:t>Courville</a:t>
            </a:r>
            <a:r>
              <a:rPr lang="en-US" dirty="0">
                <a:latin typeface="Times New Roman" panose="02020603050405020304" pitchFamily="18" charset="0"/>
                <a:cs typeface="Times New Roman" panose="02020603050405020304" pitchFamily="18" charset="0"/>
              </a:rPr>
              <a:t>. 2016. Deep Learning. MIT Press: Cambridge, MA. </a:t>
            </a:r>
          </a:p>
        </p:txBody>
      </p:sp>
    </p:spTree>
    <p:extLst>
      <p:ext uri="{BB962C8B-B14F-4D97-AF65-F5344CB8AC3E}">
        <p14:creationId xmlns:p14="http://schemas.microsoft.com/office/powerpoint/2010/main" val="1304293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29900"/>
            <a:ext cx="6589199" cy="1280890"/>
          </a:xfrm>
        </p:spPr>
        <p:txBody>
          <a:bodyPr/>
          <a:lstStyle/>
          <a:p>
            <a:r>
              <a:rPr lang="en-US" dirty="0">
                <a:latin typeface="Times New Roman" panose="02020603050405020304" pitchFamily="18" charset="0"/>
                <a:cs typeface="Times New Roman" panose="02020603050405020304" pitchFamily="18" charset="0"/>
              </a:rPr>
              <a:t>Addressing Overfitting</a:t>
            </a:r>
          </a:p>
        </p:txBody>
      </p:sp>
      <p:sp>
        <p:nvSpPr>
          <p:cNvPr id="3" name="Content Placeholder 2"/>
          <p:cNvSpPr>
            <a:spLocks noGrp="1"/>
          </p:cNvSpPr>
          <p:nvPr>
            <p:ph idx="1"/>
          </p:nvPr>
        </p:nvSpPr>
        <p:spPr>
          <a:xfrm>
            <a:off x="152400" y="1295400"/>
            <a:ext cx="8686800" cy="4572000"/>
          </a:xfrm>
        </p:spPr>
        <p:txBody>
          <a:bodyPr>
            <a:noAutofit/>
          </a:bodyPr>
          <a:lstStyle/>
          <a:p>
            <a:r>
              <a:rPr lang="en-US" altLang="en-US" sz="2100" dirty="0">
                <a:solidFill>
                  <a:srgbClr val="FF0000"/>
                </a:solidFill>
                <a:latin typeface="Times New Roman" panose="02020603050405020304" pitchFamily="18" charset="0"/>
                <a:cs typeface="Times New Roman" panose="02020603050405020304" pitchFamily="18" charset="0"/>
              </a:rPr>
              <a:t>Pre-Pruning (Early Stopping Rule)</a:t>
            </a:r>
          </a:p>
          <a:p>
            <a:pPr lvl="1"/>
            <a:r>
              <a:rPr lang="en-US" altLang="en-US" sz="2100" dirty="0">
                <a:latin typeface="Times New Roman" panose="02020603050405020304" pitchFamily="18" charset="0"/>
                <a:cs typeface="Times New Roman" panose="02020603050405020304" pitchFamily="18" charset="0"/>
              </a:rPr>
              <a:t>Stop the algorithm before it becomes a fully-grown tree</a:t>
            </a:r>
          </a:p>
          <a:p>
            <a:pPr lvl="1"/>
            <a:r>
              <a:rPr lang="en-US" altLang="en-US" sz="2100" dirty="0">
                <a:latin typeface="Times New Roman" panose="02020603050405020304" pitchFamily="18" charset="0"/>
                <a:cs typeface="Times New Roman" panose="02020603050405020304" pitchFamily="18" charset="0"/>
              </a:rPr>
              <a:t>Typical stopping conditions for a node:</a:t>
            </a:r>
          </a:p>
          <a:p>
            <a:pPr lvl="2"/>
            <a:r>
              <a:rPr lang="en-US" altLang="en-US" sz="2100" dirty="0">
                <a:latin typeface="Times New Roman" panose="02020603050405020304" pitchFamily="18" charset="0"/>
                <a:cs typeface="Times New Roman" panose="02020603050405020304" pitchFamily="18" charset="0"/>
              </a:rPr>
              <a:t> Stop if all instances belong to the same class</a:t>
            </a:r>
          </a:p>
          <a:p>
            <a:pPr lvl="2"/>
            <a:r>
              <a:rPr lang="en-US" altLang="en-US" sz="2100" dirty="0">
                <a:latin typeface="Times New Roman" panose="02020603050405020304" pitchFamily="18" charset="0"/>
                <a:cs typeface="Times New Roman" panose="02020603050405020304" pitchFamily="18" charset="0"/>
              </a:rPr>
              <a:t> Stop if all the attribute values are the same</a:t>
            </a:r>
          </a:p>
          <a:p>
            <a:pPr lvl="1"/>
            <a:r>
              <a:rPr lang="en-US" altLang="en-US" sz="2100" dirty="0">
                <a:latin typeface="Times New Roman" panose="02020603050405020304" pitchFamily="18" charset="0"/>
                <a:cs typeface="Times New Roman" panose="02020603050405020304" pitchFamily="18" charset="0"/>
              </a:rPr>
              <a:t>More restrictive conditions:</a:t>
            </a:r>
          </a:p>
          <a:p>
            <a:pPr lvl="2"/>
            <a:r>
              <a:rPr lang="en-US" altLang="en-US" sz="2100" dirty="0">
                <a:latin typeface="Times New Roman" panose="02020603050405020304" pitchFamily="18" charset="0"/>
                <a:cs typeface="Times New Roman" panose="02020603050405020304" pitchFamily="18" charset="0"/>
              </a:rPr>
              <a:t> Stop if number of instances is less than some user-specified threshold</a:t>
            </a:r>
          </a:p>
          <a:p>
            <a:pPr lvl="2"/>
            <a:r>
              <a:rPr lang="en-US" altLang="en-US" sz="2100" dirty="0">
                <a:latin typeface="Times New Roman" panose="02020603050405020304" pitchFamily="18" charset="0"/>
                <a:cs typeface="Times New Roman" panose="02020603050405020304" pitchFamily="18" charset="0"/>
              </a:rPr>
              <a:t> Stop if class distribution of instances are independent of the available features (e.g., using </a:t>
            </a:r>
            <a:r>
              <a:rPr lang="en-US" altLang="en-US" sz="2100" dirty="0">
                <a:latin typeface="Times New Roman" panose="02020603050405020304" pitchFamily="18" charset="0"/>
                <a:cs typeface="Times New Roman" panose="02020603050405020304" pitchFamily="18" charset="0"/>
                <a:sym typeface="Symbol" pitchFamily="18" charset="2"/>
              </a:rPr>
              <a:t></a:t>
            </a:r>
            <a:r>
              <a:rPr lang="en-US" altLang="en-US" sz="2100" baseline="30000" dirty="0">
                <a:latin typeface="Times New Roman" panose="02020603050405020304" pitchFamily="18" charset="0"/>
                <a:cs typeface="Times New Roman" panose="02020603050405020304" pitchFamily="18" charset="0"/>
                <a:sym typeface="Symbol" pitchFamily="18" charset="2"/>
              </a:rPr>
              <a:t> 2</a:t>
            </a:r>
            <a:r>
              <a:rPr lang="en-US" altLang="en-US" sz="2100" dirty="0">
                <a:latin typeface="Times New Roman" panose="02020603050405020304" pitchFamily="18" charset="0"/>
                <a:cs typeface="Times New Roman" panose="02020603050405020304" pitchFamily="18" charset="0"/>
                <a:sym typeface="Symbol" pitchFamily="18" charset="2"/>
              </a:rPr>
              <a:t> test)</a:t>
            </a:r>
            <a:endParaRPr lang="en-US" altLang="en-US" sz="2100" baseline="30000" dirty="0">
              <a:latin typeface="Times New Roman" panose="02020603050405020304" pitchFamily="18" charset="0"/>
              <a:cs typeface="Times New Roman" panose="02020603050405020304" pitchFamily="18" charset="0"/>
            </a:endParaRPr>
          </a:p>
          <a:p>
            <a:pPr lvl="2"/>
            <a:r>
              <a:rPr lang="en-US" altLang="en-US" sz="2100" dirty="0">
                <a:latin typeface="Times New Roman" panose="02020603050405020304" pitchFamily="18" charset="0"/>
                <a:cs typeface="Times New Roman" panose="02020603050405020304" pitchFamily="18" charset="0"/>
              </a:rPr>
              <a:t> Stop if expanding the current node does not improve impurity</a:t>
            </a:r>
            <a:br>
              <a:rPr lang="en-US" altLang="en-US" sz="2100" dirty="0">
                <a:latin typeface="Times New Roman" panose="02020603050405020304" pitchFamily="18" charset="0"/>
                <a:cs typeface="Times New Roman" panose="02020603050405020304" pitchFamily="18" charset="0"/>
              </a:rPr>
            </a:br>
            <a:r>
              <a:rPr lang="en-US" altLang="en-US" sz="2100" dirty="0">
                <a:latin typeface="Times New Roman" panose="02020603050405020304" pitchFamily="18" charset="0"/>
                <a:cs typeface="Times New Roman" panose="02020603050405020304" pitchFamily="18" charset="0"/>
              </a:rPr>
              <a:t>    measures (e.g., Gini or information gain).</a:t>
            </a:r>
          </a:p>
          <a:p>
            <a:endParaRPr lang="en-US" sz="21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76F96C40-0356-46F5-90E5-FF57DE76D9A0}" type="slidenum">
              <a:rPr lang="en-US" smtClean="0"/>
              <a:t>20</a:t>
            </a:fld>
            <a:endParaRPr lang="en-US"/>
          </a:p>
        </p:txBody>
      </p:sp>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20</a:t>
              </a:fld>
              <a:r>
                <a:rPr lang="en-US" altLang="en-US" sz="1200" b="0" dirty="0"/>
                <a:t> </a:t>
              </a:r>
            </a:p>
          </p:txBody>
        </p:sp>
      </p:grpSp>
    </p:spTree>
    <p:extLst>
      <p:ext uri="{BB962C8B-B14F-4D97-AF65-F5344CB8AC3E}">
        <p14:creationId xmlns:p14="http://schemas.microsoft.com/office/powerpoint/2010/main" val="1278084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08424"/>
            <a:ext cx="6589199" cy="1280890"/>
          </a:xfrm>
        </p:spPr>
        <p:txBody>
          <a:bodyPr/>
          <a:lstStyle/>
          <a:p>
            <a:r>
              <a:rPr lang="en-US" dirty="0">
                <a:latin typeface="Times New Roman" panose="02020603050405020304" pitchFamily="18" charset="0"/>
                <a:cs typeface="Times New Roman" panose="02020603050405020304" pitchFamily="18" charset="0"/>
              </a:rPr>
              <a:t>Addressing Overfitting (2)</a:t>
            </a:r>
          </a:p>
        </p:txBody>
      </p:sp>
      <p:sp>
        <p:nvSpPr>
          <p:cNvPr id="3" name="Content Placeholder 2"/>
          <p:cNvSpPr>
            <a:spLocks noGrp="1"/>
          </p:cNvSpPr>
          <p:nvPr>
            <p:ph idx="1"/>
          </p:nvPr>
        </p:nvSpPr>
        <p:spPr>
          <a:xfrm>
            <a:off x="457200" y="1600200"/>
            <a:ext cx="8229600" cy="4733604"/>
          </a:xfrm>
        </p:spPr>
        <p:txBody>
          <a:bodyPr>
            <a:normAutofit/>
          </a:bodyPr>
          <a:lstStyle/>
          <a:p>
            <a:r>
              <a:rPr lang="en-US" altLang="en-US" sz="2400" dirty="0">
                <a:solidFill>
                  <a:srgbClr val="FF0000"/>
                </a:solidFill>
                <a:latin typeface="Times New Roman" panose="02020603050405020304" pitchFamily="18" charset="0"/>
                <a:cs typeface="Times New Roman" panose="02020603050405020304" pitchFamily="18" charset="0"/>
              </a:rPr>
              <a:t>Post-pruning</a:t>
            </a:r>
          </a:p>
          <a:p>
            <a:pPr lvl="1"/>
            <a:r>
              <a:rPr lang="en-US" altLang="en-US" sz="2400" dirty="0">
                <a:latin typeface="Times New Roman" panose="02020603050405020304" pitchFamily="18" charset="0"/>
                <a:cs typeface="Times New Roman" panose="02020603050405020304" pitchFamily="18" charset="0"/>
              </a:rPr>
              <a:t>Grow decision tree to its entirety</a:t>
            </a:r>
          </a:p>
          <a:p>
            <a:pPr lvl="1"/>
            <a:r>
              <a:rPr lang="en-US" altLang="en-US" sz="2400" dirty="0">
                <a:latin typeface="Times New Roman" panose="02020603050405020304" pitchFamily="18" charset="0"/>
                <a:cs typeface="Times New Roman" panose="02020603050405020304" pitchFamily="18" charset="0"/>
              </a:rPr>
              <a:t>Trim the nodes of the decision tree in a bottom-up fashion</a:t>
            </a:r>
          </a:p>
          <a:p>
            <a:pPr lvl="1"/>
            <a:r>
              <a:rPr lang="en-US" altLang="en-US" sz="2400" dirty="0">
                <a:latin typeface="Times New Roman" panose="02020603050405020304" pitchFamily="18" charset="0"/>
                <a:cs typeface="Times New Roman" panose="02020603050405020304" pitchFamily="18" charset="0"/>
              </a:rPr>
              <a:t>If generalization error improves after trimming, replace sub-tree by a leaf node.</a:t>
            </a:r>
          </a:p>
          <a:p>
            <a:pPr lvl="1"/>
            <a:r>
              <a:rPr lang="en-US" altLang="en-US" sz="2400" dirty="0">
                <a:latin typeface="Times New Roman" panose="02020603050405020304" pitchFamily="18" charset="0"/>
                <a:cs typeface="Times New Roman" panose="02020603050405020304" pitchFamily="18" charset="0"/>
              </a:rPr>
              <a:t>Class label of leaf node is determined from majority class of instances in the sub-tree</a:t>
            </a:r>
          </a:p>
          <a:p>
            <a:endParaRPr lang="en-US" sz="24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76F96C40-0356-46F5-90E5-FF57DE76D9A0}" type="slidenum">
              <a:rPr lang="en-US" smtClean="0"/>
              <a:t>21</a:t>
            </a:fld>
            <a:endParaRPr lang="en-US"/>
          </a:p>
        </p:txBody>
      </p:sp>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21</a:t>
              </a:fld>
              <a:r>
                <a:rPr lang="en-US" altLang="en-US" sz="1200" b="0" dirty="0"/>
                <a:t> </a:t>
              </a:r>
            </a:p>
          </p:txBody>
        </p:sp>
      </p:grpSp>
    </p:spTree>
    <p:extLst>
      <p:ext uri="{BB962C8B-B14F-4D97-AF65-F5344CB8AC3E}">
        <p14:creationId xmlns:p14="http://schemas.microsoft.com/office/powerpoint/2010/main" val="3647019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41081"/>
            <a:ext cx="6589199" cy="1280890"/>
          </a:xfrm>
        </p:spPr>
        <p:txBody>
          <a:bodyPr/>
          <a:lstStyle/>
          <a:p>
            <a:r>
              <a:rPr lang="en-US" dirty="0">
                <a:latin typeface="Times New Roman" panose="02020603050405020304" pitchFamily="18" charset="0"/>
                <a:cs typeface="Times New Roman" panose="02020603050405020304" pitchFamily="18" charset="0"/>
              </a:rPr>
              <a:t>Model Evaluation</a:t>
            </a:r>
          </a:p>
        </p:txBody>
      </p:sp>
      <p:sp>
        <p:nvSpPr>
          <p:cNvPr id="3" name="Content Placeholder 2"/>
          <p:cNvSpPr>
            <a:spLocks noGrp="1"/>
          </p:cNvSpPr>
          <p:nvPr>
            <p:ph idx="1"/>
          </p:nvPr>
        </p:nvSpPr>
        <p:spPr>
          <a:xfrm>
            <a:off x="457200" y="1600200"/>
            <a:ext cx="8229600" cy="4659737"/>
          </a:xfrm>
        </p:spPr>
        <p:txBody>
          <a:bodyPr>
            <a:normAutofit/>
          </a:bodyPr>
          <a:lstStyle/>
          <a:p>
            <a:r>
              <a:rPr lang="en-US" altLang="en-US" sz="2400" dirty="0">
                <a:latin typeface="Times New Roman" panose="02020603050405020304" pitchFamily="18" charset="0"/>
                <a:cs typeface="Times New Roman" panose="02020603050405020304" pitchFamily="18" charset="0"/>
              </a:rPr>
              <a:t>Metrics for Performance Evaluation</a:t>
            </a:r>
          </a:p>
          <a:p>
            <a:pPr lvl="1"/>
            <a:r>
              <a:rPr lang="en-US" altLang="en-US" sz="2400" dirty="0">
                <a:latin typeface="Times New Roman" panose="02020603050405020304" pitchFamily="18" charset="0"/>
                <a:cs typeface="Times New Roman" panose="02020603050405020304" pitchFamily="18" charset="0"/>
              </a:rPr>
              <a:t>How to evaluate the performance of a model?</a:t>
            </a:r>
          </a:p>
          <a:p>
            <a:pPr lvl="1">
              <a:buFont typeface="Arial" charset="0"/>
              <a:buNone/>
            </a:pP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Methods for Performance Evaluation</a:t>
            </a:r>
          </a:p>
          <a:p>
            <a:pPr lvl="1"/>
            <a:r>
              <a:rPr lang="en-US" altLang="en-US" sz="2400" dirty="0">
                <a:latin typeface="Times New Roman" panose="02020603050405020304" pitchFamily="18" charset="0"/>
                <a:cs typeface="Times New Roman" panose="02020603050405020304" pitchFamily="18" charset="0"/>
              </a:rPr>
              <a:t>How to obtain reliable estimates?</a:t>
            </a:r>
          </a:p>
          <a:p>
            <a:pPr lvl="1"/>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Methods for Model Comparison</a:t>
            </a:r>
          </a:p>
          <a:p>
            <a:pPr lvl="1"/>
            <a:r>
              <a:rPr lang="en-US" altLang="en-US" sz="2400" dirty="0">
                <a:latin typeface="Times New Roman" panose="02020603050405020304" pitchFamily="18" charset="0"/>
                <a:cs typeface="Times New Roman" panose="02020603050405020304" pitchFamily="18" charset="0"/>
              </a:rPr>
              <a:t>How to compare the relative performance among competing models?</a:t>
            </a:r>
          </a:p>
          <a:p>
            <a:endParaRPr lang="en-US" sz="24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76F96C40-0356-46F5-90E5-FF57DE76D9A0}" type="slidenum">
              <a:rPr lang="en-US" smtClean="0"/>
              <a:t>22</a:t>
            </a:fld>
            <a:endParaRPr lang="en-US"/>
          </a:p>
        </p:txBody>
      </p:sp>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22</a:t>
              </a:fld>
              <a:r>
                <a:rPr lang="en-US" altLang="en-US" sz="1200" b="0" dirty="0"/>
                <a:t> </a:t>
              </a:r>
            </a:p>
          </p:txBody>
        </p:sp>
      </p:grpSp>
    </p:spTree>
    <p:extLst>
      <p:ext uri="{BB962C8B-B14F-4D97-AF65-F5344CB8AC3E}">
        <p14:creationId xmlns:p14="http://schemas.microsoft.com/office/powerpoint/2010/main" val="3003508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228" y="156240"/>
            <a:ext cx="8991600" cy="1143000"/>
          </a:xfrm>
        </p:spPr>
        <p:txBody>
          <a:bodyPr>
            <a:normAutofit/>
          </a:bodyPr>
          <a:lstStyle/>
          <a:p>
            <a:r>
              <a:rPr lang="en-US" dirty="0">
                <a:latin typeface="Times New Roman" panose="02020603050405020304" pitchFamily="18" charset="0"/>
                <a:cs typeface="Times New Roman" panose="02020603050405020304" pitchFamily="18" charset="0"/>
              </a:rPr>
              <a:t>Metrics for Performance Evaluation</a:t>
            </a:r>
          </a:p>
        </p:txBody>
      </p:sp>
      <p:sp>
        <p:nvSpPr>
          <p:cNvPr id="3" name="Content Placeholder 2"/>
          <p:cNvSpPr>
            <a:spLocks noGrp="1"/>
          </p:cNvSpPr>
          <p:nvPr>
            <p:ph idx="1"/>
          </p:nvPr>
        </p:nvSpPr>
        <p:spPr>
          <a:xfrm>
            <a:off x="457200" y="1219200"/>
            <a:ext cx="8229600" cy="2369880"/>
          </a:xfrm>
        </p:spPr>
        <p:txBody>
          <a:bodyPr>
            <a:normAutofit/>
          </a:bodyPr>
          <a:lstStyle/>
          <a:p>
            <a:r>
              <a:rPr lang="en-US" altLang="en-US" sz="2400" dirty="0">
                <a:latin typeface="Times New Roman" panose="02020603050405020304" pitchFamily="18" charset="0"/>
                <a:cs typeface="Times New Roman" panose="02020603050405020304" pitchFamily="18" charset="0"/>
              </a:rPr>
              <a:t>Focus on the predictive capability of a model</a:t>
            </a:r>
          </a:p>
          <a:p>
            <a:pPr lvl="1"/>
            <a:r>
              <a:rPr lang="en-US" altLang="en-US" sz="2400" dirty="0">
                <a:latin typeface="Times New Roman" panose="02020603050405020304" pitchFamily="18" charset="0"/>
                <a:cs typeface="Times New Roman" panose="02020603050405020304" pitchFamily="18" charset="0"/>
              </a:rPr>
              <a:t>Rather than how fast it takes to classify or build models, scalability, etc.</a:t>
            </a:r>
          </a:p>
          <a:p>
            <a:r>
              <a:rPr lang="en-US" altLang="en-US" sz="2400" dirty="0">
                <a:latin typeface="Times New Roman" panose="02020603050405020304" pitchFamily="18" charset="0"/>
                <a:cs typeface="Times New Roman" panose="02020603050405020304" pitchFamily="18" charset="0"/>
              </a:rPr>
              <a:t>Confusion Matrix:</a:t>
            </a:r>
          </a:p>
          <a:p>
            <a:endParaRPr lang="en-US" sz="2400" dirty="0">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76F96C40-0356-46F5-90E5-FF57DE76D9A0}" type="slidenum">
              <a:rPr lang="en-US" smtClean="0"/>
              <a:t>23</a:t>
            </a:fld>
            <a:endParaRPr lang="en-US"/>
          </a:p>
        </p:txBody>
      </p:sp>
      <p:graphicFrame>
        <p:nvGraphicFramePr>
          <p:cNvPr id="4" name="Group 4"/>
          <p:cNvGraphicFramePr>
            <a:graphicFrameLocks noGrp="1"/>
          </p:cNvGraphicFramePr>
          <p:nvPr/>
        </p:nvGraphicFramePr>
        <p:xfrm>
          <a:off x="367145" y="3276600"/>
          <a:ext cx="6096000" cy="279400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604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4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400" b="0" i="0" u="none" strike="noStrike" cap="none" normalizeH="0" baseline="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85800">
                <a:tc rowSpan="3">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altLang="en-US" sz="2400" b="0" i="0" u="none" strike="noStrike" cap="none" normalizeH="0" baseline="0">
                          <a:ln>
                            <a:noFill/>
                          </a:ln>
                          <a:solidFill>
                            <a:schemeClr val="tx1"/>
                          </a:solidFill>
                          <a:effectLst/>
                          <a:latin typeface="Arial" charset="0"/>
                        </a:rPr>
                      </a:br>
                      <a:endParaRPr kumimoji="0" lang="en-US" altLang="en-US" sz="2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400" b="0" i="0" u="none" strike="noStrike" cap="none" normalizeH="0" baseline="0">
                          <a:ln>
                            <a:noFill/>
                          </a:ln>
                          <a:solidFill>
                            <a:schemeClr val="tx1"/>
                          </a:solidFill>
                          <a:effectLst/>
                          <a:latin typeface="Arial" charset="0"/>
                        </a:rPr>
                        <a:t>ACTUAL</a:t>
                      </a:r>
                      <a:br>
                        <a:rPr kumimoji="0" lang="en-US" altLang="en-US" sz="2400" b="0" i="0" u="none" strike="noStrike" cap="none" normalizeH="0" baseline="0">
                          <a:ln>
                            <a:noFill/>
                          </a:ln>
                          <a:solidFill>
                            <a:schemeClr val="tx1"/>
                          </a:solidFill>
                          <a:effectLst/>
                          <a:latin typeface="Arial" charset="0"/>
                        </a:rPr>
                      </a:br>
                      <a:r>
                        <a:rPr kumimoji="0" lang="en-US" altLang="en-US" sz="24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3100">
                <a:tc vMerge="1">
                  <a:txBody>
                    <a:bodyPr/>
                    <a:lstStyle/>
                    <a:p>
                      <a:endParaRPr lang="en-US"/>
                    </a:p>
                  </a:txBody>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dirty="0">
                          <a:ln>
                            <a:noFill/>
                          </a:ln>
                          <a:solidFill>
                            <a:schemeClr val="tx1"/>
                          </a:solidFill>
                          <a:effectLst/>
                          <a:latin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4700">
                <a:tc vMerge="1">
                  <a:txBody>
                    <a:bodyPr/>
                    <a:lstStyle/>
                    <a:p>
                      <a:endParaRPr lang="en-US"/>
                    </a:p>
                  </a:txBody>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dirty="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Text Box 27"/>
          <p:cNvSpPr txBox="1">
            <a:spLocks noChangeArrowheads="1"/>
          </p:cNvSpPr>
          <p:nvPr/>
        </p:nvSpPr>
        <p:spPr bwMode="auto">
          <a:xfrm>
            <a:off x="6615545" y="3276600"/>
            <a:ext cx="22098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Consistent with Statistical Tests:</a:t>
            </a:r>
          </a:p>
          <a:p>
            <a:pPr>
              <a:spcBef>
                <a:spcPct val="50000"/>
              </a:spcBef>
            </a:pPr>
            <a:r>
              <a:rPr lang="en-US" altLang="en-US" dirty="0"/>
              <a:t>a: TP (true positive)</a:t>
            </a:r>
          </a:p>
          <a:p>
            <a:pPr>
              <a:spcBef>
                <a:spcPct val="50000"/>
              </a:spcBef>
            </a:pPr>
            <a:r>
              <a:rPr lang="en-US" altLang="en-US" dirty="0"/>
              <a:t>b: FN (false negative)</a:t>
            </a:r>
          </a:p>
          <a:p>
            <a:pPr>
              <a:spcBef>
                <a:spcPct val="50000"/>
              </a:spcBef>
            </a:pPr>
            <a:r>
              <a:rPr lang="en-US" altLang="en-US" dirty="0"/>
              <a:t>c: FP (false positive)</a:t>
            </a:r>
          </a:p>
          <a:p>
            <a:pPr>
              <a:spcBef>
                <a:spcPct val="50000"/>
              </a:spcBef>
            </a:pPr>
            <a:r>
              <a:rPr lang="en-US" altLang="en-US" dirty="0"/>
              <a:t>d: TN (true negative)</a:t>
            </a:r>
          </a:p>
        </p:txBody>
      </p:sp>
      <p:grpSp>
        <p:nvGrpSpPr>
          <p:cNvPr id="6" name="Group 22"/>
          <p:cNvGrpSpPr>
            <a:grpSpLocks/>
          </p:cNvGrpSpPr>
          <p:nvPr/>
        </p:nvGrpSpPr>
        <p:grpSpPr bwMode="auto">
          <a:xfrm>
            <a:off x="381000" y="6400800"/>
            <a:ext cx="8382000" cy="304800"/>
            <a:chOff x="288" y="3408"/>
            <a:chExt cx="5280" cy="192"/>
          </a:xfrm>
        </p:grpSpPr>
        <p:sp>
          <p:nvSpPr>
            <p:cNvPr id="7"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23</a:t>
              </a:fld>
              <a:r>
                <a:rPr lang="en-US" altLang="en-US" sz="1200" b="0" dirty="0"/>
                <a:t> </a:t>
              </a:r>
            </a:p>
          </p:txBody>
        </p:sp>
      </p:grpSp>
    </p:spTree>
    <p:extLst>
      <p:ext uri="{BB962C8B-B14F-4D97-AF65-F5344CB8AC3E}">
        <p14:creationId xmlns:p14="http://schemas.microsoft.com/office/powerpoint/2010/main" val="2127384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3114" y="241296"/>
            <a:ext cx="6945086" cy="1280890"/>
          </a:xfrm>
        </p:spPr>
        <p:txBody>
          <a:bodyPr>
            <a:normAutofit/>
          </a:bodyPr>
          <a:lstStyle/>
          <a:p>
            <a:r>
              <a:rPr lang="en-US" dirty="0">
                <a:latin typeface="Times New Roman" panose="02020603050405020304" pitchFamily="18" charset="0"/>
                <a:cs typeface="Times New Roman" panose="02020603050405020304" pitchFamily="18" charset="0"/>
              </a:rPr>
              <a:t>Metrics for Performance Evaluation (2)</a:t>
            </a:r>
          </a:p>
        </p:txBody>
      </p:sp>
      <p:sp>
        <p:nvSpPr>
          <p:cNvPr id="3" name="Content Placeholder 2"/>
          <p:cNvSpPr>
            <a:spLocks noGrp="1"/>
          </p:cNvSpPr>
          <p:nvPr>
            <p:ph idx="1"/>
          </p:nvPr>
        </p:nvSpPr>
        <p:spPr>
          <a:xfrm>
            <a:off x="457200" y="1600200"/>
            <a:ext cx="8229600" cy="4475071"/>
          </a:xfrm>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sz="2400" dirty="0">
                <a:latin typeface="Times New Roman" panose="02020603050405020304" pitchFamily="18" charset="0"/>
                <a:cs typeface="Times New Roman" panose="02020603050405020304" pitchFamily="18" charset="0"/>
              </a:rPr>
              <a:t>Most widely-used metric:</a:t>
            </a:r>
          </a:p>
          <a:p>
            <a:endParaRPr lang="en-US" altLang="en-US" dirty="0"/>
          </a:p>
          <a:p>
            <a:endParaRPr lang="en-US" dirty="0"/>
          </a:p>
        </p:txBody>
      </p:sp>
      <p:sp>
        <p:nvSpPr>
          <p:cNvPr id="9" name="Slide Number Placeholder 8"/>
          <p:cNvSpPr>
            <a:spLocks noGrp="1"/>
          </p:cNvSpPr>
          <p:nvPr>
            <p:ph type="sldNum" sz="quarter" idx="12"/>
          </p:nvPr>
        </p:nvSpPr>
        <p:spPr/>
        <p:txBody>
          <a:bodyPr/>
          <a:lstStyle/>
          <a:p>
            <a:fld id="{76F96C40-0356-46F5-90E5-FF57DE76D9A0}" type="slidenum">
              <a:rPr lang="en-US" smtClean="0"/>
              <a:t>24</a:t>
            </a:fld>
            <a:endParaRPr lang="en-US"/>
          </a:p>
        </p:txBody>
      </p:sp>
      <p:graphicFrame>
        <p:nvGraphicFramePr>
          <p:cNvPr id="4" name="Group 4"/>
          <p:cNvGraphicFramePr>
            <a:graphicFrameLocks noGrp="1"/>
          </p:cNvGraphicFramePr>
          <p:nvPr/>
        </p:nvGraphicFramePr>
        <p:xfrm>
          <a:off x="1524000" y="1600200"/>
          <a:ext cx="6096000" cy="282194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604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400" b="0" i="0" u="none" strike="noStrike" cap="none" normalizeH="0" baseline="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85800">
                <a:tc rowSpan="3">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altLang="en-US" sz="2400" b="0" i="0" u="none" strike="noStrike" cap="none" normalizeH="0" baseline="0">
                          <a:ln>
                            <a:noFill/>
                          </a:ln>
                          <a:solidFill>
                            <a:schemeClr val="tx1"/>
                          </a:solidFill>
                          <a:effectLst/>
                          <a:latin typeface="Arial" charset="0"/>
                        </a:rPr>
                      </a:br>
                      <a:endParaRPr kumimoji="0" lang="en-US" altLang="en-US" sz="2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400" b="0" i="0" u="none" strike="noStrike" cap="none" normalizeH="0" baseline="0">
                          <a:ln>
                            <a:noFill/>
                          </a:ln>
                          <a:solidFill>
                            <a:schemeClr val="tx1"/>
                          </a:solidFill>
                          <a:effectLst/>
                          <a:latin typeface="Arial" charset="0"/>
                        </a:rPr>
                        <a:t>ACTUAL</a:t>
                      </a:r>
                      <a:br>
                        <a:rPr kumimoji="0" lang="en-US" altLang="en-US" sz="2400" b="0" i="0" u="none" strike="noStrike" cap="none" normalizeH="0" baseline="0">
                          <a:ln>
                            <a:noFill/>
                          </a:ln>
                          <a:solidFill>
                            <a:schemeClr val="tx1"/>
                          </a:solidFill>
                          <a:effectLst/>
                          <a:latin typeface="Arial" charset="0"/>
                        </a:rPr>
                      </a:br>
                      <a:r>
                        <a:rPr kumimoji="0" lang="en-US" altLang="en-US" sz="24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3100">
                <a:tc vMerge="1">
                  <a:txBody>
                    <a:bodyPr/>
                    <a:lstStyle/>
                    <a:p>
                      <a:endParaRPr lang="en-US"/>
                    </a:p>
                  </a:txBody>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a</a:t>
                      </a:r>
                      <a:br>
                        <a:rPr kumimoji="0" lang="en-US" altLang="en-US" sz="2000" b="0" i="0" u="none" strike="noStrike" cap="none" normalizeH="0" baseline="0">
                          <a:ln>
                            <a:noFill/>
                          </a:ln>
                          <a:solidFill>
                            <a:schemeClr val="tx1"/>
                          </a:solidFill>
                          <a:effectLst/>
                          <a:latin typeface="Arial" charset="0"/>
                        </a:rPr>
                      </a:br>
                      <a:r>
                        <a:rPr kumimoji="0" lang="en-US" altLang="en-US" sz="2000" b="0" i="0" u="none" strike="noStrike" cap="none" normalizeH="0" baseline="0">
                          <a:ln>
                            <a:noFill/>
                          </a:ln>
                          <a:solidFill>
                            <a:srgbClr val="FF0000"/>
                          </a:solidFill>
                          <a:effectLst/>
                          <a:latin typeface="Arial" charset="0"/>
                        </a:rPr>
                        <a:t>(TP)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b</a:t>
                      </a:r>
                      <a:br>
                        <a:rPr kumimoji="0" lang="en-US" altLang="en-US" sz="2000" b="0" i="0" u="none" strike="noStrike" cap="none" normalizeH="0" baseline="0">
                          <a:ln>
                            <a:noFill/>
                          </a:ln>
                          <a:solidFill>
                            <a:schemeClr val="tx1"/>
                          </a:solidFill>
                          <a:effectLst/>
                          <a:latin typeface="Arial" charset="0"/>
                        </a:rPr>
                      </a:br>
                      <a:r>
                        <a:rPr kumimoji="0" lang="en-US" altLang="en-US" sz="2000" b="0" i="0" u="none" strike="noStrike" cap="none" normalizeH="0" baseline="0">
                          <a:ln>
                            <a:noFill/>
                          </a:ln>
                          <a:solidFill>
                            <a:srgbClr val="FF0000"/>
                          </a:solidFill>
                          <a:effectLst/>
                          <a:latin typeface="Arial" charset="0"/>
                        </a:rPr>
                        <a:t>(FN)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4700">
                <a:tc vMerge="1">
                  <a:txBody>
                    <a:bodyPr/>
                    <a:lstStyle/>
                    <a:p>
                      <a:endParaRPr lang="en-US"/>
                    </a:p>
                  </a:txBody>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dirty="0">
                          <a:ln>
                            <a:noFill/>
                          </a:ln>
                          <a:solidFill>
                            <a:schemeClr val="tx1"/>
                          </a:solidFill>
                          <a:effectLst/>
                          <a:latin typeface="Arial" charset="0"/>
                        </a:rPr>
                        <a:t>c</a:t>
                      </a:r>
                      <a:br>
                        <a:rPr kumimoji="0" lang="en-US" altLang="en-US" sz="2000" b="0" i="0" u="none" strike="noStrike" cap="none" normalizeH="0" baseline="0" dirty="0">
                          <a:ln>
                            <a:noFill/>
                          </a:ln>
                          <a:solidFill>
                            <a:schemeClr val="tx1"/>
                          </a:solidFill>
                          <a:effectLst/>
                          <a:latin typeface="Arial" charset="0"/>
                        </a:rPr>
                      </a:br>
                      <a:r>
                        <a:rPr kumimoji="0" lang="en-US" altLang="en-US" sz="2000" b="0" i="0" u="none" strike="noStrike" cap="none" normalizeH="0" baseline="0" dirty="0">
                          <a:ln>
                            <a:noFill/>
                          </a:ln>
                          <a:solidFill>
                            <a:srgbClr val="FF0000"/>
                          </a:solidFill>
                          <a:effectLst/>
                          <a:latin typeface="Arial" charset="0"/>
                        </a:rPr>
                        <a:t>(FP)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charset="0"/>
                        </a:defRPr>
                      </a:lvl1pPr>
                      <a:lvl2pPr>
                        <a:spcBef>
                          <a:spcPct val="10000"/>
                        </a:spcBef>
                        <a:spcAft>
                          <a:spcPts val="400"/>
                        </a:spcAft>
                        <a:buClr>
                          <a:srgbClr val="0C7B9C"/>
                        </a:buClr>
                        <a:buSzPct val="100000"/>
                        <a:buFont typeface="Arial" charset="0"/>
                        <a:defRPr sz="2400">
                          <a:solidFill>
                            <a:schemeClr val="tx1"/>
                          </a:solidFill>
                          <a:latin typeface="Arial" charset="0"/>
                        </a:defRPr>
                      </a:lvl2pPr>
                      <a:lvl3pPr>
                        <a:spcBef>
                          <a:spcPct val="10000"/>
                        </a:spcBef>
                        <a:spcAft>
                          <a:spcPts val="400"/>
                        </a:spcAft>
                        <a:buClr>
                          <a:srgbClr val="0C7B9C"/>
                        </a:buClr>
                        <a:buSzPct val="70000"/>
                        <a:buFont typeface="Wingdings" pitchFamily="2" charset="2"/>
                        <a:defRPr sz="2000">
                          <a:solidFill>
                            <a:schemeClr val="tx1"/>
                          </a:solidFill>
                          <a:latin typeface="Arial" charset="0"/>
                        </a:defRPr>
                      </a:lvl3pPr>
                      <a:lvl4pPr>
                        <a:spcBef>
                          <a:spcPct val="20000"/>
                        </a:spcBef>
                        <a:buSzPct val="100000"/>
                        <a:defRPr>
                          <a:solidFill>
                            <a:schemeClr val="tx1"/>
                          </a:solidFill>
                          <a:latin typeface="Times New Roman" charset="0"/>
                        </a:defRPr>
                      </a:lvl4pPr>
                      <a:lvl5pPr>
                        <a:spcBef>
                          <a:spcPct val="20000"/>
                        </a:spcBef>
                        <a:buSzPct val="100000"/>
                        <a:defRPr>
                          <a:solidFill>
                            <a:schemeClr val="tx1"/>
                          </a:solidFill>
                          <a:latin typeface="Times New Roman" charset="0"/>
                        </a:defRPr>
                      </a:lvl5pPr>
                      <a:lvl6pPr eaLnBrk="0" fontAlgn="base" hangingPunct="0">
                        <a:spcBef>
                          <a:spcPct val="20000"/>
                        </a:spcBef>
                        <a:spcAft>
                          <a:spcPct val="0"/>
                        </a:spcAft>
                        <a:buSzPct val="100000"/>
                        <a:defRPr>
                          <a:solidFill>
                            <a:schemeClr val="tx1"/>
                          </a:solidFill>
                          <a:latin typeface="Times New Roman" charset="0"/>
                        </a:defRPr>
                      </a:lvl6pPr>
                      <a:lvl7pPr eaLnBrk="0" fontAlgn="base" hangingPunct="0">
                        <a:spcBef>
                          <a:spcPct val="20000"/>
                        </a:spcBef>
                        <a:spcAft>
                          <a:spcPct val="0"/>
                        </a:spcAft>
                        <a:buSzPct val="100000"/>
                        <a:defRPr>
                          <a:solidFill>
                            <a:schemeClr val="tx1"/>
                          </a:solidFill>
                          <a:latin typeface="Times New Roman" charset="0"/>
                        </a:defRPr>
                      </a:lvl7pPr>
                      <a:lvl8pPr eaLnBrk="0" fontAlgn="base" hangingPunct="0">
                        <a:spcBef>
                          <a:spcPct val="20000"/>
                        </a:spcBef>
                        <a:spcAft>
                          <a:spcPct val="0"/>
                        </a:spcAft>
                        <a:buSzPct val="100000"/>
                        <a:defRPr>
                          <a:solidFill>
                            <a:schemeClr val="tx1"/>
                          </a:solidFill>
                          <a:latin typeface="Times New Roman" charset="0"/>
                        </a:defRPr>
                      </a:lvl8pPr>
                      <a:lvl9pPr eaLnBrk="0" fontAlgn="base" hangingPunct="0">
                        <a:spcBef>
                          <a:spcPct val="20000"/>
                        </a:spcBef>
                        <a:spcAft>
                          <a:spcPct val="0"/>
                        </a:spcAft>
                        <a:buSzPct val="100000"/>
                        <a:defRPr>
                          <a:solidFill>
                            <a:schemeClr val="tx1"/>
                          </a:solidFill>
                          <a:latin typeface="Times New Roman"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dirty="0">
                          <a:ln>
                            <a:noFill/>
                          </a:ln>
                          <a:solidFill>
                            <a:schemeClr val="tx1"/>
                          </a:solidFill>
                          <a:effectLst/>
                          <a:latin typeface="Arial" charset="0"/>
                        </a:rPr>
                        <a:t>d</a:t>
                      </a:r>
                      <a:br>
                        <a:rPr kumimoji="0" lang="en-US" altLang="en-US" sz="2000" b="0" i="0" u="none" strike="noStrike" cap="none" normalizeH="0" baseline="0" dirty="0">
                          <a:ln>
                            <a:noFill/>
                          </a:ln>
                          <a:solidFill>
                            <a:schemeClr val="tx1"/>
                          </a:solidFill>
                          <a:effectLst/>
                          <a:latin typeface="Arial" charset="0"/>
                        </a:rPr>
                      </a:br>
                      <a:r>
                        <a:rPr kumimoji="0" lang="en-US" altLang="en-US" sz="2000" b="0" i="0" u="none" strike="noStrike" cap="none" normalizeH="0" baseline="0" dirty="0">
                          <a:ln>
                            <a:noFill/>
                          </a:ln>
                          <a:solidFill>
                            <a:srgbClr val="FF0000"/>
                          </a:solidFill>
                          <a:effectLst/>
                          <a:latin typeface="Arial" charset="0"/>
                        </a:rPr>
                        <a:t>(TN)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Object 4"/>
          <p:cNvGraphicFramePr>
            <a:graphicFrameLocks noChangeAspect="1"/>
          </p:cNvGraphicFramePr>
          <p:nvPr/>
        </p:nvGraphicFramePr>
        <p:xfrm>
          <a:off x="609600" y="5105400"/>
          <a:ext cx="7583488" cy="969963"/>
        </p:xfrm>
        <a:graphic>
          <a:graphicData uri="http://schemas.openxmlformats.org/presentationml/2006/ole">
            <mc:AlternateContent xmlns:mc="http://schemas.openxmlformats.org/markup-compatibility/2006">
              <mc:Choice xmlns:v="urn:schemas-microsoft-com:vml" Requires="v">
                <p:oleObj name="Equation" r:id="rId2" imgW="5664200" imgH="723900" progId="Equation.3">
                  <p:embed/>
                </p:oleObj>
              </mc:Choice>
              <mc:Fallback>
                <p:oleObj name="Equation" r:id="rId2" imgW="5664200" imgH="7239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105400"/>
                        <a:ext cx="7583488"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22"/>
          <p:cNvGrpSpPr>
            <a:grpSpLocks/>
          </p:cNvGrpSpPr>
          <p:nvPr/>
        </p:nvGrpSpPr>
        <p:grpSpPr bwMode="auto">
          <a:xfrm>
            <a:off x="381000" y="6400800"/>
            <a:ext cx="8382000" cy="304800"/>
            <a:chOff x="288" y="3408"/>
            <a:chExt cx="5280" cy="192"/>
          </a:xfrm>
        </p:grpSpPr>
        <p:sp>
          <p:nvSpPr>
            <p:cNvPr id="7"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24</a:t>
              </a:fld>
              <a:r>
                <a:rPr lang="en-US" altLang="en-US" sz="1200" b="0" dirty="0"/>
                <a:t> </a:t>
              </a:r>
            </a:p>
          </p:txBody>
        </p:sp>
      </p:grpSp>
    </p:spTree>
    <p:extLst>
      <p:ext uri="{BB962C8B-B14F-4D97-AF65-F5344CB8AC3E}">
        <p14:creationId xmlns:p14="http://schemas.microsoft.com/office/powerpoint/2010/main" val="1021946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4534" y="140898"/>
            <a:ext cx="8229600" cy="1143000"/>
          </a:xfrm>
        </p:spPr>
        <p:txBody>
          <a:bodyPr/>
          <a:lstStyle/>
          <a:p>
            <a:r>
              <a:rPr lang="en-US" dirty="0">
                <a:latin typeface="Times New Roman" panose="02020603050405020304" pitchFamily="18" charset="0"/>
                <a:cs typeface="Times New Roman" panose="02020603050405020304" pitchFamily="18" charset="0"/>
              </a:rPr>
              <a:t>Example 1- Iris Dataset</a:t>
            </a:r>
          </a:p>
        </p:txBody>
      </p:sp>
      <p:sp>
        <p:nvSpPr>
          <p:cNvPr id="3" name="Content Placeholder 2"/>
          <p:cNvSpPr>
            <a:spLocks noGrp="1"/>
          </p:cNvSpPr>
          <p:nvPr>
            <p:ph idx="1"/>
          </p:nvPr>
        </p:nvSpPr>
        <p:spPr>
          <a:xfrm>
            <a:off x="499726" y="1151470"/>
            <a:ext cx="8229600" cy="5105400"/>
          </a:xfrm>
        </p:spPr>
        <p:txBody>
          <a:bodyPr>
            <a:normAutofit/>
          </a:bodyPr>
          <a:lstStyle/>
          <a:p>
            <a:r>
              <a:rPr lang="en-US" sz="2400" dirty="0">
                <a:latin typeface="Times New Roman" panose="02020603050405020304" pitchFamily="18" charset="0"/>
                <a:cs typeface="Times New Roman" panose="02020603050405020304" pitchFamily="18" charset="0"/>
              </a:rPr>
              <a:t>This data sets consists of 3 different types of irises’ (</a:t>
            </a:r>
            <a:r>
              <a:rPr lang="en-US" sz="2400" dirty="0" err="1">
                <a:latin typeface="Times New Roman" panose="02020603050405020304" pitchFamily="18" charset="0"/>
                <a:cs typeface="Times New Roman" panose="02020603050405020304" pitchFamily="18" charset="0"/>
              </a:rPr>
              <a:t>Setosa</a:t>
            </a:r>
            <a:r>
              <a:rPr lang="en-US" sz="2400" dirty="0">
                <a:latin typeface="Times New Roman" panose="02020603050405020304" pitchFamily="18" charset="0"/>
                <a:cs typeface="Times New Roman" panose="02020603050405020304" pitchFamily="18" charset="0"/>
              </a:rPr>
              <a:t>, Versicolor, and </a:t>
            </a:r>
            <a:r>
              <a:rPr lang="en-US" sz="2400" dirty="0" err="1">
                <a:latin typeface="Times New Roman" panose="02020603050405020304" pitchFamily="18" charset="0"/>
                <a:cs typeface="Times New Roman" panose="02020603050405020304" pitchFamily="18" charset="0"/>
              </a:rPr>
              <a:t>Virginica</a:t>
            </a:r>
            <a:r>
              <a:rPr lang="en-US" sz="2400" dirty="0">
                <a:latin typeface="Times New Roman" panose="02020603050405020304" pitchFamily="18" charset="0"/>
                <a:cs typeface="Times New Roman" panose="02020603050405020304" pitchFamily="18" charset="0"/>
              </a:rPr>
              <a:t>) petal and sepal length, stored in a 150x4</a:t>
            </a:r>
          </a:p>
          <a:p>
            <a:r>
              <a:rPr lang="en-US" sz="2400" dirty="0">
                <a:latin typeface="Times New Roman" panose="02020603050405020304" pitchFamily="18" charset="0"/>
                <a:cs typeface="Times New Roman" panose="02020603050405020304" pitchFamily="18" charset="0"/>
              </a:rPr>
              <a:t>We want to make a model that predicts the type of Iris based on given physical information</a:t>
            </a:r>
          </a:p>
          <a:p>
            <a:r>
              <a:rPr lang="en-US" sz="2400" dirty="0">
                <a:latin typeface="Times New Roman" panose="02020603050405020304" pitchFamily="18" charset="0"/>
                <a:cs typeface="Times New Roman" panose="02020603050405020304" pitchFamily="18" charset="0"/>
              </a:rPr>
              <a:t>Code is provided on Canvas</a:t>
            </a:r>
          </a:p>
        </p:txBody>
      </p:sp>
      <p:sp>
        <p:nvSpPr>
          <p:cNvPr id="5" name="Slide Number Placeholder 4"/>
          <p:cNvSpPr>
            <a:spLocks noGrp="1"/>
          </p:cNvSpPr>
          <p:nvPr>
            <p:ph type="sldNum" sz="quarter" idx="12"/>
          </p:nvPr>
        </p:nvSpPr>
        <p:spPr/>
        <p:txBody>
          <a:bodyPr/>
          <a:lstStyle/>
          <a:p>
            <a:fld id="{76F96C40-0356-46F5-90E5-FF57DE76D9A0}" type="slidenum">
              <a:rPr lang="en-US" smtClean="0"/>
              <a:t>25</a:t>
            </a:fld>
            <a:endParaRPr lang="en-US"/>
          </a:p>
        </p:txBody>
      </p:sp>
      <p:graphicFrame>
        <p:nvGraphicFramePr>
          <p:cNvPr id="4" name="Table 3"/>
          <p:cNvGraphicFramePr>
            <a:graphicFrameLocks noGrp="1"/>
          </p:cNvGraphicFramePr>
          <p:nvPr/>
        </p:nvGraphicFramePr>
        <p:xfrm>
          <a:off x="1295400" y="3733800"/>
          <a:ext cx="6400800" cy="27686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961715134"/>
                    </a:ext>
                  </a:extLst>
                </a:gridCol>
                <a:gridCol w="1280160">
                  <a:extLst>
                    <a:ext uri="{9D8B030D-6E8A-4147-A177-3AD203B41FA5}">
                      <a16:colId xmlns:a16="http://schemas.microsoft.com/office/drawing/2014/main" val="565669052"/>
                    </a:ext>
                  </a:extLst>
                </a:gridCol>
                <a:gridCol w="1280160">
                  <a:extLst>
                    <a:ext uri="{9D8B030D-6E8A-4147-A177-3AD203B41FA5}">
                      <a16:colId xmlns:a16="http://schemas.microsoft.com/office/drawing/2014/main" val="4118336623"/>
                    </a:ext>
                  </a:extLst>
                </a:gridCol>
                <a:gridCol w="1280160">
                  <a:extLst>
                    <a:ext uri="{9D8B030D-6E8A-4147-A177-3AD203B41FA5}">
                      <a16:colId xmlns:a16="http://schemas.microsoft.com/office/drawing/2014/main" val="1352837206"/>
                    </a:ext>
                  </a:extLst>
                </a:gridCol>
                <a:gridCol w="1280160">
                  <a:extLst>
                    <a:ext uri="{9D8B030D-6E8A-4147-A177-3AD203B41FA5}">
                      <a16:colId xmlns:a16="http://schemas.microsoft.com/office/drawing/2014/main" val="3016728560"/>
                    </a:ext>
                  </a:extLst>
                </a:gridCol>
              </a:tblGrid>
              <a:tr h="370840">
                <a:tc>
                  <a:txBody>
                    <a:bodyPr/>
                    <a:lstStyle/>
                    <a:p>
                      <a:r>
                        <a:rPr lang="en-US" dirty="0"/>
                        <a:t>Petal length</a:t>
                      </a:r>
                    </a:p>
                  </a:txBody>
                  <a:tcPr/>
                </a:tc>
                <a:tc>
                  <a:txBody>
                    <a:bodyPr/>
                    <a:lstStyle/>
                    <a:p>
                      <a:r>
                        <a:rPr lang="en-US" dirty="0"/>
                        <a:t>Sepal length</a:t>
                      </a:r>
                    </a:p>
                  </a:txBody>
                  <a:tcPr/>
                </a:tc>
                <a:tc>
                  <a:txBody>
                    <a:bodyPr/>
                    <a:lstStyle/>
                    <a:p>
                      <a:r>
                        <a:rPr lang="en-US" dirty="0"/>
                        <a:t>Petal width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Sepal width</a:t>
                      </a:r>
                    </a:p>
                    <a:p>
                      <a:endParaRPr lang="en-US" dirty="0"/>
                    </a:p>
                  </a:txBody>
                  <a:tcPr/>
                </a:tc>
                <a:tc>
                  <a:txBody>
                    <a:bodyPr/>
                    <a:lstStyle/>
                    <a:p>
                      <a:r>
                        <a:rPr lang="en-US" dirty="0"/>
                        <a:t>Type of iris</a:t>
                      </a:r>
                    </a:p>
                  </a:txBody>
                  <a:tcPr/>
                </a:tc>
                <a:extLst>
                  <a:ext uri="{0D108BD9-81ED-4DB2-BD59-A6C34878D82A}">
                    <a16:rowId xmlns:a16="http://schemas.microsoft.com/office/drawing/2014/main" val="1928026556"/>
                  </a:ext>
                </a:extLst>
              </a:tr>
              <a:tr h="370840">
                <a:tc>
                  <a:txBody>
                    <a:bodyPr/>
                    <a:lstStyle/>
                    <a:p>
                      <a:r>
                        <a:rPr lang="en-US" dirty="0"/>
                        <a:t>5.1</a:t>
                      </a:r>
                    </a:p>
                  </a:txBody>
                  <a:tcPr/>
                </a:tc>
                <a:tc>
                  <a:txBody>
                    <a:bodyPr/>
                    <a:lstStyle/>
                    <a:p>
                      <a:r>
                        <a:rPr lang="en-US" dirty="0"/>
                        <a:t>3.5</a:t>
                      </a:r>
                    </a:p>
                  </a:txBody>
                  <a:tcPr/>
                </a:tc>
                <a:tc>
                  <a:txBody>
                    <a:bodyPr/>
                    <a:lstStyle/>
                    <a:p>
                      <a:r>
                        <a:rPr lang="en-US" dirty="0"/>
                        <a:t>1.2</a:t>
                      </a:r>
                    </a:p>
                  </a:txBody>
                  <a:tcPr/>
                </a:tc>
                <a:tc>
                  <a:txBody>
                    <a:bodyPr/>
                    <a:lstStyle/>
                    <a:p>
                      <a:r>
                        <a:rPr lang="en-US" dirty="0"/>
                        <a:t>0.2</a:t>
                      </a:r>
                    </a:p>
                  </a:txBody>
                  <a:tcPr/>
                </a:tc>
                <a:tc>
                  <a:txBody>
                    <a:bodyPr/>
                    <a:lstStyle/>
                    <a:p>
                      <a:r>
                        <a:rPr lang="en-US" dirty="0" err="1"/>
                        <a:t>Setosa</a:t>
                      </a:r>
                      <a:endParaRPr lang="en-US" dirty="0"/>
                    </a:p>
                  </a:txBody>
                  <a:tcPr/>
                </a:tc>
                <a:extLst>
                  <a:ext uri="{0D108BD9-81ED-4DB2-BD59-A6C34878D82A}">
                    <a16:rowId xmlns:a16="http://schemas.microsoft.com/office/drawing/2014/main" val="2229277609"/>
                  </a:ext>
                </a:extLst>
              </a:tr>
              <a:tr h="370840">
                <a:tc>
                  <a:txBody>
                    <a:bodyPr/>
                    <a:lstStyle/>
                    <a:p>
                      <a:r>
                        <a:rPr lang="en-US" dirty="0"/>
                        <a:t>4.9</a:t>
                      </a:r>
                    </a:p>
                  </a:txBody>
                  <a:tcPr/>
                </a:tc>
                <a:tc>
                  <a:txBody>
                    <a:bodyPr/>
                    <a:lstStyle/>
                    <a:p>
                      <a:r>
                        <a:rPr lang="en-US" dirty="0"/>
                        <a:t>3.0</a:t>
                      </a:r>
                    </a:p>
                  </a:txBody>
                  <a:tcPr/>
                </a:tc>
                <a:tc>
                  <a:txBody>
                    <a:bodyPr/>
                    <a:lstStyle/>
                    <a:p>
                      <a:r>
                        <a:rPr lang="en-US" dirty="0"/>
                        <a:t>1.4</a:t>
                      </a:r>
                    </a:p>
                  </a:txBody>
                  <a:tcPr/>
                </a:tc>
                <a:tc>
                  <a:txBody>
                    <a:bodyPr/>
                    <a:lstStyle/>
                    <a:p>
                      <a:r>
                        <a:rPr lang="en-US" dirty="0"/>
                        <a:t>0.2</a:t>
                      </a:r>
                    </a:p>
                  </a:txBody>
                  <a:tcPr/>
                </a:tc>
                <a:tc>
                  <a:txBody>
                    <a:bodyPr/>
                    <a:lstStyle/>
                    <a:p>
                      <a:r>
                        <a:rPr lang="en-US" dirty="0"/>
                        <a:t>Versicolor</a:t>
                      </a:r>
                    </a:p>
                  </a:txBody>
                  <a:tcPr/>
                </a:tc>
                <a:extLst>
                  <a:ext uri="{0D108BD9-81ED-4DB2-BD59-A6C34878D82A}">
                    <a16:rowId xmlns:a16="http://schemas.microsoft.com/office/drawing/2014/main" val="2212626576"/>
                  </a:ext>
                </a:extLst>
              </a:tr>
              <a:tr h="370840">
                <a:tc>
                  <a:txBody>
                    <a:bodyPr/>
                    <a:lstStyle/>
                    <a:p>
                      <a:r>
                        <a:rPr lang="en-US" dirty="0"/>
                        <a:t>4.7</a:t>
                      </a:r>
                    </a:p>
                  </a:txBody>
                  <a:tcPr/>
                </a:tc>
                <a:tc>
                  <a:txBody>
                    <a:bodyPr/>
                    <a:lstStyle/>
                    <a:p>
                      <a:r>
                        <a:rPr lang="en-US" dirty="0"/>
                        <a:t>3.6</a:t>
                      </a:r>
                    </a:p>
                  </a:txBody>
                  <a:tcPr/>
                </a:tc>
                <a:tc>
                  <a:txBody>
                    <a:bodyPr/>
                    <a:lstStyle/>
                    <a:p>
                      <a:r>
                        <a:rPr lang="en-US" dirty="0"/>
                        <a:t>1.3</a:t>
                      </a:r>
                    </a:p>
                  </a:txBody>
                  <a:tcPr/>
                </a:tc>
                <a:tc>
                  <a:txBody>
                    <a:bodyPr/>
                    <a:lstStyle/>
                    <a:p>
                      <a:r>
                        <a:rPr lang="en-US" dirty="0"/>
                        <a:t>0.3</a:t>
                      </a:r>
                    </a:p>
                  </a:txBody>
                  <a:tcPr/>
                </a:tc>
                <a:tc>
                  <a:txBody>
                    <a:bodyPr/>
                    <a:lstStyle/>
                    <a:p>
                      <a:r>
                        <a:rPr lang="en-US" dirty="0"/>
                        <a:t>Versicolor</a:t>
                      </a:r>
                    </a:p>
                  </a:txBody>
                  <a:tcPr/>
                </a:tc>
                <a:extLst>
                  <a:ext uri="{0D108BD9-81ED-4DB2-BD59-A6C34878D82A}">
                    <a16:rowId xmlns:a16="http://schemas.microsoft.com/office/drawing/2014/main" val="60808513"/>
                  </a:ext>
                </a:extLst>
              </a:tr>
              <a:tr h="370840">
                <a:tc>
                  <a:txBody>
                    <a:bodyPr/>
                    <a:lstStyle/>
                    <a:p>
                      <a:r>
                        <a:rPr lang="en-US" dirty="0"/>
                        <a:t>3.2</a:t>
                      </a:r>
                    </a:p>
                  </a:txBody>
                  <a:tcPr/>
                </a:tc>
                <a:tc>
                  <a:txBody>
                    <a:bodyPr/>
                    <a:lstStyle/>
                    <a:p>
                      <a:r>
                        <a:rPr lang="en-US" dirty="0"/>
                        <a:t>2.8</a:t>
                      </a:r>
                    </a:p>
                  </a:txBody>
                  <a:tcPr/>
                </a:tc>
                <a:tc>
                  <a:txBody>
                    <a:bodyPr/>
                    <a:lstStyle/>
                    <a:p>
                      <a:r>
                        <a:rPr lang="en-US" dirty="0"/>
                        <a:t>1.2</a:t>
                      </a:r>
                    </a:p>
                  </a:txBody>
                  <a:tcPr/>
                </a:tc>
                <a:tc>
                  <a:txBody>
                    <a:bodyPr/>
                    <a:lstStyle/>
                    <a:p>
                      <a:r>
                        <a:rPr lang="en-US" dirty="0"/>
                        <a:t>0.2</a:t>
                      </a:r>
                    </a:p>
                  </a:txBody>
                  <a:tcPr/>
                </a:tc>
                <a:tc>
                  <a:txBody>
                    <a:bodyPr/>
                    <a:lstStyle/>
                    <a:p>
                      <a:r>
                        <a:rPr lang="en-US" dirty="0" err="1"/>
                        <a:t>Virginica</a:t>
                      </a:r>
                      <a:endParaRPr lang="en-US" dirty="0"/>
                    </a:p>
                  </a:txBody>
                  <a:tcPr/>
                </a:tc>
                <a:extLst>
                  <a:ext uri="{0D108BD9-81ED-4DB2-BD59-A6C34878D82A}">
                    <a16:rowId xmlns:a16="http://schemas.microsoft.com/office/drawing/2014/main" val="1763878366"/>
                  </a:ext>
                </a:extLst>
              </a:tr>
              <a:tr h="370840">
                <a:tc>
                  <a:txBody>
                    <a:bodyPr/>
                    <a:lstStyle/>
                    <a:p>
                      <a:r>
                        <a:rPr lang="en-US" dirty="0"/>
                        <a:t>3.8</a:t>
                      </a:r>
                    </a:p>
                  </a:txBody>
                  <a:tcPr/>
                </a:tc>
                <a:tc>
                  <a:txBody>
                    <a:bodyPr/>
                    <a:lstStyle/>
                    <a:p>
                      <a:r>
                        <a:rPr lang="en-US" dirty="0"/>
                        <a:t>3.7</a:t>
                      </a:r>
                    </a:p>
                  </a:txBody>
                  <a:tcPr/>
                </a:tc>
                <a:tc>
                  <a:txBody>
                    <a:bodyPr/>
                    <a:lstStyle/>
                    <a:p>
                      <a:r>
                        <a:rPr lang="en-US" dirty="0"/>
                        <a:t>1.5</a:t>
                      </a:r>
                    </a:p>
                  </a:txBody>
                  <a:tcPr/>
                </a:tc>
                <a:tc>
                  <a:txBody>
                    <a:bodyPr/>
                    <a:lstStyle/>
                    <a:p>
                      <a:r>
                        <a:rPr lang="en-US" dirty="0"/>
                        <a:t>0.1</a:t>
                      </a:r>
                    </a:p>
                  </a:txBody>
                  <a:tcPr/>
                </a:tc>
                <a:tc>
                  <a:txBody>
                    <a:bodyPr/>
                    <a:lstStyle/>
                    <a:p>
                      <a:r>
                        <a:rPr lang="en-US" dirty="0"/>
                        <a:t>Versicolor</a:t>
                      </a:r>
                    </a:p>
                  </a:txBody>
                  <a:tcPr/>
                </a:tc>
                <a:extLst>
                  <a:ext uri="{0D108BD9-81ED-4DB2-BD59-A6C34878D82A}">
                    <a16:rowId xmlns:a16="http://schemas.microsoft.com/office/drawing/2014/main" val="2936623681"/>
                  </a:ext>
                </a:extLst>
              </a:tr>
            </a:tbl>
          </a:graphicData>
        </a:graphic>
      </p:graphicFrame>
    </p:spTree>
    <p:extLst>
      <p:ext uri="{BB962C8B-B14F-4D97-AF65-F5344CB8AC3E}">
        <p14:creationId xmlns:p14="http://schemas.microsoft.com/office/powerpoint/2010/main" val="184351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29900"/>
            <a:ext cx="6589199" cy="1280890"/>
          </a:xfrm>
        </p:spPr>
        <p:txBody>
          <a:bodyPr/>
          <a:lstStyle/>
          <a:p>
            <a:r>
              <a:rPr lang="en-US" dirty="0">
                <a:latin typeface="Times New Roman" panose="02020603050405020304" pitchFamily="18" charset="0"/>
                <a:cs typeface="Times New Roman" panose="02020603050405020304" pitchFamily="18" charset="0"/>
              </a:rPr>
              <a:t>Induction Algorithms</a:t>
            </a:r>
          </a:p>
        </p:txBody>
      </p:sp>
      <p:sp>
        <p:nvSpPr>
          <p:cNvPr id="4" name="Slide Number Placeholder 3"/>
          <p:cNvSpPr>
            <a:spLocks noGrp="1"/>
          </p:cNvSpPr>
          <p:nvPr>
            <p:ph type="sldNum" sz="quarter" idx="12"/>
          </p:nvPr>
        </p:nvSpPr>
        <p:spPr/>
        <p:txBody>
          <a:bodyPr/>
          <a:lstStyle/>
          <a:p>
            <a:fld id="{76F96C40-0356-46F5-90E5-FF57DE76D9A0}" type="slidenum">
              <a:rPr lang="en-US" smtClean="0"/>
              <a:t>26</a:t>
            </a:fld>
            <a:endParaRPr lang="en-US"/>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511228" y="2590800"/>
            <a:ext cx="8301412" cy="2590800"/>
          </a:xfrm>
          <a:prstGeom prst="rect">
            <a:avLst/>
          </a:prstGeom>
        </p:spPr>
      </p:pic>
    </p:spTree>
    <p:extLst>
      <p:ext uri="{BB962C8B-B14F-4D97-AF65-F5344CB8AC3E}">
        <p14:creationId xmlns:p14="http://schemas.microsoft.com/office/powerpoint/2010/main" val="950315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1A403-977A-E9B4-E9E8-6C02C55E48BC}"/>
              </a:ext>
            </a:extLst>
          </p:cNvPr>
          <p:cNvSpPr>
            <a:spLocks noGrp="1"/>
          </p:cNvSpPr>
          <p:nvPr>
            <p:ph type="ctrTitle"/>
          </p:nvPr>
        </p:nvSpPr>
        <p:spPr/>
        <p:txBody>
          <a:bodyPr/>
          <a:lstStyle/>
          <a:p>
            <a:r>
              <a:rPr lang="en-US" dirty="0"/>
              <a:t>More About Math</a:t>
            </a:r>
            <a:br>
              <a:rPr lang="en-US" dirty="0"/>
            </a:br>
            <a:endParaRPr lang="en-US" dirty="0"/>
          </a:p>
        </p:txBody>
      </p:sp>
      <p:sp>
        <p:nvSpPr>
          <p:cNvPr id="3" name="Subtitle 2">
            <a:extLst>
              <a:ext uri="{FF2B5EF4-FFF2-40B4-BE49-F238E27FC236}">
                <a16:creationId xmlns:a16="http://schemas.microsoft.com/office/drawing/2014/main" id="{57D730D1-855E-B544-99CE-AC3738BF595B}"/>
              </a:ext>
            </a:extLst>
          </p:cNvPr>
          <p:cNvSpPr>
            <a:spLocks noGrp="1"/>
          </p:cNvSpPr>
          <p:nvPr>
            <p:ph type="subTitle" idx="1"/>
          </p:nvPr>
        </p:nvSpPr>
        <p:spPr/>
        <p:txBody>
          <a:bodyPr/>
          <a:lstStyle/>
          <a:p>
            <a:r>
              <a:rPr lang="en-US" dirty="0"/>
              <a:t>Optional</a:t>
            </a:r>
          </a:p>
        </p:txBody>
      </p:sp>
      <p:sp>
        <p:nvSpPr>
          <p:cNvPr id="4" name="Slide Number Placeholder 3">
            <a:extLst>
              <a:ext uri="{FF2B5EF4-FFF2-40B4-BE49-F238E27FC236}">
                <a16:creationId xmlns:a16="http://schemas.microsoft.com/office/drawing/2014/main" id="{AF6EAC4F-7F2A-5E5A-9A74-9BA9BE9998A5}"/>
              </a:ext>
            </a:extLst>
          </p:cNvPr>
          <p:cNvSpPr>
            <a:spLocks noGrp="1"/>
          </p:cNvSpPr>
          <p:nvPr>
            <p:ph type="sldNum" sz="quarter" idx="12"/>
          </p:nvPr>
        </p:nvSpPr>
        <p:spPr/>
        <p:txBody>
          <a:bodyPr/>
          <a:lstStyle/>
          <a:p>
            <a:fld id="{76F96C40-0356-46F5-90E5-FF57DE76D9A0}" type="slidenum">
              <a:rPr lang="en-US" smtClean="0"/>
              <a:t>27</a:t>
            </a:fld>
            <a:endParaRPr lang="en-US"/>
          </a:p>
        </p:txBody>
      </p:sp>
    </p:spTree>
    <p:extLst>
      <p:ext uri="{BB962C8B-B14F-4D97-AF65-F5344CB8AC3E}">
        <p14:creationId xmlns:p14="http://schemas.microsoft.com/office/powerpoint/2010/main" val="3788196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4600" y="313662"/>
            <a:ext cx="6589199" cy="1280890"/>
          </a:xfrm>
        </p:spPr>
        <p:txBody>
          <a:bodyPr/>
          <a:lstStyle/>
          <a:p>
            <a:r>
              <a:rPr lang="en-US" dirty="0">
                <a:latin typeface="Times New Roman" panose="02020603050405020304" pitchFamily="18" charset="0"/>
                <a:cs typeface="Times New Roman" panose="02020603050405020304" pitchFamily="18" charset="0"/>
              </a:rPr>
              <a:t>Node Impurity</a:t>
            </a:r>
          </a:p>
        </p:txBody>
      </p:sp>
      <p:sp>
        <p:nvSpPr>
          <p:cNvPr id="3" name="Content Placeholder 2"/>
          <p:cNvSpPr>
            <a:spLocks noGrp="1"/>
          </p:cNvSpPr>
          <p:nvPr>
            <p:ph idx="1"/>
          </p:nvPr>
        </p:nvSpPr>
        <p:spPr>
          <a:xfrm>
            <a:off x="457200" y="1600200"/>
            <a:ext cx="8229600" cy="954107"/>
          </a:xfrm>
        </p:spPr>
        <p:txBody>
          <a:bodyPr>
            <a:normAutofit/>
          </a:bodyPr>
          <a:lstStyle/>
          <a:p>
            <a:r>
              <a:rPr lang="en-US" sz="2400" dirty="0">
                <a:latin typeface="Times New Roman" panose="02020603050405020304" pitchFamily="18" charset="0"/>
                <a:cs typeface="Times New Roman" panose="02020603050405020304" pitchFamily="18" charset="0"/>
              </a:rPr>
              <a:t>Define node impurity: nodes with homogeneous class distribution are preferred.</a:t>
            </a:r>
          </a:p>
        </p:txBody>
      </p:sp>
      <p:sp>
        <p:nvSpPr>
          <p:cNvPr id="11" name="Slide Number Placeholder 10"/>
          <p:cNvSpPr>
            <a:spLocks noGrp="1"/>
          </p:cNvSpPr>
          <p:nvPr>
            <p:ph type="sldNum" sz="quarter" idx="12"/>
          </p:nvPr>
        </p:nvSpPr>
        <p:spPr/>
        <p:txBody>
          <a:bodyPr/>
          <a:lstStyle/>
          <a:p>
            <a:fld id="{76F96C40-0356-46F5-90E5-FF57DE76D9A0}" type="slidenum">
              <a:rPr lang="en-US" smtClean="0"/>
              <a:t>28</a:t>
            </a:fld>
            <a:endParaRPr lang="en-US"/>
          </a:p>
        </p:txBody>
      </p:sp>
      <p:graphicFrame>
        <p:nvGraphicFramePr>
          <p:cNvPr id="4" name="Object 6"/>
          <p:cNvGraphicFramePr>
            <a:graphicFrameLocks noChangeAspect="1"/>
          </p:cNvGraphicFramePr>
          <p:nvPr/>
        </p:nvGraphicFramePr>
        <p:xfrm>
          <a:off x="1676400" y="3200400"/>
          <a:ext cx="912813" cy="815975"/>
        </p:xfrm>
        <a:graphic>
          <a:graphicData uri="http://schemas.openxmlformats.org/presentationml/2006/ole">
            <mc:AlternateContent xmlns:mc="http://schemas.openxmlformats.org/markup-compatibility/2006">
              <mc:Choice xmlns:v="urn:schemas-microsoft-com:vml" Requires="v">
                <p:oleObj name="Visio" r:id="rId3" imgW="655371" imgH="585812" progId="Visio.Drawing.6">
                  <p:embed/>
                </p:oleObj>
              </mc:Choice>
              <mc:Fallback>
                <p:oleObj name="Visio" r:id="rId3" imgW="655371" imgH="585812" progId="Visio.Drawing.6">
                  <p:embed/>
                  <p:pic>
                    <p:nvPicPr>
                      <p:cNvPr id="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200400"/>
                        <a:ext cx="912813" cy="815975"/>
                      </a:xfrm>
                      <a:prstGeom prst="rect">
                        <a:avLst/>
                      </a:prstGeom>
                      <a:noFill/>
                      <a:ln>
                        <a:noFill/>
                      </a:ln>
                      <a:effectLst/>
                    </p:spPr>
                  </p:pic>
                </p:oleObj>
              </mc:Fallback>
            </mc:AlternateContent>
          </a:graphicData>
        </a:graphic>
      </p:graphicFrame>
      <p:graphicFrame>
        <p:nvGraphicFramePr>
          <p:cNvPr id="5" name="Object 10"/>
          <p:cNvGraphicFramePr>
            <a:graphicFrameLocks noChangeAspect="1"/>
          </p:cNvGraphicFramePr>
          <p:nvPr/>
        </p:nvGraphicFramePr>
        <p:xfrm>
          <a:off x="6021387" y="3200400"/>
          <a:ext cx="912813" cy="815975"/>
        </p:xfrm>
        <a:graphic>
          <a:graphicData uri="http://schemas.openxmlformats.org/presentationml/2006/ole">
            <mc:AlternateContent xmlns:mc="http://schemas.openxmlformats.org/markup-compatibility/2006">
              <mc:Choice xmlns:v="urn:schemas-microsoft-com:vml" Requires="v">
                <p:oleObj name="Visio" r:id="rId5" imgW="655371" imgH="585812" progId="Visio.Drawing.6">
                  <p:embed/>
                </p:oleObj>
              </mc:Choice>
              <mc:Fallback>
                <p:oleObj name="Visio" r:id="rId5" imgW="655371" imgH="585812" progId="Visio.Drawing.6">
                  <p:embed/>
                  <p:pic>
                    <p:nvPicPr>
                      <p:cNvPr id="5"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1387" y="3200400"/>
                        <a:ext cx="912813" cy="815975"/>
                      </a:xfrm>
                      <a:prstGeom prst="rect">
                        <a:avLst/>
                      </a:prstGeom>
                      <a:noFill/>
                      <a:ln>
                        <a:noFill/>
                      </a:ln>
                      <a:effectLst/>
                    </p:spPr>
                  </p:pic>
                </p:oleObj>
              </mc:Fallback>
            </mc:AlternateContent>
          </a:graphicData>
        </a:graphic>
      </p:graphicFrame>
      <p:sp>
        <p:nvSpPr>
          <p:cNvPr id="6" name="Text Box 12"/>
          <p:cNvSpPr txBox="1">
            <a:spLocks noChangeArrowheads="1"/>
          </p:cNvSpPr>
          <p:nvPr/>
        </p:nvSpPr>
        <p:spPr bwMode="auto">
          <a:xfrm>
            <a:off x="533400" y="4191000"/>
            <a:ext cx="3505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latin typeface="Times New Roman" panose="02020603050405020304" pitchFamily="18" charset="0"/>
                <a:cs typeface="Times New Roman" panose="02020603050405020304" pitchFamily="18" charset="0"/>
              </a:rPr>
              <a:t>Non-homogeneous,</a:t>
            </a:r>
          </a:p>
          <a:p>
            <a:pPr>
              <a:spcBef>
                <a:spcPct val="50000"/>
              </a:spcBef>
            </a:pPr>
            <a:r>
              <a:rPr lang="en-US" altLang="en-US" sz="2400" dirty="0">
                <a:latin typeface="Times New Roman" panose="02020603050405020304" pitchFamily="18" charset="0"/>
                <a:cs typeface="Times New Roman" panose="02020603050405020304" pitchFamily="18" charset="0"/>
              </a:rPr>
              <a:t>High degree of impurity</a:t>
            </a:r>
          </a:p>
        </p:txBody>
      </p:sp>
      <p:sp>
        <p:nvSpPr>
          <p:cNvPr id="7" name="Text Box 13"/>
          <p:cNvSpPr txBox="1">
            <a:spLocks noChangeArrowheads="1"/>
          </p:cNvSpPr>
          <p:nvPr/>
        </p:nvSpPr>
        <p:spPr bwMode="auto">
          <a:xfrm>
            <a:off x="5029200" y="4191000"/>
            <a:ext cx="3810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latin typeface="Times New Roman" panose="02020603050405020304" pitchFamily="18" charset="0"/>
                <a:cs typeface="Times New Roman" panose="02020603050405020304" pitchFamily="18" charset="0"/>
              </a:rPr>
              <a:t>Homogeneous,</a:t>
            </a:r>
          </a:p>
          <a:p>
            <a:pPr>
              <a:spcBef>
                <a:spcPct val="50000"/>
              </a:spcBef>
            </a:pPr>
            <a:r>
              <a:rPr lang="en-US" altLang="en-US" sz="2400" dirty="0">
                <a:latin typeface="Times New Roman" panose="02020603050405020304" pitchFamily="18" charset="0"/>
                <a:cs typeface="Times New Roman" panose="02020603050405020304" pitchFamily="18" charset="0"/>
              </a:rPr>
              <a:t>Low degree of impurity</a:t>
            </a:r>
          </a:p>
        </p:txBody>
      </p:sp>
      <p:grpSp>
        <p:nvGrpSpPr>
          <p:cNvPr id="8" name="Group 22"/>
          <p:cNvGrpSpPr>
            <a:grpSpLocks/>
          </p:cNvGrpSpPr>
          <p:nvPr/>
        </p:nvGrpSpPr>
        <p:grpSpPr bwMode="auto">
          <a:xfrm>
            <a:off x="381000" y="6400800"/>
            <a:ext cx="8382000" cy="304800"/>
            <a:chOff x="288" y="3408"/>
            <a:chExt cx="5280" cy="192"/>
          </a:xfrm>
        </p:grpSpPr>
        <p:sp>
          <p:nvSpPr>
            <p:cNvPr id="9"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28</a:t>
              </a:fld>
              <a:r>
                <a:rPr lang="en-US" altLang="en-US" sz="1200" b="0" dirty="0"/>
                <a:t> </a:t>
              </a:r>
            </a:p>
          </p:txBody>
        </p:sp>
      </p:grpSp>
    </p:spTree>
    <p:extLst>
      <p:ext uri="{BB962C8B-B14F-4D97-AF65-F5344CB8AC3E}">
        <p14:creationId xmlns:p14="http://schemas.microsoft.com/office/powerpoint/2010/main" val="3259011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8563" y="215900"/>
            <a:ext cx="4267200" cy="1143000"/>
          </a:xfrm>
        </p:spPr>
        <p:txBody>
          <a:bodyPr/>
          <a:lstStyle/>
          <a:p>
            <a:r>
              <a:rPr lang="en-US" dirty="0">
                <a:latin typeface="Times New Roman" panose="02020603050405020304" pitchFamily="18" charset="0"/>
                <a:cs typeface="Times New Roman" panose="02020603050405020304" pitchFamily="18" charset="0"/>
              </a:rPr>
              <a:t>The Gini Index</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191604"/>
                <a:ext cx="8229600" cy="4049570"/>
              </a:xfrm>
            </p:spPr>
            <p:txBody>
              <a:bodyPr>
                <a:normAutofit/>
              </a:bodyPr>
              <a:lstStyle/>
              <a:p>
                <a:r>
                  <a:rPr lang="en-US" sz="2400" dirty="0">
                    <a:latin typeface="Times New Roman" panose="02020603050405020304" pitchFamily="18" charset="0"/>
                    <a:cs typeface="Times New Roman" panose="02020603050405020304" pitchFamily="18" charset="0"/>
                  </a:rPr>
                  <a:t>Gini Index for a give node 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137160" indent="0">
                  <a:buNone/>
                </a:pPr>
                <a:r>
                  <a:rPr lang="en-US" sz="2400" dirty="0">
                    <a:latin typeface="Times New Roman" panose="02020603050405020304" pitchFamily="18" charset="0"/>
                    <a:cs typeface="Times New Roman" panose="02020603050405020304" pitchFamily="18" charset="0"/>
                  </a:rPr>
                  <a:t>(Note: </a:t>
                </a:r>
                <a14:m>
                  <m:oMath xmlns:m="http://schemas.openxmlformats.org/officeDocument/2006/math">
                    <m:r>
                      <a:rPr lang="en-US" sz="2400" b="0" i="1" smtClean="0">
                        <a:latin typeface="Cambria Math"/>
                      </a:rPr>
                      <m:t>𝑃</m:t>
                    </m:r>
                    <m:d>
                      <m:dPr>
                        <m:endChr m:val="|"/>
                        <m:ctrlPr>
                          <a:rPr lang="en-US" sz="2400" b="0" i="1" smtClean="0">
                            <a:latin typeface="Cambria Math" panose="02040503050406030204" pitchFamily="18" charset="0"/>
                          </a:rPr>
                        </m:ctrlPr>
                      </m:dPr>
                      <m:e>
                        <m:r>
                          <a:rPr lang="en-US" sz="2400" b="0" i="1" smtClean="0">
                            <a:latin typeface="Cambria Math"/>
                          </a:rPr>
                          <m:t>𝑗</m:t>
                        </m:r>
                        <m:r>
                          <a:rPr lang="en-US" sz="2400" b="0" i="1" smtClean="0">
                            <a:latin typeface="Cambria Math"/>
                          </a:rPr>
                          <m:t> </m:t>
                        </m:r>
                      </m:e>
                    </m:d>
                    <m:r>
                      <a:rPr lang="en-US" sz="2400" b="0" i="1" smtClean="0">
                        <a:latin typeface="Cambria Math"/>
                      </a:rPr>
                      <m:t>𝑡</m:t>
                    </m:r>
                    <m:r>
                      <a:rPr lang="en-US" sz="2400" b="0" i="1" smtClean="0">
                        <a:latin typeface="Cambria Math"/>
                      </a:rPr>
                      <m:t>)</m:t>
                    </m:r>
                  </m:oMath>
                </a14:m>
                <a:r>
                  <a:rPr lang="en-US" sz="2400" dirty="0">
                    <a:latin typeface="Times New Roman" panose="02020603050405020304" pitchFamily="18" charset="0"/>
                    <a:cs typeface="Times New Roman" panose="02020603050405020304" pitchFamily="18" charset="0"/>
                  </a:rPr>
                  <a:t> is the relative frequency of class j at node t)</a:t>
                </a:r>
              </a:p>
              <a:p>
                <a:r>
                  <a:rPr lang="en-US" sz="2400" dirty="0">
                    <a:latin typeface="Times New Roman" panose="02020603050405020304" pitchFamily="18" charset="0"/>
                    <a:cs typeface="Times New Roman" panose="02020603050405020304" pitchFamily="18" charset="0"/>
                  </a:rPr>
                  <a:t>Maximum when records are equally distributed among all classes, implying least interesting information</a:t>
                </a:r>
              </a:p>
              <a:p>
                <a:r>
                  <a:rPr lang="en-US" sz="2400" dirty="0">
                    <a:latin typeface="Times New Roman" panose="02020603050405020304" pitchFamily="18" charset="0"/>
                    <a:cs typeface="Times New Roman" panose="02020603050405020304" pitchFamily="18" charset="0"/>
                  </a:rPr>
                  <a:t>Minimum (0.0) when all records belong to one class, implying the most interesting information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191604"/>
                <a:ext cx="8229600" cy="4049570"/>
              </a:xfrm>
              <a:blipFill>
                <a:blip r:embed="rId4"/>
                <a:stretch>
                  <a:fillRect l="-1037" t="-1203" r="-1037"/>
                </a:stretch>
              </a:blipFill>
            </p:spPr>
            <p:txBody>
              <a:bodyPr/>
              <a:lstStyle/>
              <a:p>
                <a:r>
                  <a:rPr lang="en-US">
                    <a:noFill/>
                  </a:rPr>
                  <a:t> </a:t>
                </a:r>
              </a:p>
            </p:txBody>
          </p:sp>
        </mc:Fallback>
      </mc:AlternateContent>
      <p:sp>
        <p:nvSpPr>
          <p:cNvPr id="12" name="Slide Number Placeholder 11"/>
          <p:cNvSpPr>
            <a:spLocks noGrp="1"/>
          </p:cNvSpPr>
          <p:nvPr>
            <p:ph type="sldNum" sz="quarter" idx="12"/>
          </p:nvPr>
        </p:nvSpPr>
        <p:spPr/>
        <p:txBody>
          <a:bodyPr/>
          <a:lstStyle/>
          <a:p>
            <a:fld id="{76F96C40-0356-46F5-90E5-FF57DE76D9A0}" type="slidenum">
              <a:rPr lang="en-US" smtClean="0"/>
              <a:t>29</a:t>
            </a:fld>
            <a:endParaRPr lang="en-US"/>
          </a:p>
        </p:txBody>
      </p:sp>
      <p:graphicFrame>
        <p:nvGraphicFramePr>
          <p:cNvPr id="4" name="Object 3"/>
          <p:cNvGraphicFramePr>
            <a:graphicFrameLocks noChangeAspect="1"/>
          </p:cNvGraphicFramePr>
          <p:nvPr/>
        </p:nvGraphicFramePr>
        <p:xfrm>
          <a:off x="1295400" y="5334000"/>
          <a:ext cx="1371600" cy="808038"/>
        </p:xfrm>
        <a:graphic>
          <a:graphicData uri="http://schemas.openxmlformats.org/presentationml/2006/ole">
            <mc:AlternateContent xmlns:mc="http://schemas.openxmlformats.org/markup-compatibility/2006">
              <mc:Choice xmlns:v="urn:schemas-microsoft-com:vml" Requires="v">
                <p:oleObj name="Document" r:id="rId5" imgW="3284220" imgH="1970532" progId="Word.Document.8">
                  <p:embed/>
                </p:oleObj>
              </mc:Choice>
              <mc:Fallback>
                <p:oleObj name="Document" r:id="rId5" imgW="3284220" imgH="1970532" progId="Word.Document.8">
                  <p:embed/>
                  <p:pic>
                    <p:nvPicPr>
                      <p:cNvPr id="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p:cNvGraphicFramePr>
            <a:graphicFrameLocks noChangeAspect="1"/>
          </p:cNvGraphicFramePr>
          <p:nvPr/>
        </p:nvGraphicFramePr>
        <p:xfrm>
          <a:off x="4572000" y="5334000"/>
          <a:ext cx="1371600" cy="808038"/>
        </p:xfrm>
        <a:graphic>
          <a:graphicData uri="http://schemas.openxmlformats.org/presentationml/2006/ole">
            <mc:AlternateContent xmlns:mc="http://schemas.openxmlformats.org/markup-compatibility/2006">
              <mc:Choice xmlns:v="urn:schemas-microsoft-com:vml" Requires="v">
                <p:oleObj name="Document" r:id="rId7" imgW="3284220" imgH="1970532" progId="Word.Document.8">
                  <p:embed/>
                </p:oleObj>
              </mc:Choice>
              <mc:Fallback>
                <p:oleObj name="Document" r:id="rId7" imgW="3284220" imgH="1970532" progId="Word.Document.8">
                  <p:embed/>
                  <p:pic>
                    <p:nvPicPr>
                      <p:cNvPr id="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6248400" y="5334000"/>
          <a:ext cx="1371600" cy="808038"/>
        </p:xfrm>
        <a:graphic>
          <a:graphicData uri="http://schemas.openxmlformats.org/presentationml/2006/ole">
            <mc:AlternateContent xmlns:mc="http://schemas.openxmlformats.org/markup-compatibility/2006">
              <mc:Choice xmlns:v="urn:schemas-microsoft-com:vml" Requires="v">
                <p:oleObj name="Document" r:id="rId9" imgW="3284220" imgH="1970532" progId="Word.Document.8">
                  <p:embed/>
                </p:oleObj>
              </mc:Choice>
              <mc:Fallback>
                <p:oleObj name="Document" r:id="rId9" imgW="3284220" imgH="1970532" progId="Word.Document.8">
                  <p:embed/>
                  <p:pic>
                    <p:nvPicPr>
                      <p:cNvPr id="6"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84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2971800" y="5334000"/>
          <a:ext cx="1371600" cy="808038"/>
        </p:xfrm>
        <a:graphic>
          <a:graphicData uri="http://schemas.openxmlformats.org/presentationml/2006/ole">
            <mc:AlternateContent xmlns:mc="http://schemas.openxmlformats.org/markup-compatibility/2006">
              <mc:Choice xmlns:v="urn:schemas-microsoft-com:vml" Requires="v">
                <p:oleObj name="Document" r:id="rId11" imgW="3284220" imgH="1970532" progId="Word.Document.8">
                  <p:embed/>
                </p:oleObj>
              </mc:Choice>
              <mc:Fallback>
                <p:oleObj name="Document" r:id="rId11" imgW="3284220" imgH="1970532" progId="Word.Document.8">
                  <p:embed/>
                  <p:pic>
                    <p:nvPicPr>
                      <p:cNvPr id="7"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Box 7"/>
              <p:cNvSpPr txBox="1"/>
              <p:nvPr/>
            </p:nvSpPr>
            <p:spPr>
              <a:xfrm>
                <a:off x="2514600" y="1627329"/>
                <a:ext cx="4011163" cy="986680"/>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r>
                        <a:rPr lang="en-US" sz="2400" b="0" i="1" smtClean="0">
                          <a:latin typeface="Cambria Math"/>
                        </a:rPr>
                        <m:t>𝐺𝐼𝑁𝐼</m:t>
                      </m:r>
                      <m:d>
                        <m:dPr>
                          <m:ctrlPr>
                            <a:rPr lang="en-US" sz="2400" b="0" i="1" smtClean="0">
                              <a:latin typeface="Cambria Math" panose="02040503050406030204" pitchFamily="18" charset="0"/>
                            </a:rPr>
                          </m:ctrlPr>
                        </m:dPr>
                        <m:e>
                          <m:r>
                            <a:rPr lang="en-US" sz="2400" b="0" i="1" smtClean="0">
                              <a:latin typeface="Cambria Math"/>
                            </a:rPr>
                            <m:t>𝑡</m:t>
                          </m:r>
                        </m:e>
                      </m:d>
                      <m:r>
                        <a:rPr lang="en-US" sz="2400" b="0" i="1" smtClean="0">
                          <a:latin typeface="Cambria Math"/>
                        </a:rPr>
                        <m:t>=1 − </m:t>
                      </m:r>
                      <m:nary>
                        <m:naryPr>
                          <m:chr m:val="∑"/>
                          <m:subHide m:val="on"/>
                          <m:supHide m:val="on"/>
                          <m:ctrlPr>
                            <a:rPr lang="en-US" sz="2400" b="0" i="1" smtClean="0">
                              <a:latin typeface="Cambria Math" panose="02040503050406030204" pitchFamily="18" charset="0"/>
                            </a:rPr>
                          </m:ctrlPr>
                        </m:naryPr>
                        <m:sub/>
                        <m:sup/>
                        <m:e>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i="1">
                                      <a:latin typeface="Cambria Math"/>
                                    </a:rPr>
                                    <m:t>𝑃</m:t>
                                  </m:r>
                                  <m:d>
                                    <m:dPr>
                                      <m:endChr m:val="|"/>
                                      <m:ctrlPr>
                                        <a:rPr lang="en-US" sz="2400" i="1">
                                          <a:latin typeface="Cambria Math" panose="02040503050406030204" pitchFamily="18" charset="0"/>
                                        </a:rPr>
                                      </m:ctrlPr>
                                    </m:dPr>
                                    <m:e>
                                      <m:r>
                                        <a:rPr lang="en-US" sz="2400" i="1">
                                          <a:latin typeface="Cambria Math"/>
                                        </a:rPr>
                                        <m:t>𝑗</m:t>
                                      </m:r>
                                      <m:r>
                                        <a:rPr lang="en-US" sz="2400" i="1">
                                          <a:latin typeface="Cambria Math"/>
                                        </a:rPr>
                                        <m:t> </m:t>
                                      </m:r>
                                    </m:e>
                                  </m:d>
                                  <m:r>
                                    <a:rPr lang="en-US" sz="2400" i="1">
                                      <a:latin typeface="Cambria Math"/>
                                    </a:rPr>
                                    <m:t>𝑡</m:t>
                                  </m:r>
                                  <m:r>
                                    <a:rPr lang="en-US" sz="2400" i="1">
                                      <a:latin typeface="Cambria Math"/>
                                    </a:rPr>
                                    <m:t>)</m:t>
                                  </m:r>
                                </m:e>
                              </m:d>
                            </m:e>
                            <m:sup>
                              <m:r>
                                <a:rPr lang="en-US" sz="2400" b="0" i="1" smtClean="0">
                                  <a:latin typeface="Cambria Math"/>
                                </a:rPr>
                                <m:t>2</m:t>
                              </m:r>
                            </m:sup>
                          </m:sSup>
                        </m:e>
                      </m:nary>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2514600" y="1627329"/>
                <a:ext cx="4011163" cy="986680"/>
              </a:xfrm>
              <a:prstGeom prst="rect">
                <a:avLst/>
              </a:prstGeom>
              <a:blipFill>
                <a:blip r:embed="rId13"/>
                <a:stretch>
                  <a:fillRect/>
                </a:stretch>
              </a:blipFill>
            </p:spPr>
            <p:txBody>
              <a:bodyPr/>
              <a:lstStyle/>
              <a:p>
                <a:r>
                  <a:rPr lang="en-US">
                    <a:noFill/>
                  </a:rPr>
                  <a:t> </a:t>
                </a:r>
              </a:p>
            </p:txBody>
          </p:sp>
        </mc:Fallback>
      </mc:AlternateContent>
      <p:grpSp>
        <p:nvGrpSpPr>
          <p:cNvPr id="9" name="Group 22"/>
          <p:cNvGrpSpPr>
            <a:grpSpLocks/>
          </p:cNvGrpSpPr>
          <p:nvPr/>
        </p:nvGrpSpPr>
        <p:grpSpPr bwMode="auto">
          <a:xfrm>
            <a:off x="381000" y="6400800"/>
            <a:ext cx="8382000" cy="304800"/>
            <a:chOff x="288" y="3408"/>
            <a:chExt cx="5280" cy="192"/>
          </a:xfrm>
        </p:grpSpPr>
        <p:sp>
          <p:nvSpPr>
            <p:cNvPr id="10"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29</a:t>
              </a:fld>
              <a:r>
                <a:rPr lang="en-US" altLang="en-US" sz="1200" b="0" dirty="0"/>
                <a:t> </a:t>
              </a:r>
            </a:p>
          </p:txBody>
        </p:sp>
      </p:grpSp>
    </p:spTree>
    <p:extLst>
      <p:ext uri="{BB962C8B-B14F-4D97-AF65-F5344CB8AC3E}">
        <p14:creationId xmlns:p14="http://schemas.microsoft.com/office/powerpoint/2010/main" val="2958179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2053" y="425039"/>
            <a:ext cx="7198799" cy="1280890"/>
          </a:xfrm>
        </p:spPr>
        <p:txBody>
          <a:bodyPr/>
          <a:lstStyle/>
          <a:p>
            <a:r>
              <a:rPr lang="en-US" dirty="0">
                <a:latin typeface="Times New Roman" panose="02020603050405020304" pitchFamily="18" charset="0"/>
                <a:cs typeface="Times New Roman" panose="02020603050405020304" pitchFamily="18" charset="0"/>
              </a:rPr>
              <a:t>Examples for Computing Gini</a:t>
            </a:r>
          </a:p>
        </p:txBody>
      </p:sp>
      <p:sp>
        <p:nvSpPr>
          <p:cNvPr id="3" name="Slide Number Placeholder 2"/>
          <p:cNvSpPr>
            <a:spLocks noGrp="1"/>
          </p:cNvSpPr>
          <p:nvPr>
            <p:ph type="sldNum" sz="quarter" idx="12"/>
          </p:nvPr>
        </p:nvSpPr>
        <p:spPr/>
        <p:txBody>
          <a:bodyPr/>
          <a:lstStyle/>
          <a:p>
            <a:fld id="{76F96C40-0356-46F5-90E5-FF57DE76D9A0}" type="slidenum">
              <a:rPr lang="en-US" smtClean="0"/>
              <a:t>30</a:t>
            </a:fld>
            <a:endParaRPr lang="en-US"/>
          </a:p>
        </p:txBody>
      </p:sp>
      <mc:AlternateContent xmlns:mc="http://schemas.openxmlformats.org/markup-compatibility/2006" xmlns:a14="http://schemas.microsoft.com/office/drawing/2010/main">
        <mc:Choice Requires="a14">
          <p:sp>
            <p:nvSpPr>
              <p:cNvPr id="4" name="TextBox 3"/>
              <p:cNvSpPr txBox="1"/>
              <p:nvPr/>
            </p:nvSpPr>
            <p:spPr>
              <a:xfrm>
                <a:off x="2521527" y="1219200"/>
                <a:ext cx="4011163" cy="986680"/>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r>
                        <a:rPr lang="en-US" sz="2400" b="0" i="1" smtClean="0">
                          <a:latin typeface="Cambria Math"/>
                        </a:rPr>
                        <m:t>𝐺𝐼𝑁𝐼</m:t>
                      </m:r>
                      <m:d>
                        <m:dPr>
                          <m:ctrlPr>
                            <a:rPr lang="en-US" sz="2400" b="0" i="1" smtClean="0">
                              <a:latin typeface="Cambria Math" panose="02040503050406030204" pitchFamily="18" charset="0"/>
                            </a:rPr>
                          </m:ctrlPr>
                        </m:dPr>
                        <m:e>
                          <m:r>
                            <a:rPr lang="en-US" sz="2400" b="0" i="1" smtClean="0">
                              <a:latin typeface="Cambria Math"/>
                            </a:rPr>
                            <m:t>𝑡</m:t>
                          </m:r>
                        </m:e>
                      </m:d>
                      <m:r>
                        <a:rPr lang="en-US" sz="2400" b="0" i="1" smtClean="0">
                          <a:latin typeface="Cambria Math"/>
                        </a:rPr>
                        <m:t>=1 − </m:t>
                      </m:r>
                      <m:nary>
                        <m:naryPr>
                          <m:chr m:val="∑"/>
                          <m:subHide m:val="on"/>
                          <m:supHide m:val="on"/>
                          <m:ctrlPr>
                            <a:rPr lang="en-US" sz="2400" b="0" i="1" smtClean="0">
                              <a:latin typeface="Cambria Math" panose="02040503050406030204" pitchFamily="18" charset="0"/>
                            </a:rPr>
                          </m:ctrlPr>
                        </m:naryPr>
                        <m:sub/>
                        <m:sup/>
                        <m:e>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i="1">
                                      <a:latin typeface="Cambria Math"/>
                                    </a:rPr>
                                    <m:t>𝑃</m:t>
                                  </m:r>
                                  <m:d>
                                    <m:dPr>
                                      <m:endChr m:val="|"/>
                                      <m:ctrlPr>
                                        <a:rPr lang="en-US" sz="2400" i="1">
                                          <a:latin typeface="Cambria Math" panose="02040503050406030204" pitchFamily="18" charset="0"/>
                                        </a:rPr>
                                      </m:ctrlPr>
                                    </m:dPr>
                                    <m:e>
                                      <m:r>
                                        <a:rPr lang="en-US" sz="2400" i="1">
                                          <a:latin typeface="Cambria Math"/>
                                        </a:rPr>
                                        <m:t>𝑗</m:t>
                                      </m:r>
                                      <m:r>
                                        <a:rPr lang="en-US" sz="2400" i="1">
                                          <a:latin typeface="Cambria Math"/>
                                        </a:rPr>
                                        <m:t> </m:t>
                                      </m:r>
                                    </m:e>
                                  </m:d>
                                  <m:r>
                                    <a:rPr lang="en-US" sz="2400" i="1">
                                      <a:latin typeface="Cambria Math"/>
                                    </a:rPr>
                                    <m:t>𝑡</m:t>
                                  </m:r>
                                  <m:r>
                                    <a:rPr lang="en-US" sz="2400" i="1">
                                      <a:latin typeface="Cambria Math"/>
                                    </a:rPr>
                                    <m:t>)</m:t>
                                  </m:r>
                                </m:e>
                              </m:d>
                            </m:e>
                            <m:sup>
                              <m:r>
                                <a:rPr lang="en-US" sz="2400" b="0" i="1" smtClean="0">
                                  <a:latin typeface="Cambria Math"/>
                                </a:rPr>
                                <m:t>2</m:t>
                              </m:r>
                            </m:sup>
                          </m:sSup>
                        </m:e>
                      </m:nary>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521527" y="1219200"/>
                <a:ext cx="4011163" cy="986680"/>
              </a:xfrm>
              <a:prstGeom prst="rect">
                <a:avLst/>
              </a:prstGeom>
              <a:blipFill rotWithShape="1">
                <a:blip r:embed="rId4"/>
                <a:stretch>
                  <a:fillRect/>
                </a:stretch>
              </a:blipFill>
            </p:spPr>
            <p:txBody>
              <a:bodyPr/>
              <a:lstStyle/>
              <a:p>
                <a:r>
                  <a:rPr lang="en-US">
                    <a:noFill/>
                  </a:rPr>
                  <a:t> </a:t>
                </a:r>
              </a:p>
            </p:txBody>
          </p:sp>
        </mc:Fallback>
      </mc:AlternateContent>
      <p:graphicFrame>
        <p:nvGraphicFramePr>
          <p:cNvPr id="5" name="Object 5"/>
          <p:cNvGraphicFramePr>
            <a:graphicFrameLocks noChangeAspect="1"/>
          </p:cNvGraphicFramePr>
          <p:nvPr/>
        </p:nvGraphicFramePr>
        <p:xfrm>
          <a:off x="457200" y="2339975"/>
          <a:ext cx="2362200" cy="936625"/>
        </p:xfrm>
        <a:graphic>
          <a:graphicData uri="http://schemas.openxmlformats.org/presentationml/2006/ole">
            <mc:AlternateContent xmlns:mc="http://schemas.openxmlformats.org/markup-compatibility/2006">
              <mc:Choice xmlns:v="urn:schemas-microsoft-com:vml" Requires="v">
                <p:oleObj name="Document" r:id="rId5" imgW="3239280" imgH="1357560" progId="Word.Document.8">
                  <p:embed/>
                </p:oleObj>
              </mc:Choice>
              <mc:Fallback>
                <p:oleObj name="Document" r:id="rId5" imgW="3239280" imgH="1357560" progId="Word.Document.8">
                  <p:embed/>
                  <p:pic>
                    <p:nvPicPr>
                      <p:cNvPr id="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2339975"/>
                        <a:ext cx="23622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6"/>
          <p:cNvGraphicFramePr>
            <a:graphicFrameLocks noChangeAspect="1"/>
          </p:cNvGraphicFramePr>
          <p:nvPr/>
        </p:nvGraphicFramePr>
        <p:xfrm>
          <a:off x="533400" y="5181600"/>
          <a:ext cx="2286000" cy="938213"/>
        </p:xfrm>
        <a:graphic>
          <a:graphicData uri="http://schemas.openxmlformats.org/presentationml/2006/ole">
            <mc:AlternateContent xmlns:mc="http://schemas.openxmlformats.org/markup-compatibility/2006">
              <mc:Choice xmlns:v="urn:schemas-microsoft-com:vml" Requires="v">
                <p:oleObj name="Document" r:id="rId7" imgW="3239280" imgH="1381680" progId="Word.Document.8">
                  <p:embed/>
                </p:oleObj>
              </mc:Choice>
              <mc:Fallback>
                <p:oleObj name="Document" r:id="rId7" imgW="3239280" imgH="1381680" progId="Word.Document.8">
                  <p:embed/>
                  <p:pic>
                    <p:nvPicPr>
                      <p:cNvPr id="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5181600"/>
                        <a:ext cx="2286000"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
          <p:cNvGraphicFramePr>
            <a:graphicFrameLocks noChangeAspect="1"/>
          </p:cNvGraphicFramePr>
          <p:nvPr/>
        </p:nvGraphicFramePr>
        <p:xfrm>
          <a:off x="533400" y="3817938"/>
          <a:ext cx="2286000" cy="906462"/>
        </p:xfrm>
        <a:graphic>
          <a:graphicData uri="http://schemas.openxmlformats.org/presentationml/2006/ole">
            <mc:AlternateContent xmlns:mc="http://schemas.openxmlformats.org/markup-compatibility/2006">
              <mc:Choice xmlns:v="urn:schemas-microsoft-com:vml" Requires="v">
                <p:oleObj name="Document" r:id="rId9" imgW="3239280" imgH="1357560" progId="Word.Document.8">
                  <p:embed/>
                </p:oleObj>
              </mc:Choice>
              <mc:Fallback>
                <p:oleObj name="Document" r:id="rId9" imgW="3239280" imgH="1357560" progId="Word.Document.8">
                  <p:embed/>
                  <p:pic>
                    <p:nvPicPr>
                      <p:cNvPr id="7"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3817938"/>
                        <a:ext cx="2286000"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10"/>
          <p:cNvSpPr txBox="1">
            <a:spLocks noChangeArrowheads="1"/>
          </p:cNvSpPr>
          <p:nvPr/>
        </p:nvSpPr>
        <p:spPr bwMode="auto">
          <a:xfrm>
            <a:off x="3048000" y="2339975"/>
            <a:ext cx="518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t>P(C1) = 0/6 = 0     P(C2) = 6/6 = 1</a:t>
            </a:r>
          </a:p>
          <a:p>
            <a:pPr>
              <a:spcBef>
                <a:spcPct val="50000"/>
              </a:spcBef>
            </a:pPr>
            <a:r>
              <a:rPr lang="en-US" altLang="en-US" sz="2000" dirty="0"/>
              <a:t>Gini = 1 – P(C1)</a:t>
            </a:r>
            <a:r>
              <a:rPr lang="en-US" altLang="en-US" sz="2000" baseline="30000" dirty="0"/>
              <a:t>2 </a:t>
            </a:r>
            <a:r>
              <a:rPr lang="en-US" altLang="en-US" sz="2000" dirty="0"/>
              <a:t>– P(C2)</a:t>
            </a:r>
            <a:r>
              <a:rPr lang="en-US" altLang="en-US" sz="2000" baseline="30000" dirty="0"/>
              <a:t>2</a:t>
            </a:r>
            <a:r>
              <a:rPr lang="en-US" altLang="en-US" sz="2000" dirty="0"/>
              <a:t> = 1 – 0 – 1 = 0 </a:t>
            </a:r>
          </a:p>
        </p:txBody>
      </p:sp>
      <p:sp>
        <p:nvSpPr>
          <p:cNvPr id="9" name="Text Box 12"/>
          <p:cNvSpPr txBox="1">
            <a:spLocks noChangeArrowheads="1"/>
          </p:cNvSpPr>
          <p:nvPr/>
        </p:nvSpPr>
        <p:spPr bwMode="auto">
          <a:xfrm>
            <a:off x="3124200" y="3817938"/>
            <a:ext cx="518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P(C1) = 1/6          P(C2) = 5/6</a:t>
            </a:r>
          </a:p>
          <a:p>
            <a:pPr>
              <a:spcBef>
                <a:spcPct val="50000"/>
              </a:spcBef>
            </a:pPr>
            <a:r>
              <a:rPr lang="en-US" altLang="en-US" sz="2000"/>
              <a:t>Gini = 1 – (1/6)</a:t>
            </a:r>
            <a:r>
              <a:rPr lang="en-US" altLang="en-US" sz="2000" baseline="30000"/>
              <a:t>2 </a:t>
            </a:r>
            <a:r>
              <a:rPr lang="en-US" altLang="en-US" sz="2000"/>
              <a:t>– (5/6)</a:t>
            </a:r>
            <a:r>
              <a:rPr lang="en-US" altLang="en-US" sz="2000" baseline="30000"/>
              <a:t>2</a:t>
            </a:r>
            <a:r>
              <a:rPr lang="en-US" altLang="en-US" sz="2000"/>
              <a:t> = 0.278</a:t>
            </a:r>
          </a:p>
        </p:txBody>
      </p:sp>
      <p:sp>
        <p:nvSpPr>
          <p:cNvPr id="10" name="Text Box 13"/>
          <p:cNvSpPr txBox="1">
            <a:spLocks noChangeArrowheads="1"/>
          </p:cNvSpPr>
          <p:nvPr/>
        </p:nvSpPr>
        <p:spPr bwMode="auto">
          <a:xfrm>
            <a:off x="3124200" y="5105400"/>
            <a:ext cx="518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P(C1) = 2/6          P(C2) = 4/6</a:t>
            </a:r>
          </a:p>
          <a:p>
            <a:pPr>
              <a:spcBef>
                <a:spcPct val="50000"/>
              </a:spcBef>
            </a:pPr>
            <a:r>
              <a:rPr lang="en-US" altLang="en-US" sz="2000"/>
              <a:t>Gini = 1 – (2/6)</a:t>
            </a:r>
            <a:r>
              <a:rPr lang="en-US" altLang="en-US" sz="2000" baseline="30000"/>
              <a:t>2 </a:t>
            </a:r>
            <a:r>
              <a:rPr lang="en-US" altLang="en-US" sz="2000"/>
              <a:t>– (4/6)</a:t>
            </a:r>
            <a:r>
              <a:rPr lang="en-US" altLang="en-US" sz="2000" baseline="30000"/>
              <a:t>2</a:t>
            </a:r>
            <a:r>
              <a:rPr lang="en-US" altLang="en-US" sz="2000"/>
              <a:t> = 0.444</a:t>
            </a:r>
          </a:p>
        </p:txBody>
      </p:sp>
      <p:grpSp>
        <p:nvGrpSpPr>
          <p:cNvPr id="11" name="Group 22"/>
          <p:cNvGrpSpPr>
            <a:grpSpLocks/>
          </p:cNvGrpSpPr>
          <p:nvPr/>
        </p:nvGrpSpPr>
        <p:grpSpPr bwMode="auto">
          <a:xfrm>
            <a:off x="381000" y="6400800"/>
            <a:ext cx="8382000" cy="304800"/>
            <a:chOff x="288" y="3408"/>
            <a:chExt cx="5280" cy="192"/>
          </a:xfrm>
        </p:grpSpPr>
        <p:sp>
          <p:nvSpPr>
            <p:cNvPr id="12"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30</a:t>
              </a:fld>
              <a:r>
                <a:rPr lang="en-US" altLang="en-US" sz="1200" b="0" dirty="0"/>
                <a:t> </a:t>
              </a:r>
            </a:p>
          </p:txBody>
        </p:sp>
      </p:grpSp>
    </p:spTree>
    <p:extLst>
      <p:ext uri="{BB962C8B-B14F-4D97-AF65-F5344CB8AC3E}">
        <p14:creationId xmlns:p14="http://schemas.microsoft.com/office/powerpoint/2010/main" val="668523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Splitting Base on GINI</a:t>
            </a:r>
          </a:p>
        </p:txBody>
      </p:sp>
      <p:sp>
        <p:nvSpPr>
          <p:cNvPr id="3" name="Content Placeholder 2"/>
          <p:cNvSpPr>
            <a:spLocks noGrp="1"/>
          </p:cNvSpPr>
          <p:nvPr>
            <p:ph idx="1"/>
          </p:nvPr>
        </p:nvSpPr>
        <p:spPr>
          <a:xfrm>
            <a:off x="511228" y="1765227"/>
            <a:ext cx="8229600" cy="4573560"/>
          </a:xfrm>
        </p:spPr>
        <p:txBody>
          <a:bodyPr>
            <a:normAutofit/>
          </a:bodyPr>
          <a:lstStyle/>
          <a:p>
            <a:pPr marL="342900" indent="-342900"/>
            <a:r>
              <a:rPr lang="en-US" altLang="en-US" sz="2400" dirty="0">
                <a:latin typeface="Times New Roman" panose="02020603050405020304" pitchFamily="18" charset="0"/>
                <a:cs typeface="Times New Roman" panose="02020603050405020304" pitchFamily="18" charset="0"/>
              </a:rPr>
              <a:t>When a node p is split into k partitions (children), the quality of split is computed as,</a:t>
            </a:r>
          </a:p>
          <a:p>
            <a:pPr marL="342900" indent="-342900"/>
            <a:endParaRPr lang="en-US" altLang="en-US" sz="2400" dirty="0">
              <a:latin typeface="Times New Roman" panose="02020603050405020304" pitchFamily="18" charset="0"/>
              <a:cs typeface="Times New Roman" panose="02020603050405020304" pitchFamily="18" charset="0"/>
            </a:endParaRPr>
          </a:p>
          <a:p>
            <a:pPr marL="342900" indent="-342900">
              <a:buFont typeface="Monotype Sorts" pitchFamily="2" charset="2"/>
              <a:buNone/>
            </a:pPr>
            <a:endParaRPr lang="en-US" altLang="en-US" sz="2400" dirty="0">
              <a:latin typeface="Times New Roman" panose="02020603050405020304" pitchFamily="18" charset="0"/>
              <a:cs typeface="Times New Roman" panose="02020603050405020304" pitchFamily="18" charset="0"/>
            </a:endParaRPr>
          </a:p>
          <a:p>
            <a:pPr marL="342900" indent="-342900">
              <a:buFont typeface="Monotype Sorts" pitchFamily="2" charset="2"/>
              <a:buNone/>
            </a:pPr>
            <a:endParaRPr lang="en-US" altLang="en-US" sz="2400" dirty="0">
              <a:latin typeface="Times New Roman" panose="02020603050405020304" pitchFamily="18" charset="0"/>
              <a:cs typeface="Times New Roman" panose="02020603050405020304" pitchFamily="18" charset="0"/>
            </a:endParaRPr>
          </a:p>
          <a:p>
            <a:pPr marL="342900" indent="-342900">
              <a:buFont typeface="Monotype Sorts" pitchFamily="2" charset="2"/>
              <a:buNone/>
            </a:pPr>
            <a:r>
              <a:rPr lang="en-US" altLang="en-US" sz="2400" dirty="0">
                <a:latin typeface="Times New Roman" panose="02020603050405020304" pitchFamily="18" charset="0"/>
                <a:cs typeface="Times New Roman" panose="02020603050405020304" pitchFamily="18" charset="0"/>
              </a:rPr>
              <a:t>	where,	</a:t>
            </a:r>
            <a:r>
              <a:rPr lang="en-US" altLang="en-US" sz="2400" dirty="0" err="1">
                <a:latin typeface="Times New Roman" panose="02020603050405020304" pitchFamily="18" charset="0"/>
                <a:cs typeface="Times New Roman" panose="02020603050405020304" pitchFamily="18" charset="0"/>
              </a:rPr>
              <a:t>n</a:t>
            </a:r>
            <a:r>
              <a:rPr lang="en-US" altLang="en-US" sz="2400" baseline="-250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 number of records at child </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a:t>
            </a:r>
          </a:p>
          <a:p>
            <a:pPr marL="342900" indent="-342900">
              <a:buFont typeface="Monotype Sorts" pitchFamily="2" charset="2"/>
              <a:buNone/>
            </a:pPr>
            <a:r>
              <a:rPr lang="en-US" altLang="en-US" sz="2400" dirty="0">
                <a:latin typeface="Times New Roman" panose="02020603050405020304" pitchFamily="18" charset="0"/>
                <a:cs typeface="Times New Roman" panose="02020603050405020304" pitchFamily="18" charset="0"/>
              </a:rPr>
              <a:t>    		n</a:t>
            </a:r>
            <a:r>
              <a:rPr lang="en-US" altLang="en-US" sz="2400" baseline="-250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 number of records at node p.</a:t>
            </a:r>
          </a:p>
          <a:p>
            <a:endParaRPr lang="en-US"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76F96C40-0356-46F5-90E5-FF57DE76D9A0}" type="slidenum">
              <a:rPr lang="en-US" smtClean="0"/>
              <a:t>31</a:t>
            </a:fld>
            <a:endParaRPr lang="en-US"/>
          </a:p>
        </p:txBody>
      </p:sp>
      <mc:AlternateContent xmlns:mc="http://schemas.openxmlformats.org/markup-compatibility/2006" xmlns:a14="http://schemas.microsoft.com/office/drawing/2010/main">
        <mc:Choice Requires="a14">
          <p:sp>
            <p:nvSpPr>
              <p:cNvPr id="4" name="TextBox 3"/>
              <p:cNvSpPr txBox="1"/>
              <p:nvPr/>
            </p:nvSpPr>
            <p:spPr>
              <a:xfrm>
                <a:off x="2286000" y="2913747"/>
                <a:ext cx="3704156" cy="11382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𝐺𝐼𝑁𝐼</m:t>
                          </m:r>
                        </m:e>
                        <m:sub>
                          <m:r>
                            <a:rPr lang="en-US" sz="2400" b="0" i="1" smtClean="0">
                              <a:latin typeface="Cambria Math"/>
                            </a:rPr>
                            <m:t>𝑠𝑝𝑙𝑖𝑡</m:t>
                          </m:r>
                        </m:sub>
                      </m:sSub>
                      <m:r>
                        <a:rPr lang="en-US" sz="2400" b="0" i="1" smtClean="0">
                          <a:latin typeface="Cambria Math"/>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a:rPr>
                            <m:t>𝑖</m:t>
                          </m:r>
                          <m:r>
                            <a:rPr lang="en-US" sz="2400" b="0" i="1" smtClean="0">
                              <a:latin typeface="Cambria Math"/>
                            </a:rPr>
                            <m:t>=1</m:t>
                          </m:r>
                        </m:sub>
                        <m:sup>
                          <m:r>
                            <a:rPr lang="en-US" sz="2400" b="0" i="1" smtClean="0">
                              <a:latin typeface="Cambria Math"/>
                            </a:rPr>
                            <m:t>𝑘</m:t>
                          </m:r>
                        </m:sup>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𝑛</m:t>
                                  </m:r>
                                </m:e>
                                <m:sub>
                                  <m:r>
                                    <a:rPr lang="en-US" sz="2400" b="0" i="1" smtClean="0">
                                      <a:latin typeface="Cambria Math"/>
                                    </a:rPr>
                                    <m:t>𝑖</m:t>
                                  </m:r>
                                </m:sub>
                              </m:sSub>
                            </m:num>
                            <m:den>
                              <m:r>
                                <a:rPr lang="en-US" sz="2400" b="0" i="1" smtClean="0">
                                  <a:latin typeface="Cambria Math"/>
                                </a:rPr>
                                <m:t>𝑛</m:t>
                              </m:r>
                            </m:den>
                          </m:f>
                          <m:r>
                            <a:rPr lang="en-US" sz="2400" b="0" i="1" smtClean="0">
                              <a:latin typeface="Cambria Math"/>
                            </a:rPr>
                            <m:t>𝐺𝐼𝑁𝐼</m:t>
                          </m:r>
                          <m:r>
                            <a:rPr lang="en-US" sz="2400" b="0" i="1" smtClean="0">
                              <a:latin typeface="Cambria Math"/>
                            </a:rPr>
                            <m:t>(</m:t>
                          </m:r>
                          <m:r>
                            <a:rPr lang="en-US" sz="2400" b="0" i="1" smtClean="0">
                              <a:latin typeface="Cambria Math"/>
                            </a:rPr>
                            <m:t>𝑖</m:t>
                          </m:r>
                          <m:r>
                            <a:rPr lang="en-US" sz="2400" b="0" i="1" smtClean="0">
                              <a:latin typeface="Cambria Math"/>
                            </a:rPr>
                            <m:t>)</m:t>
                          </m:r>
                        </m:e>
                      </m:nary>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286000" y="2913747"/>
                <a:ext cx="3704156" cy="1138260"/>
              </a:xfrm>
              <a:prstGeom prst="rect">
                <a:avLst/>
              </a:prstGeom>
              <a:blipFill>
                <a:blip r:embed="rId3"/>
                <a:stretch>
                  <a:fillRect/>
                </a:stretch>
              </a:blipFill>
            </p:spPr>
            <p:txBody>
              <a:bodyPr/>
              <a:lstStyle/>
              <a:p>
                <a:r>
                  <a:rPr lang="en-US">
                    <a:noFill/>
                  </a:rPr>
                  <a:t> </a:t>
                </a:r>
              </a:p>
            </p:txBody>
          </p:sp>
        </mc:Fallback>
      </mc:AlternateContent>
      <p:grpSp>
        <p:nvGrpSpPr>
          <p:cNvPr id="5" name="Group 22"/>
          <p:cNvGrpSpPr>
            <a:grpSpLocks/>
          </p:cNvGrpSpPr>
          <p:nvPr/>
        </p:nvGrpSpPr>
        <p:grpSpPr bwMode="auto">
          <a:xfrm>
            <a:off x="381000" y="6400800"/>
            <a:ext cx="8382000" cy="304800"/>
            <a:chOff x="288" y="3408"/>
            <a:chExt cx="5280" cy="192"/>
          </a:xfrm>
        </p:grpSpPr>
        <p:sp>
          <p:nvSpPr>
            <p:cNvPr id="6"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31</a:t>
              </a:fld>
              <a:r>
                <a:rPr lang="en-US" altLang="en-US" sz="1200" b="0" dirty="0"/>
                <a:t> </a:t>
              </a:r>
            </a:p>
          </p:txBody>
        </p:sp>
      </p:grpSp>
    </p:spTree>
    <p:extLst>
      <p:ext uri="{BB962C8B-B14F-4D97-AF65-F5344CB8AC3E}">
        <p14:creationId xmlns:p14="http://schemas.microsoft.com/office/powerpoint/2010/main" val="2522187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994" y="251048"/>
            <a:ext cx="6589200" cy="1280890"/>
          </a:xfrm>
        </p:spPr>
        <p:txBody>
          <a:bodyPr>
            <a:normAutofit/>
          </a:bodyPr>
          <a:lstStyle/>
          <a:p>
            <a:r>
              <a:rPr lang="en-US" dirty="0">
                <a:latin typeface="Times New Roman" panose="02020603050405020304" pitchFamily="18" charset="0"/>
                <a:cs typeface="Times New Roman" panose="02020603050405020304" pitchFamily="18" charset="0"/>
              </a:rPr>
              <a:t>Computing the GINI for Categorical (Nominal) Attributes</a:t>
            </a:r>
          </a:p>
        </p:txBody>
      </p:sp>
      <p:sp>
        <p:nvSpPr>
          <p:cNvPr id="13" name="Slide Number Placeholder 12"/>
          <p:cNvSpPr>
            <a:spLocks noGrp="1"/>
          </p:cNvSpPr>
          <p:nvPr>
            <p:ph type="sldNum" sz="quarter" idx="12"/>
          </p:nvPr>
        </p:nvSpPr>
        <p:spPr/>
        <p:txBody>
          <a:bodyPr/>
          <a:lstStyle/>
          <a:p>
            <a:fld id="{76F96C40-0356-46F5-90E5-FF57DE76D9A0}" type="slidenum">
              <a:rPr lang="en-US" smtClean="0"/>
              <a:t>32</a:t>
            </a:fld>
            <a:endParaRPr lang="en-US"/>
          </a:p>
        </p:txBody>
      </p:sp>
      <p:sp>
        <p:nvSpPr>
          <p:cNvPr id="3" name="Rectangle 3"/>
          <p:cNvSpPr txBox="1">
            <a:spLocks noChangeArrowheads="1"/>
          </p:cNvSpPr>
          <p:nvPr/>
        </p:nvSpPr>
        <p:spPr>
          <a:xfrm>
            <a:off x="334963" y="1676400"/>
            <a:ext cx="8318500" cy="1447800"/>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For each distinct value, gather counts for each class in the dataset</a:t>
            </a:r>
          </a:p>
          <a:p>
            <a:r>
              <a:rPr lang="en-US" altLang="en-US" sz="2400" dirty="0">
                <a:latin typeface="Times New Roman" panose="02020603050405020304" pitchFamily="18" charset="0"/>
                <a:cs typeface="Times New Roman" panose="02020603050405020304" pitchFamily="18" charset="0"/>
              </a:rPr>
              <a:t>Use the count matrix to make decisions</a:t>
            </a:r>
          </a:p>
        </p:txBody>
      </p:sp>
      <p:graphicFrame>
        <p:nvGraphicFramePr>
          <p:cNvPr id="4" name="Object 4"/>
          <p:cNvGraphicFramePr>
            <a:graphicFrameLocks noChangeAspect="1"/>
          </p:cNvGraphicFramePr>
          <p:nvPr/>
        </p:nvGraphicFramePr>
        <p:xfrm>
          <a:off x="3810000" y="4343400"/>
          <a:ext cx="2609850" cy="1768475"/>
        </p:xfrm>
        <a:graphic>
          <a:graphicData uri="http://schemas.openxmlformats.org/presentationml/2006/ole">
            <mc:AlternateContent xmlns:mc="http://schemas.openxmlformats.org/markup-compatibility/2006">
              <mc:Choice xmlns:v="urn:schemas-microsoft-com:vml" Requires="v">
                <p:oleObj name="Document" r:id="rId3" imgW="5848560" imgH="4005360" progId="Word.Document.8">
                  <p:embed/>
                </p:oleObj>
              </mc:Choice>
              <mc:Fallback>
                <p:oleObj name="Document" r:id="rId3" imgW="5848560" imgH="4005360" progId="Word.Document.8">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4343400"/>
                        <a:ext cx="2609850"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6305550" y="4343400"/>
          <a:ext cx="2609850" cy="1768475"/>
        </p:xfrm>
        <a:graphic>
          <a:graphicData uri="http://schemas.openxmlformats.org/presentationml/2006/ole">
            <mc:AlternateContent xmlns:mc="http://schemas.openxmlformats.org/markup-compatibility/2006">
              <mc:Choice xmlns:v="urn:schemas-microsoft-com:vml" Requires="v">
                <p:oleObj name="Document" r:id="rId5" imgW="5848560" imgH="4005360" progId="Word.Document.8">
                  <p:embed/>
                </p:oleObj>
              </mc:Choice>
              <mc:Fallback>
                <p:oleObj name="Document" r:id="rId5" imgW="5848560" imgH="4005360" progId="Word.Document.8">
                  <p:embed/>
                  <p:pic>
                    <p:nvPicPr>
                      <p:cNvPr id="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5550" y="4343400"/>
                        <a:ext cx="2609850"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6"/>
          <p:cNvGraphicFramePr>
            <a:graphicFrameLocks noChangeAspect="1"/>
          </p:cNvGraphicFramePr>
          <p:nvPr/>
        </p:nvGraphicFramePr>
        <p:xfrm>
          <a:off x="228600" y="4343400"/>
          <a:ext cx="2744788" cy="1524000"/>
        </p:xfrm>
        <a:graphic>
          <a:graphicData uri="http://schemas.openxmlformats.org/presentationml/2006/ole">
            <mc:AlternateContent xmlns:mc="http://schemas.openxmlformats.org/markup-compatibility/2006">
              <mc:Choice xmlns:v="urn:schemas-microsoft-com:vml" Requires="v">
                <p:oleObj name="Document" r:id="rId7" imgW="6205680" imgH="3191040" progId="Word.Document.8">
                  <p:embed/>
                </p:oleObj>
              </mc:Choice>
              <mc:Fallback>
                <p:oleObj name="Document" r:id="rId7" imgW="6205680" imgH="3191040" progId="Word.Document.8">
                  <p:embed/>
                  <p:pic>
                    <p:nvPicPr>
                      <p:cNvPr id="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4343400"/>
                        <a:ext cx="2744788"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Line 7"/>
          <p:cNvSpPr>
            <a:spLocks noChangeShapeType="1"/>
          </p:cNvSpPr>
          <p:nvPr/>
        </p:nvSpPr>
        <p:spPr bwMode="auto">
          <a:xfrm flipH="1">
            <a:off x="3505200" y="3505200"/>
            <a:ext cx="1588" cy="2438400"/>
          </a:xfrm>
          <a:prstGeom prst="line">
            <a:avLst/>
          </a:prstGeom>
          <a:noFill/>
          <a:ln w="381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Text Box 8"/>
          <p:cNvSpPr txBox="1">
            <a:spLocks noChangeArrowheads="1"/>
          </p:cNvSpPr>
          <p:nvPr/>
        </p:nvSpPr>
        <p:spPr bwMode="auto">
          <a:xfrm>
            <a:off x="839788" y="3402013"/>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latin typeface="Times New Roman" charset="0"/>
              </a:rPr>
              <a:t>Multi-way split</a:t>
            </a:r>
          </a:p>
        </p:txBody>
      </p:sp>
      <p:sp>
        <p:nvSpPr>
          <p:cNvPr id="9" name="Text Box 9"/>
          <p:cNvSpPr txBox="1">
            <a:spLocks noChangeArrowheads="1"/>
          </p:cNvSpPr>
          <p:nvPr/>
        </p:nvSpPr>
        <p:spPr bwMode="auto">
          <a:xfrm>
            <a:off x="4643438" y="3402013"/>
            <a:ext cx="31384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b="0">
                <a:latin typeface="Times New Roman" charset="0"/>
              </a:rPr>
              <a:t>Two-way split </a:t>
            </a:r>
          </a:p>
          <a:p>
            <a:pPr algn="ctr"/>
            <a:r>
              <a:rPr lang="en-US" altLang="en-US" sz="2000" b="0">
                <a:latin typeface="Times New Roman" charset="0"/>
              </a:rPr>
              <a:t>(find best partition of values)</a:t>
            </a:r>
          </a:p>
        </p:txBody>
      </p:sp>
      <p:grpSp>
        <p:nvGrpSpPr>
          <p:cNvPr id="10" name="Group 22"/>
          <p:cNvGrpSpPr>
            <a:grpSpLocks/>
          </p:cNvGrpSpPr>
          <p:nvPr/>
        </p:nvGrpSpPr>
        <p:grpSpPr bwMode="auto">
          <a:xfrm>
            <a:off x="381000" y="6400800"/>
            <a:ext cx="8382000" cy="304800"/>
            <a:chOff x="288" y="3408"/>
            <a:chExt cx="5280" cy="192"/>
          </a:xfrm>
        </p:grpSpPr>
        <p:sp>
          <p:nvSpPr>
            <p:cNvPr id="11"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32</a:t>
              </a:fld>
              <a:r>
                <a:rPr lang="en-US" altLang="en-US" sz="1200" b="0" dirty="0"/>
                <a:t> </a:t>
              </a:r>
            </a:p>
          </p:txBody>
        </p:sp>
      </p:grpSp>
    </p:spTree>
    <p:extLst>
      <p:ext uri="{BB962C8B-B14F-4D97-AF65-F5344CB8AC3E}">
        <p14:creationId xmlns:p14="http://schemas.microsoft.com/office/powerpoint/2010/main" val="1788986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8955" y="96157"/>
            <a:ext cx="8229600" cy="1143000"/>
          </a:xfrm>
        </p:spPr>
        <p:txBody>
          <a:bodyPr>
            <a:normAutofit fontScale="90000"/>
          </a:bodyPr>
          <a:lstStyle/>
          <a:p>
            <a:r>
              <a:rPr lang="en-US" dirty="0">
                <a:latin typeface="Times New Roman" panose="02020603050405020304" pitchFamily="18" charset="0"/>
                <a:cs typeface="Times New Roman" panose="02020603050405020304" pitchFamily="18" charset="0"/>
              </a:rPr>
              <a:t>Computing the GINI for Continuous Attributes</a:t>
            </a:r>
          </a:p>
        </p:txBody>
      </p:sp>
      <p:sp>
        <p:nvSpPr>
          <p:cNvPr id="9" name="Slide Number Placeholder 8"/>
          <p:cNvSpPr>
            <a:spLocks noGrp="1"/>
          </p:cNvSpPr>
          <p:nvPr>
            <p:ph type="sldNum" sz="quarter" idx="12"/>
          </p:nvPr>
        </p:nvSpPr>
        <p:spPr/>
        <p:txBody>
          <a:bodyPr/>
          <a:lstStyle/>
          <a:p>
            <a:fld id="{76F96C40-0356-46F5-90E5-FF57DE76D9A0}" type="slidenum">
              <a:rPr lang="en-US" smtClean="0"/>
              <a:t>33</a:t>
            </a:fld>
            <a:endParaRPr lang="en-US"/>
          </a:p>
        </p:txBody>
      </p:sp>
      <p:sp>
        <p:nvSpPr>
          <p:cNvPr id="3" name="Rectangle 5"/>
          <p:cNvSpPr txBox="1">
            <a:spLocks noChangeArrowheads="1"/>
          </p:cNvSpPr>
          <p:nvPr/>
        </p:nvSpPr>
        <p:spPr>
          <a:xfrm>
            <a:off x="390380" y="1524000"/>
            <a:ext cx="4999037" cy="5181600"/>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a:lnSpc>
                <a:spcPct val="90000"/>
              </a:lnSpc>
            </a:pPr>
            <a:r>
              <a:rPr lang="en-US" altLang="en-US" sz="2100" dirty="0">
                <a:latin typeface="Times New Roman" panose="02020603050405020304" pitchFamily="18" charset="0"/>
                <a:cs typeface="Times New Roman" panose="02020603050405020304" pitchFamily="18" charset="0"/>
              </a:rPr>
              <a:t>Use Binary Decisions based on one value</a:t>
            </a:r>
          </a:p>
          <a:p>
            <a:pPr>
              <a:lnSpc>
                <a:spcPct val="90000"/>
              </a:lnSpc>
            </a:pPr>
            <a:r>
              <a:rPr lang="en-US" altLang="en-US" sz="2100" dirty="0">
                <a:latin typeface="Times New Roman" panose="02020603050405020304" pitchFamily="18" charset="0"/>
                <a:cs typeface="Times New Roman" panose="02020603050405020304" pitchFamily="18" charset="0"/>
              </a:rPr>
              <a:t>Several Choices for the splitting value</a:t>
            </a:r>
          </a:p>
          <a:p>
            <a:pPr lvl="1">
              <a:lnSpc>
                <a:spcPct val="90000"/>
              </a:lnSpc>
            </a:pPr>
            <a:r>
              <a:rPr lang="en-US" altLang="en-US" sz="2100" dirty="0">
                <a:latin typeface="Times New Roman" panose="02020603050405020304" pitchFamily="18" charset="0"/>
                <a:cs typeface="Times New Roman" panose="02020603050405020304" pitchFamily="18" charset="0"/>
              </a:rPr>
              <a:t>Number of possible splitting values </a:t>
            </a:r>
            <a:br>
              <a:rPr lang="en-US" altLang="en-US" sz="2100" dirty="0">
                <a:latin typeface="Times New Roman" panose="02020603050405020304" pitchFamily="18" charset="0"/>
                <a:cs typeface="Times New Roman" panose="02020603050405020304" pitchFamily="18" charset="0"/>
              </a:rPr>
            </a:br>
            <a:r>
              <a:rPr lang="en-US" altLang="en-US" sz="2100" dirty="0">
                <a:latin typeface="Times New Roman" panose="02020603050405020304" pitchFamily="18" charset="0"/>
                <a:cs typeface="Times New Roman" panose="02020603050405020304" pitchFamily="18" charset="0"/>
              </a:rPr>
              <a:t>= Number of distinct values</a:t>
            </a:r>
          </a:p>
          <a:p>
            <a:pPr>
              <a:lnSpc>
                <a:spcPct val="90000"/>
              </a:lnSpc>
            </a:pPr>
            <a:r>
              <a:rPr lang="en-US" altLang="en-US" sz="2100" dirty="0">
                <a:latin typeface="Times New Roman" panose="02020603050405020304" pitchFamily="18" charset="0"/>
                <a:cs typeface="Times New Roman" panose="02020603050405020304" pitchFamily="18" charset="0"/>
              </a:rPr>
              <a:t>Each splitting value has a count matrix associated with it</a:t>
            </a:r>
          </a:p>
          <a:p>
            <a:pPr lvl="1">
              <a:lnSpc>
                <a:spcPct val="90000"/>
              </a:lnSpc>
            </a:pPr>
            <a:r>
              <a:rPr lang="en-US" altLang="en-US" sz="2100" dirty="0">
                <a:latin typeface="Times New Roman" panose="02020603050405020304" pitchFamily="18" charset="0"/>
                <a:cs typeface="Times New Roman" panose="02020603050405020304" pitchFamily="18" charset="0"/>
              </a:rPr>
              <a:t>Class counts in each of the partitions, A &lt; v and A </a:t>
            </a:r>
            <a:r>
              <a:rPr lang="en-US" altLang="en-US" sz="2100" dirty="0">
                <a:latin typeface="Times New Roman" panose="02020603050405020304" pitchFamily="18" charset="0"/>
                <a:cs typeface="Times New Roman" panose="02020603050405020304" pitchFamily="18" charset="0"/>
                <a:sym typeface="Symbol" pitchFamily="18" charset="2"/>
              </a:rPr>
              <a:t></a:t>
            </a:r>
            <a:r>
              <a:rPr lang="en-US" altLang="en-US" sz="2100" dirty="0">
                <a:latin typeface="Times New Roman" panose="02020603050405020304" pitchFamily="18" charset="0"/>
                <a:cs typeface="Times New Roman" panose="02020603050405020304" pitchFamily="18" charset="0"/>
              </a:rPr>
              <a:t> v</a:t>
            </a:r>
          </a:p>
          <a:p>
            <a:pPr>
              <a:lnSpc>
                <a:spcPct val="90000"/>
              </a:lnSpc>
            </a:pPr>
            <a:r>
              <a:rPr lang="en-US" altLang="en-US" sz="2100" dirty="0">
                <a:latin typeface="Times New Roman" panose="02020603050405020304" pitchFamily="18" charset="0"/>
                <a:cs typeface="Times New Roman" panose="02020603050405020304" pitchFamily="18" charset="0"/>
              </a:rPr>
              <a:t>Simple method to choose best v</a:t>
            </a:r>
          </a:p>
          <a:p>
            <a:pPr lvl="1">
              <a:lnSpc>
                <a:spcPct val="90000"/>
              </a:lnSpc>
            </a:pPr>
            <a:r>
              <a:rPr lang="en-US" altLang="en-US" sz="2100" dirty="0">
                <a:latin typeface="Times New Roman" panose="02020603050405020304" pitchFamily="18" charset="0"/>
                <a:cs typeface="Times New Roman" panose="02020603050405020304" pitchFamily="18" charset="0"/>
              </a:rPr>
              <a:t>For each v, scan the database to gather count matrix and compute its Gini index</a:t>
            </a:r>
          </a:p>
          <a:p>
            <a:pPr lvl="1">
              <a:lnSpc>
                <a:spcPct val="90000"/>
              </a:lnSpc>
            </a:pPr>
            <a:r>
              <a:rPr lang="en-US" altLang="en-US" sz="2100" dirty="0">
                <a:latin typeface="Times New Roman" panose="02020603050405020304" pitchFamily="18" charset="0"/>
                <a:cs typeface="Times New Roman" panose="02020603050405020304" pitchFamily="18" charset="0"/>
              </a:rPr>
              <a:t>Computationally Inefficient! Repetition of work.</a:t>
            </a:r>
          </a:p>
        </p:txBody>
      </p:sp>
      <p:graphicFrame>
        <p:nvGraphicFramePr>
          <p:cNvPr id="4" name="Object 6"/>
          <p:cNvGraphicFramePr>
            <a:graphicFrameLocks noChangeAspect="1"/>
          </p:cNvGraphicFramePr>
          <p:nvPr/>
        </p:nvGraphicFramePr>
        <p:xfrm>
          <a:off x="5563755" y="1371600"/>
          <a:ext cx="3213100" cy="3429000"/>
        </p:xfrm>
        <a:graphic>
          <a:graphicData uri="http://schemas.openxmlformats.org/presentationml/2006/ole">
            <mc:AlternateContent xmlns:mc="http://schemas.openxmlformats.org/markup-compatibility/2006">
              <mc:Choice xmlns:v="urn:schemas-microsoft-com:vml" Requires="v">
                <p:oleObj name="Document" r:id="rId3" imgW="5415994" imgH="5779818" progId="Word.Document.8">
                  <p:embed/>
                </p:oleObj>
              </mc:Choice>
              <mc:Fallback>
                <p:oleObj name="Document" r:id="rId3" imgW="5415994" imgH="5779818" progId="Word.Document.8">
                  <p:embed/>
                  <p:pic>
                    <p:nvPicPr>
                      <p:cNvPr id="4" name="Object 6"/>
                      <p:cNvPicPr>
                        <a:picLocks noChangeAspect="1" noChangeArrowheads="1"/>
                      </p:cNvPicPr>
                      <p:nvPr/>
                    </p:nvPicPr>
                    <p:blipFill>
                      <a:blip r:embed="rId4">
                        <a:extLst>
                          <a:ext uri="{28A0092B-C50C-407E-A947-70E740481C1C}">
                            <a14:useLocalDpi xmlns:a14="http://schemas.microsoft.com/office/drawing/2010/main" val="0"/>
                          </a:ext>
                        </a:extLst>
                      </a:blip>
                      <a:srcRect r="4274"/>
                      <a:stretch>
                        <a:fillRect/>
                      </a:stretch>
                    </p:blipFill>
                    <p:spPr bwMode="auto">
                      <a:xfrm>
                        <a:off x="5563755" y="1371600"/>
                        <a:ext cx="32131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6911688" y="4724400"/>
          <a:ext cx="1050925" cy="1676400"/>
        </p:xfrm>
        <a:graphic>
          <a:graphicData uri="http://schemas.openxmlformats.org/presentationml/2006/ole">
            <mc:AlternateContent xmlns:mc="http://schemas.openxmlformats.org/markup-compatibility/2006">
              <mc:Choice xmlns:v="urn:schemas-microsoft-com:vml" Requires="v">
                <p:oleObj name="Visio" r:id="rId5" imgW="1611935" imgH="2570756" progId="Visio.Drawing.6">
                  <p:embed/>
                </p:oleObj>
              </mc:Choice>
              <mc:Fallback>
                <p:oleObj name="Visio" r:id="rId5" imgW="1611935" imgH="2570756" progId="Visio.Drawing.6">
                  <p:embed/>
                  <p:pic>
                    <p:nvPicPr>
                      <p:cNvPr id="5"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1688" y="4724400"/>
                        <a:ext cx="105092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22"/>
          <p:cNvGrpSpPr>
            <a:grpSpLocks/>
          </p:cNvGrpSpPr>
          <p:nvPr/>
        </p:nvGrpSpPr>
        <p:grpSpPr bwMode="auto">
          <a:xfrm>
            <a:off x="381000" y="6502400"/>
            <a:ext cx="8382000" cy="304800"/>
            <a:chOff x="288" y="3408"/>
            <a:chExt cx="5280" cy="192"/>
          </a:xfrm>
        </p:grpSpPr>
        <p:sp>
          <p:nvSpPr>
            <p:cNvPr id="7"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33</a:t>
              </a:fld>
              <a:r>
                <a:rPr lang="en-US" altLang="en-US" sz="1200" b="0" dirty="0"/>
                <a:t> </a:t>
              </a:r>
            </a:p>
          </p:txBody>
        </p:sp>
      </p:grpSp>
    </p:spTree>
    <p:extLst>
      <p:ext uri="{BB962C8B-B14F-4D97-AF65-F5344CB8AC3E}">
        <p14:creationId xmlns:p14="http://schemas.microsoft.com/office/powerpoint/2010/main" val="1833632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568" y="192314"/>
            <a:ext cx="6589200" cy="1280890"/>
          </a:xfrm>
        </p:spPr>
        <p:txBody>
          <a:bodyPr>
            <a:normAutofit/>
          </a:bodyPr>
          <a:lstStyle/>
          <a:p>
            <a:r>
              <a:rPr lang="en-US" dirty="0">
                <a:latin typeface="Times New Roman" panose="02020603050405020304" pitchFamily="18" charset="0"/>
                <a:cs typeface="Times New Roman" panose="02020603050405020304" pitchFamily="18" charset="0"/>
              </a:rPr>
              <a:t>More Computing the GINI for Continuous Attributes</a:t>
            </a:r>
          </a:p>
        </p:txBody>
      </p:sp>
      <p:sp>
        <p:nvSpPr>
          <p:cNvPr id="11" name="Slide Number Placeholder 10"/>
          <p:cNvSpPr>
            <a:spLocks noGrp="1"/>
          </p:cNvSpPr>
          <p:nvPr>
            <p:ph type="sldNum" sz="quarter" idx="12"/>
          </p:nvPr>
        </p:nvSpPr>
        <p:spPr/>
        <p:txBody>
          <a:bodyPr/>
          <a:lstStyle/>
          <a:p>
            <a:fld id="{76F96C40-0356-46F5-90E5-FF57DE76D9A0}" type="slidenum">
              <a:rPr lang="en-US" smtClean="0"/>
              <a:t>34</a:t>
            </a:fld>
            <a:endParaRPr lang="en-US"/>
          </a:p>
        </p:txBody>
      </p:sp>
      <p:sp>
        <p:nvSpPr>
          <p:cNvPr id="3" name="Rectangle 3"/>
          <p:cNvSpPr txBox="1">
            <a:spLocks noChangeArrowheads="1"/>
          </p:cNvSpPr>
          <p:nvPr/>
        </p:nvSpPr>
        <p:spPr>
          <a:xfrm>
            <a:off x="381000" y="1631950"/>
            <a:ext cx="8178800" cy="1524000"/>
          </a:xfrm>
          <a:prstGeom prst="rect">
            <a:avLst/>
          </a:prstGeom>
          <a:noFill/>
          <a:ln/>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342900" indent="-342900">
              <a:lnSpc>
                <a:spcPct val="90000"/>
              </a:lnSpc>
            </a:pPr>
            <a:r>
              <a:rPr lang="en-US" altLang="en-US" sz="2400" dirty="0">
                <a:latin typeface="Times New Roman" panose="02020603050405020304" pitchFamily="18" charset="0"/>
                <a:cs typeface="Times New Roman" panose="02020603050405020304" pitchFamily="18" charset="0"/>
              </a:rPr>
              <a:t>For efficient computation: for each attribute,</a:t>
            </a:r>
          </a:p>
          <a:p>
            <a:pPr marL="742950" lvl="1" indent="-285750">
              <a:lnSpc>
                <a:spcPct val="90000"/>
              </a:lnSpc>
            </a:pPr>
            <a:r>
              <a:rPr lang="en-US" altLang="en-US" dirty="0">
                <a:latin typeface="Times New Roman" panose="02020603050405020304" pitchFamily="18" charset="0"/>
                <a:cs typeface="Times New Roman" panose="02020603050405020304" pitchFamily="18" charset="0"/>
              </a:rPr>
              <a:t>Sort the attribute on values</a:t>
            </a:r>
          </a:p>
          <a:p>
            <a:pPr marL="742950" lvl="1" indent="-285750">
              <a:lnSpc>
                <a:spcPct val="90000"/>
              </a:lnSpc>
            </a:pPr>
            <a:r>
              <a:rPr lang="en-US" altLang="en-US" dirty="0">
                <a:latin typeface="Times New Roman" panose="02020603050405020304" pitchFamily="18" charset="0"/>
                <a:cs typeface="Times New Roman" panose="02020603050405020304" pitchFamily="18" charset="0"/>
              </a:rPr>
              <a:t>Linearly scan these values, each time updating the count matrix and computing </a:t>
            </a:r>
            <a:r>
              <a:rPr lang="en-US" altLang="en-US" dirty="0" err="1">
                <a:latin typeface="Times New Roman" panose="02020603050405020304" pitchFamily="18" charset="0"/>
                <a:cs typeface="Times New Roman" panose="02020603050405020304" pitchFamily="18" charset="0"/>
              </a:rPr>
              <a:t>gini</a:t>
            </a:r>
            <a:r>
              <a:rPr lang="en-US" altLang="en-US" dirty="0">
                <a:latin typeface="Times New Roman" panose="02020603050405020304" pitchFamily="18" charset="0"/>
                <a:cs typeface="Times New Roman" panose="02020603050405020304" pitchFamily="18" charset="0"/>
              </a:rPr>
              <a:t> index</a:t>
            </a:r>
          </a:p>
          <a:p>
            <a:pPr marL="742950" lvl="1" indent="-285750">
              <a:lnSpc>
                <a:spcPct val="90000"/>
              </a:lnSpc>
            </a:pPr>
            <a:r>
              <a:rPr lang="en-US" altLang="en-US" dirty="0">
                <a:latin typeface="Times New Roman" panose="02020603050405020304" pitchFamily="18" charset="0"/>
                <a:cs typeface="Times New Roman" panose="02020603050405020304" pitchFamily="18" charset="0"/>
              </a:rPr>
              <a:t>Choose the split position that has the least </a:t>
            </a:r>
            <a:r>
              <a:rPr lang="en-US" altLang="en-US" dirty="0" err="1">
                <a:latin typeface="Times New Roman" panose="02020603050405020304" pitchFamily="18" charset="0"/>
                <a:cs typeface="Times New Roman" panose="02020603050405020304" pitchFamily="18" charset="0"/>
              </a:rPr>
              <a:t>gini</a:t>
            </a:r>
            <a:r>
              <a:rPr lang="en-US" altLang="en-US" dirty="0">
                <a:latin typeface="Times New Roman" panose="02020603050405020304" pitchFamily="18" charset="0"/>
                <a:cs typeface="Times New Roman" panose="02020603050405020304" pitchFamily="18" charset="0"/>
              </a:rPr>
              <a:t> index</a:t>
            </a:r>
          </a:p>
        </p:txBody>
      </p:sp>
      <p:grpSp>
        <p:nvGrpSpPr>
          <p:cNvPr id="14" name="Group 22"/>
          <p:cNvGrpSpPr>
            <a:grpSpLocks/>
          </p:cNvGrpSpPr>
          <p:nvPr/>
        </p:nvGrpSpPr>
        <p:grpSpPr bwMode="auto">
          <a:xfrm>
            <a:off x="381000" y="6400800"/>
            <a:ext cx="8382000" cy="304800"/>
            <a:chOff x="288" y="3408"/>
            <a:chExt cx="5280" cy="192"/>
          </a:xfrm>
        </p:grpSpPr>
        <p:sp>
          <p:nvSpPr>
            <p:cNvPr id="1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34</a:t>
              </a:fld>
              <a:r>
                <a:rPr lang="en-US" altLang="en-US" sz="1200" b="0" dirty="0"/>
                <a:t> </a:t>
              </a:r>
            </a:p>
          </p:txBody>
        </p:sp>
      </p:grpSp>
      <p:pic>
        <p:nvPicPr>
          <p:cNvPr id="12" name="Picture 11"/>
          <p:cNvPicPr>
            <a:picLocks noChangeAspect="1"/>
          </p:cNvPicPr>
          <p:nvPr/>
        </p:nvPicPr>
        <p:blipFill>
          <a:blip r:embed="rId3"/>
          <a:stretch>
            <a:fillRect/>
          </a:stretch>
        </p:blipFill>
        <p:spPr>
          <a:xfrm>
            <a:off x="727075" y="3886200"/>
            <a:ext cx="7486650" cy="2295525"/>
          </a:xfrm>
          <a:prstGeom prst="rect">
            <a:avLst/>
          </a:prstGeom>
        </p:spPr>
      </p:pic>
    </p:spTree>
    <p:extLst>
      <p:ext uri="{BB962C8B-B14F-4D97-AF65-F5344CB8AC3E}">
        <p14:creationId xmlns:p14="http://schemas.microsoft.com/office/powerpoint/2010/main" val="3594052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181424"/>
            <a:ext cx="6589200" cy="1280890"/>
          </a:xfrm>
        </p:spPr>
        <p:txBody>
          <a:bodyPr>
            <a:normAutofit/>
          </a:bodyPr>
          <a:lstStyle/>
          <a:p>
            <a:r>
              <a:rPr lang="en-US" dirty="0">
                <a:latin typeface="Times New Roman" panose="02020603050405020304" pitchFamily="18" charset="0"/>
                <a:cs typeface="Times New Roman" panose="02020603050405020304" pitchFamily="18" charset="0"/>
              </a:rPr>
              <a:t>Splitting Criteria based on Information Gain</a:t>
            </a:r>
          </a:p>
        </p:txBody>
      </p:sp>
      <p:sp>
        <p:nvSpPr>
          <p:cNvPr id="7" name="Slide Number Placeholder 6"/>
          <p:cNvSpPr>
            <a:spLocks noGrp="1"/>
          </p:cNvSpPr>
          <p:nvPr>
            <p:ph type="sldNum" sz="quarter" idx="12"/>
          </p:nvPr>
        </p:nvSpPr>
        <p:spPr/>
        <p:txBody>
          <a:bodyPr/>
          <a:lstStyle/>
          <a:p>
            <a:fld id="{76F96C40-0356-46F5-90E5-FF57DE76D9A0}" type="slidenum">
              <a:rPr lang="en-US" smtClean="0"/>
              <a:t>35</a:t>
            </a:fld>
            <a:endParaRPr lang="en-US"/>
          </a:p>
        </p:txBody>
      </p:sp>
      <mc:AlternateContent xmlns:mc="http://schemas.openxmlformats.org/markup-compatibility/2006" xmlns:a14="http://schemas.microsoft.com/office/drawing/2010/main">
        <mc:Choice Requires="a14">
          <p:sp>
            <p:nvSpPr>
              <p:cNvPr id="3" name="Rectangle 3"/>
              <p:cNvSpPr txBox="1">
                <a:spLocks noChangeArrowheads="1"/>
              </p:cNvSpPr>
              <p:nvPr/>
            </p:nvSpPr>
            <p:spPr>
              <a:xfrm>
                <a:off x="381000" y="1519394"/>
                <a:ext cx="8763000" cy="4572000"/>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342900" indent="-342900"/>
                <a:r>
                  <a:rPr lang="en-US" altLang="en-US" dirty="0">
                    <a:latin typeface="Times New Roman" panose="02020603050405020304" pitchFamily="18" charset="0"/>
                    <a:cs typeface="Times New Roman" panose="02020603050405020304" pitchFamily="18" charset="0"/>
                  </a:rPr>
                  <a:t>Entropy at a given node t:</a:t>
                </a:r>
              </a:p>
              <a:p>
                <a:pPr marL="457200" lvl="1" indent="0">
                  <a:buNone/>
                </a:pPr>
                <a14:m>
                  <m:oMathPara xmlns:m="http://schemas.openxmlformats.org/officeDocument/2006/math">
                    <m:oMathParaPr>
                      <m:jc m:val="centerGroup"/>
                    </m:oMathParaPr>
                    <m:oMath xmlns:m="http://schemas.openxmlformats.org/officeDocument/2006/math">
                      <m:r>
                        <a:rPr lang="en-US" altLang="en-US" b="0" i="1" smtClean="0">
                          <a:latin typeface="Cambria Math"/>
                        </a:rPr>
                        <m:t>𝐸𝑛𝑡𝑟𝑜𝑝𝑦</m:t>
                      </m:r>
                      <m:d>
                        <m:dPr>
                          <m:ctrlPr>
                            <a:rPr lang="en-US" altLang="en-US" b="0" i="1" smtClean="0">
                              <a:latin typeface="Cambria Math" panose="02040503050406030204" pitchFamily="18" charset="0"/>
                            </a:rPr>
                          </m:ctrlPr>
                        </m:dPr>
                        <m:e>
                          <m:r>
                            <a:rPr lang="en-US" altLang="en-US" b="0" i="1" smtClean="0">
                              <a:latin typeface="Cambria Math"/>
                            </a:rPr>
                            <m:t>𝑡</m:t>
                          </m:r>
                        </m:e>
                      </m:d>
                      <m:r>
                        <a:rPr lang="en-US" altLang="en-US" b="0" i="1" smtClean="0">
                          <a:latin typeface="Cambria Math"/>
                        </a:rPr>
                        <m:t>= </m:t>
                      </m:r>
                      <m:nary>
                        <m:naryPr>
                          <m:chr m:val="∑"/>
                          <m:subHide m:val="on"/>
                          <m:supHide m:val="on"/>
                          <m:ctrlPr>
                            <a:rPr lang="en-US" altLang="en-US" b="0" i="1" smtClean="0">
                              <a:latin typeface="Cambria Math" panose="02040503050406030204" pitchFamily="18" charset="0"/>
                            </a:rPr>
                          </m:ctrlPr>
                        </m:naryPr>
                        <m:sub/>
                        <m:sup/>
                        <m:e>
                          <m:r>
                            <a:rPr lang="en-US" altLang="en-US" b="0" i="1" smtClean="0">
                              <a:latin typeface="Cambria Math"/>
                            </a:rPr>
                            <m:t>𝑃</m:t>
                          </m:r>
                          <m:d>
                            <m:dPr>
                              <m:endChr m:val="|"/>
                              <m:ctrlPr>
                                <a:rPr lang="en-US" altLang="en-US" b="0" i="1" smtClean="0">
                                  <a:latin typeface="Cambria Math" panose="02040503050406030204" pitchFamily="18" charset="0"/>
                                </a:rPr>
                              </m:ctrlPr>
                            </m:dPr>
                            <m:e>
                              <m:r>
                                <a:rPr lang="en-US" altLang="en-US" b="0" i="1" smtClean="0">
                                  <a:latin typeface="Cambria Math"/>
                                </a:rPr>
                                <m:t>𝑗</m:t>
                              </m:r>
                              <m:r>
                                <a:rPr lang="en-US" altLang="en-US" b="0" i="1" smtClean="0">
                                  <a:latin typeface="Cambria Math"/>
                                </a:rPr>
                                <m:t> </m:t>
                              </m:r>
                            </m:e>
                          </m:d>
                          <m:r>
                            <a:rPr lang="en-US" altLang="en-US" b="0" i="1" smtClean="0">
                              <a:latin typeface="Cambria Math"/>
                            </a:rPr>
                            <m:t>𝑡</m:t>
                          </m:r>
                          <m:r>
                            <a:rPr lang="en-US" altLang="en-US" b="0" i="1" smtClean="0">
                              <a:latin typeface="Cambria Math"/>
                            </a:rPr>
                            <m:t>)</m:t>
                          </m:r>
                          <m:func>
                            <m:funcPr>
                              <m:ctrlPr>
                                <a:rPr lang="en-US" altLang="en-US" b="0" i="1" smtClean="0">
                                  <a:latin typeface="Cambria Math" panose="02040503050406030204" pitchFamily="18" charset="0"/>
                                </a:rPr>
                              </m:ctrlPr>
                            </m:funcPr>
                            <m:fName>
                              <m:r>
                                <m:rPr>
                                  <m:sty m:val="p"/>
                                </m:rPr>
                                <a:rPr lang="en-US" altLang="en-US" b="0" i="0" smtClean="0">
                                  <a:latin typeface="Cambria Math"/>
                                </a:rPr>
                                <m:t>log</m:t>
                              </m:r>
                            </m:fName>
                            <m:e>
                              <m:r>
                                <a:rPr lang="en-US" altLang="en-US" b="0" i="1" smtClean="0">
                                  <a:latin typeface="Cambria Math"/>
                                </a:rPr>
                                <m:t>𝑃</m:t>
                              </m:r>
                              <m:d>
                                <m:dPr>
                                  <m:endChr m:val="|"/>
                                  <m:ctrlPr>
                                    <a:rPr lang="en-US" altLang="en-US" b="0" i="1" smtClean="0">
                                      <a:latin typeface="Cambria Math" panose="02040503050406030204" pitchFamily="18" charset="0"/>
                                    </a:rPr>
                                  </m:ctrlPr>
                                </m:dPr>
                                <m:e>
                                  <m:r>
                                    <a:rPr lang="en-US" altLang="en-US" b="0" i="1" smtClean="0">
                                      <a:latin typeface="Cambria Math"/>
                                    </a:rPr>
                                    <m:t>𝑗</m:t>
                                  </m:r>
                                  <m:r>
                                    <a:rPr lang="en-US" altLang="en-US" b="0" i="1" smtClean="0">
                                      <a:latin typeface="Cambria Math"/>
                                    </a:rPr>
                                    <m:t> </m:t>
                                  </m:r>
                                </m:e>
                              </m:d>
                              <m:r>
                                <a:rPr lang="en-US" altLang="en-US" b="0" i="1" smtClean="0">
                                  <a:latin typeface="Cambria Math"/>
                                </a:rPr>
                                <m:t>𝑡</m:t>
                              </m:r>
                              <m:r>
                                <a:rPr lang="en-US" altLang="en-US" b="0" i="1" smtClean="0">
                                  <a:latin typeface="Cambria Math"/>
                                </a:rPr>
                                <m:t>)</m:t>
                              </m:r>
                            </m:e>
                          </m:func>
                        </m:e>
                      </m:nary>
                    </m:oMath>
                  </m:oMathPara>
                </a14:m>
                <a:endParaRPr lang="en-US" altLang="en-US" dirty="0">
                  <a:latin typeface="Times New Roman" panose="02020603050405020304" pitchFamily="18" charset="0"/>
                  <a:cs typeface="Times New Roman" panose="02020603050405020304" pitchFamily="18" charset="0"/>
                </a:endParaRPr>
              </a:p>
              <a:p>
                <a:pPr marL="1085850" lvl="2">
                  <a:buFont typeface="Wingdings" pitchFamily="2" charset="2"/>
                  <a:buNone/>
                </a:pPr>
                <a:r>
                  <a:rPr lang="en-US" altLang="en-US" sz="2000" dirty="0">
                    <a:latin typeface="Times New Roman" panose="02020603050405020304" pitchFamily="18" charset="0"/>
                    <a:cs typeface="Times New Roman" panose="02020603050405020304" pitchFamily="18" charset="0"/>
                  </a:rPr>
                  <a:t>(NOTE: </a:t>
                </a:r>
                <a:r>
                  <a:rPr lang="en-US" altLang="en-US" sz="2000" i="1" dirty="0">
                    <a:latin typeface="Times New Roman" panose="02020603050405020304" pitchFamily="18" charset="0"/>
                    <a:cs typeface="Times New Roman" panose="02020603050405020304" pitchFamily="18" charset="0"/>
                  </a:rPr>
                  <a:t>p( j | t) </a:t>
                </a:r>
                <a:r>
                  <a:rPr lang="en-US" altLang="en-US" sz="2000" dirty="0">
                    <a:latin typeface="Times New Roman" panose="02020603050405020304" pitchFamily="18" charset="0"/>
                    <a:cs typeface="Times New Roman" panose="02020603050405020304" pitchFamily="18" charset="0"/>
                  </a:rPr>
                  <a:t>is the relative frequency of class j at node t)</a:t>
                </a:r>
                <a:endParaRPr lang="en-US" altLang="en-US" dirty="0">
                  <a:latin typeface="Times New Roman" panose="02020603050405020304" pitchFamily="18" charset="0"/>
                  <a:cs typeface="Times New Roman" panose="02020603050405020304" pitchFamily="18" charset="0"/>
                </a:endParaRPr>
              </a:p>
              <a:p>
                <a:pPr marL="742950" lvl="1" indent="-285750"/>
                <a:r>
                  <a:rPr lang="en-US" altLang="en-US" dirty="0">
                    <a:latin typeface="Times New Roman" panose="02020603050405020304" pitchFamily="18" charset="0"/>
                    <a:cs typeface="Times New Roman" panose="02020603050405020304" pitchFamily="18" charset="0"/>
                  </a:rPr>
                  <a:t>Measures homogeneity of a node. </a:t>
                </a:r>
              </a:p>
              <a:p>
                <a:pPr marL="1085850" lvl="2"/>
                <a:r>
                  <a:rPr lang="en-US" altLang="en-US" dirty="0">
                    <a:latin typeface="Times New Roman" panose="02020603050405020304" pitchFamily="18" charset="0"/>
                    <a:cs typeface="Times New Roman" panose="02020603050405020304" pitchFamily="18" charset="0"/>
                  </a:rPr>
                  <a:t>Maximum , when records are equally distributed among all classes implying least information</a:t>
                </a:r>
              </a:p>
              <a:p>
                <a:pPr marL="1085850" lvl="2"/>
                <a:r>
                  <a:rPr lang="en-US" altLang="en-US" dirty="0">
                    <a:latin typeface="Times New Roman" panose="02020603050405020304" pitchFamily="18" charset="0"/>
                    <a:cs typeface="Times New Roman" panose="02020603050405020304" pitchFamily="18" charset="0"/>
                  </a:rPr>
                  <a:t>Minimum (0.0) when all records belong to one class, implying most information</a:t>
                </a:r>
              </a:p>
              <a:p>
                <a:pPr marL="742950" lvl="1" indent="-285750"/>
                <a:r>
                  <a:rPr lang="en-US" altLang="en-US" dirty="0">
                    <a:latin typeface="Times New Roman" panose="02020603050405020304" pitchFamily="18" charset="0"/>
                    <a:cs typeface="Times New Roman" panose="02020603050405020304" pitchFamily="18" charset="0"/>
                  </a:rPr>
                  <a:t>Entropy based computations are similar to the GINI index computations</a:t>
                </a:r>
              </a:p>
            </p:txBody>
          </p:sp>
        </mc:Choice>
        <mc:Fallback xmlns="">
          <p:sp>
            <p:nvSpPr>
              <p:cNvPr id="3" name="Rectangle 3"/>
              <p:cNvSpPr txBox="1">
                <a:spLocks noRot="1" noChangeAspect="1" noMove="1" noResize="1" noEditPoints="1" noAdjustHandles="1" noChangeArrowheads="1" noChangeShapeType="1" noTextEdit="1"/>
              </p:cNvSpPr>
              <p:nvPr/>
            </p:nvSpPr>
            <p:spPr>
              <a:xfrm>
                <a:off x="381000" y="1519394"/>
                <a:ext cx="8763000" cy="4572000"/>
              </a:xfrm>
              <a:prstGeom prst="rect">
                <a:avLst/>
              </a:prstGeom>
              <a:blipFill>
                <a:blip r:embed="rId3"/>
                <a:stretch>
                  <a:fillRect l="-418" t="-1333" r="-1253" b="-1333"/>
                </a:stretch>
              </a:blipFill>
            </p:spPr>
            <p:txBody>
              <a:bodyPr/>
              <a:lstStyle/>
              <a:p>
                <a:r>
                  <a:rPr lang="en-US">
                    <a:noFill/>
                  </a:rPr>
                  <a:t> </a:t>
                </a:r>
              </a:p>
            </p:txBody>
          </p:sp>
        </mc:Fallback>
      </mc:AlternateContent>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35</a:t>
              </a:fld>
              <a:r>
                <a:rPr lang="en-US" altLang="en-US" sz="1200" b="0" dirty="0"/>
                <a:t> </a:t>
              </a:r>
            </a:p>
          </p:txBody>
        </p:sp>
      </p:grpSp>
    </p:spTree>
    <p:extLst>
      <p:ext uri="{BB962C8B-B14F-4D97-AF65-F5344CB8AC3E}">
        <p14:creationId xmlns:p14="http://schemas.microsoft.com/office/powerpoint/2010/main" val="3763250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77638"/>
            <a:ext cx="8229600" cy="1143000"/>
          </a:xfrm>
        </p:spPr>
        <p:txBody>
          <a:bodyPr>
            <a:normAutofit/>
          </a:bodyPr>
          <a:lstStyle/>
          <a:p>
            <a:r>
              <a:rPr lang="en-US" dirty="0">
                <a:latin typeface="Times New Roman" panose="02020603050405020304" pitchFamily="18" charset="0"/>
                <a:cs typeface="Times New Roman" panose="02020603050405020304" pitchFamily="18" charset="0"/>
              </a:rPr>
              <a:t>Examples for Computing Entropy</a:t>
            </a:r>
          </a:p>
        </p:txBody>
      </p:sp>
      <p:sp>
        <p:nvSpPr>
          <p:cNvPr id="13" name="Slide Number Placeholder 12"/>
          <p:cNvSpPr>
            <a:spLocks noGrp="1"/>
          </p:cNvSpPr>
          <p:nvPr>
            <p:ph type="sldNum" sz="quarter" idx="12"/>
          </p:nvPr>
        </p:nvSpPr>
        <p:spPr/>
        <p:txBody>
          <a:bodyPr/>
          <a:lstStyle/>
          <a:p>
            <a:fld id="{76F96C40-0356-46F5-90E5-FF57DE76D9A0}" type="slidenum">
              <a:rPr lang="en-US" smtClean="0"/>
              <a:t>36</a:t>
            </a:fld>
            <a:endParaRPr lang="en-US"/>
          </a:p>
        </p:txBody>
      </p:sp>
      <p:graphicFrame>
        <p:nvGraphicFramePr>
          <p:cNvPr id="3" name="Object 3"/>
          <p:cNvGraphicFramePr>
            <a:graphicFrameLocks noChangeAspect="1"/>
          </p:cNvGraphicFramePr>
          <p:nvPr/>
        </p:nvGraphicFramePr>
        <p:xfrm>
          <a:off x="304800" y="2339975"/>
          <a:ext cx="2362200" cy="936625"/>
        </p:xfrm>
        <a:graphic>
          <a:graphicData uri="http://schemas.openxmlformats.org/presentationml/2006/ole">
            <mc:AlternateContent xmlns:mc="http://schemas.openxmlformats.org/markup-compatibility/2006">
              <mc:Choice xmlns:v="urn:schemas-microsoft-com:vml" Requires="v">
                <p:oleObj name="Document" r:id="rId3" imgW="3239280" imgH="1357560" progId="Word.Document.8">
                  <p:embed/>
                </p:oleObj>
              </mc:Choice>
              <mc:Fallback>
                <p:oleObj name="Document" r:id="rId3" imgW="3239280" imgH="1357560" progId="Word.Document.8">
                  <p:embed/>
                  <p:pic>
                    <p:nvPicPr>
                      <p:cNvPr id="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339975"/>
                        <a:ext cx="23622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4"/>
          <p:cNvGraphicFramePr>
            <a:graphicFrameLocks noChangeAspect="1"/>
          </p:cNvGraphicFramePr>
          <p:nvPr/>
        </p:nvGraphicFramePr>
        <p:xfrm>
          <a:off x="381000" y="5181600"/>
          <a:ext cx="2286000" cy="938213"/>
        </p:xfrm>
        <a:graphic>
          <a:graphicData uri="http://schemas.openxmlformats.org/presentationml/2006/ole">
            <mc:AlternateContent xmlns:mc="http://schemas.openxmlformats.org/markup-compatibility/2006">
              <mc:Choice xmlns:v="urn:schemas-microsoft-com:vml" Requires="v">
                <p:oleObj name="Document" r:id="rId5" imgW="3239280" imgH="1381680" progId="Word.Document.8">
                  <p:embed/>
                </p:oleObj>
              </mc:Choice>
              <mc:Fallback>
                <p:oleObj name="Document" r:id="rId5" imgW="3239280" imgH="1381680" progId="Word.Document.8">
                  <p:embed/>
                  <p:pic>
                    <p:nvPicPr>
                      <p:cNvPr id="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5181600"/>
                        <a:ext cx="2286000"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381000" y="3817938"/>
          <a:ext cx="2286000" cy="906462"/>
        </p:xfrm>
        <a:graphic>
          <a:graphicData uri="http://schemas.openxmlformats.org/presentationml/2006/ole">
            <mc:AlternateContent xmlns:mc="http://schemas.openxmlformats.org/markup-compatibility/2006">
              <mc:Choice xmlns:v="urn:schemas-microsoft-com:vml" Requires="v">
                <p:oleObj name="Document" r:id="rId7" imgW="3239280" imgH="1357560" progId="Word.Document.8">
                  <p:embed/>
                </p:oleObj>
              </mc:Choice>
              <mc:Fallback>
                <p:oleObj name="Document" r:id="rId7" imgW="3239280" imgH="1357560" progId="Word.Document.8">
                  <p:embed/>
                  <p:pic>
                    <p:nvPicPr>
                      <p:cNvPr id="5"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3817938"/>
                        <a:ext cx="2286000"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6"/>
          <p:cNvSpPr txBox="1">
            <a:spLocks noChangeArrowheads="1"/>
          </p:cNvSpPr>
          <p:nvPr/>
        </p:nvSpPr>
        <p:spPr bwMode="auto">
          <a:xfrm>
            <a:off x="2895600" y="2339975"/>
            <a:ext cx="5943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P(C1) = 0/6 = 0     P(C2) = 6/6 = 1</a:t>
            </a:r>
          </a:p>
          <a:p>
            <a:pPr>
              <a:spcBef>
                <a:spcPct val="50000"/>
              </a:spcBef>
            </a:pPr>
            <a:r>
              <a:rPr lang="en-US" altLang="en-US" sz="2000"/>
              <a:t>Entropy = – 0 log 0</a:t>
            </a:r>
            <a:r>
              <a:rPr lang="en-US" altLang="en-US" sz="2000" baseline="30000"/>
              <a:t> </a:t>
            </a:r>
            <a:r>
              <a:rPr lang="en-US" altLang="en-US" sz="2000"/>
              <a:t>– 1 log 1 = – 0 – 0 = 0 </a:t>
            </a:r>
          </a:p>
        </p:txBody>
      </p:sp>
      <p:sp>
        <p:nvSpPr>
          <p:cNvPr id="7" name="Text Box 8"/>
          <p:cNvSpPr txBox="1">
            <a:spLocks noChangeArrowheads="1"/>
          </p:cNvSpPr>
          <p:nvPr/>
        </p:nvSpPr>
        <p:spPr bwMode="auto">
          <a:xfrm>
            <a:off x="2971800" y="3733800"/>
            <a:ext cx="6172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t>P(C1) = 1/6          P(C2) = 5/6</a:t>
            </a:r>
          </a:p>
          <a:p>
            <a:pPr>
              <a:spcBef>
                <a:spcPct val="50000"/>
              </a:spcBef>
            </a:pPr>
            <a:r>
              <a:rPr lang="en-US" altLang="en-US" sz="2000" dirty="0"/>
              <a:t>Entropy = – (1/6) log</a:t>
            </a:r>
            <a:r>
              <a:rPr lang="en-US" altLang="en-US" sz="2000" baseline="-25000" dirty="0"/>
              <a:t>2</a:t>
            </a:r>
            <a:r>
              <a:rPr lang="en-US" altLang="en-US" sz="2000" dirty="0"/>
              <a:t> (1/6)</a:t>
            </a:r>
            <a:r>
              <a:rPr lang="en-US" altLang="en-US" sz="2000" baseline="30000" dirty="0"/>
              <a:t> </a:t>
            </a:r>
            <a:r>
              <a:rPr lang="en-US" altLang="en-US" sz="2000" dirty="0"/>
              <a:t>– (5/6) </a:t>
            </a:r>
            <a:r>
              <a:rPr lang="en-US" altLang="en-US" sz="2000"/>
              <a:t>log</a:t>
            </a:r>
            <a:r>
              <a:rPr lang="en-US" altLang="en-US" sz="2000" baseline="-25000"/>
              <a:t>2</a:t>
            </a:r>
            <a:r>
              <a:rPr lang="en-US" altLang="en-US" sz="2000"/>
              <a:t> (5/6</a:t>
            </a:r>
            <a:r>
              <a:rPr lang="en-US" altLang="en-US" sz="2000" dirty="0"/>
              <a:t>) = 0.65</a:t>
            </a:r>
          </a:p>
        </p:txBody>
      </p:sp>
      <p:sp>
        <p:nvSpPr>
          <p:cNvPr id="8" name="Text Box 9"/>
          <p:cNvSpPr txBox="1">
            <a:spLocks noChangeArrowheads="1"/>
          </p:cNvSpPr>
          <p:nvPr/>
        </p:nvSpPr>
        <p:spPr bwMode="auto">
          <a:xfrm>
            <a:off x="2971800" y="5105400"/>
            <a:ext cx="6172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P(C1) = 2/6          P(C2) = 4/6</a:t>
            </a:r>
          </a:p>
          <a:p>
            <a:pPr>
              <a:spcBef>
                <a:spcPct val="50000"/>
              </a:spcBef>
            </a:pPr>
            <a:r>
              <a:rPr lang="en-US" altLang="en-US" sz="2000"/>
              <a:t>Entropy = – (2/6) log</a:t>
            </a:r>
            <a:r>
              <a:rPr lang="en-US" altLang="en-US" sz="2000" baseline="-25000"/>
              <a:t>2</a:t>
            </a:r>
            <a:r>
              <a:rPr lang="en-US" altLang="en-US" sz="2000"/>
              <a:t> (2/6)</a:t>
            </a:r>
            <a:r>
              <a:rPr lang="en-US" altLang="en-US" sz="2000" baseline="30000"/>
              <a:t> </a:t>
            </a:r>
            <a:r>
              <a:rPr lang="en-US" altLang="en-US" sz="2000"/>
              <a:t>– (4/6) log</a:t>
            </a:r>
            <a:r>
              <a:rPr lang="en-US" altLang="en-US" sz="2000" baseline="-25000"/>
              <a:t>2</a:t>
            </a:r>
            <a:r>
              <a:rPr lang="en-US" altLang="en-US" sz="2000"/>
              <a:t> (4/6) = 0.92</a:t>
            </a:r>
          </a:p>
        </p:txBody>
      </p:sp>
      <mc:AlternateContent xmlns:mc="http://schemas.openxmlformats.org/markup-compatibility/2006" xmlns:a14="http://schemas.microsoft.com/office/drawing/2010/main">
        <mc:Choice Requires="a14">
          <p:sp>
            <p:nvSpPr>
              <p:cNvPr id="9" name="Rectangle 8"/>
              <p:cNvSpPr/>
              <p:nvPr/>
            </p:nvSpPr>
            <p:spPr>
              <a:xfrm>
                <a:off x="1905000" y="1353295"/>
                <a:ext cx="5413085" cy="986680"/>
              </a:xfrm>
              <a:prstGeom prst="rect">
                <a:avLst/>
              </a:prstGeom>
            </p:spPr>
            <p:txBody>
              <a:bodyPr wrap="none">
                <a:spAutoFit/>
              </a:bodyPr>
              <a:lstStyle/>
              <a:p>
                <a:pPr lvl="1"/>
                <a14:m>
                  <m:oMathPara xmlns:m="http://schemas.openxmlformats.org/officeDocument/2006/math">
                    <m:oMathParaPr>
                      <m:jc m:val="centerGroup"/>
                    </m:oMathParaPr>
                    <m:oMath xmlns:m="http://schemas.openxmlformats.org/officeDocument/2006/math">
                      <m:r>
                        <a:rPr lang="en-US" altLang="en-US" sz="2400" i="1">
                          <a:latin typeface="Cambria Math"/>
                        </a:rPr>
                        <m:t>𝐸𝑛𝑡𝑟𝑜𝑝𝑦</m:t>
                      </m:r>
                      <m:d>
                        <m:dPr>
                          <m:ctrlPr>
                            <a:rPr lang="en-US" altLang="en-US" sz="2400" i="1">
                              <a:latin typeface="Cambria Math" panose="02040503050406030204" pitchFamily="18" charset="0"/>
                            </a:rPr>
                          </m:ctrlPr>
                        </m:dPr>
                        <m:e>
                          <m:r>
                            <a:rPr lang="en-US" altLang="en-US" sz="2400" i="1">
                              <a:latin typeface="Cambria Math"/>
                            </a:rPr>
                            <m:t>𝑡</m:t>
                          </m:r>
                        </m:e>
                      </m:d>
                      <m:r>
                        <a:rPr lang="en-US" altLang="en-US" sz="2400" i="1">
                          <a:latin typeface="Cambria Math"/>
                        </a:rPr>
                        <m:t>= </m:t>
                      </m:r>
                      <m:nary>
                        <m:naryPr>
                          <m:chr m:val="∑"/>
                          <m:subHide m:val="on"/>
                          <m:supHide m:val="on"/>
                          <m:ctrlPr>
                            <a:rPr lang="en-US" altLang="en-US" sz="2400" i="1">
                              <a:latin typeface="Cambria Math" panose="02040503050406030204" pitchFamily="18" charset="0"/>
                            </a:rPr>
                          </m:ctrlPr>
                        </m:naryPr>
                        <m:sub/>
                        <m:sup/>
                        <m:e>
                          <m:r>
                            <a:rPr lang="en-US" altLang="en-US" sz="2400" i="1">
                              <a:latin typeface="Cambria Math"/>
                            </a:rPr>
                            <m:t>𝑃</m:t>
                          </m:r>
                          <m:d>
                            <m:dPr>
                              <m:endChr m:val="|"/>
                              <m:ctrlPr>
                                <a:rPr lang="en-US" altLang="en-US" sz="2400" i="1">
                                  <a:latin typeface="Cambria Math" panose="02040503050406030204" pitchFamily="18" charset="0"/>
                                </a:rPr>
                              </m:ctrlPr>
                            </m:dPr>
                            <m:e>
                              <m:r>
                                <a:rPr lang="en-US" altLang="en-US" sz="2400" i="1">
                                  <a:latin typeface="Cambria Math"/>
                                </a:rPr>
                                <m:t>𝑗</m:t>
                              </m:r>
                              <m:r>
                                <a:rPr lang="en-US" altLang="en-US" sz="2400" i="1">
                                  <a:latin typeface="Cambria Math"/>
                                </a:rPr>
                                <m:t> </m:t>
                              </m:r>
                            </m:e>
                          </m:d>
                          <m:r>
                            <a:rPr lang="en-US" altLang="en-US" sz="2400" i="1">
                              <a:latin typeface="Cambria Math"/>
                            </a:rPr>
                            <m:t>𝑡</m:t>
                          </m:r>
                          <m:r>
                            <a:rPr lang="en-US" altLang="en-US" sz="2400" i="1">
                              <a:latin typeface="Cambria Math"/>
                            </a:rPr>
                            <m:t>)</m:t>
                          </m:r>
                          <m:func>
                            <m:funcPr>
                              <m:ctrlPr>
                                <a:rPr lang="en-US" altLang="en-US" sz="2400" i="1">
                                  <a:latin typeface="Cambria Math" panose="02040503050406030204" pitchFamily="18" charset="0"/>
                                </a:rPr>
                              </m:ctrlPr>
                            </m:funcPr>
                            <m:fName>
                              <m:r>
                                <m:rPr>
                                  <m:sty m:val="p"/>
                                </m:rPr>
                                <a:rPr lang="en-US" altLang="en-US" sz="2400">
                                  <a:latin typeface="Cambria Math"/>
                                </a:rPr>
                                <m:t>log</m:t>
                              </m:r>
                            </m:fName>
                            <m:e>
                              <m:r>
                                <a:rPr lang="en-US" altLang="en-US" sz="2400" i="1">
                                  <a:latin typeface="Cambria Math"/>
                                </a:rPr>
                                <m:t>𝑃</m:t>
                              </m:r>
                              <m:d>
                                <m:dPr>
                                  <m:endChr m:val="|"/>
                                  <m:ctrlPr>
                                    <a:rPr lang="en-US" altLang="en-US" sz="2400" i="1">
                                      <a:latin typeface="Cambria Math" panose="02040503050406030204" pitchFamily="18" charset="0"/>
                                    </a:rPr>
                                  </m:ctrlPr>
                                </m:dPr>
                                <m:e>
                                  <m:r>
                                    <a:rPr lang="en-US" altLang="en-US" sz="2400" i="1">
                                      <a:latin typeface="Cambria Math"/>
                                    </a:rPr>
                                    <m:t>𝑗</m:t>
                                  </m:r>
                                  <m:r>
                                    <a:rPr lang="en-US" altLang="en-US" sz="2400" i="1">
                                      <a:latin typeface="Cambria Math"/>
                                    </a:rPr>
                                    <m:t> </m:t>
                                  </m:r>
                                </m:e>
                              </m:d>
                              <m:r>
                                <a:rPr lang="en-US" altLang="en-US" sz="2400" i="1">
                                  <a:latin typeface="Cambria Math"/>
                                </a:rPr>
                                <m:t>𝑡</m:t>
                              </m:r>
                              <m:r>
                                <a:rPr lang="en-US" altLang="en-US" sz="2400" i="1">
                                  <a:latin typeface="Cambria Math"/>
                                </a:rPr>
                                <m:t>)</m:t>
                              </m:r>
                            </m:e>
                          </m:func>
                        </m:e>
                      </m:nary>
                    </m:oMath>
                  </m:oMathPara>
                </a14:m>
                <a:endParaRPr lang="en-US" altLang="en-US" sz="2400" dirty="0"/>
              </a:p>
            </p:txBody>
          </p:sp>
        </mc:Choice>
        <mc:Fallback xmlns="">
          <p:sp>
            <p:nvSpPr>
              <p:cNvPr id="9" name="Rectangle 8"/>
              <p:cNvSpPr>
                <a:spLocks noRot="1" noChangeAspect="1" noMove="1" noResize="1" noEditPoints="1" noAdjustHandles="1" noChangeArrowheads="1" noChangeShapeType="1" noTextEdit="1"/>
              </p:cNvSpPr>
              <p:nvPr/>
            </p:nvSpPr>
            <p:spPr>
              <a:xfrm>
                <a:off x="1905000" y="1353295"/>
                <a:ext cx="5413085" cy="986680"/>
              </a:xfrm>
              <a:prstGeom prst="rect">
                <a:avLst/>
              </a:prstGeom>
              <a:blipFill rotWithShape="1">
                <a:blip r:embed="rId10"/>
                <a:stretch>
                  <a:fillRect/>
                </a:stretch>
              </a:blipFill>
            </p:spPr>
            <p:txBody>
              <a:bodyPr/>
              <a:lstStyle/>
              <a:p>
                <a:r>
                  <a:rPr lang="en-US">
                    <a:noFill/>
                  </a:rPr>
                  <a:t> </a:t>
                </a:r>
              </a:p>
            </p:txBody>
          </p:sp>
        </mc:Fallback>
      </mc:AlternateContent>
      <p:grpSp>
        <p:nvGrpSpPr>
          <p:cNvPr id="10" name="Group 22"/>
          <p:cNvGrpSpPr>
            <a:grpSpLocks/>
          </p:cNvGrpSpPr>
          <p:nvPr/>
        </p:nvGrpSpPr>
        <p:grpSpPr bwMode="auto">
          <a:xfrm>
            <a:off x="381000" y="6400800"/>
            <a:ext cx="8382000" cy="304800"/>
            <a:chOff x="288" y="3408"/>
            <a:chExt cx="5280" cy="192"/>
          </a:xfrm>
        </p:grpSpPr>
        <p:sp>
          <p:nvSpPr>
            <p:cNvPr id="11"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36</a:t>
              </a:fld>
              <a:r>
                <a:rPr lang="en-US" altLang="en-US" sz="1200" b="0" dirty="0"/>
                <a:t> </a:t>
              </a:r>
            </a:p>
          </p:txBody>
        </p:sp>
      </p:grpSp>
    </p:spTree>
    <p:extLst>
      <p:ext uri="{BB962C8B-B14F-4D97-AF65-F5344CB8AC3E}">
        <p14:creationId xmlns:p14="http://schemas.microsoft.com/office/powerpoint/2010/main" val="3193197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90500"/>
            <a:ext cx="8915400" cy="1143000"/>
          </a:xfrm>
        </p:spPr>
        <p:txBody>
          <a:bodyPr>
            <a:normAutofit/>
          </a:bodyPr>
          <a:lstStyle/>
          <a:p>
            <a:r>
              <a:rPr lang="en-US" dirty="0">
                <a:latin typeface="Times New Roman" panose="02020603050405020304" pitchFamily="18" charset="0"/>
                <a:cs typeface="Times New Roman" panose="02020603050405020304" pitchFamily="18" charset="0"/>
              </a:rPr>
              <a:t>Splitting on Information Gain</a:t>
            </a:r>
          </a:p>
        </p:txBody>
      </p:sp>
      <p:sp>
        <p:nvSpPr>
          <p:cNvPr id="8" name="Slide Number Placeholder 7"/>
          <p:cNvSpPr>
            <a:spLocks noGrp="1"/>
          </p:cNvSpPr>
          <p:nvPr>
            <p:ph type="sldNum" sz="quarter" idx="12"/>
          </p:nvPr>
        </p:nvSpPr>
        <p:spPr/>
        <p:txBody>
          <a:bodyPr/>
          <a:lstStyle/>
          <a:p>
            <a:fld id="{76F96C40-0356-46F5-90E5-FF57DE76D9A0}" type="slidenum">
              <a:rPr lang="en-US" smtClean="0"/>
              <a:t>37</a:t>
            </a:fld>
            <a:endParaRPr lang="en-US"/>
          </a:p>
        </p:txBody>
      </p:sp>
      <p:sp>
        <p:nvSpPr>
          <p:cNvPr id="3" name="Rectangle 3"/>
          <p:cNvSpPr txBox="1">
            <a:spLocks noChangeArrowheads="1"/>
          </p:cNvSpPr>
          <p:nvPr/>
        </p:nvSpPr>
        <p:spPr>
          <a:xfrm>
            <a:off x="381000" y="1143000"/>
            <a:ext cx="8382000" cy="4953000"/>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342900" indent="-342900"/>
            <a:r>
              <a:rPr lang="en-US" altLang="en-US" sz="2400" dirty="0">
                <a:latin typeface="Times New Roman" panose="02020603050405020304" pitchFamily="18" charset="0"/>
                <a:cs typeface="Times New Roman" panose="02020603050405020304" pitchFamily="18" charset="0"/>
              </a:rPr>
              <a:t>Information Gain: </a:t>
            </a:r>
          </a:p>
          <a:p>
            <a:pPr marL="742950" lvl="1" indent="-285750"/>
            <a:endParaRPr lang="en-US" altLang="en-US" dirty="0">
              <a:latin typeface="Times New Roman" panose="02020603050405020304" pitchFamily="18" charset="0"/>
              <a:cs typeface="Times New Roman" panose="02020603050405020304" pitchFamily="18" charset="0"/>
            </a:endParaRPr>
          </a:p>
          <a:p>
            <a:pPr marL="1146175" lvl="2">
              <a:buFont typeface="Wingdings" pitchFamily="2" charset="2"/>
              <a:buNone/>
            </a:pPr>
            <a:endParaRPr lang="en-US" altLang="en-US" sz="2400" dirty="0">
              <a:latin typeface="Times New Roman" panose="02020603050405020304" pitchFamily="18" charset="0"/>
              <a:cs typeface="Times New Roman" panose="02020603050405020304" pitchFamily="18" charset="0"/>
            </a:endParaRPr>
          </a:p>
          <a:p>
            <a:pPr marL="1146175" lvl="2">
              <a:buFont typeface="Wingdings" pitchFamily="2" charset="2"/>
              <a:buNone/>
            </a:pPr>
            <a:endParaRPr lang="en-US" altLang="en-US" sz="2400" dirty="0">
              <a:latin typeface="Times New Roman" panose="02020603050405020304" pitchFamily="18" charset="0"/>
              <a:cs typeface="Times New Roman" panose="02020603050405020304" pitchFamily="18" charset="0"/>
            </a:endParaRPr>
          </a:p>
          <a:p>
            <a:pPr marL="1146175" lvl="2">
              <a:buFont typeface="Wingdings" pitchFamily="2" charset="2"/>
              <a:buNone/>
            </a:pPr>
            <a:r>
              <a:rPr lang="en-US" altLang="en-US" sz="2400" dirty="0">
                <a:latin typeface="Times New Roman" panose="02020603050405020304" pitchFamily="18" charset="0"/>
                <a:cs typeface="Times New Roman" panose="02020603050405020304" pitchFamily="18" charset="0"/>
              </a:rPr>
              <a:t>		Parent Node, p is split into k partitions;</a:t>
            </a:r>
          </a:p>
          <a:p>
            <a:pPr marL="1146175" lvl="2">
              <a:buFont typeface="Wingdings" pitchFamily="2" charset="2"/>
              <a:buNone/>
            </a:pP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a:t>
            </a:r>
            <a:r>
              <a:rPr lang="en-US" altLang="en-US" sz="2400" baseline="-250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is number of records in partition </a:t>
            </a:r>
            <a:r>
              <a:rPr lang="en-US" altLang="en-US" sz="2400" dirty="0" err="1">
                <a:latin typeface="Times New Roman" panose="02020603050405020304" pitchFamily="18" charset="0"/>
                <a:cs typeface="Times New Roman" panose="02020603050405020304" pitchFamily="18" charset="0"/>
              </a:rPr>
              <a:t>i</a:t>
            </a:r>
            <a:endParaRPr lang="en-US" altLang="en-US" sz="2400" dirty="0">
              <a:latin typeface="Times New Roman" panose="02020603050405020304" pitchFamily="18" charset="0"/>
              <a:cs typeface="Times New Roman" panose="02020603050405020304" pitchFamily="18" charset="0"/>
            </a:endParaRPr>
          </a:p>
          <a:p>
            <a:pPr marL="742950" lvl="1" indent="-285750"/>
            <a:r>
              <a:rPr lang="en-US" altLang="en-US" dirty="0">
                <a:latin typeface="Times New Roman" panose="02020603050405020304" pitchFamily="18" charset="0"/>
                <a:cs typeface="Times New Roman" panose="02020603050405020304" pitchFamily="18" charset="0"/>
              </a:rPr>
              <a:t>Measures Reduction in Entropy achieved because of the split. Choose the split that achieves most reduction (maximizes GAIN)</a:t>
            </a:r>
          </a:p>
          <a:p>
            <a:pPr marL="742950" lvl="1" indent="-285750"/>
            <a:r>
              <a:rPr lang="en-US" altLang="en-US" dirty="0">
                <a:latin typeface="Times New Roman" panose="02020603050405020304" pitchFamily="18" charset="0"/>
                <a:cs typeface="Times New Roman" panose="02020603050405020304" pitchFamily="18" charset="0"/>
              </a:rPr>
              <a:t>Disadvantage: Tends to prefer splits that result in large number of partitions, each being small but pure.</a:t>
            </a:r>
          </a:p>
        </p:txBody>
      </p:sp>
      <mc:AlternateContent xmlns:mc="http://schemas.openxmlformats.org/markup-compatibility/2006" xmlns:a14="http://schemas.microsoft.com/office/drawing/2010/main">
        <mc:Choice Requires="a14">
          <p:sp>
            <p:nvSpPr>
              <p:cNvPr id="4" name="TextBox 3"/>
              <p:cNvSpPr txBox="1"/>
              <p:nvPr/>
            </p:nvSpPr>
            <p:spPr>
              <a:xfrm>
                <a:off x="1259875" y="1524000"/>
                <a:ext cx="6624249" cy="12813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𝐺𝐴𝐼𝑁</m:t>
                          </m:r>
                        </m:e>
                        <m:sub>
                          <m:r>
                            <a:rPr lang="en-US" sz="2400" b="0" i="1" smtClean="0">
                              <a:latin typeface="Cambria Math"/>
                            </a:rPr>
                            <m:t>𝑠𝑝𝑙𝑖𝑡</m:t>
                          </m:r>
                        </m:sub>
                      </m:sSub>
                      <m:r>
                        <a:rPr lang="en-US" sz="2400" b="0" i="1" smtClean="0">
                          <a:latin typeface="Cambria Math"/>
                        </a:rPr>
                        <m:t>=</m:t>
                      </m:r>
                      <m:r>
                        <a:rPr lang="en-US" sz="2400" b="0" i="1" smtClean="0">
                          <a:latin typeface="Cambria Math"/>
                        </a:rPr>
                        <m:t>𝐸𝑛𝑡𝑟𝑜𝑝𝑦</m:t>
                      </m:r>
                      <m:d>
                        <m:dPr>
                          <m:ctrlPr>
                            <a:rPr lang="en-US" sz="2400" b="0" i="1" smtClean="0">
                              <a:latin typeface="Cambria Math" panose="02040503050406030204" pitchFamily="18" charset="0"/>
                            </a:rPr>
                          </m:ctrlPr>
                        </m:dPr>
                        <m:e>
                          <m:r>
                            <a:rPr lang="en-US" sz="2400" b="0" i="1" smtClean="0">
                              <a:latin typeface="Cambria Math"/>
                            </a:rPr>
                            <m:t>𝑝</m:t>
                          </m:r>
                        </m:e>
                      </m:d>
                      <m:r>
                        <a:rPr lang="en-US" sz="2400" b="0" i="1" smtClean="0">
                          <a:latin typeface="Cambria Math"/>
                        </a:rPr>
                        <m:t>− </m:t>
                      </m:r>
                      <m:d>
                        <m:dPr>
                          <m:ctrlPr>
                            <a:rPr lang="en-US" sz="2400" b="0" i="1" smtClean="0">
                              <a:latin typeface="Cambria Math" panose="02040503050406030204" pitchFamily="18" charset="0"/>
                            </a:rPr>
                          </m:ctrlPr>
                        </m:dPr>
                        <m:e>
                          <m:nary>
                            <m:naryPr>
                              <m:chr m:val="∑"/>
                              <m:ctrlPr>
                                <a:rPr lang="en-US" sz="2400" b="0" i="1" smtClean="0">
                                  <a:latin typeface="Cambria Math" panose="02040503050406030204" pitchFamily="18" charset="0"/>
                                </a:rPr>
                              </m:ctrlPr>
                            </m:naryPr>
                            <m:sub>
                              <m:r>
                                <m:rPr>
                                  <m:brk m:alnAt="23"/>
                                </m:rPr>
                                <a:rPr lang="en-US" sz="2400" b="0" i="1" smtClean="0">
                                  <a:latin typeface="Cambria Math"/>
                                </a:rPr>
                                <m:t>𝑖</m:t>
                              </m:r>
                              <m:r>
                                <a:rPr lang="en-US" sz="2400" b="0" i="1" smtClean="0">
                                  <a:latin typeface="Cambria Math"/>
                                </a:rPr>
                                <m:t>=1</m:t>
                              </m:r>
                            </m:sub>
                            <m:sup>
                              <m:r>
                                <a:rPr lang="en-US" sz="2400" b="0" i="1" smtClean="0">
                                  <a:latin typeface="Cambria Math"/>
                                </a:rPr>
                                <m:t>𝑘</m:t>
                              </m:r>
                            </m:sup>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𝑛</m:t>
                                      </m:r>
                                    </m:e>
                                    <m:sub>
                                      <m:r>
                                        <a:rPr lang="en-US" sz="2400" b="0" i="1" smtClean="0">
                                          <a:latin typeface="Cambria Math"/>
                                        </a:rPr>
                                        <m:t>𝑖</m:t>
                                      </m:r>
                                    </m:sub>
                                  </m:sSub>
                                </m:num>
                                <m:den>
                                  <m:r>
                                    <a:rPr lang="en-US" sz="2400" b="0" i="1" smtClean="0">
                                      <a:latin typeface="Cambria Math"/>
                                    </a:rPr>
                                    <m:t>𝑛</m:t>
                                  </m:r>
                                </m:den>
                              </m:f>
                              <m:r>
                                <a:rPr lang="en-US" sz="2400" b="0" i="1" smtClean="0">
                                  <a:latin typeface="Cambria Math"/>
                                </a:rPr>
                                <m:t>𝐸𝑛𝑡𝑟𝑜𝑝𝑦</m:t>
                              </m:r>
                              <m:r>
                                <a:rPr lang="en-US" sz="2400" b="0" i="1" smtClean="0">
                                  <a:latin typeface="Cambria Math"/>
                                </a:rPr>
                                <m:t>(</m:t>
                              </m:r>
                              <m:r>
                                <a:rPr lang="en-US" sz="2400" b="0" i="1" smtClean="0">
                                  <a:latin typeface="Cambria Math"/>
                                </a:rPr>
                                <m:t>𝑖</m:t>
                              </m:r>
                              <m:r>
                                <a:rPr lang="en-US" sz="2400" b="0" i="1" smtClean="0">
                                  <a:latin typeface="Cambria Math"/>
                                </a:rPr>
                                <m:t>)</m:t>
                              </m:r>
                            </m:e>
                          </m:nary>
                        </m:e>
                      </m:d>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1259875" y="1524000"/>
                <a:ext cx="6624249" cy="1281376"/>
              </a:xfrm>
              <a:prstGeom prst="rect">
                <a:avLst/>
              </a:prstGeom>
              <a:blipFill rotWithShape="1">
                <a:blip r:embed="rId3"/>
                <a:stretch>
                  <a:fillRect/>
                </a:stretch>
              </a:blipFill>
            </p:spPr>
            <p:txBody>
              <a:bodyPr/>
              <a:lstStyle/>
              <a:p>
                <a:r>
                  <a:rPr lang="en-US">
                    <a:noFill/>
                  </a:rPr>
                  <a:t> </a:t>
                </a:r>
              </a:p>
            </p:txBody>
          </p:sp>
        </mc:Fallback>
      </mc:AlternateContent>
      <p:grpSp>
        <p:nvGrpSpPr>
          <p:cNvPr id="5" name="Group 22"/>
          <p:cNvGrpSpPr>
            <a:grpSpLocks/>
          </p:cNvGrpSpPr>
          <p:nvPr/>
        </p:nvGrpSpPr>
        <p:grpSpPr bwMode="auto">
          <a:xfrm>
            <a:off x="381000" y="6400800"/>
            <a:ext cx="8382000" cy="304800"/>
            <a:chOff x="288" y="3408"/>
            <a:chExt cx="5280" cy="192"/>
          </a:xfrm>
        </p:grpSpPr>
        <p:sp>
          <p:nvSpPr>
            <p:cNvPr id="6"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37</a:t>
              </a:fld>
              <a:r>
                <a:rPr lang="en-US" altLang="en-US" sz="1200" b="0" dirty="0"/>
                <a:t> </a:t>
              </a:r>
            </a:p>
          </p:txBody>
        </p:sp>
      </p:grpSp>
    </p:spTree>
    <p:extLst>
      <p:ext uri="{BB962C8B-B14F-4D97-AF65-F5344CB8AC3E}">
        <p14:creationId xmlns:p14="http://schemas.microsoft.com/office/powerpoint/2010/main" val="134182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8438" y="328049"/>
            <a:ext cx="7239000" cy="1280890"/>
          </a:xfrm>
        </p:spPr>
        <p:txBody>
          <a:bodyPr>
            <a:normAutofit/>
          </a:bodyPr>
          <a:lstStyle/>
          <a:p>
            <a:r>
              <a:rPr lang="en-US" dirty="0">
                <a:latin typeface="Times New Roman" panose="02020603050405020304" pitchFamily="18" charset="0"/>
                <a:cs typeface="Times New Roman" panose="02020603050405020304" pitchFamily="18" charset="0"/>
              </a:rPr>
              <a:t>Splitting on Information Gain (2)</a:t>
            </a:r>
          </a:p>
        </p:txBody>
      </p:sp>
      <p:sp>
        <p:nvSpPr>
          <p:cNvPr id="9" name="Slide Number Placeholder 8"/>
          <p:cNvSpPr>
            <a:spLocks noGrp="1"/>
          </p:cNvSpPr>
          <p:nvPr>
            <p:ph type="sldNum" sz="quarter" idx="12"/>
          </p:nvPr>
        </p:nvSpPr>
        <p:spPr/>
        <p:txBody>
          <a:bodyPr/>
          <a:lstStyle/>
          <a:p>
            <a:fld id="{76F96C40-0356-46F5-90E5-FF57DE76D9A0}" type="slidenum">
              <a:rPr lang="en-US" smtClean="0"/>
              <a:t>38</a:t>
            </a:fld>
            <a:endParaRPr lang="en-US"/>
          </a:p>
        </p:txBody>
      </p:sp>
      <p:sp>
        <p:nvSpPr>
          <p:cNvPr id="3" name="Rectangle 3"/>
          <p:cNvSpPr txBox="1">
            <a:spLocks noChangeArrowheads="1"/>
          </p:cNvSpPr>
          <p:nvPr/>
        </p:nvSpPr>
        <p:spPr>
          <a:xfrm>
            <a:off x="415636" y="1447800"/>
            <a:ext cx="8382000" cy="4953000"/>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342900" indent="-342900">
              <a:lnSpc>
                <a:spcPct val="90000"/>
              </a:lnSpc>
            </a:pPr>
            <a:r>
              <a:rPr lang="en-US" altLang="en-US" sz="2200" dirty="0">
                <a:latin typeface="Times New Roman" panose="02020603050405020304" pitchFamily="18" charset="0"/>
                <a:cs typeface="Times New Roman" panose="02020603050405020304" pitchFamily="18" charset="0"/>
              </a:rPr>
              <a:t>Gain Ratio: </a:t>
            </a:r>
          </a:p>
          <a:p>
            <a:pPr marL="742950" lvl="1" indent="-285750">
              <a:lnSpc>
                <a:spcPct val="90000"/>
              </a:lnSpc>
            </a:pPr>
            <a:endParaRPr lang="en-US" altLang="en-US" sz="2200" dirty="0">
              <a:latin typeface="Times New Roman" panose="02020603050405020304" pitchFamily="18" charset="0"/>
              <a:cs typeface="Times New Roman" panose="02020603050405020304" pitchFamily="18" charset="0"/>
            </a:endParaRPr>
          </a:p>
          <a:p>
            <a:pPr marL="742950" lvl="1" indent="-285750">
              <a:lnSpc>
                <a:spcPct val="90000"/>
              </a:lnSpc>
            </a:pPr>
            <a:endParaRPr lang="en-US" altLang="en-US" sz="2200" dirty="0">
              <a:latin typeface="Times New Roman" panose="02020603050405020304" pitchFamily="18" charset="0"/>
              <a:cs typeface="Times New Roman" panose="02020603050405020304" pitchFamily="18" charset="0"/>
            </a:endParaRPr>
          </a:p>
          <a:p>
            <a:pPr marL="1146175" lvl="2">
              <a:lnSpc>
                <a:spcPct val="90000"/>
              </a:lnSpc>
            </a:pPr>
            <a:endParaRPr lang="en-US" altLang="en-US" dirty="0">
              <a:latin typeface="Times New Roman" panose="02020603050405020304" pitchFamily="18" charset="0"/>
              <a:cs typeface="Times New Roman" panose="02020603050405020304" pitchFamily="18" charset="0"/>
            </a:endParaRPr>
          </a:p>
          <a:p>
            <a:pPr marL="1146175" lvl="2">
              <a:lnSpc>
                <a:spcPct val="90000"/>
              </a:lnSpc>
            </a:pPr>
            <a:endParaRPr lang="en-US" altLang="en-US" dirty="0">
              <a:latin typeface="Times New Roman" panose="02020603050405020304" pitchFamily="18" charset="0"/>
              <a:cs typeface="Times New Roman" panose="02020603050405020304" pitchFamily="18" charset="0"/>
            </a:endParaRPr>
          </a:p>
          <a:p>
            <a:pPr marL="1146175" lvl="2">
              <a:lnSpc>
                <a:spcPct val="90000"/>
              </a:lnSpc>
              <a:buFont typeface="Wingdings" pitchFamily="2" charset="2"/>
              <a:buNone/>
            </a:pPr>
            <a:r>
              <a:rPr lang="en-US" altLang="en-US" dirty="0">
                <a:latin typeface="Times New Roman" panose="02020603050405020304" pitchFamily="18" charset="0"/>
                <a:cs typeface="Times New Roman" panose="02020603050405020304" pitchFamily="18" charset="0"/>
              </a:rPr>
              <a:t>Parent Node, p is split into k partitions</a:t>
            </a:r>
          </a:p>
          <a:p>
            <a:pPr marL="1146175" lvl="2">
              <a:lnSpc>
                <a:spcPct val="90000"/>
              </a:lnSpc>
              <a:buFont typeface="Wingdings" pitchFamily="2" charset="2"/>
              <a:buNone/>
            </a:pPr>
            <a:r>
              <a:rPr lang="en-US" altLang="en-US" dirty="0" err="1">
                <a:latin typeface="Times New Roman" panose="02020603050405020304" pitchFamily="18" charset="0"/>
                <a:cs typeface="Times New Roman" panose="02020603050405020304" pitchFamily="18" charset="0"/>
              </a:rPr>
              <a:t>n</a:t>
            </a:r>
            <a:r>
              <a:rPr lang="en-US" altLang="en-US" baseline="-25000" dirty="0" err="1">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is the number of records in partition </a:t>
            </a:r>
            <a:r>
              <a:rPr lang="en-US" altLang="en-US" dirty="0" err="1">
                <a:latin typeface="Times New Roman" panose="02020603050405020304" pitchFamily="18" charset="0"/>
                <a:cs typeface="Times New Roman" panose="02020603050405020304" pitchFamily="18" charset="0"/>
              </a:rPr>
              <a:t>i</a:t>
            </a:r>
            <a:endParaRPr lang="en-US" altLang="en-US" dirty="0">
              <a:latin typeface="Times New Roman" panose="02020603050405020304" pitchFamily="18" charset="0"/>
              <a:cs typeface="Times New Roman" panose="02020603050405020304" pitchFamily="18" charset="0"/>
            </a:endParaRPr>
          </a:p>
          <a:p>
            <a:pPr marL="1146175" lvl="2">
              <a:lnSpc>
                <a:spcPct val="90000"/>
              </a:lnSpc>
              <a:buFont typeface="Wingdings" pitchFamily="2" charset="2"/>
              <a:buNone/>
            </a:pPr>
            <a:endParaRPr lang="en-US" altLang="en-US" dirty="0">
              <a:latin typeface="Times New Roman" panose="02020603050405020304" pitchFamily="18" charset="0"/>
              <a:cs typeface="Times New Roman" panose="02020603050405020304" pitchFamily="18" charset="0"/>
            </a:endParaRPr>
          </a:p>
          <a:p>
            <a:pPr marL="742950" lvl="1" indent="-285750">
              <a:lnSpc>
                <a:spcPct val="90000"/>
              </a:lnSpc>
            </a:pPr>
            <a:r>
              <a:rPr lang="en-US" altLang="en-US" sz="2200" dirty="0">
                <a:latin typeface="Times New Roman" panose="02020603050405020304" pitchFamily="18" charset="0"/>
                <a:cs typeface="Times New Roman" panose="02020603050405020304" pitchFamily="18" charset="0"/>
              </a:rPr>
              <a:t>Adjusts Information Gain by the entropy of the partitioning (</a:t>
            </a:r>
            <a:r>
              <a:rPr lang="en-US" altLang="en-US" sz="2200" dirty="0" err="1">
                <a:latin typeface="Times New Roman" panose="02020603050405020304" pitchFamily="18" charset="0"/>
                <a:cs typeface="Times New Roman" panose="02020603050405020304" pitchFamily="18" charset="0"/>
              </a:rPr>
              <a:t>SplitINFO</a:t>
            </a:r>
            <a:r>
              <a:rPr lang="en-US" altLang="en-US" sz="2200" dirty="0">
                <a:latin typeface="Times New Roman" panose="02020603050405020304" pitchFamily="18" charset="0"/>
                <a:cs typeface="Times New Roman" panose="02020603050405020304" pitchFamily="18" charset="0"/>
              </a:rPr>
              <a:t>). Higher entropy partitioning (large number of small partitions) is penalized!</a:t>
            </a:r>
          </a:p>
          <a:p>
            <a:pPr marL="742950" lvl="1" indent="-285750">
              <a:lnSpc>
                <a:spcPct val="90000"/>
              </a:lnSpc>
            </a:pPr>
            <a:r>
              <a:rPr lang="en-US" altLang="en-US" sz="2200" dirty="0">
                <a:latin typeface="Times New Roman" panose="02020603050405020304" pitchFamily="18" charset="0"/>
                <a:cs typeface="Times New Roman" panose="02020603050405020304" pitchFamily="18" charset="0"/>
              </a:rPr>
              <a:t>Used in C4.5</a:t>
            </a:r>
          </a:p>
          <a:p>
            <a:pPr marL="742950" lvl="1" indent="-285750">
              <a:lnSpc>
                <a:spcPct val="90000"/>
              </a:lnSpc>
            </a:pPr>
            <a:r>
              <a:rPr lang="en-US" altLang="en-US" sz="2200" dirty="0">
                <a:latin typeface="Times New Roman" panose="02020603050405020304" pitchFamily="18" charset="0"/>
                <a:cs typeface="Times New Roman" panose="02020603050405020304" pitchFamily="18" charset="0"/>
              </a:rPr>
              <a:t>Designed to overcome the disadvantage of Information Gain</a:t>
            </a:r>
          </a:p>
        </p:txBody>
      </p:sp>
      <p:grpSp>
        <p:nvGrpSpPr>
          <p:cNvPr id="4" name="Group 22"/>
          <p:cNvGrpSpPr>
            <a:grpSpLocks/>
          </p:cNvGrpSpPr>
          <p:nvPr/>
        </p:nvGrpSpPr>
        <p:grpSpPr bwMode="auto">
          <a:xfrm>
            <a:off x="381000" y="6400800"/>
            <a:ext cx="8382000" cy="304800"/>
            <a:chOff x="288" y="3408"/>
            <a:chExt cx="5280" cy="192"/>
          </a:xfrm>
        </p:grpSpPr>
        <p:sp>
          <p:nvSpPr>
            <p:cNvPr id="5"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38</a:t>
              </a:fld>
              <a:r>
                <a:rPr lang="en-US" altLang="en-US" sz="1200" b="0" dirty="0"/>
                <a:t> </a:t>
              </a:r>
            </a:p>
          </p:txBody>
        </p:sp>
      </p:grpSp>
      <mc:AlternateContent xmlns:mc="http://schemas.openxmlformats.org/markup-compatibility/2006" xmlns:a14="http://schemas.microsoft.com/office/drawing/2010/main">
        <mc:Choice Requires="a14">
          <p:sp>
            <p:nvSpPr>
              <p:cNvPr id="7" name="TextBox 6"/>
              <p:cNvSpPr txBox="1"/>
              <p:nvPr/>
            </p:nvSpPr>
            <p:spPr>
              <a:xfrm>
                <a:off x="374073" y="2050473"/>
                <a:ext cx="4178708" cy="857864"/>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𝐺𝑎𝑖𝑛𝑅𝐴𝑇𝐼𝑂</m:t>
                          </m:r>
                        </m:e>
                        <m:sub>
                          <m:r>
                            <a:rPr lang="en-US" sz="2400" b="0" i="1" smtClean="0">
                              <a:latin typeface="Cambria Math"/>
                            </a:rPr>
                            <m:t>𝑠𝑝𝑙𝑖𝑡</m:t>
                          </m:r>
                        </m:sub>
                      </m:sSub>
                      <m:r>
                        <a:rPr lang="en-US" sz="2400" b="0" i="1" smtClean="0">
                          <a:latin typeface="Cambria Math"/>
                        </a:rPr>
                        <m:t>= </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𝐺𝐴𝐼𝑁</m:t>
                              </m:r>
                            </m:e>
                            <m:sub>
                              <m:r>
                                <a:rPr lang="en-US" sz="2400" b="0" i="1" smtClean="0">
                                  <a:latin typeface="Cambria Math"/>
                                </a:rPr>
                                <m:t>𝑠𝑝𝑙𝑖𝑡</m:t>
                              </m:r>
                            </m:sub>
                          </m:sSub>
                        </m:num>
                        <m:den>
                          <m:r>
                            <a:rPr lang="en-US" sz="2400" b="0" i="1" smtClean="0">
                              <a:latin typeface="Cambria Math"/>
                            </a:rPr>
                            <m:t>𝑆𝑝𝑙𝑖𝑡𝐼𝑁𝐹𝑂</m:t>
                          </m:r>
                        </m:den>
                      </m:f>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374073" y="2050473"/>
                <a:ext cx="4178708" cy="857864"/>
              </a:xfrm>
              <a:prstGeom prst="rect">
                <a:avLst/>
              </a:prstGeom>
              <a:blipFill rotWithShape="1">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789412" y="1910275"/>
                <a:ext cx="3973588" cy="1138260"/>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𝑆𝑝𝑙𝑖𝑡𝐼𝑁𝐹𝑂</m:t>
                      </m:r>
                      <m:r>
                        <a:rPr lang="en-US" sz="2400" b="0" i="1" smtClean="0">
                          <a:latin typeface="Cambria Math"/>
                        </a:rPr>
                        <m:t>=−</m:t>
                      </m:r>
                      <m:nary>
                        <m:naryPr>
                          <m:chr m:val="∑"/>
                          <m:ctrlPr>
                            <a:rPr lang="en-US" sz="2400" b="0" i="1" smtClean="0">
                              <a:latin typeface="Cambria Math" panose="02040503050406030204" pitchFamily="18" charset="0"/>
                            </a:rPr>
                          </m:ctrlPr>
                        </m:naryPr>
                        <m:sub>
                          <m:r>
                            <m:rPr>
                              <m:brk m:alnAt="23"/>
                            </m:rPr>
                            <a:rPr lang="en-US" sz="2400" b="0" i="1" smtClean="0">
                              <a:latin typeface="Cambria Math"/>
                            </a:rPr>
                            <m:t>𝑖</m:t>
                          </m:r>
                          <m:r>
                            <a:rPr lang="en-US" sz="2400" b="0" i="1" smtClean="0">
                              <a:latin typeface="Cambria Math"/>
                            </a:rPr>
                            <m:t>=1</m:t>
                          </m:r>
                        </m:sub>
                        <m:sup>
                          <m:r>
                            <a:rPr lang="en-US" sz="2400" b="0" i="1" smtClean="0">
                              <a:latin typeface="Cambria Math"/>
                            </a:rPr>
                            <m:t>𝑘</m:t>
                          </m:r>
                        </m:sup>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𝑛</m:t>
                                  </m:r>
                                </m:e>
                                <m:sub>
                                  <m:r>
                                    <a:rPr lang="en-US" sz="2400" b="0" i="1" smtClean="0">
                                      <a:latin typeface="Cambria Math"/>
                                    </a:rPr>
                                    <m:t>𝑖</m:t>
                                  </m:r>
                                </m:sub>
                              </m:sSub>
                            </m:num>
                            <m:den>
                              <m:r>
                                <a:rPr lang="en-US" sz="2400" b="0" i="1" smtClean="0">
                                  <a:latin typeface="Cambria Math"/>
                                </a:rPr>
                                <m:t>𝑛</m:t>
                              </m:r>
                            </m:den>
                          </m:f>
                          <m:r>
                            <a:rPr lang="en-US" sz="2400" b="0" i="1" smtClean="0">
                              <a:latin typeface="Cambria Math"/>
                            </a:rPr>
                            <m:t>𝐿𝑜𝑔</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𝑛</m:t>
                                  </m:r>
                                </m:e>
                                <m:sub>
                                  <m:r>
                                    <a:rPr lang="en-US" sz="2400" b="0" i="1" smtClean="0">
                                      <a:latin typeface="Cambria Math"/>
                                    </a:rPr>
                                    <m:t>𝑖</m:t>
                                  </m:r>
                                </m:sub>
                              </m:sSub>
                            </m:num>
                            <m:den>
                              <m:r>
                                <a:rPr lang="en-US" sz="2400" b="0" i="1" smtClean="0">
                                  <a:latin typeface="Cambria Math"/>
                                </a:rPr>
                                <m:t>𝑛</m:t>
                              </m:r>
                            </m:den>
                          </m:f>
                        </m:e>
                      </m:nary>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4789412" y="1910275"/>
                <a:ext cx="3973588" cy="1138260"/>
              </a:xfrm>
              <a:prstGeom prst="rect">
                <a:avLst/>
              </a:prstGeom>
              <a:blipFill rotWithShape="1">
                <a:blip r:embed="rId4"/>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234262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300" y="26429"/>
            <a:ext cx="8229600" cy="944562"/>
          </a:xfrm>
        </p:spPr>
        <p:txBody>
          <a:bodyPr>
            <a:normAutofit/>
          </a:bodyPr>
          <a:lstStyle/>
          <a:p>
            <a:r>
              <a:rPr lang="en-US" dirty="0">
                <a:latin typeface="Times New Roman" panose="02020603050405020304" pitchFamily="18" charset="0"/>
                <a:cs typeface="Times New Roman" panose="02020603050405020304" pitchFamily="18" charset="0"/>
              </a:rPr>
              <a:t>Splitting on Classification Error</a:t>
            </a:r>
          </a:p>
        </p:txBody>
      </p:sp>
      <p:sp>
        <p:nvSpPr>
          <p:cNvPr id="9" name="Slide Number Placeholder 8"/>
          <p:cNvSpPr>
            <a:spLocks noGrp="1"/>
          </p:cNvSpPr>
          <p:nvPr>
            <p:ph type="sldNum" sz="quarter" idx="12"/>
          </p:nvPr>
        </p:nvSpPr>
        <p:spPr/>
        <p:txBody>
          <a:bodyPr/>
          <a:lstStyle/>
          <a:p>
            <a:fld id="{76F96C40-0356-46F5-90E5-FF57DE76D9A0}" type="slidenum">
              <a:rPr lang="en-US" smtClean="0"/>
              <a:t>39</a:t>
            </a:fld>
            <a:endParaRPr lang="en-US"/>
          </a:p>
        </p:txBody>
      </p:sp>
      <p:sp>
        <p:nvSpPr>
          <p:cNvPr id="3" name="Rectangle 3"/>
          <p:cNvSpPr txBox="1">
            <a:spLocks noChangeArrowheads="1"/>
          </p:cNvSpPr>
          <p:nvPr/>
        </p:nvSpPr>
        <p:spPr>
          <a:xfrm>
            <a:off x="691400" y="1071577"/>
            <a:ext cx="8318500" cy="3081635"/>
          </a:xfrm>
          <a:prstGeom prst="rect">
            <a:avLst/>
          </a:prstGeom>
        </p:spPr>
        <p:txBody>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342900" indent="-342900"/>
            <a:r>
              <a:rPr lang="en-US" altLang="en-US" dirty="0">
                <a:latin typeface="Times New Roman" panose="02020603050405020304" pitchFamily="18" charset="0"/>
                <a:cs typeface="Times New Roman" panose="02020603050405020304" pitchFamily="18" charset="0"/>
              </a:rPr>
              <a:t>Classification error at a node t :</a:t>
            </a:r>
          </a:p>
          <a:p>
            <a:pPr marL="342900" indent="-342900"/>
            <a:endParaRPr lang="en-US" altLang="en-US" sz="2400" dirty="0">
              <a:latin typeface="Times New Roman" panose="02020603050405020304" pitchFamily="18" charset="0"/>
              <a:cs typeface="Times New Roman" panose="02020603050405020304" pitchFamily="18" charset="0"/>
            </a:endParaRPr>
          </a:p>
          <a:p>
            <a:pPr marL="342900" indent="-342900"/>
            <a:r>
              <a:rPr lang="en-US" altLang="en-US" sz="2400" dirty="0">
                <a:latin typeface="Times New Roman" panose="02020603050405020304" pitchFamily="18" charset="0"/>
                <a:cs typeface="Times New Roman" panose="02020603050405020304" pitchFamily="18" charset="0"/>
              </a:rPr>
              <a:t>Measures misclassification error made by a node. </a:t>
            </a:r>
          </a:p>
          <a:p>
            <a:pPr marL="1085850" lvl="2"/>
            <a:r>
              <a:rPr lang="en-US" altLang="en-US" sz="2000" dirty="0">
                <a:latin typeface="Times New Roman" panose="02020603050405020304" pitchFamily="18" charset="0"/>
                <a:cs typeface="Times New Roman" panose="02020603050405020304" pitchFamily="18" charset="0"/>
              </a:rPr>
              <a:t>Maximum , when records are equally distributed among all classes, implying least interesting information</a:t>
            </a:r>
          </a:p>
          <a:p>
            <a:pPr marL="1085850" lvl="2"/>
            <a:r>
              <a:rPr lang="en-US" altLang="en-US" sz="2000" dirty="0">
                <a:latin typeface="Times New Roman" panose="02020603050405020304" pitchFamily="18" charset="0"/>
                <a:cs typeface="Times New Roman" panose="02020603050405020304" pitchFamily="18" charset="0"/>
              </a:rPr>
              <a:t>Minimum (0.0) when all records belong to one class, implying most interesting information</a:t>
            </a:r>
          </a:p>
        </p:txBody>
      </p:sp>
      <p:grpSp>
        <p:nvGrpSpPr>
          <p:cNvPr id="4" name="Group 22"/>
          <p:cNvGrpSpPr>
            <a:grpSpLocks/>
          </p:cNvGrpSpPr>
          <p:nvPr/>
        </p:nvGrpSpPr>
        <p:grpSpPr bwMode="auto">
          <a:xfrm>
            <a:off x="551065" y="6324600"/>
            <a:ext cx="8455025" cy="304800"/>
            <a:chOff x="301" y="3117"/>
            <a:chExt cx="5326" cy="192"/>
          </a:xfrm>
        </p:grpSpPr>
        <p:sp>
          <p:nvSpPr>
            <p:cNvPr id="5" name="Rectangle 23"/>
            <p:cNvSpPr>
              <a:spLocks noChangeArrowheads="1"/>
            </p:cNvSpPr>
            <p:nvPr/>
          </p:nvSpPr>
          <p:spPr bwMode="auto">
            <a:xfrm>
              <a:off x="301" y="3117"/>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4"/>
            <p:cNvSpPr>
              <a:spLocks noChangeArrowheads="1"/>
            </p:cNvSpPr>
            <p:nvPr/>
          </p:nvSpPr>
          <p:spPr bwMode="auto">
            <a:xfrm>
              <a:off x="358" y="3133"/>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39</a:t>
              </a:fld>
              <a:r>
                <a:rPr lang="en-US" altLang="en-US" sz="1200" b="0" dirty="0"/>
                <a:t> </a:t>
              </a:r>
            </a:p>
          </p:txBody>
        </p:sp>
      </p:grpSp>
      <mc:AlternateContent xmlns:mc="http://schemas.openxmlformats.org/markup-compatibility/2006" xmlns:a14="http://schemas.microsoft.com/office/drawing/2010/main">
        <mc:Choice Requires="a14">
          <p:sp>
            <p:nvSpPr>
              <p:cNvPr id="7" name="TextBox 6"/>
              <p:cNvSpPr txBox="1"/>
              <p:nvPr/>
            </p:nvSpPr>
            <p:spPr>
              <a:xfrm>
                <a:off x="1891114" y="1600200"/>
                <a:ext cx="38974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𝐸𝑟𝑟𝑜𝑟</m:t>
                      </m:r>
                      <m:d>
                        <m:dPr>
                          <m:ctrlPr>
                            <a:rPr lang="en-US" sz="2400" b="0" i="1" smtClean="0">
                              <a:latin typeface="Cambria Math" panose="02040503050406030204" pitchFamily="18" charset="0"/>
                            </a:rPr>
                          </m:ctrlPr>
                        </m:dPr>
                        <m:e>
                          <m:r>
                            <a:rPr lang="en-US" sz="2400" b="0" i="1" smtClean="0">
                              <a:latin typeface="Cambria Math"/>
                            </a:rPr>
                            <m:t>𝑡</m:t>
                          </m:r>
                        </m:e>
                      </m:d>
                      <m:r>
                        <a:rPr lang="en-US" sz="2400" b="0" i="1" smtClean="0">
                          <a:latin typeface="Cambria Math"/>
                        </a:rPr>
                        <m:t>=1−</m:t>
                      </m:r>
                      <m:func>
                        <m:funcPr>
                          <m:ctrlPr>
                            <a:rPr lang="en-US" sz="2400" b="0" i="1" smtClean="0">
                              <a:latin typeface="Cambria Math" panose="02040503050406030204" pitchFamily="18" charset="0"/>
                            </a:rPr>
                          </m:ctrlPr>
                        </m:funcPr>
                        <m:fName>
                          <m:r>
                            <m:rPr>
                              <m:sty m:val="p"/>
                            </m:rPr>
                            <a:rPr lang="en-US" sz="2400" b="0" i="0" smtClean="0">
                              <a:latin typeface="Cambria Math"/>
                            </a:rPr>
                            <m:t>max</m:t>
                          </m:r>
                        </m:fName>
                        <m:e>
                          <m:r>
                            <a:rPr lang="en-US" sz="2400" b="0" i="1" smtClean="0">
                              <a:latin typeface="Cambria Math"/>
                            </a:rPr>
                            <m:t>𝑃</m:t>
                          </m:r>
                          <m:d>
                            <m:dPr>
                              <m:endChr m:val="|"/>
                              <m:ctrlPr>
                                <a:rPr lang="en-US" sz="2400" b="0" i="1" smtClean="0">
                                  <a:latin typeface="Cambria Math" panose="02040503050406030204" pitchFamily="18" charset="0"/>
                                </a:rPr>
                              </m:ctrlPr>
                            </m:dPr>
                            <m:e>
                              <m:r>
                                <a:rPr lang="en-US" sz="2400" b="0" i="1" smtClean="0">
                                  <a:latin typeface="Cambria Math"/>
                                </a:rPr>
                                <m:t>𝑖</m:t>
                              </m:r>
                              <m:r>
                                <a:rPr lang="en-US" sz="2400" b="0" i="1" smtClean="0">
                                  <a:latin typeface="Cambria Math"/>
                                </a:rPr>
                                <m:t> </m:t>
                              </m:r>
                            </m:e>
                          </m:d>
                        </m:e>
                      </m:func>
                      <m:r>
                        <a:rPr lang="en-US" sz="2400" b="0" i="1" smtClean="0">
                          <a:latin typeface="Cambria Math"/>
                        </a:rPr>
                        <m:t>𝑡</m:t>
                      </m:r>
                      <m:r>
                        <a:rPr lang="en-US" sz="2400" b="0" i="1" smtClean="0">
                          <a:latin typeface="Cambria Math"/>
                        </a:rPr>
                        <m:t>)</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1891114" y="1600200"/>
                <a:ext cx="3897414" cy="461665"/>
              </a:xfrm>
              <a:prstGeom prst="rect">
                <a:avLst/>
              </a:prstGeom>
              <a:blipFill rotWithShape="1">
                <a:blip r:embed="rId3"/>
                <a:stretch>
                  <a:fillRect b="-17333"/>
                </a:stretch>
              </a:blipFill>
            </p:spPr>
            <p:txBody>
              <a:bodyPr/>
              <a:lstStyle/>
              <a:p>
                <a:r>
                  <a:rPr lang="en-US">
                    <a:noFill/>
                  </a:rPr>
                  <a:t> </a:t>
                </a:r>
              </a:p>
            </p:txBody>
          </p:sp>
        </mc:Fallback>
      </mc:AlternateContent>
    </p:spTree>
    <p:extLst>
      <p:ext uri="{BB962C8B-B14F-4D97-AF65-F5344CB8AC3E}">
        <p14:creationId xmlns:p14="http://schemas.microsoft.com/office/powerpoint/2010/main" val="106135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043" y="540117"/>
            <a:ext cx="7409938" cy="1280890"/>
          </a:xfrm>
        </p:spPr>
        <p:txBody>
          <a:bodyPr>
            <a:normAutofit/>
          </a:bodyPr>
          <a:lstStyle/>
          <a:p>
            <a:r>
              <a:rPr lang="en-US" dirty="0">
                <a:latin typeface="Times New Roman" panose="02020603050405020304" pitchFamily="18" charset="0"/>
                <a:cs typeface="Times New Roman" panose="02020603050405020304" pitchFamily="18" charset="0"/>
              </a:rPr>
              <a:t>Examples for Computing Error</a:t>
            </a:r>
          </a:p>
        </p:txBody>
      </p:sp>
      <p:sp>
        <p:nvSpPr>
          <p:cNvPr id="3" name="Slide Number Placeholder 2"/>
          <p:cNvSpPr>
            <a:spLocks noGrp="1"/>
          </p:cNvSpPr>
          <p:nvPr>
            <p:ph type="sldNum" sz="quarter" idx="12"/>
          </p:nvPr>
        </p:nvSpPr>
        <p:spPr/>
        <p:txBody>
          <a:bodyPr/>
          <a:lstStyle/>
          <a:p>
            <a:fld id="{76F96C40-0356-46F5-90E5-FF57DE76D9A0}" type="slidenum">
              <a:rPr lang="en-US" smtClean="0"/>
              <a:t>40</a:t>
            </a:fld>
            <a:endParaRPr lang="en-US"/>
          </a:p>
        </p:txBody>
      </p:sp>
      <p:graphicFrame>
        <p:nvGraphicFramePr>
          <p:cNvPr id="8" name="Object 3"/>
          <p:cNvGraphicFramePr>
            <a:graphicFrameLocks noChangeAspect="1"/>
          </p:cNvGraphicFramePr>
          <p:nvPr/>
        </p:nvGraphicFramePr>
        <p:xfrm>
          <a:off x="152400" y="2338532"/>
          <a:ext cx="2362200" cy="936625"/>
        </p:xfrm>
        <a:graphic>
          <a:graphicData uri="http://schemas.openxmlformats.org/presentationml/2006/ole">
            <mc:AlternateContent xmlns:mc="http://schemas.openxmlformats.org/markup-compatibility/2006">
              <mc:Choice xmlns:v="urn:schemas-microsoft-com:vml" Requires="v">
                <p:oleObj name="Document" r:id="rId3" imgW="3239280" imgH="1357560" progId="Word.Document.8">
                  <p:embed/>
                </p:oleObj>
              </mc:Choice>
              <mc:Fallback>
                <p:oleObj name="Document" r:id="rId3" imgW="3239280" imgH="1357560" progId="Word.Document.8">
                  <p:embed/>
                  <p:pic>
                    <p:nvPicPr>
                      <p:cNvPr id="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338532"/>
                        <a:ext cx="23622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
          <p:cNvGraphicFramePr>
            <a:graphicFrameLocks noChangeAspect="1"/>
          </p:cNvGraphicFramePr>
          <p:nvPr/>
        </p:nvGraphicFramePr>
        <p:xfrm>
          <a:off x="228600" y="5180157"/>
          <a:ext cx="2286000" cy="938213"/>
        </p:xfrm>
        <a:graphic>
          <a:graphicData uri="http://schemas.openxmlformats.org/presentationml/2006/ole">
            <mc:AlternateContent xmlns:mc="http://schemas.openxmlformats.org/markup-compatibility/2006">
              <mc:Choice xmlns:v="urn:schemas-microsoft-com:vml" Requires="v">
                <p:oleObj name="Document" r:id="rId5" imgW="3239280" imgH="1381680" progId="Word.Document.8">
                  <p:embed/>
                </p:oleObj>
              </mc:Choice>
              <mc:Fallback>
                <p:oleObj name="Document" r:id="rId5" imgW="3239280" imgH="1381680" progId="Word.Document.8">
                  <p:embed/>
                  <p:pic>
                    <p:nvPicPr>
                      <p:cNvPr id="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5180157"/>
                        <a:ext cx="2286000"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228600" y="3816495"/>
          <a:ext cx="2286000" cy="906462"/>
        </p:xfrm>
        <a:graphic>
          <a:graphicData uri="http://schemas.openxmlformats.org/presentationml/2006/ole">
            <mc:AlternateContent xmlns:mc="http://schemas.openxmlformats.org/markup-compatibility/2006">
              <mc:Choice xmlns:v="urn:schemas-microsoft-com:vml" Requires="v">
                <p:oleObj name="Document" r:id="rId7" imgW="3239280" imgH="1357560" progId="Word.Document.8">
                  <p:embed/>
                </p:oleObj>
              </mc:Choice>
              <mc:Fallback>
                <p:oleObj name="Document" r:id="rId7" imgW="3239280" imgH="1357560" progId="Word.Document.8">
                  <p:embed/>
                  <p:pic>
                    <p:nvPicPr>
                      <p:cNvPr id="1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3816495"/>
                        <a:ext cx="2286000"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6"/>
          <p:cNvSpPr txBox="1">
            <a:spLocks noChangeArrowheads="1"/>
          </p:cNvSpPr>
          <p:nvPr/>
        </p:nvSpPr>
        <p:spPr bwMode="auto">
          <a:xfrm>
            <a:off x="2743200" y="2338532"/>
            <a:ext cx="5943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P(C1) = 0/6 = 0     P(C2) = 6/6 = 1</a:t>
            </a:r>
          </a:p>
          <a:p>
            <a:pPr>
              <a:spcBef>
                <a:spcPct val="50000"/>
              </a:spcBef>
            </a:pPr>
            <a:r>
              <a:rPr lang="en-US" altLang="en-US" sz="2000"/>
              <a:t>Error = 1 – max (0, 1) = 1 – 1 = 0 </a:t>
            </a:r>
          </a:p>
        </p:txBody>
      </p:sp>
      <p:sp>
        <p:nvSpPr>
          <p:cNvPr id="12" name="Text Box 7"/>
          <p:cNvSpPr txBox="1">
            <a:spLocks noChangeArrowheads="1"/>
          </p:cNvSpPr>
          <p:nvPr/>
        </p:nvSpPr>
        <p:spPr bwMode="auto">
          <a:xfrm>
            <a:off x="2819400" y="3732357"/>
            <a:ext cx="51054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P(C1) = 1/6          P(C2) = 5/6</a:t>
            </a:r>
          </a:p>
          <a:p>
            <a:pPr>
              <a:spcBef>
                <a:spcPct val="50000"/>
              </a:spcBef>
            </a:pPr>
            <a:r>
              <a:rPr lang="en-US" altLang="en-US" sz="2000"/>
              <a:t>Error = 1 – max (1/6, 5/6) = 1 – 5/6 = 1/6</a:t>
            </a:r>
          </a:p>
        </p:txBody>
      </p:sp>
      <p:sp>
        <p:nvSpPr>
          <p:cNvPr id="13" name="Text Box 8"/>
          <p:cNvSpPr txBox="1">
            <a:spLocks noChangeArrowheads="1"/>
          </p:cNvSpPr>
          <p:nvPr/>
        </p:nvSpPr>
        <p:spPr bwMode="auto">
          <a:xfrm>
            <a:off x="2819400" y="5103957"/>
            <a:ext cx="6172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P(C1) = 2/6          P(C2) = 4/6</a:t>
            </a:r>
          </a:p>
          <a:p>
            <a:pPr>
              <a:spcBef>
                <a:spcPct val="50000"/>
              </a:spcBef>
            </a:pPr>
            <a:r>
              <a:rPr lang="en-US" altLang="en-US" sz="2000"/>
              <a:t>Error = 1 – max (2/6, 4/6) = 1 – 4/6 = 1/3</a:t>
            </a:r>
          </a:p>
        </p:txBody>
      </p:sp>
      <mc:AlternateContent xmlns:mc="http://schemas.openxmlformats.org/markup-compatibility/2006" xmlns:a14="http://schemas.microsoft.com/office/drawing/2010/main">
        <mc:Choice Requires="a14">
          <p:sp>
            <p:nvSpPr>
              <p:cNvPr id="14" name="TextBox 13"/>
              <p:cNvSpPr txBox="1"/>
              <p:nvPr/>
            </p:nvSpPr>
            <p:spPr>
              <a:xfrm>
                <a:off x="2438400" y="1524000"/>
                <a:ext cx="38974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𝐸𝑟𝑟𝑜𝑟</m:t>
                      </m:r>
                      <m:d>
                        <m:dPr>
                          <m:ctrlPr>
                            <a:rPr lang="en-US" sz="2400" b="0" i="1" smtClean="0">
                              <a:latin typeface="Cambria Math" panose="02040503050406030204" pitchFamily="18" charset="0"/>
                            </a:rPr>
                          </m:ctrlPr>
                        </m:dPr>
                        <m:e>
                          <m:r>
                            <a:rPr lang="en-US" sz="2400" b="0" i="1" smtClean="0">
                              <a:latin typeface="Cambria Math"/>
                            </a:rPr>
                            <m:t>𝑡</m:t>
                          </m:r>
                        </m:e>
                      </m:d>
                      <m:r>
                        <a:rPr lang="en-US" sz="2400" b="0" i="1" smtClean="0">
                          <a:latin typeface="Cambria Math"/>
                        </a:rPr>
                        <m:t>=1−</m:t>
                      </m:r>
                      <m:func>
                        <m:funcPr>
                          <m:ctrlPr>
                            <a:rPr lang="en-US" sz="2400" b="0" i="1" smtClean="0">
                              <a:latin typeface="Cambria Math" panose="02040503050406030204" pitchFamily="18" charset="0"/>
                            </a:rPr>
                          </m:ctrlPr>
                        </m:funcPr>
                        <m:fName>
                          <m:r>
                            <m:rPr>
                              <m:sty m:val="p"/>
                            </m:rPr>
                            <a:rPr lang="en-US" sz="2400" b="0" i="0" smtClean="0">
                              <a:latin typeface="Cambria Math"/>
                            </a:rPr>
                            <m:t>max</m:t>
                          </m:r>
                        </m:fName>
                        <m:e>
                          <m:r>
                            <a:rPr lang="en-US" sz="2400" b="0" i="1" smtClean="0">
                              <a:latin typeface="Cambria Math"/>
                            </a:rPr>
                            <m:t>𝑃</m:t>
                          </m:r>
                          <m:d>
                            <m:dPr>
                              <m:endChr m:val="|"/>
                              <m:ctrlPr>
                                <a:rPr lang="en-US" sz="2400" b="0" i="1" smtClean="0">
                                  <a:latin typeface="Cambria Math" panose="02040503050406030204" pitchFamily="18" charset="0"/>
                                </a:rPr>
                              </m:ctrlPr>
                            </m:dPr>
                            <m:e>
                              <m:r>
                                <a:rPr lang="en-US" sz="2400" b="0" i="1" smtClean="0">
                                  <a:latin typeface="Cambria Math"/>
                                </a:rPr>
                                <m:t>𝑖</m:t>
                              </m:r>
                              <m:r>
                                <a:rPr lang="en-US" sz="2400" b="0" i="1" smtClean="0">
                                  <a:latin typeface="Cambria Math"/>
                                </a:rPr>
                                <m:t> </m:t>
                              </m:r>
                            </m:e>
                          </m:d>
                        </m:e>
                      </m:func>
                      <m:r>
                        <a:rPr lang="en-US" sz="2400" b="0" i="1" smtClean="0">
                          <a:latin typeface="Cambria Math"/>
                        </a:rPr>
                        <m:t>𝑡</m:t>
                      </m:r>
                      <m:r>
                        <a:rPr lang="en-US" sz="2400" b="0" i="1" smtClean="0">
                          <a:latin typeface="Cambria Math"/>
                        </a:rPr>
                        <m:t>)</m:t>
                      </m:r>
                    </m:oMath>
                  </m:oMathPara>
                </a14:m>
                <a:endParaRPr lang="en-US" sz="2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438400" y="1524000"/>
                <a:ext cx="3897414" cy="461665"/>
              </a:xfrm>
              <a:prstGeom prst="rect">
                <a:avLst/>
              </a:prstGeom>
              <a:blipFill rotWithShape="1">
                <a:blip r:embed="rId10"/>
                <a:stretch>
                  <a:fillRect b="-17105"/>
                </a:stretch>
              </a:blipFill>
            </p:spPr>
            <p:txBody>
              <a:bodyPr/>
              <a:lstStyle/>
              <a:p>
                <a:r>
                  <a:rPr lang="en-US">
                    <a:noFill/>
                  </a:rPr>
                  <a:t> </a:t>
                </a:r>
              </a:p>
            </p:txBody>
          </p:sp>
        </mc:Fallback>
      </mc:AlternateContent>
      <p:grpSp>
        <p:nvGrpSpPr>
          <p:cNvPr id="15" name="Group 22"/>
          <p:cNvGrpSpPr>
            <a:grpSpLocks/>
          </p:cNvGrpSpPr>
          <p:nvPr/>
        </p:nvGrpSpPr>
        <p:grpSpPr bwMode="auto">
          <a:xfrm>
            <a:off x="381000" y="6400800"/>
            <a:ext cx="8382000" cy="304800"/>
            <a:chOff x="288" y="3408"/>
            <a:chExt cx="5280" cy="192"/>
          </a:xfrm>
        </p:grpSpPr>
        <p:sp>
          <p:nvSpPr>
            <p:cNvPr id="16" name="Rectangle 23"/>
            <p:cNvSpPr>
              <a:spLocks noChangeArrowheads="1"/>
            </p:cNvSpPr>
            <p:nvPr/>
          </p:nvSpPr>
          <p:spPr bwMode="auto">
            <a:xfrm>
              <a:off x="288" y="3408"/>
              <a:ext cx="5280" cy="19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24"/>
            <p:cNvSpPr>
              <a:spLocks noChangeArrowheads="1"/>
            </p:cNvSpPr>
            <p:nvPr/>
          </p:nvSpPr>
          <p:spPr bwMode="auto">
            <a:xfrm>
              <a:off x="288" y="3408"/>
              <a:ext cx="526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nSpc>
                  <a:spcPts val="2000"/>
                </a:lnSpc>
              </a:pPr>
              <a:r>
                <a:rPr lang="en-US" altLang="en-US" sz="1200" b="0" dirty="0"/>
                <a:t>© </a:t>
              </a:r>
              <a:r>
                <a:rPr lang="en-US" altLang="en-US" sz="1200" b="0" dirty="0" err="1"/>
                <a:t>Tan,Steinbach</a:t>
              </a:r>
              <a:r>
                <a:rPr lang="en-US" altLang="en-US" sz="1200" b="0" dirty="0"/>
                <a:t>, Kumar 	    	Introduction to Data Mining        		      4/18/2004               </a:t>
              </a:r>
              <a:fld id="{1D67DFB4-F9F2-4EA4-820C-D7413D515546}" type="slidenum">
                <a:rPr lang="en-US" altLang="en-US" sz="1200" b="0"/>
                <a:pPr>
                  <a:lnSpc>
                    <a:spcPts val="2000"/>
                  </a:lnSpc>
                </a:pPr>
                <a:t>40</a:t>
              </a:fld>
              <a:r>
                <a:rPr lang="en-US" altLang="en-US" sz="1200" b="0" dirty="0"/>
                <a:t> </a:t>
              </a:r>
            </a:p>
          </p:txBody>
        </p:sp>
      </p:grpSp>
    </p:spTree>
    <p:extLst>
      <p:ext uri="{BB962C8B-B14F-4D97-AF65-F5344CB8AC3E}">
        <p14:creationId xmlns:p14="http://schemas.microsoft.com/office/powerpoint/2010/main" val="180035978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F376BFFEBE008478A0EC19FFC5CAE25" ma:contentTypeVersion="2" ma:contentTypeDescription="Create a new document." ma:contentTypeScope="" ma:versionID="222da272828c52aae3aea7aac679f7eb">
  <xsd:schema xmlns:xsd="http://www.w3.org/2001/XMLSchema" xmlns:xs="http://www.w3.org/2001/XMLSchema" xmlns:p="http://schemas.microsoft.com/office/2006/metadata/properties" xmlns:ns2="54f0c67b-9c4f-47ec-b2e9-282ef016d26c" targetNamespace="http://schemas.microsoft.com/office/2006/metadata/properties" ma:root="true" ma:fieldsID="9c3027e3c2b9147528be8a0aa63380b9" ns2:_="">
    <xsd:import namespace="54f0c67b-9c4f-47ec-b2e9-282ef016d26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f0c67b-9c4f-47ec-b2e9-282ef016d2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3A392D-1996-4FEC-88F8-9460FAD37CCF}">
  <ds:schemaRefs>
    <ds:schemaRef ds:uri="http://schemas.microsoft.com/sharepoint/v3/contenttype/forms"/>
  </ds:schemaRefs>
</ds:datastoreItem>
</file>

<file path=customXml/itemProps2.xml><?xml version="1.0" encoding="utf-8"?>
<ds:datastoreItem xmlns:ds="http://schemas.openxmlformats.org/officeDocument/2006/customXml" ds:itemID="{0FBCF46B-D650-495A-833B-3DA4316349D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227C779-67F7-43CF-BFAE-8C21FAF02C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f0c67b-9c4f-47ec-b2e9-282ef016d2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Wisp</Template>
  <TotalTime>4253</TotalTime>
  <Words>5325</Words>
  <Application>Microsoft Office PowerPoint</Application>
  <PresentationFormat>On-screen Show (4:3)</PresentationFormat>
  <Paragraphs>590</Paragraphs>
  <Slides>40</Slides>
  <Notes>25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40</vt:i4>
      </vt:variant>
    </vt:vector>
  </HeadingPairs>
  <TitlesOfParts>
    <vt:vector size="53" baseType="lpstr">
      <vt:lpstr>Arial</vt:lpstr>
      <vt:lpstr>Calibri</vt:lpstr>
      <vt:lpstr>Cambria Math</vt:lpstr>
      <vt:lpstr>Century Gothic</vt:lpstr>
      <vt:lpstr>Monotype Sorts</vt:lpstr>
      <vt:lpstr>Times New Roman</vt:lpstr>
      <vt:lpstr>Wingdings</vt:lpstr>
      <vt:lpstr>Wingdings 2</vt:lpstr>
      <vt:lpstr>Wingdings 3</vt:lpstr>
      <vt:lpstr>Wisp</vt:lpstr>
      <vt:lpstr>Visio</vt:lpstr>
      <vt:lpstr>Document</vt:lpstr>
      <vt:lpstr>Equation</vt:lpstr>
      <vt:lpstr>Decision Tree</vt:lpstr>
      <vt:lpstr>Dataset</vt:lpstr>
      <vt:lpstr>Data preparation</vt:lpstr>
      <vt:lpstr>Classification</vt:lpstr>
      <vt:lpstr>Decision Trees</vt:lpstr>
      <vt:lpstr>Illustrating Classification  (from Tan, Steinbach and Kumar)</vt:lpstr>
      <vt:lpstr>Algorithm</vt:lpstr>
      <vt:lpstr>Specifying Splits</vt:lpstr>
      <vt:lpstr>Greedy Strategies</vt:lpstr>
      <vt:lpstr>Splitting on Nominal Attributes</vt:lpstr>
      <vt:lpstr>Splitting on Ordinal Attributes</vt:lpstr>
      <vt:lpstr>Splitting on Continuous Attributes</vt:lpstr>
      <vt:lpstr>Splitting on Continuous Attributes (2)</vt:lpstr>
      <vt:lpstr>How to make the splits?</vt:lpstr>
      <vt:lpstr>Determining the Best Split</vt:lpstr>
      <vt:lpstr>Comparison of Splitting Criteria</vt:lpstr>
      <vt:lpstr>Decision tree- Advantage and disadvantage</vt:lpstr>
      <vt:lpstr>Stopping Criteria for Tree Induction</vt:lpstr>
      <vt:lpstr>Overfitting</vt:lpstr>
      <vt:lpstr>Addressing Overfitting</vt:lpstr>
      <vt:lpstr>Addressing Overfitting (2)</vt:lpstr>
      <vt:lpstr>Model Evaluation</vt:lpstr>
      <vt:lpstr>Metrics for Performance Evaluation</vt:lpstr>
      <vt:lpstr>Metrics for Performance Evaluation (2)</vt:lpstr>
      <vt:lpstr>Example 1- Iris Dataset</vt:lpstr>
      <vt:lpstr>Induction Algorithms</vt:lpstr>
      <vt:lpstr>More About Math </vt:lpstr>
      <vt:lpstr>Node Impurity</vt:lpstr>
      <vt:lpstr>The Gini Index</vt:lpstr>
      <vt:lpstr>Examples for Computing Gini</vt:lpstr>
      <vt:lpstr>Splitting Base on GINI</vt:lpstr>
      <vt:lpstr>Computing the GINI for Categorical (Nominal) Attributes</vt:lpstr>
      <vt:lpstr>Computing the GINI for Continuous Attributes</vt:lpstr>
      <vt:lpstr>More Computing the GINI for Continuous Attributes</vt:lpstr>
      <vt:lpstr>Splitting Criteria based on Information Gain</vt:lpstr>
      <vt:lpstr>Examples for Computing Entropy</vt:lpstr>
      <vt:lpstr>Splitting on Information Gain</vt:lpstr>
      <vt:lpstr>Splitting on Information Gain (2)</vt:lpstr>
      <vt:lpstr>Splitting on Classification Error</vt:lpstr>
      <vt:lpstr>Examples for Computing Error</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I</dc:title>
  <dc:creator>Marvine</dc:creator>
  <cp:lastModifiedBy>Roozbeh Sadeghian</cp:lastModifiedBy>
  <cp:revision>382</cp:revision>
  <dcterms:created xsi:type="dcterms:W3CDTF">2016-06-23T19:27:44Z</dcterms:created>
  <dcterms:modified xsi:type="dcterms:W3CDTF">2023-05-24T13:03:38Z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0x010100FF376BFFEBE008478A0EC19FFC5CAE25</vt:lpwstr>
  </property>
</Properties>
</file>